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7562850" cy="10696575"/>
  <p:notesSz cx="10696575" cy="7562850"/>
  <p:embeddedFontLst>
    <p:embeddedFont>
      <p:font typeface="Lexend"/>
      <p:bold r:id="rId40"/>
    </p:embeddedFont>
    <p:embeddedFont>
      <p:font typeface="Lexend Medium"/>
      <p:regular r:id="rId41"/>
    </p:embeddedFont>
    <p:embeddedFont>
      <p:font typeface="Lexend SemiBold"/>
      <p:regular r:id="rId42"/>
    </p:embeddedFont>
    <p:embeddedFont>
      <p:font typeface="Noto Sans"/>
      <p:regular r:id="rId43"/>
      <p:bold r:id="rId45"/>
    </p:embeddedFont>
    <p:embeddedFont>
      <p:font typeface="Noto Sans SemiBold"/>
      <p:regular r:id="rId44"/>
    </p:embeddedFont>
    <p:embeddedFont>
      <p:font typeface="Noto Sans Medium"/>
      <p:regular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font" Target="fonts/font6.fntdata"/><Relationship Id="rId46" Type="http://schemas.openxmlformats.org/officeDocument/2006/relationships/font" Target="fonts/font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Đặt câu hỏi trước khi mở danh sách</a:t>
            </a:r>
          </a:p>
          <a:p/>
          <a:p>
            <a:r>
              <a:t>Bài đọc: https://github.com/vohoailinh90/Github-radar/blob/main/docs/reports/awesome-handbook/report.md#bai-01</a:t>
            </a:r>
          </a:p>
          <a:p/>
          <a:p>
            <a:r>
              <a:t>Nguồn: https://github.com/sindresorhus/awesome/blob/bc98e517ddca672f55f9857d714fc3ea3c3540b2/awesome.md#make-it-clear-what-the-list-is-about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 qua đúng ba tầng liên kết</a:t>
            </a:r>
          </a:p>
          <a:p/>
          <a:p>
            <a:r>
              <a:t>Bài đọc: https://github.com/vohoailinh90/Github-radar/blob/main/docs/reports/awesome-handbook/report.md#bai-02</a:t>
            </a:r>
          </a:p>
          <a:p/>
          <a:p>
            <a:r>
              <a:t>Nguồn: https://github.com/sindresorhus/awesome/blob/bc98e517ddca672f55f9857d714fc3ea3c3540b2/readme.md#platforms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Chọn nhóm theo việc cần làm</a:t>
            </a:r>
          </a:p>
          <a:p/>
          <a:p>
            <a:r>
              <a:t>Bài đọc: https://github.com/vohoailinh90/Github-radar/blob/main/docs/reports/awesome-handbook/report.md#bai-03</a:t>
            </a:r>
          </a:p>
          <a:p/>
          <a:p>
            <a:r>
              <a:t>Nguồn: https://github.com/sindresorhus/awesome/blob/bc98e517ddca672f55f9857d714fc3ea3c3540b2/readme.md#contents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Biến danh sách thành lộ trình học</a:t>
            </a:r>
          </a:p>
          <a:p/>
          <a:p>
            <a:r>
              <a:t>Bài đọc: https://github.com/vohoailinh90/Github-radar/blob/main/docs/reports/awesome-handbook/report.md#bai-04</a:t>
            </a:r>
          </a:p>
          <a:p/>
          <a:p>
            <a:r>
              <a:t>Nguồn: https://github.com/sindresorhus/awesome/blob/bc98e517ddca672f55f9857d714fc3ea3c3540b2/readme.md#learn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Lập hồ sơ ứng viên</a:t>
            </a:r>
          </a:p>
          <a:p/>
          <a:p>
            <a:r>
              <a:t>Bài đọc: https://github.com/vohoailinh90/Github-radar/blob/main/docs/reports/awesome-handbook/report.md#bai-05</a:t>
            </a:r>
          </a:p>
          <a:p/>
          <a:p>
            <a:r>
              <a:t>Nguồn: https://github.com/sindresorhus/awesome/blob/bc98e517ddca672f55f9857d714fc3ea3c3540b2/awesome.md#only-awesome-is-awesome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sánh và loại có lý do</a:t>
            </a:r>
          </a:p>
          <a:p/>
          <a:p>
            <a:r>
              <a:t>Bài đọc: https://github.com/vohoailinh90/Github-radar/blob/main/docs/reports/awesome-handbook/report.md#bai-06</a:t>
            </a:r>
          </a:p>
          <a:p/>
          <a:p>
            <a:r>
              <a:t>Nguồn: https://github.com/sindresorhus/awesome/blob/bc98e517ddca672f55f9857d714fc3ea3c3540b2/awesome.md#only-awesome-is-awesome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Viết một entry không quảng cáo</a:t>
            </a:r>
          </a:p>
          <a:p/>
          <a:p>
            <a:r>
              <a:t>Bài đọc: https://github.com/vohoailinh90/Github-radar/blob/main/docs/reports/awesome-handbook/report.md#bai-07</a:t>
            </a:r>
          </a:p>
          <a:p/>
          <a:p>
            <a:r>
              <a:t>Nguồn: https://github.com/sindresorhus/awesome/blob/bc98e517ddca672f55f9857d714fc3ea3c3540b2/pull_request_template.md#requirements-for-your-awesome-list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Thử trải nghiệm của người đọc</a:t>
            </a:r>
          </a:p>
          <a:p/>
          <a:p>
            <a:r>
              <a:t>Bài đọc: https://github.com/vohoailinh90/Github-radar/blob/main/docs/reports/awesome-handbook/report.md#bai-08</a:t>
            </a:r>
          </a:p>
          <a:p/>
          <a:p>
            <a:r>
              <a:t>Nguồn: https://github.com/sindresorhus/awesome/blob/bc98e517ddca672f55f9857d714fc3ea3c3540b2/awesome.md#stylize-your-list-properly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Tạo README có phạm vi và mục lục</a:t>
            </a:r>
          </a:p>
          <a:p/>
          <a:p>
            <a:r>
              <a:t>Bài đọc: https://github.com/vohoailinh90/Github-radar/blob/main/docs/reports/awesome-handbook/report.md#bai-09</a:t>
            </a:r>
          </a:p>
          <a:p/>
          <a:p>
            <a:r>
              <a:t>Nguồn: https://github.com/sindresorhus/awesome/blob/bc98e517ddca672f55f9857d714fc3ea3c3540b2/create-list.md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Thêm quy tắc đóng góp và giấy phép</a:t>
            </a:r>
          </a:p>
          <a:p/>
          <a:p>
            <a:r>
              <a:t>Bài đọc: https://github.com/vohoailinh90/Github-radar/blob/main/docs/reports/awesome-handbook/report.md#bai-10</a:t>
            </a:r>
          </a:p>
          <a:p/>
          <a:p>
            <a:r>
              <a:t>Nguồn: https://github.com/sindresorhus/awesome/blob/bc98e517ddca672f55f9857d714fc3ea3c3540b2/pull_request_template.md#requirements-for-your-awesome-list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Rà soát thủ công trước khi chạy công cụ</a:t>
            </a:r>
          </a:p>
          <a:p/>
          <a:p>
            <a:r>
              <a:t>Bài đọc: https://github.com/vohoailinh90/Github-radar/blob/main/docs/reports/awesome-handbook/report.md#bai-11</a:t>
            </a:r>
          </a:p>
          <a:p/>
          <a:p>
            <a:r>
              <a:t>Nguồn: https://github.com/sindresorhus/awesome/blob/bc98e517ddca672f55f9857d714fc3ea3c3540b2/pull_request_template.md#requirements-for-your-awesome-list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Chạy awesome-lint và hiểu kết quả</a:t>
            </a:r>
          </a:p>
          <a:p/>
          <a:p>
            <a:r>
              <a:t>Bài đọc: https://github.com/vohoailinh90/Github-radar/blob/main/docs/reports/awesome-handbook/report.md#bai-12</a:t>
            </a:r>
          </a:p>
          <a:p/>
          <a:p>
            <a:r>
              <a:t>Nguồn: https://github.com/sindresorhus/awesome-lint/blob/4f870abda373cfa18c67822c39ee29c451ae8a70/readme.md#usage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xuất một tài nguyên vào danh sách có sẵn</a:t>
            </a:r>
          </a:p>
          <a:p/>
          <a:p>
            <a:r>
              <a:t>Bài đọc: https://github.com/vohoailinh90/Github-radar/blob/main/docs/reports/awesome-handbook/report.md#bai-13</a:t>
            </a:r>
          </a:p>
          <a:p/>
          <a:p>
            <a:r>
              <a:t>Nguồn: https://github.com/sindresorhus/awesome/blob/bc98e517ddca672f55f9857d714fc3ea3c3540b2/contributing.md#adding-something-to-an-awesome-list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Kiểm tra điều kiện cho một danh sách mới</a:t>
            </a:r>
          </a:p>
          <a:p/>
          <a:p>
            <a:r>
              <a:t>Bài đọc: https://github.com/vohoailinh90/Github-radar/blob/main/docs/reports/awesome-handbook/report.md#bai-14</a:t>
            </a:r>
          </a:p>
          <a:p/>
          <a:p>
            <a:r>
              <a:t>Nguồn: https://github.com/sindresorhus/awesome/blob/bc98e517ddca672f55f9857d714fc3ea3c3540b2/pull_request_template.md#requirements-for-your-pull-request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Thiết kế vòng bảo trì</a:t>
            </a:r>
          </a:p>
          <a:p/>
          <a:p>
            <a:r>
              <a:t>Bài đọc: https://github.com/vohoailinh90/Github-radar/blob/main/docs/reports/awesome-handbook/report.md#bai-15</a:t>
            </a:r>
          </a:p>
          <a:p/>
          <a:p>
            <a:r>
              <a:t>Nguồn: https://github.com/sindresorhus/awesome/blob/bc98e517ddca672f55f9857d714fc3ea3c3540b2/awesome.md#accept-other-peoples-opinion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Đồ án: danh sách nhỏ có bằng chứng</a:t>
            </a:r>
          </a:p>
          <a:p/>
          <a:p>
            <a:r>
              <a:t>Bài đọc: https://github.com/vohoailinh90/Github-radar/blob/main/docs/reports/awesome-handbook/report.md#bai-16</a:t>
            </a:r>
          </a:p>
          <a:p/>
          <a:p>
            <a:r>
              <a:t>Nguồn: https://github.com/sindresorhus/awesome/blob/bc98e517ddca672f55f9857d714fc3ea3c3540b2/pull_request_template.md#requirements-for-your-awesome-list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25.xml"/><Relationship Id="rId14" Type="http://schemas.openxmlformats.org/officeDocument/2006/relationships/slide" Target="slide26.xml"/><Relationship Id="rId15" Type="http://schemas.openxmlformats.org/officeDocument/2006/relationships/slide" Target="slide28.xml"/><Relationship Id="rId16" Type="http://schemas.openxmlformats.org/officeDocument/2006/relationships/slide" Target="slide29.xml"/><Relationship Id="rId17" Type="http://schemas.openxmlformats.org/officeDocument/2006/relationships/image" Target="../media/image-1-1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sindresorhus/awesome/blob/bc98e517ddca672f55f9857d714fc3ea3c3540b2/readme.md#platforms" TargetMode="External"/><Relationship Id="rId2" Type="http://schemas.openxmlformats.org/officeDocument/2006/relationships/hyperlink" Target="https://github.com/sindresorhus/awesome-nodejs#readme" TargetMode="External"/><Relationship Id="rId3" Type="http://schemas.openxmlformats.org/officeDocument/2006/relationships/hyperlink" Target="https://github.com/sindresorhus/awesome/blob/bc98e517ddca672f55f9857d714fc3ea3c3540b2/readme.md#programming-languages" TargetMode="External"/><Relationship Id="rId4" Type="http://schemas.openxmlformats.org/officeDocument/2006/relationships/hyperlink" Target="https://github.com/sorrycc/awesome-javascript#readme" TargetMode="External"/><Relationship Id="rId5" Type="http://schemas.openxmlformats.org/officeDocument/2006/relationships/hyperlink" Target="https://github.com/sindresorhus/awesome/blob/bc98e517ddca672f55f9857d714fc3ea3c3540b2/readme.md#front-end-development" TargetMode="External"/><Relationship Id="rId6" Type="http://schemas.openxmlformats.org/officeDocument/2006/relationships/hyperlink" Target="https://github.com/addyosmani/es6-tools#readme" TargetMode="External"/><Relationship Id="rId7" Type="http://schemas.openxmlformats.org/officeDocument/2006/relationships/hyperlink" Target="https://github.com/sindresorhus/awesome/blob/bc98e517ddca672f55f9857d714fc3ea3c3540b2/readme.md#back-end-development" TargetMode="External"/><Relationship Id="rId8" Type="http://schemas.openxmlformats.org/officeDocument/2006/relationships/hyperlink" Target="https://github.com/mjhea0/awesome-flask#readme" TargetMode="External"/><Relationship Id="rId9" Type="http://schemas.openxmlformats.org/officeDocument/2006/relationships/hyperlink" Target="https://github.com/sindresorhus/awesome/blob/bc98e517ddca672f55f9857d714fc3ea3c3540b2/readme.md#computer-science" TargetMode="External"/><Relationship Id="rId10" Type="http://schemas.openxmlformats.org/officeDocument/2006/relationships/hyperlink" Target="https://github.com/prakhar1989/awesome-courses#readme" TargetMode="External"/><Relationship Id="rId11" Type="http://schemas.openxmlformats.org/officeDocument/2006/relationships/hyperlink" Target="https://github.com/sindresorhus/awesome/blob/bc98e517ddca672f55f9857d714fc3ea3c3540b2/readme.md#big-data" TargetMode="External"/><Relationship Id="rId12" Type="http://schemas.openxmlformats.org/officeDocument/2006/relationships/hyperlink" Target="https://github.com/0xnr/awesome-bigdata#readme" TargetMode="External"/><Relationship Id="rId13" Type="http://schemas.openxmlformats.org/officeDocument/2006/relationships/hyperlink" Target="https://github.com/sindresorhus/awesome/blob/bc98e517ddca672f55f9857d714fc3ea3c3540b2/readme.md#theory" TargetMode="External"/><Relationship Id="rId14" Type="http://schemas.openxmlformats.org/officeDocument/2006/relationships/hyperlink" Target="https://github.com/papers-we-love/papers-we-love#readme" TargetMode="External"/><Relationship Id="rId15" Type="http://schemas.openxmlformats.org/officeDocument/2006/relationships/hyperlink" Target="https://github.com/sindresorhus/awesome/blob/bc98e517ddca672f55f9857d714fc3ea3c3540b2/readme.md#books" TargetMode="External"/><Relationship Id="rId16" Type="http://schemas.openxmlformats.org/officeDocument/2006/relationships/hyperlink" Target="https://github.com/EbookFoundation/free-programming-books#readme" TargetMode="External"/><Relationship Id="rId17" Type="http://schemas.openxmlformats.org/officeDocument/2006/relationships/hyperlink" Target="https://github.com/sindresorhus/awesome/blob/bc98e517ddca672f55f9857d714fc3ea3c3540b2/readme.md#editors" TargetMode="External"/><Relationship Id="rId18" Type="http://schemas.openxmlformats.org/officeDocument/2006/relationships/hyperlink" Target="https://github.com/dreikanter/sublime-bookmarks#readme" TargetMode="External"/><Relationship Id="rId19" Type="http://schemas.openxmlformats.org/officeDocument/2006/relationships/hyperlink" Target="https://github.com/sindresorhus/awesome/blob/bc98e517ddca672f55f9857d714fc3ea3c3540b2/readme.md#gaming" TargetMode="External"/><Relationship Id="rId20" Type="http://schemas.openxmlformats.org/officeDocument/2006/relationships/hyperlink" Target="https://github.com/ellisonleao/magictools#readme" TargetMode="External"/><Relationship Id="rId21" Type="http://schemas.openxmlformats.org/officeDocument/2006/relationships/hyperlink" Target="https://github.com/sindresorhus/awesome/blob/bc98e517ddca672f55f9857d714fc3ea3c3540b2/readme.md#development-environment" TargetMode="External"/><Relationship Id="rId22" Type="http://schemas.openxmlformats.org/officeDocument/2006/relationships/hyperlink" Target="https://github.com/sindresorhus/quick-look-plugins#readme" TargetMode="External"/><Relationship Id="rId23" Type="http://schemas.openxmlformats.org/officeDocument/2006/relationships/hyperlink" Target="https://github.com/sindresorhus/awesome/blob/bc98e517ddca672f55f9857d714fc3ea3c3540b2/readme.md#entertainment" TargetMode="External"/><Relationship Id="rId24" Type="http://schemas.openxmlformats.org/officeDocument/2006/relationships/hyperlink" Target="https://github.com/sindresorhus/awesome-scifi#readme" TargetMode="External"/><Relationship Id="rId25" Type="http://schemas.openxmlformats.org/officeDocument/2006/relationships/hyperlink" Target="https://github.com/sindresorhus/awesome/blob/bc98e517ddca672f55f9857d714fc3ea3c3540b2/readme.md#databases" TargetMode="External"/><Relationship Id="rId26" Type="http://schemas.openxmlformats.org/officeDocument/2006/relationships/hyperlink" Target="https://github.com/numetriclabz/awesome-db#readme" TargetMode="External"/><Relationship Id="rId27" Type="http://schemas.openxmlformats.org/officeDocument/2006/relationships/hyperlink" Target="https://github.com/sindresorhus/awesome/blob/bc98e517ddca672f55f9857d714fc3ea3c3540b2/readme.md#media" TargetMode="External"/><Relationship Id="rId28" Type="http://schemas.openxmlformats.org/officeDocument/2006/relationships/hyperlink" Target="https://github.com/brabadu/awesome-fonts#readme" TargetMode="External"/><Relationship Id="rId29" Type="http://schemas.openxmlformats.org/officeDocument/2006/relationships/image" Target="../media/image-1-1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sindresorhus/awesome/blob/bc98e517ddca672f55f9857d714fc3ea3c3540b2/readme.md#learn" TargetMode="External"/><Relationship Id="rId2" Type="http://schemas.openxmlformats.org/officeDocument/2006/relationships/hyperlink" Target="https://github.com/therebelrobot/awesome-workshopper#readme" TargetMode="External"/><Relationship Id="rId3" Type="http://schemas.openxmlformats.org/officeDocument/2006/relationships/hyperlink" Target="https://github.com/sindresorhus/awesome/blob/bc98e517ddca672f55f9857d714fc3ea3c3540b2/readme.md#security" TargetMode="External"/><Relationship Id="rId4" Type="http://schemas.openxmlformats.org/officeDocument/2006/relationships/hyperlink" Target="https://github.com/paragonie/awesome-appsec#readme" TargetMode="External"/><Relationship Id="rId5" Type="http://schemas.openxmlformats.org/officeDocument/2006/relationships/hyperlink" Target="https://github.com/sindresorhus/awesome/blob/bc98e517ddca672f55f9857d714fc3ea3c3540b2/readme.md#content-management-systems" TargetMode="External"/><Relationship Id="rId6" Type="http://schemas.openxmlformats.org/officeDocument/2006/relationships/hyperlink" Target="https://github.com/umbraco-community/awesome-umbraco#readme" TargetMode="External"/><Relationship Id="rId7" Type="http://schemas.openxmlformats.org/officeDocument/2006/relationships/hyperlink" Target="https://github.com/sindresorhus/awesome/blob/bc98e517ddca672f55f9857d714fc3ea3c3540b2/readme.md#hardware" TargetMode="External"/><Relationship Id="rId8" Type="http://schemas.openxmlformats.org/officeDocument/2006/relationships/hyperlink" Target="https://github.com/Kiloreux/awesome-robotics#readme" TargetMode="External"/><Relationship Id="rId9" Type="http://schemas.openxmlformats.org/officeDocument/2006/relationships/hyperlink" Target="https://github.com/sindresorhus/awesome/blob/bc98e517ddca672f55f9857d714fc3ea3c3540b2/readme.md#business" TargetMode="External"/><Relationship Id="rId10" Type="http://schemas.openxmlformats.org/officeDocument/2006/relationships/hyperlink" Target="https://github.com/opencompany/awesome-open-company#readme" TargetMode="External"/><Relationship Id="rId11" Type="http://schemas.openxmlformats.org/officeDocument/2006/relationships/hyperlink" Target="https://github.com/sindresorhus/awesome/blob/bc98e517ddca672f55f9857d714fc3ea3c3540b2/readme.md#work" TargetMode="External"/><Relationship Id="rId12" Type="http://schemas.openxmlformats.org/officeDocument/2006/relationships/hyperlink" Target="https://github.com/matiassingers/awesome-slack#readme" TargetMode="External"/><Relationship Id="rId13" Type="http://schemas.openxmlformats.org/officeDocument/2006/relationships/hyperlink" Target="https://github.com/sindresorhus/awesome/blob/bc98e517ddca672f55f9857d714fc3ea3c3540b2/readme.md#networking" TargetMode="External"/><Relationship Id="rId14" Type="http://schemas.openxmlformats.org/officeDocument/2006/relationships/hyperlink" Target="https://github.com/caesar0301/awesome-pcaptools#readme" TargetMode="External"/><Relationship Id="rId15" Type="http://schemas.openxmlformats.org/officeDocument/2006/relationships/hyperlink" Target="https://github.com/sindresorhus/awesome/blob/bc98e517ddca672f55f9857d714fc3ea3c3540b2/readme.md#decentralized-systems" TargetMode="External"/><Relationship Id="rId16" Type="http://schemas.openxmlformats.org/officeDocument/2006/relationships/hyperlink" Target="https://github.com/igorbarinov/awesome-bitcoin#readme" TargetMode="External"/><Relationship Id="rId17" Type="http://schemas.openxmlformats.org/officeDocument/2006/relationships/hyperlink" Target="https://github.com/sindresorhus/awesome/blob/bc98e517ddca672f55f9857d714fc3ea3c3540b2/readme.md#health-and-social-science" TargetMode="External"/><Relationship Id="rId18" Type="http://schemas.openxmlformats.org/officeDocument/2006/relationships/hyperlink" Target="https://github.com/caufieldjh/awesome-bioie#readme" TargetMode="External"/><Relationship Id="rId19" Type="http://schemas.openxmlformats.org/officeDocument/2006/relationships/hyperlink" Target="https://github.com/sindresorhus/awesome/blob/bc98e517ddca672f55f9857d714fc3ea3c3540b2/readme.md#events" TargetMode="External"/><Relationship Id="rId20" Type="http://schemas.openxmlformats.org/officeDocument/2006/relationships/hyperlink" Target="https://github.com/danvoyce/awesome-creative-tech-events#readme" TargetMode="External"/><Relationship Id="rId21" Type="http://schemas.openxmlformats.org/officeDocument/2006/relationships/hyperlink" Target="https://github.com/sindresorhus/awesome/blob/bc98e517ddca672f55f9857d714fc3ea3c3540b2/readme.md#testing" TargetMode="External"/><Relationship Id="rId22" Type="http://schemas.openxmlformats.org/officeDocument/2006/relationships/hyperlink" Target="https://github.com/TheJambo/awesome-testing#readme" TargetMode="External"/><Relationship Id="rId23" Type="http://schemas.openxmlformats.org/officeDocument/2006/relationships/hyperlink" Target="https://github.com/sindresorhus/awesome/blob/bc98e517ddca672f55f9857d714fc3ea3c3540b2/readme.md#miscellaneous" TargetMode="External"/><Relationship Id="rId24" Type="http://schemas.openxmlformats.org/officeDocument/2006/relationships/hyperlink" Target="https://github.com/writing-resources/awesome-scientific-writing#readme" TargetMode="External"/><Relationship Id="rId25" Type="http://schemas.openxmlformats.org/officeDocument/2006/relationships/hyperlink" Target="https://github.com/sindresorhus/awesome/blob/bc98e517ddca672f55f9857d714fc3ea3c3540b2/readme.md#related" TargetMode="External"/><Relationship Id="rId26" Type="http://schemas.openxmlformats.org/officeDocument/2006/relationships/hyperlink" Target="https://github.com/topics/awesome" TargetMode="External"/><Relationship Id="rId27" Type="http://schemas.openxmlformats.org/officeDocument/2006/relationships/image" Target="../media/image-1-1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1" TargetMode="External"/><Relationship Id="rId2" Type="http://schemas.openxmlformats.org/officeDocument/2006/relationships/hyperlink" Target="https://github.com/sindresorhus/awesome/blob/bc98e517ddca672f55f9857d714fc3ea3c3540b2/awesome.md#make-it-clear-what-the-list-is-abou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2" TargetMode="External"/><Relationship Id="rId2" Type="http://schemas.openxmlformats.org/officeDocument/2006/relationships/hyperlink" Target="https://github.com/sindresorhus/awesome/blob/bc98e517ddca672f55f9857d714fc3ea3c3540b2/readme.md#platforms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3" TargetMode="External"/><Relationship Id="rId2" Type="http://schemas.openxmlformats.org/officeDocument/2006/relationships/hyperlink" Target="https://github.com/sindresorhus/awesome/blob/bc98e517ddca672f55f9857d714fc3ea3c3540b2/readme.md#contents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4" TargetMode="External"/><Relationship Id="rId2" Type="http://schemas.openxmlformats.org/officeDocument/2006/relationships/hyperlink" Target="https://github.com/sindresorhus/awesome/blob/bc98e517ddca672f55f9857d714fc3ea3c3540b2/readme.md#learn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5" TargetMode="External"/><Relationship Id="rId2" Type="http://schemas.openxmlformats.org/officeDocument/2006/relationships/hyperlink" Target="https://github.com/sindresorhus/awesome/blob/bc98e517ddca672f55f9857d714fc3ea3c3540b2/awesome.md#only-awesome-is-awesome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6" TargetMode="External"/><Relationship Id="rId2" Type="http://schemas.openxmlformats.org/officeDocument/2006/relationships/hyperlink" Target="https://github.com/sindresorhus/awesome/blob/bc98e517ddca672f55f9857d714fc3ea3c3540b2/awesome.md#only-awesome-is-awesome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7" TargetMode="External"/><Relationship Id="rId2" Type="http://schemas.openxmlformats.org/officeDocument/2006/relationships/hyperlink" Target="https://github.com/sindresorhus/awesome/blob/bc98e517ddca672f55f9857d714fc3ea3c3540b2/pull_request_template.md#requirements-for-your-awesome-li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8" TargetMode="External"/><Relationship Id="rId2" Type="http://schemas.openxmlformats.org/officeDocument/2006/relationships/hyperlink" Target="https://github.com/sindresorhus/awesome/blob/bc98e517ddca672f55f9857d714fc3ea3c3540b2/awesome.md#stylize-your-list-properly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09" TargetMode="External"/><Relationship Id="rId2" Type="http://schemas.openxmlformats.org/officeDocument/2006/relationships/hyperlink" Target="https://github.com/sindresorhus/awesome/blob/bc98e517ddca672f55f9857d714fc3ea3c3540b2/create-list.md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0" TargetMode="External"/><Relationship Id="rId2" Type="http://schemas.openxmlformats.org/officeDocument/2006/relationships/hyperlink" Target="https://github.com/sindresorhus/awesome/blob/bc98e517ddca672f55f9857d714fc3ea3c3540b2/pull_request_template.md#requirements-for-your-awesome-li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1" TargetMode="External"/><Relationship Id="rId2" Type="http://schemas.openxmlformats.org/officeDocument/2006/relationships/hyperlink" Target="https://github.com/sindresorhus/awesome/blob/bc98e517ddca672f55f9857d714fc3ea3c3540b2/pull_request_template.md#requirements-for-your-awesome-li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2" TargetMode="External"/><Relationship Id="rId2" Type="http://schemas.openxmlformats.org/officeDocument/2006/relationships/hyperlink" Target="https://github.com/sindresorhus/awesome-lint/blob/4f870abda373cfa18c67822c39ee29c451ae8a70/readme.md#usage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3" TargetMode="External"/><Relationship Id="rId2" Type="http://schemas.openxmlformats.org/officeDocument/2006/relationships/hyperlink" Target="https://github.com/sindresorhus/awesome/blob/bc98e517ddca672f55f9857d714fc3ea3c3540b2/contributing.md#adding-something-to-an-awesome-li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4" TargetMode="External"/><Relationship Id="rId2" Type="http://schemas.openxmlformats.org/officeDocument/2006/relationships/hyperlink" Target="https://github.com/sindresorhus/awesome/blob/bc98e517ddca672f55f9857d714fc3ea3c3540b2/pull_request_template.md#requirements-for-your-pull-reque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5" TargetMode="External"/><Relationship Id="rId2" Type="http://schemas.openxmlformats.org/officeDocument/2006/relationships/hyperlink" Target="https://github.com/sindresorhus/awesome/blob/bc98e517ddca672f55f9857d714fc3ea3c3540b2/awesome.md#accept-other-peoples-opinion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vohoailinh90/Github-radar/blob/main/docs/reports/awesome-handbook/report.md#bai-16" TargetMode="External"/><Relationship Id="rId2" Type="http://schemas.openxmlformats.org/officeDocument/2006/relationships/hyperlink" Target="https://github.com/sindresorhus/awesome/blob/bc98e517ddca672f55f9857d714fc3ea3c3540b2/pull_request_template.md#requirements-for-your-awesome-list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802340755-831050234"/>
          <p:cNvSpPr/>
          <p:nvPr/>
        </p:nvSpPr>
        <p:spPr>
          <a:xfrm>
            <a:off x="4572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" name="Connector line-1792802340758-394309155"/>
          <p:cNvSpPr/>
          <p:nvPr/>
        </p:nvSpPr>
        <p:spPr>
          <a:xfrm>
            <a:off x="10096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" name="Connector line-1792802340758-220846001"/>
          <p:cNvSpPr/>
          <p:nvPr/>
        </p:nvSpPr>
        <p:spPr>
          <a:xfrm>
            <a:off x="15621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5" name="Connector line-1792802340759-779839230"/>
          <p:cNvSpPr/>
          <p:nvPr/>
        </p:nvSpPr>
        <p:spPr>
          <a:xfrm>
            <a:off x="21145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6" name="Connector line-1792802340759-896231663"/>
          <p:cNvSpPr/>
          <p:nvPr/>
        </p:nvSpPr>
        <p:spPr>
          <a:xfrm>
            <a:off x="26670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7" name="Connector line-1792802340760-695423312"/>
          <p:cNvSpPr/>
          <p:nvPr/>
        </p:nvSpPr>
        <p:spPr>
          <a:xfrm>
            <a:off x="32194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8" name="Connector line-1792802340760-954378323"/>
          <p:cNvSpPr/>
          <p:nvPr/>
        </p:nvSpPr>
        <p:spPr>
          <a:xfrm>
            <a:off x="37719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9" name="Connector line-1792802340760-609062774"/>
          <p:cNvSpPr/>
          <p:nvPr/>
        </p:nvSpPr>
        <p:spPr>
          <a:xfrm>
            <a:off x="43243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0" name="Connector line-1792802340760-63592731"/>
          <p:cNvSpPr/>
          <p:nvPr/>
        </p:nvSpPr>
        <p:spPr>
          <a:xfrm>
            <a:off x="48768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1" name="Connector line-1792802340761-257778977"/>
          <p:cNvSpPr/>
          <p:nvPr/>
        </p:nvSpPr>
        <p:spPr>
          <a:xfrm>
            <a:off x="54292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2" name="Connector line-1792802340761-894538248"/>
          <p:cNvSpPr/>
          <p:nvPr/>
        </p:nvSpPr>
        <p:spPr>
          <a:xfrm>
            <a:off x="59817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3" name="Connector line-1792802340761-22187904"/>
          <p:cNvSpPr/>
          <p:nvPr/>
        </p:nvSpPr>
        <p:spPr>
          <a:xfrm>
            <a:off x="653415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4" name="Connector line-1792802340762-278827626"/>
          <p:cNvSpPr/>
          <p:nvPr/>
        </p:nvSpPr>
        <p:spPr>
          <a:xfrm>
            <a:off x="7086600" y="400050"/>
            <a:ext cx="0" cy="950595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5" name="Connector line-1792802340762-10184079"/>
          <p:cNvSpPr/>
          <p:nvPr/>
        </p:nvSpPr>
        <p:spPr>
          <a:xfrm>
            <a:off x="457200" y="5143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6" name="Connector line-1792802340762-145745799"/>
          <p:cNvSpPr/>
          <p:nvPr/>
        </p:nvSpPr>
        <p:spPr>
          <a:xfrm>
            <a:off x="457200" y="10668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7" name="Connector line-1792802340762-136008980"/>
          <p:cNvSpPr/>
          <p:nvPr/>
        </p:nvSpPr>
        <p:spPr>
          <a:xfrm>
            <a:off x="457200" y="16192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8" name="Connector line-1792802340762-969237923"/>
          <p:cNvSpPr/>
          <p:nvPr/>
        </p:nvSpPr>
        <p:spPr>
          <a:xfrm>
            <a:off x="457200" y="21717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9" name="Connector line-1792802340762-195090880"/>
          <p:cNvSpPr/>
          <p:nvPr/>
        </p:nvSpPr>
        <p:spPr>
          <a:xfrm>
            <a:off x="457200" y="27241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0" name="Connector line-1792802340762-714934408"/>
          <p:cNvSpPr/>
          <p:nvPr/>
        </p:nvSpPr>
        <p:spPr>
          <a:xfrm>
            <a:off x="457200" y="32766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1" name="Connector line-1792802340763-610693824"/>
          <p:cNvSpPr/>
          <p:nvPr/>
        </p:nvSpPr>
        <p:spPr>
          <a:xfrm>
            <a:off x="457200" y="38290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2" name="Connector line-1792802340763-563414064"/>
          <p:cNvSpPr/>
          <p:nvPr/>
        </p:nvSpPr>
        <p:spPr>
          <a:xfrm>
            <a:off x="457200" y="43815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3" name="Connector line-1792802340763-768969510"/>
          <p:cNvSpPr/>
          <p:nvPr/>
        </p:nvSpPr>
        <p:spPr>
          <a:xfrm>
            <a:off x="457200" y="49339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4" name="Connector line-1792802340763-350008136"/>
          <p:cNvSpPr/>
          <p:nvPr/>
        </p:nvSpPr>
        <p:spPr>
          <a:xfrm>
            <a:off x="457200" y="54864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Connector line-1792802340763-717348595"/>
          <p:cNvSpPr/>
          <p:nvPr/>
        </p:nvSpPr>
        <p:spPr>
          <a:xfrm>
            <a:off x="457200" y="6038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6" name="Connector line-1792802340763-510857394"/>
          <p:cNvSpPr/>
          <p:nvPr/>
        </p:nvSpPr>
        <p:spPr>
          <a:xfrm>
            <a:off x="457200" y="65913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7" name="Connector line-1792802340763-230153210"/>
          <p:cNvSpPr/>
          <p:nvPr/>
        </p:nvSpPr>
        <p:spPr>
          <a:xfrm>
            <a:off x="457200" y="71437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8" name="Connector line-1792802340763-901607676"/>
          <p:cNvSpPr/>
          <p:nvPr/>
        </p:nvSpPr>
        <p:spPr>
          <a:xfrm>
            <a:off x="457200" y="76962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9" name="Connector line-1792802340763-627995072"/>
          <p:cNvSpPr/>
          <p:nvPr/>
        </p:nvSpPr>
        <p:spPr>
          <a:xfrm>
            <a:off x="457200" y="82486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0" name="Connector line-1792802340764-283890492"/>
          <p:cNvSpPr/>
          <p:nvPr/>
        </p:nvSpPr>
        <p:spPr>
          <a:xfrm>
            <a:off x="457200" y="88011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1" name="Connector line-1792802340764-552615331"/>
          <p:cNvSpPr/>
          <p:nvPr/>
        </p:nvSpPr>
        <p:spPr>
          <a:xfrm>
            <a:off x="457200" y="93535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2" name="Connector line-1792802340764-545051253"/>
          <p:cNvSpPr/>
          <p:nvPr/>
        </p:nvSpPr>
        <p:spPr>
          <a:xfrm>
            <a:off x="457200" y="99060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57200" y="1619250"/>
            <a:ext cx="6648450" cy="4953000"/>
          </a:xfrm>
          <a:prstGeom prst="roundRect">
            <a:avLst>
              <a:gd name="adj" fmla="val 385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900" y="7810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3810" rIns="0" bIns="-381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-1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SỔ</a:t>
            </a:r>
            <a:r>
              <a:rPr lang="en-US" sz="1200" b="1" dirty="0" spc="-41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TAY</a:t>
            </a:r>
            <a:r>
              <a:rPr lang="en-US" sz="1200" b="1" dirty="0" spc="-1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THỰC</a:t>
            </a:r>
            <a:r>
              <a:rPr lang="en-US" sz="1200" b="1" dirty="0" spc="-2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HÀNH</a:t>
            </a:r>
            <a:r>
              <a:rPr lang="en-US" sz="1200" b="1" dirty="0" spc="-1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/</a:t>
            </a:r>
            <a:r>
              <a:rPr lang="en-US" sz="1200" b="1" dirty="0" spc="-4" kern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2026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3900" y="1952625"/>
            <a:ext cx="6096000" cy="1952625"/>
          </a:xfrm>
          <a:prstGeom prst="rect">
            <a:avLst/>
          </a:prstGeom>
          <a:noFill/>
          <a:ln/>
        </p:spPr>
        <p:txBody>
          <a:bodyPr wrap="square" lIns="0" tIns="15716" rIns="0" bIns="-15716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4950" b="1" dirty="0" spc="-28" kern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AWESOME</a:t>
            </a:r>
            <a:endParaRPr lang="en-US" sz="4950" dirty="0"/>
          </a:p>
          <a:p>
            <a:pPr algn="l" indent="0" marL="0">
              <a:lnSpc>
                <a:spcPts val="6930"/>
              </a:lnSpc>
              <a:buNone/>
            </a:pPr>
            <a:r>
              <a:rPr lang="en-US" sz="4950" b="1" dirty="0" spc="-49" kern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ATLAS</a:t>
            </a:r>
            <a:r>
              <a:rPr lang="en-US" sz="4950" b="1" dirty="0" spc="-2" kern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LAB</a:t>
            </a:r>
            <a:endParaRPr lang="en-US" sz="4950" dirty="0"/>
          </a:p>
        </p:txBody>
      </p:sp>
      <p:sp>
        <p:nvSpPr>
          <p:cNvPr id="36" name="Text 34"/>
          <p:cNvSpPr/>
          <p:nvPr/>
        </p:nvSpPr>
        <p:spPr>
          <a:xfrm>
            <a:off x="762000" y="4476750"/>
            <a:ext cx="5715000" cy="1381125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13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Từ</a:t>
            </a:r>
            <a:r>
              <a:rPr lang="en-US" sz="2250" dirty="0" spc="-2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bản</a:t>
            </a:r>
            <a:r>
              <a:rPr lang="en-US" sz="2250" dirty="0" spc="2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đồ</a:t>
            </a:r>
            <a:r>
              <a:rPr lang="en-US" sz="2250" dirty="0" spc="-5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tài</a:t>
            </a:r>
            <a:r>
              <a:rPr lang="en-US" sz="2250" dirty="0" spc="-6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nguyên</a:t>
            </a:r>
            <a:r>
              <a:rPr lang="en-US" sz="2250" dirty="0" spc="2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đến</a:t>
            </a:r>
            <a:r>
              <a:rPr lang="en-US" sz="2250" dirty="0" spc="-2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danh sách</a:t>
            </a:r>
            <a:r>
              <a:rPr lang="en-US" sz="2250" dirty="0" spc="1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tự</a:t>
            </a:r>
            <a:r>
              <a:rPr lang="en-US" sz="2250" dirty="0" spc="-3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tuyển</a:t>
            </a:r>
            <a:r>
              <a:rPr lang="en-US" sz="2250" dirty="0" spc="-1" kern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chọn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4095750" y="6096000"/>
            <a:ext cx="3009900" cy="1190625"/>
          </a:xfrm>
          <a:prstGeom prst="roundRect">
            <a:avLst>
              <a:gd name="adj" fmla="val 1600"/>
            </a:avLst>
          </a:prstGeom>
          <a:solidFill>
            <a:srgbClr val="FFF0AD"/>
          </a:solidFill>
          <a:ln w="9525">
            <a:solidFill>
              <a:srgbClr val="FFF0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4825" y="6315075"/>
            <a:ext cx="2571750" cy="828675"/>
          </a:xfrm>
          <a:prstGeom prst="rect">
            <a:avLst/>
          </a:prstGeom>
          <a:noFill/>
          <a:ln/>
        </p:spPr>
        <p:txBody>
          <a:bodyPr wrap="square" lIns="0" tIns="4524" rIns="0" bIns="-4524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TÌM → KIỂM CHỨNG</a:t>
            </a:r>
            <a:endParaRPr lang="en-US" sz="1425" dirty="0"/>
          </a:p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073B4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 CHỌN → DUY TRÌ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476250" y="7810500"/>
            <a:ext cx="6381750" cy="85725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27 nhóm</a:t>
            </a:r>
            <a:r>
              <a:rPr lang="en-US" sz="1875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nội</a:t>
            </a:r>
            <a:r>
              <a:rPr lang="en-US" sz="1875" dirty="0" spc="7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dung</a:t>
            </a:r>
            <a:endParaRPr lang="en-US" sz="1875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8</a:t>
            </a:r>
            <a:r>
              <a:rPr lang="en-US" sz="1875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chương</a:t>
            </a:r>
            <a:r>
              <a:rPr lang="en-US" sz="1875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·</a:t>
            </a:r>
            <a:r>
              <a:rPr lang="en-US" sz="1875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16</a:t>
            </a:r>
            <a:r>
              <a:rPr lang="en-US" sz="1875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bài</a:t>
            </a:r>
            <a:r>
              <a:rPr lang="en-US" sz="1875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học</a:t>
            </a:r>
            <a:r>
              <a:rPr lang="en-US" sz="1875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1875" dirty="0" spc="-7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đầu</a:t>
            </a:r>
            <a:r>
              <a:rPr lang="en-US" sz="1875" dirty="0" spc="-16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ra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476250" y="9086850"/>
            <a:ext cx="6191250" cy="6191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 đúng</a:t>
            </a:r>
            <a:r>
              <a:rPr lang="en-US" sz="1050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nguồn,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50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chứng, tự</a:t>
            </a:r>
            <a:r>
              <a:rPr lang="en-US" sz="1050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xây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Đây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 trình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độc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lập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1050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endParaRPr lang="en-US" sz="1050" dirty="0"/>
          </a:p>
        </p:txBody>
      </p:sp>
      <p:sp>
        <p:nvSpPr>
          <p:cNvPr id="41" name="Connector line-1792802340823-954677809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863" dirty="0"/>
          </a:p>
        </p:txBody>
      </p:sp>
      <p:sp>
        <p:nvSpPr>
          <p:cNvPr id="43" name="Text 41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93fe65da-57b4-49fe-b929-2894f43394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Cách</a:t>
            </a:r>
            <a:r>
              <a:rPr lang="en-US" sz="2250" dirty="0" spc="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dùng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sổ</a:t>
            </a:r>
            <a:r>
              <a:rPr lang="en-US" sz="2250" dirty="0" spc="-7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tay</a:t>
            </a:r>
            <a:endParaRPr lang="en-US" sz="2250" dirty="0"/>
          </a:p>
        </p:txBody>
      </p:sp>
      <p:sp>
        <p:nvSpPr>
          <p:cNvPr id="5" name="Connector line-1792802353190-878060081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52650"/>
            <a:ext cx="6648450" cy="1285875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Giáo trình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soạn riêng: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 đồ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 27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chương,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16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xây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 chính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thế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kỹ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thuật của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liên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7147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KẾT QUẢ MONG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MUỐN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010025"/>
            <a:ext cx="6648450" cy="73342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Bạn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đúng</a:t>
            </a:r>
            <a:r>
              <a:rPr lang="en-US" sz="120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cầu,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nhân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 chọn.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82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CHUẨN BỊ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5143500"/>
            <a:ext cx="6648450" cy="73342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 spc="-1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Trình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duyệt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nơi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chú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 cho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cốt lõi.</a:t>
            </a:r>
            <a:r>
              <a:rPr lang="en-US" sz="1200" dirty="0" spc="-2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khoản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GitHub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lưu</a:t>
            </a:r>
            <a:r>
              <a:rPr lang="en-US" sz="120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đề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thay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đổi;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 và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cho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98170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NHỊP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276975"/>
            <a:ext cx="6648450" cy="73342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 trang chương → làm hai bài → lưu đầu ra → tự kiểm tra. Có thể quay lại nguồn gốc bằng nhãn [R1]–[R6] ở cuối trang.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7115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BIỆT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-2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7410450"/>
            <a:ext cx="6648450" cy="73342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Mô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20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 định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cộng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đồng có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trích dẫn.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hỏi,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rubric,</a:t>
            </a:r>
            <a:r>
              <a:rPr lang="en-US" sz="120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lộ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20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 biên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soạn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82486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8543925"/>
            <a:ext cx="6648450" cy="73342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triển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khai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 nghệ</a:t>
            </a:r>
            <a:r>
              <a:rPr lang="en-US" sz="120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27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nhóm.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kỹ thuật chi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tiết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nằm ở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của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đích.</a:t>
            </a:r>
            <a:endParaRPr lang="en-US" sz="1200" dirty="0"/>
          </a:p>
        </p:txBody>
      </p:sp>
      <p:sp>
        <p:nvSpPr>
          <p:cNvPr id="17" name="Connector line-1792802353240-231390668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[R6]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6334d68-91a0-40f8-85d2-d4c2373d40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ect">
            <a:avLst/>
          </a:prstGeom>
          <a:solidFill>
            <a:srgbClr val="D84A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16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bài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thực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hành</a:t>
            </a:r>
            <a:endParaRPr lang="en-US" sz="2250" dirty="0"/>
          </a:p>
        </p:txBody>
      </p:sp>
      <p:sp>
        <p:nvSpPr>
          <p:cNvPr id="5" name="Connector line-1792808356258-379290460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19050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2047875"/>
            <a:ext cx="6648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Bấm</a:t>
            </a:r>
            <a:r>
              <a:rPr lang="en-US" sz="1050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50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050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GitHub</a:t>
            </a:r>
            <a:r>
              <a:rPr lang="en-US" sz="1050" dirty="0" spc="-26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Radar.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PDF</a:t>
            </a:r>
            <a:r>
              <a:rPr lang="en-US" sz="105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tải về có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050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50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nhảy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050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</a:t>
            </a:r>
            <a:r>
              <a:rPr lang="en-US" sz="1050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 học.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724150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975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</a:t>
            </a:r>
            <a:endParaRPr lang="en-US" sz="975" dirty="0"/>
          </a:p>
        </p:txBody>
      </p:sp>
      <p:sp>
        <p:nvSpPr>
          <p:cNvPr id="8" name="Text 6">
            <a:hlinkClick action="ppaction://hlinksldjump" r:id="rId1"/>
          </p:cNvPr>
          <p:cNvSpPr/>
          <p:nvPr/>
        </p:nvSpPr>
        <p:spPr>
          <a:xfrm>
            <a:off x="581025" y="299085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01.</a:t>
            </a:r>
            <a:r>
              <a:rPr lang="en-US" sz="1050" u="sng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Đặt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9908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</a:t>
            </a:r>
            <a:endParaRPr lang="en-US" sz="900" dirty="0"/>
          </a:p>
        </p:txBody>
      </p:sp>
      <p:sp>
        <p:nvSpPr>
          <p:cNvPr id="10" name="Text 8">
            <a:hlinkClick action="ppaction://hlinksldjump" r:id="rId2"/>
          </p:cNvPr>
          <p:cNvSpPr/>
          <p:nvPr/>
        </p:nvSpPr>
        <p:spPr>
          <a:xfrm>
            <a:off x="581025" y="322897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02.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 đúng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 tầng liên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29400" y="322897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609975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975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</a:t>
            </a:r>
            <a:r>
              <a:rPr lang="en-US" sz="975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27 nhóm</a:t>
            </a:r>
            <a:endParaRPr lang="en-US" sz="975" dirty="0"/>
          </a:p>
        </p:txBody>
      </p:sp>
      <p:sp>
        <p:nvSpPr>
          <p:cNvPr id="13" name="Text 11">
            <a:hlinkClick action="ppaction://hlinksldjump" r:id="rId3"/>
          </p:cNvPr>
          <p:cNvSpPr/>
          <p:nvPr/>
        </p:nvSpPr>
        <p:spPr>
          <a:xfrm>
            <a:off x="581025" y="387667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việc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387667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10</a:t>
            </a:r>
            <a:endParaRPr lang="en-US" sz="900" dirty="0"/>
          </a:p>
        </p:txBody>
      </p:sp>
      <p:sp>
        <p:nvSpPr>
          <p:cNvPr id="15" name="Text 13">
            <a:hlinkClick action="ppaction://hlinksldjump" r:id="rId4"/>
          </p:cNvPr>
          <p:cNvSpPr/>
          <p:nvPr/>
        </p:nvSpPr>
        <p:spPr>
          <a:xfrm>
            <a:off x="581025" y="411480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Biến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lộ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 học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411480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95800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-1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bằng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</a:t>
            </a:r>
            <a:endParaRPr lang="en-US" sz="975" dirty="0"/>
          </a:p>
        </p:txBody>
      </p:sp>
      <p:sp>
        <p:nvSpPr>
          <p:cNvPr id="18" name="Text 16">
            <a:hlinkClick action="ppaction://hlinksldjump" r:id="rId5"/>
          </p:cNvPr>
          <p:cNvSpPr/>
          <p:nvPr/>
        </p:nvSpPr>
        <p:spPr>
          <a:xfrm>
            <a:off x="581025" y="476250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Lập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476250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13</a:t>
            </a:r>
            <a:endParaRPr lang="en-US" sz="900" dirty="0"/>
          </a:p>
        </p:txBody>
      </p:sp>
      <p:sp>
        <p:nvSpPr>
          <p:cNvPr id="20" name="Text 18">
            <a:hlinkClick action="ppaction://hlinksldjump" r:id="rId6"/>
          </p:cNvPr>
          <p:cNvSpPr/>
          <p:nvPr/>
        </p:nvSpPr>
        <p:spPr>
          <a:xfrm>
            <a:off x="581025" y="500062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 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50006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381625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975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r>
              <a:rPr lang="en-US" sz="975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ích</a:t>
            </a:r>
            <a:endParaRPr lang="en-US" sz="975" dirty="0"/>
          </a:p>
        </p:txBody>
      </p:sp>
      <p:sp>
        <p:nvSpPr>
          <p:cNvPr id="23" name="Text 21">
            <a:hlinkClick action="ppaction://hlinksldjump" r:id="rId7"/>
          </p:cNvPr>
          <p:cNvSpPr/>
          <p:nvPr/>
        </p:nvSpPr>
        <p:spPr>
          <a:xfrm>
            <a:off x="581025" y="564832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07.</a:t>
            </a:r>
            <a:r>
              <a:rPr lang="en-US" sz="1050" u="sng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quảng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56483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16</a:t>
            </a:r>
            <a:endParaRPr lang="en-US" sz="900" dirty="0"/>
          </a:p>
        </p:txBody>
      </p:sp>
      <p:sp>
        <p:nvSpPr>
          <p:cNvPr id="25" name="Text 23">
            <a:hlinkClick action="ppaction://hlinksldjump" r:id="rId8"/>
          </p:cNvPr>
          <p:cNvSpPr/>
          <p:nvPr/>
        </p:nvSpPr>
        <p:spPr>
          <a:xfrm>
            <a:off x="581025" y="588645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08.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50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trải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nghiệm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58864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267450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xây danh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của mình</a:t>
            </a:r>
            <a:endParaRPr lang="en-US" sz="975" dirty="0"/>
          </a:p>
        </p:txBody>
      </p:sp>
      <p:sp>
        <p:nvSpPr>
          <p:cNvPr id="28" name="Text 26">
            <a:hlinkClick action="ppaction://hlinksldjump" r:id="rId9"/>
          </p:cNvPr>
          <p:cNvSpPr/>
          <p:nvPr/>
        </p:nvSpPr>
        <p:spPr>
          <a:xfrm>
            <a:off x="581025" y="653415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09.</a:t>
            </a:r>
            <a:r>
              <a:rPr lang="en-US" sz="1050" u="sng" dirty="0" spc="-2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lục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9400" y="65341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19</a:t>
            </a:r>
            <a:endParaRPr lang="en-US" sz="900" dirty="0"/>
          </a:p>
        </p:txBody>
      </p:sp>
      <p:sp>
        <p:nvSpPr>
          <p:cNvPr id="30" name="Text 28">
            <a:hlinkClick action="ppaction://hlinksldjump" r:id="rId10"/>
          </p:cNvPr>
          <p:cNvSpPr/>
          <p:nvPr/>
        </p:nvSpPr>
        <p:spPr>
          <a:xfrm>
            <a:off x="581025" y="677227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050" u="sng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giấy phép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677227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7153275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75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</a:t>
            </a:r>
            <a:endParaRPr lang="en-US" sz="975" dirty="0"/>
          </a:p>
        </p:txBody>
      </p:sp>
      <p:sp>
        <p:nvSpPr>
          <p:cNvPr id="33" name="Text 31">
            <a:hlinkClick action="ppaction://hlinksldjump" r:id="rId11"/>
          </p:cNvPr>
          <p:cNvSpPr/>
          <p:nvPr/>
        </p:nvSpPr>
        <p:spPr>
          <a:xfrm>
            <a:off x="581025" y="741997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11.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 soát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thủ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 trước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741997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22</a:t>
            </a:r>
            <a:endParaRPr lang="en-US" sz="900" dirty="0"/>
          </a:p>
        </p:txBody>
      </p:sp>
      <p:sp>
        <p:nvSpPr>
          <p:cNvPr id="35" name="Text 33">
            <a:hlinkClick action="ppaction://hlinksldjump" r:id="rId12"/>
          </p:cNvPr>
          <p:cNvSpPr/>
          <p:nvPr/>
        </p:nvSpPr>
        <p:spPr>
          <a:xfrm>
            <a:off x="581025" y="765810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12.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 awesome-lint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050" u="sng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29400" y="765810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8039100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975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975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nơi,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endParaRPr lang="en-US" sz="975" dirty="0"/>
          </a:p>
        </p:txBody>
      </p:sp>
      <p:sp>
        <p:nvSpPr>
          <p:cNvPr id="38" name="Text 36">
            <a:hlinkClick action="ppaction://hlinksldjump" r:id="rId13"/>
          </p:cNvPr>
          <p:cNvSpPr/>
          <p:nvPr/>
        </p:nvSpPr>
        <p:spPr>
          <a:xfrm>
            <a:off x="581025" y="830580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13.</a:t>
            </a:r>
            <a:r>
              <a:rPr lang="en-US" sz="1050" u="sng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sẵn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9400" y="830580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25</a:t>
            </a:r>
            <a:endParaRPr lang="en-US" sz="900" dirty="0"/>
          </a:p>
        </p:txBody>
      </p:sp>
      <p:sp>
        <p:nvSpPr>
          <p:cNvPr id="40" name="Text 38">
            <a:hlinkClick action="ppaction://hlinksldjump" r:id="rId14"/>
          </p:cNvPr>
          <p:cNvSpPr/>
          <p:nvPr/>
        </p:nvSpPr>
        <p:spPr>
          <a:xfrm>
            <a:off x="581025" y="854392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14.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50" u="sng" dirty="0" spc="-6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một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29400" y="85439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8924925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r>
              <a:rPr lang="en-US" sz="975" b="1" dirty="0" spc="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75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975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75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đánh</a:t>
            </a:r>
            <a:r>
              <a:rPr lang="en-US" sz="975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endParaRPr lang="en-US" sz="975" dirty="0"/>
          </a:p>
        </p:txBody>
      </p:sp>
      <p:sp>
        <p:nvSpPr>
          <p:cNvPr id="43" name="Text 41">
            <a:hlinkClick action="ppaction://hlinksldjump" r:id="rId15"/>
          </p:cNvPr>
          <p:cNvSpPr/>
          <p:nvPr/>
        </p:nvSpPr>
        <p:spPr>
          <a:xfrm>
            <a:off x="581025" y="9191625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15.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Thiết kế</a:t>
            </a:r>
            <a:r>
              <a:rPr lang="en-US" sz="1050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vòng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bảo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29400" y="91916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28</a:t>
            </a:r>
            <a:endParaRPr lang="en-US" sz="900" dirty="0"/>
          </a:p>
        </p:txBody>
      </p:sp>
      <p:sp>
        <p:nvSpPr>
          <p:cNvPr id="45" name="Text 43">
            <a:hlinkClick action="ppaction://hlinksldjump" r:id="rId16"/>
          </p:cNvPr>
          <p:cNvSpPr/>
          <p:nvPr/>
        </p:nvSpPr>
        <p:spPr>
          <a:xfrm>
            <a:off x="581025" y="9429750"/>
            <a:ext cx="5972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16.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án: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nhỏ</a:t>
            </a:r>
            <a:r>
              <a:rPr lang="en-US" sz="1050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50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50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29400" y="94297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tr.</a:t>
            </a:r>
            <a:r>
              <a:rPr lang="en-US" sz="900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29</a:t>
            </a:r>
            <a:endParaRPr lang="en-US" sz="900" dirty="0"/>
          </a:p>
        </p:txBody>
      </p:sp>
      <p:sp>
        <p:nvSpPr>
          <p:cNvPr id="47" name="Connector line-1792808356327-61502327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19050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LỤC</a:t>
            </a:r>
            <a:endParaRPr lang="en-US" sz="863" dirty="0"/>
          </a:p>
        </p:txBody>
      </p:sp>
      <p:sp>
        <p:nvSpPr>
          <p:cNvPr id="49" name="Text 47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r>
              <a:rPr lang="en-US" sz="90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51" name="Moda image moda-export-watermark-page-1792808231395-569479777" descr="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Bản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đồ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27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nhóm /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01</a:t>
            </a:r>
            <a:endParaRPr lang="en-US" sz="2250" dirty="0"/>
          </a:p>
        </p:txBody>
      </p:sp>
      <p:sp>
        <p:nvSpPr>
          <p:cNvPr id="5" name="Connector line-1792802356374-472872731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038350"/>
            <a:ext cx="6648450" cy="438150"/>
          </a:xfrm>
          <a:prstGeom prst="rect">
            <a:avLst/>
          </a:prstGeom>
          <a:noFill/>
          <a:ln/>
        </p:spPr>
        <p:txBody>
          <a:bodyPr wrap="square" lIns="0" tIns="4705" rIns="0" bIns="-4705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 theo</a:t>
            </a:r>
            <a:r>
              <a:rPr lang="en-US" sz="97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 vụ.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lấy từ README;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diễn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7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gợi ý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97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viết.</a:t>
            </a:r>
            <a:r>
              <a:rPr lang="en-US" sz="97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57200" y="26479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Platforms</a:t>
            </a:r>
            <a:endParaRPr lang="en-US" sz="1035" dirty="0"/>
          </a:p>
        </p:txBody>
      </p:sp>
      <p:sp>
        <p:nvSpPr>
          <p:cNvPr id="8" name="Text 6"/>
          <p:cNvSpPr/>
          <p:nvPr/>
        </p:nvSpPr>
        <p:spPr>
          <a:xfrm>
            <a:off x="2914650" y="264795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sinh thái</a:t>
            </a: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 trường</a:t>
            </a:r>
            <a:r>
              <a:rPr lang="en-US" sz="953" dirty="0" spc="-7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Node.js</a:t>
            </a:r>
            <a:endParaRPr lang="en-US" sz="953" dirty="0"/>
          </a:p>
        </p:txBody>
      </p:sp>
      <p:sp>
        <p:nvSpPr>
          <p:cNvPr id="9" name="Connector line-1792802356382-823808531"/>
          <p:cNvSpPr/>
          <p:nvPr/>
        </p:nvSpPr>
        <p:spPr>
          <a:xfrm>
            <a:off x="457200" y="31051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57200" y="314801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Programming</a:t>
            </a: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Languages</a:t>
            </a:r>
            <a:endParaRPr lang="en-US" sz="1035" dirty="0"/>
          </a:p>
        </p:txBody>
      </p:sp>
      <p:sp>
        <p:nvSpPr>
          <p:cNvPr id="11" name="Text 9"/>
          <p:cNvSpPr/>
          <p:nvPr/>
        </p:nvSpPr>
        <p:spPr>
          <a:xfrm>
            <a:off x="2914650" y="314801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ngôn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ngữ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</a:t>
            </a:r>
            <a:endParaRPr lang="en-US" sz="953" dirty="0"/>
          </a:p>
        </p:txBody>
      </p:sp>
      <p:sp>
        <p:nvSpPr>
          <p:cNvPr id="12" name="Connector line-1792802356387-315065999"/>
          <p:cNvSpPr/>
          <p:nvPr/>
        </p:nvSpPr>
        <p:spPr>
          <a:xfrm>
            <a:off x="457200" y="360521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57200" y="364807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Front-End</a:t>
            </a: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Development</a:t>
            </a:r>
            <a:endParaRPr lang="en-US" sz="1035" dirty="0"/>
          </a:p>
        </p:txBody>
      </p:sp>
      <p:sp>
        <p:nvSpPr>
          <p:cNvPr id="14" name="Text 12"/>
          <p:cNvSpPr/>
          <p:nvPr/>
        </p:nvSpPr>
        <p:spPr>
          <a:xfrm>
            <a:off x="2914650" y="364807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Xây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giao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diện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trải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nghiệm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duyệt.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ES6</a:t>
            </a:r>
            <a:r>
              <a:rPr lang="en-US" sz="953" u="sng" dirty="0" spc="-1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Tools</a:t>
            </a:r>
            <a:endParaRPr lang="en-US" sz="953" dirty="0"/>
          </a:p>
        </p:txBody>
      </p:sp>
      <p:sp>
        <p:nvSpPr>
          <p:cNvPr id="15" name="Connector line-1792802356391-581198830"/>
          <p:cNvSpPr/>
          <p:nvPr/>
        </p:nvSpPr>
        <p:spPr>
          <a:xfrm>
            <a:off x="457200" y="41052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57200" y="4148137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Back-End</a:t>
            </a: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Development</a:t>
            </a:r>
            <a:endParaRPr lang="en-US" sz="1035" dirty="0"/>
          </a:p>
        </p:txBody>
      </p:sp>
      <p:sp>
        <p:nvSpPr>
          <p:cNvPr id="17" name="Text 15"/>
          <p:cNvSpPr/>
          <p:nvPr/>
        </p:nvSpPr>
        <p:spPr>
          <a:xfrm>
            <a:off x="2914650" y="4148137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3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dịch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xử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phía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máy chủ.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</a:t>
            </a:r>
            <a:endParaRPr lang="en-US" sz="953" dirty="0"/>
          </a:p>
        </p:txBody>
      </p:sp>
      <p:sp>
        <p:nvSpPr>
          <p:cNvPr id="18" name="Connector line-1792802356396-626364736"/>
          <p:cNvSpPr/>
          <p:nvPr/>
        </p:nvSpPr>
        <p:spPr>
          <a:xfrm>
            <a:off x="457200" y="460533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57200" y="464820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</a:t>
            </a: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Science</a:t>
            </a:r>
            <a:endParaRPr lang="en-US" sz="1035" dirty="0"/>
          </a:p>
        </p:txBody>
      </p:sp>
      <p:sp>
        <p:nvSpPr>
          <p:cNvPr id="20" name="Text 18"/>
          <p:cNvSpPr/>
          <p:nvPr/>
        </p:nvSpPr>
        <p:spPr>
          <a:xfrm>
            <a:off x="2914650" y="46482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tảng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khoa học máy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tính.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</a:t>
            </a:r>
            <a:r>
              <a:rPr lang="en-US" sz="953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Courses</a:t>
            </a:r>
            <a:endParaRPr lang="en-US" sz="953" dirty="0"/>
          </a:p>
        </p:txBody>
      </p:sp>
      <p:sp>
        <p:nvSpPr>
          <p:cNvPr id="21" name="Connector line-1792802356401-269077799"/>
          <p:cNvSpPr/>
          <p:nvPr/>
        </p:nvSpPr>
        <p:spPr>
          <a:xfrm>
            <a:off x="457200" y="51054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457200" y="514826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</a:t>
            </a:r>
            <a:r>
              <a:rPr lang="en-US" sz="1035" b="1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Data</a:t>
            </a:r>
            <a:endParaRPr lang="en-US" sz="1035" dirty="0"/>
          </a:p>
        </p:txBody>
      </p:sp>
      <p:sp>
        <p:nvSpPr>
          <p:cNvPr id="23" name="Text 21"/>
          <p:cNvSpPr/>
          <p:nvPr/>
        </p:nvSpPr>
        <p:spPr>
          <a:xfrm>
            <a:off x="2914650" y="514826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thống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dữ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lớn.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</a:t>
            </a: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Data</a:t>
            </a:r>
            <a:endParaRPr lang="en-US" sz="953" dirty="0"/>
          </a:p>
        </p:txBody>
      </p:sp>
      <p:sp>
        <p:nvSpPr>
          <p:cNvPr id="24" name="Connector line-1792802356405-119430068"/>
          <p:cNvSpPr/>
          <p:nvPr/>
        </p:nvSpPr>
        <p:spPr>
          <a:xfrm>
            <a:off x="457200" y="560546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564832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Theory</a:t>
            </a:r>
            <a:endParaRPr lang="en-US" sz="1035" dirty="0"/>
          </a:p>
        </p:txBody>
      </p:sp>
      <p:sp>
        <p:nvSpPr>
          <p:cNvPr id="26" name="Text 24"/>
          <p:cNvSpPr/>
          <p:nvPr/>
        </p:nvSpPr>
        <p:spPr>
          <a:xfrm>
            <a:off x="2914650" y="564832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thuyết,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nghiên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cứu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tưởng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Papers</a:t>
            </a:r>
            <a:r>
              <a:rPr lang="en-US" sz="953" u="sng" dirty="0" spc="-8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We</a:t>
            </a:r>
            <a:r>
              <a:rPr lang="en-US" sz="953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Love</a:t>
            </a:r>
            <a:endParaRPr lang="en-US" sz="953" dirty="0"/>
          </a:p>
        </p:txBody>
      </p:sp>
      <p:sp>
        <p:nvSpPr>
          <p:cNvPr id="27" name="Connector line-1792802356409-498621691"/>
          <p:cNvSpPr/>
          <p:nvPr/>
        </p:nvSpPr>
        <p:spPr>
          <a:xfrm>
            <a:off x="457200" y="61055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457200" y="6148388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Books</a:t>
            </a:r>
            <a:endParaRPr lang="en-US" sz="1035" dirty="0"/>
          </a:p>
        </p:txBody>
      </p:sp>
      <p:sp>
        <p:nvSpPr>
          <p:cNvPr id="29" name="Text 27"/>
          <p:cNvSpPr/>
          <p:nvPr/>
        </p:nvSpPr>
        <p:spPr>
          <a:xfrm>
            <a:off x="2914650" y="6148388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</a:t>
            </a: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Programming Books</a:t>
            </a:r>
            <a:endParaRPr lang="en-US" sz="953" dirty="0"/>
          </a:p>
        </p:txBody>
      </p:sp>
      <p:sp>
        <p:nvSpPr>
          <p:cNvPr id="30" name="Connector line-1792802356413-80570180"/>
          <p:cNvSpPr/>
          <p:nvPr/>
        </p:nvSpPr>
        <p:spPr>
          <a:xfrm>
            <a:off x="457200" y="660558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57200" y="66484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Editors</a:t>
            </a:r>
            <a:endParaRPr lang="en-US" sz="1035" dirty="0"/>
          </a:p>
        </p:txBody>
      </p:sp>
      <p:sp>
        <p:nvSpPr>
          <p:cNvPr id="32" name="Text 30"/>
          <p:cNvSpPr/>
          <p:nvPr/>
        </p:nvSpPr>
        <p:spPr>
          <a:xfrm>
            <a:off x="2914650" y="664845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soạn thảo và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Sublime</a:t>
            </a:r>
            <a:r>
              <a:rPr lang="en-US" sz="953" u="sng" dirty="0" spc="-17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Text</a:t>
            </a:r>
            <a:endParaRPr lang="en-US" sz="953" dirty="0"/>
          </a:p>
        </p:txBody>
      </p:sp>
      <p:sp>
        <p:nvSpPr>
          <p:cNvPr id="33" name="Connector line-1792802356418-812865590"/>
          <p:cNvSpPr/>
          <p:nvPr/>
        </p:nvSpPr>
        <p:spPr>
          <a:xfrm>
            <a:off x="457200" y="71056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457200" y="714851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Gaming</a:t>
            </a:r>
            <a:endParaRPr lang="en-US" sz="1035" dirty="0"/>
          </a:p>
        </p:txBody>
      </p:sp>
      <p:sp>
        <p:nvSpPr>
          <p:cNvPr id="35" name="Text 33"/>
          <p:cNvSpPr/>
          <p:nvPr/>
        </p:nvSpPr>
        <p:spPr>
          <a:xfrm>
            <a:off x="2914650" y="714851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nghiên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cứu game.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</a:t>
            </a: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Development</a:t>
            </a:r>
            <a:endParaRPr lang="en-US" sz="953" dirty="0"/>
          </a:p>
        </p:txBody>
      </p:sp>
      <p:sp>
        <p:nvSpPr>
          <p:cNvPr id="36" name="Connector line-1792802356421-88226295"/>
          <p:cNvSpPr/>
          <p:nvPr/>
        </p:nvSpPr>
        <p:spPr>
          <a:xfrm>
            <a:off x="457200" y="760571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457200" y="764857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Development</a:t>
            </a:r>
            <a:r>
              <a:rPr lang="en-US" sz="1035" b="1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Environment</a:t>
            </a:r>
            <a:endParaRPr lang="en-US" sz="1035" dirty="0"/>
          </a:p>
        </p:txBody>
      </p:sp>
      <p:sp>
        <p:nvSpPr>
          <p:cNvPr id="38" name="Text 36"/>
          <p:cNvSpPr/>
          <p:nvPr/>
        </p:nvSpPr>
        <p:spPr>
          <a:xfrm>
            <a:off x="2914650" y="764857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Chuẩn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 trường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 trình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phát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triển.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</a:t>
            </a: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Look</a:t>
            </a: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Plugins</a:t>
            </a:r>
            <a:endParaRPr lang="en-US" sz="953" dirty="0"/>
          </a:p>
        </p:txBody>
      </p:sp>
      <p:sp>
        <p:nvSpPr>
          <p:cNvPr id="39" name="Connector line-1792802356425-625797016"/>
          <p:cNvSpPr/>
          <p:nvPr/>
        </p:nvSpPr>
        <p:spPr>
          <a:xfrm>
            <a:off x="457200" y="81057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457200" y="8148638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Entertainment</a:t>
            </a:r>
            <a:endParaRPr lang="en-US" sz="1035" dirty="0"/>
          </a:p>
        </p:txBody>
      </p:sp>
      <p:sp>
        <p:nvSpPr>
          <p:cNvPr id="41" name="Text 39"/>
          <p:cNvSpPr/>
          <p:nvPr/>
        </p:nvSpPr>
        <p:spPr>
          <a:xfrm>
            <a:off x="2914650" y="8148638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 đề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</a:t>
            </a: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Fiction</a:t>
            </a:r>
            <a:endParaRPr lang="en-US" sz="953" dirty="0"/>
          </a:p>
        </p:txBody>
      </p:sp>
      <p:sp>
        <p:nvSpPr>
          <p:cNvPr id="42" name="Connector line-1792802356428-944215600"/>
          <p:cNvSpPr/>
          <p:nvPr/>
        </p:nvSpPr>
        <p:spPr>
          <a:xfrm>
            <a:off x="457200" y="860583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457200" y="864870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Databases</a:t>
            </a:r>
            <a:endParaRPr lang="en-US" sz="1035" dirty="0"/>
          </a:p>
        </p:txBody>
      </p:sp>
      <p:sp>
        <p:nvSpPr>
          <p:cNvPr id="44" name="Text 42"/>
          <p:cNvSpPr/>
          <p:nvPr/>
        </p:nvSpPr>
        <p:spPr>
          <a:xfrm>
            <a:off x="2914650" y="86487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nghệ lưu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trữ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truy vấn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dữ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</a:t>
            </a:r>
            <a:endParaRPr lang="en-US" sz="953" dirty="0"/>
          </a:p>
        </p:txBody>
      </p:sp>
      <p:sp>
        <p:nvSpPr>
          <p:cNvPr id="45" name="Connector line-1792802356434-319494295"/>
          <p:cNvSpPr/>
          <p:nvPr/>
        </p:nvSpPr>
        <p:spPr>
          <a:xfrm>
            <a:off x="457200" y="91059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457200" y="914876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</a:t>
            </a:r>
            <a:endParaRPr lang="en-US" sz="1035" dirty="0"/>
          </a:p>
        </p:txBody>
      </p:sp>
      <p:sp>
        <p:nvSpPr>
          <p:cNvPr id="47" name="Text 45"/>
          <p:cNvSpPr/>
          <p:nvPr/>
        </p:nvSpPr>
        <p:spPr>
          <a:xfrm>
            <a:off x="2914650" y="914876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cụ,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dạng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truyền thông.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Fonts</a:t>
            </a:r>
            <a:endParaRPr lang="en-US" sz="953" dirty="0"/>
          </a:p>
        </p:txBody>
      </p:sp>
      <p:sp>
        <p:nvSpPr>
          <p:cNvPr id="48" name="Connector line-1792802356437-416410283"/>
          <p:cNvSpPr/>
          <p:nvPr/>
        </p:nvSpPr>
        <p:spPr>
          <a:xfrm>
            <a:off x="457200" y="960596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9" name="Connector line-1792802356437-713656177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863" dirty="0"/>
          </a:p>
        </p:txBody>
      </p:sp>
      <p:sp>
        <p:nvSpPr>
          <p:cNvPr id="51" name="Text 49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a86b4b37-03e9-4e12-affc-25a5b653cba7" descr="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Bản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đồ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27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nhóm /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02</a:t>
            </a:r>
            <a:endParaRPr lang="en-US" sz="2250" dirty="0"/>
          </a:p>
        </p:txBody>
      </p:sp>
      <p:sp>
        <p:nvSpPr>
          <p:cNvPr id="5" name="Connector line-1792802359702-34467916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038350"/>
            <a:ext cx="6648450" cy="438150"/>
          </a:xfrm>
          <a:prstGeom prst="rect">
            <a:avLst/>
          </a:prstGeom>
          <a:noFill/>
          <a:ln/>
        </p:spPr>
        <p:txBody>
          <a:bodyPr wrap="square" lIns="0" tIns="4705" rIns="0" bIns="-4705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 theo</a:t>
            </a:r>
            <a:r>
              <a:rPr lang="en-US" sz="97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 vụ.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lấy từ README;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diễn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7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gợi ý</a:t>
            </a:r>
            <a:r>
              <a:rPr lang="en-US" sz="97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97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7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viết.</a:t>
            </a:r>
            <a:r>
              <a:rPr lang="en-US" sz="97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57200" y="26479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</a:t>
            </a:r>
            <a:endParaRPr lang="en-US" sz="1035" dirty="0"/>
          </a:p>
        </p:txBody>
      </p:sp>
      <p:sp>
        <p:nvSpPr>
          <p:cNvPr id="8" name="Text 6"/>
          <p:cNvSpPr/>
          <p:nvPr/>
        </p:nvSpPr>
        <p:spPr>
          <a:xfrm>
            <a:off x="2914650" y="264795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bài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</a:t>
            </a: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Workshoppers</a:t>
            </a:r>
            <a:endParaRPr lang="en-US" sz="953" dirty="0"/>
          </a:p>
        </p:txBody>
      </p:sp>
      <p:sp>
        <p:nvSpPr>
          <p:cNvPr id="9" name="Connector line-1792802359707-357925428"/>
          <p:cNvSpPr/>
          <p:nvPr/>
        </p:nvSpPr>
        <p:spPr>
          <a:xfrm>
            <a:off x="457200" y="31051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57200" y="314801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</a:t>
            </a:r>
            <a:endParaRPr lang="en-US" sz="1035" dirty="0"/>
          </a:p>
        </p:txBody>
      </p:sp>
      <p:sp>
        <p:nvSpPr>
          <p:cNvPr id="11" name="Text 9"/>
          <p:cNvSpPr/>
          <p:nvPr/>
        </p:nvSpPr>
        <p:spPr>
          <a:xfrm>
            <a:off x="2914650" y="314801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bảo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mật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 phạm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</a:t>
            </a: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Security</a:t>
            </a:r>
            <a:endParaRPr lang="en-US" sz="953" dirty="0"/>
          </a:p>
        </p:txBody>
      </p:sp>
      <p:sp>
        <p:nvSpPr>
          <p:cNvPr id="12" name="Connector line-1792802359711-217242384"/>
          <p:cNvSpPr/>
          <p:nvPr/>
        </p:nvSpPr>
        <p:spPr>
          <a:xfrm>
            <a:off x="457200" y="360521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57200" y="364807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</a:t>
            </a:r>
            <a:r>
              <a:rPr lang="en-US" sz="1035" b="1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Management</a:t>
            </a: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Systems</a:t>
            </a:r>
            <a:endParaRPr lang="en-US" sz="1035" dirty="0"/>
          </a:p>
        </p:txBody>
      </p:sp>
      <p:sp>
        <p:nvSpPr>
          <p:cNvPr id="14" name="Text 12"/>
          <p:cNvSpPr/>
          <p:nvPr/>
        </p:nvSpPr>
        <p:spPr>
          <a:xfrm>
            <a:off x="2914650" y="364807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quản trị nội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Umbraco</a:t>
            </a:r>
            <a:endParaRPr lang="en-US" sz="953" dirty="0"/>
          </a:p>
        </p:txBody>
      </p:sp>
      <p:sp>
        <p:nvSpPr>
          <p:cNvPr id="15" name="Connector line-1792802359714-500642893"/>
          <p:cNvSpPr/>
          <p:nvPr/>
        </p:nvSpPr>
        <p:spPr>
          <a:xfrm>
            <a:off x="457200" y="41052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57200" y="4148137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Hardware</a:t>
            </a:r>
            <a:endParaRPr lang="en-US" sz="1035" dirty="0"/>
          </a:p>
        </p:txBody>
      </p:sp>
      <p:sp>
        <p:nvSpPr>
          <p:cNvPr id="17" name="Text 15"/>
          <p:cNvSpPr/>
          <p:nvPr/>
        </p:nvSpPr>
        <p:spPr>
          <a:xfrm>
            <a:off x="2914650" y="4148137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cứng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thiết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Robotics</a:t>
            </a:r>
            <a:endParaRPr lang="en-US" sz="953" dirty="0"/>
          </a:p>
        </p:txBody>
      </p:sp>
      <p:sp>
        <p:nvSpPr>
          <p:cNvPr id="18" name="Connector line-1792802359717-184120761"/>
          <p:cNvSpPr/>
          <p:nvPr/>
        </p:nvSpPr>
        <p:spPr>
          <a:xfrm>
            <a:off x="457200" y="460533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57200" y="464820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</a:t>
            </a:r>
            <a:endParaRPr lang="en-US" sz="1035" dirty="0"/>
          </a:p>
        </p:txBody>
      </p:sp>
      <p:sp>
        <p:nvSpPr>
          <p:cNvPr id="20" name="Text 18"/>
          <p:cNvSpPr/>
          <p:nvPr/>
        </p:nvSpPr>
        <p:spPr>
          <a:xfrm>
            <a:off x="2914650" y="46482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kinh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doanh.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Companies</a:t>
            </a:r>
            <a:endParaRPr lang="en-US" sz="953" dirty="0"/>
          </a:p>
        </p:txBody>
      </p:sp>
      <p:sp>
        <p:nvSpPr>
          <p:cNvPr id="21" name="Connector line-1792802359721-30964297"/>
          <p:cNvSpPr/>
          <p:nvPr/>
        </p:nvSpPr>
        <p:spPr>
          <a:xfrm>
            <a:off x="457200" y="51054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457200" y="514826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</a:t>
            </a:r>
            <a:endParaRPr lang="en-US" sz="1035" dirty="0"/>
          </a:p>
        </p:txBody>
      </p:sp>
      <p:sp>
        <p:nvSpPr>
          <p:cNvPr id="23" name="Text 21"/>
          <p:cNvSpPr/>
          <p:nvPr/>
        </p:nvSpPr>
        <p:spPr>
          <a:xfrm>
            <a:off x="2914650" y="514826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phục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 công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Slack</a:t>
            </a:r>
            <a:endParaRPr lang="en-US" sz="953" dirty="0"/>
          </a:p>
        </p:txBody>
      </p:sp>
      <p:sp>
        <p:nvSpPr>
          <p:cNvPr id="24" name="Connector line-1792802359724-168863045"/>
          <p:cNvSpPr/>
          <p:nvPr/>
        </p:nvSpPr>
        <p:spPr>
          <a:xfrm>
            <a:off x="457200" y="560546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564832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Networking</a:t>
            </a:r>
            <a:endParaRPr lang="en-US" sz="1035" dirty="0"/>
          </a:p>
        </p:txBody>
      </p:sp>
      <p:sp>
        <p:nvSpPr>
          <p:cNvPr id="26" name="Text 24"/>
          <p:cNvSpPr/>
          <p:nvPr/>
        </p:nvSpPr>
        <p:spPr>
          <a:xfrm>
            <a:off x="2914650" y="564832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 công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mạng.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7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PCAPTools</a:t>
            </a:r>
            <a:endParaRPr lang="en-US" sz="953" dirty="0"/>
          </a:p>
        </p:txBody>
      </p:sp>
      <p:sp>
        <p:nvSpPr>
          <p:cNvPr id="27" name="Connector line-1792802359727-386343656"/>
          <p:cNvSpPr/>
          <p:nvPr/>
        </p:nvSpPr>
        <p:spPr>
          <a:xfrm>
            <a:off x="457200" y="61055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457200" y="6148388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Decentralized Systems</a:t>
            </a:r>
            <a:endParaRPr lang="en-US" sz="1035" dirty="0"/>
          </a:p>
        </p:txBody>
      </p:sp>
      <p:sp>
        <p:nvSpPr>
          <p:cNvPr id="29" name="Text 27"/>
          <p:cNvSpPr/>
          <p:nvPr/>
        </p:nvSpPr>
        <p:spPr>
          <a:xfrm>
            <a:off x="2914650" y="6148388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thống phi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trung.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Bitcoin</a:t>
            </a:r>
            <a:endParaRPr lang="en-US" sz="953" dirty="0"/>
          </a:p>
        </p:txBody>
      </p:sp>
      <p:sp>
        <p:nvSpPr>
          <p:cNvPr id="30" name="Connector line-1792802359733-692337566"/>
          <p:cNvSpPr/>
          <p:nvPr/>
        </p:nvSpPr>
        <p:spPr>
          <a:xfrm>
            <a:off x="457200" y="660558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57200" y="66484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</a:t>
            </a:r>
            <a:r>
              <a:rPr lang="en-US" sz="1035" b="1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</a:t>
            </a:r>
            <a:r>
              <a:rPr lang="en-US" sz="1035" b="1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Social</a:t>
            </a: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Science</a:t>
            </a:r>
            <a:endParaRPr lang="en-US" sz="1035" dirty="0"/>
          </a:p>
        </p:txBody>
      </p:sp>
      <p:sp>
        <p:nvSpPr>
          <p:cNvPr id="32" name="Text 30"/>
          <p:cNvSpPr/>
          <p:nvPr/>
        </p:nvSpPr>
        <p:spPr>
          <a:xfrm>
            <a:off x="2914650" y="664845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 nguồn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khỏe</a:t>
            </a: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khoa học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xã hội.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Biomedical</a:t>
            </a:r>
            <a:r>
              <a:rPr lang="en-US" sz="953" u="sng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Information</a:t>
            </a: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Extraction</a:t>
            </a:r>
            <a:endParaRPr lang="en-US" sz="953" dirty="0"/>
          </a:p>
        </p:txBody>
      </p:sp>
      <p:sp>
        <p:nvSpPr>
          <p:cNvPr id="33" name="Connector line-1792802359737-645997157"/>
          <p:cNvSpPr/>
          <p:nvPr/>
        </p:nvSpPr>
        <p:spPr>
          <a:xfrm>
            <a:off x="457200" y="71056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457200" y="7148513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Events</a:t>
            </a:r>
            <a:endParaRPr lang="en-US" sz="1035" dirty="0"/>
          </a:p>
        </p:txBody>
      </p:sp>
      <p:sp>
        <p:nvSpPr>
          <p:cNvPr id="35" name="Text 33"/>
          <p:cNvSpPr/>
          <p:nvPr/>
        </p:nvSpPr>
        <p:spPr>
          <a:xfrm>
            <a:off x="2914650" y="7148513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 đề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địa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</a:t>
            </a:r>
            <a:r>
              <a:rPr lang="en-US" sz="953" u="sng" dirty="0" spc="-1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Tech</a:t>
            </a: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Events</a:t>
            </a:r>
            <a:endParaRPr lang="en-US" sz="953" dirty="0"/>
          </a:p>
        </p:txBody>
      </p:sp>
      <p:sp>
        <p:nvSpPr>
          <p:cNvPr id="36" name="Connector line-1792802359741-545338802"/>
          <p:cNvSpPr/>
          <p:nvPr/>
        </p:nvSpPr>
        <p:spPr>
          <a:xfrm>
            <a:off x="457200" y="7605713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457200" y="7648575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1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</a:t>
            </a:r>
            <a:endParaRPr lang="en-US" sz="1035" dirty="0"/>
          </a:p>
        </p:txBody>
      </p:sp>
      <p:sp>
        <p:nvSpPr>
          <p:cNvPr id="38" name="Text 36"/>
          <p:cNvSpPr/>
          <p:nvPr/>
        </p:nvSpPr>
        <p:spPr>
          <a:xfrm>
            <a:off x="2914650" y="7648575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 phương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pháp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1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</a:t>
            </a:r>
            <a:endParaRPr lang="en-US" sz="953" dirty="0"/>
          </a:p>
        </p:txBody>
      </p:sp>
      <p:sp>
        <p:nvSpPr>
          <p:cNvPr id="39" name="Connector line-1792802359746-197798995"/>
          <p:cNvSpPr/>
          <p:nvPr/>
        </p:nvSpPr>
        <p:spPr>
          <a:xfrm>
            <a:off x="457200" y="81057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457200" y="8148638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Miscellaneous</a:t>
            </a:r>
            <a:endParaRPr lang="en-US" sz="1035" dirty="0"/>
          </a:p>
        </p:txBody>
      </p:sp>
      <p:sp>
        <p:nvSpPr>
          <p:cNvPr id="41" name="Text 39"/>
          <p:cNvSpPr/>
          <p:nvPr/>
        </p:nvSpPr>
        <p:spPr>
          <a:xfrm>
            <a:off x="2914650" y="8148638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 đề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nằm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Scientific</a:t>
            </a:r>
            <a:r>
              <a:rPr lang="en-US" sz="953" u="sng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Writing</a:t>
            </a:r>
            <a:endParaRPr lang="en-US" sz="953" dirty="0"/>
          </a:p>
        </p:txBody>
      </p:sp>
      <p:sp>
        <p:nvSpPr>
          <p:cNvPr id="42" name="Connector line-1792802359749-711184510"/>
          <p:cNvSpPr/>
          <p:nvPr/>
        </p:nvSpPr>
        <p:spPr>
          <a:xfrm>
            <a:off x="457200" y="8605838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457200" y="8648700"/>
            <a:ext cx="2305050" cy="419100"/>
          </a:xfrm>
          <a:prstGeom prst="rect">
            <a:avLst/>
          </a:prstGeom>
          <a:noFill/>
          <a:ln/>
        </p:spPr>
        <p:txBody>
          <a:bodyPr wrap="square" lIns="0" tIns="4995" rIns="0" bIns="-4995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35" b="1" u="sng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Related</a:t>
            </a:r>
            <a:endParaRPr lang="en-US" sz="1035" dirty="0"/>
          </a:p>
        </p:txBody>
      </p:sp>
      <p:sp>
        <p:nvSpPr>
          <p:cNvPr id="44" name="Text 42"/>
          <p:cNvSpPr/>
          <p:nvPr/>
        </p:nvSpPr>
        <p:spPr>
          <a:xfrm>
            <a:off x="2914650" y="86487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5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truy</a:t>
            </a:r>
            <a:r>
              <a:rPr lang="en-US" sz="953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 và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khám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95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 Awesome.</a:t>
            </a:r>
            <a:endParaRPr lang="en-US" sz="953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95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Ví</a:t>
            </a:r>
            <a:r>
              <a:rPr lang="en-US" sz="95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ts val="1334"/>
              </a:lnSpc>
              <a:buNone/>
            </a:pPr>
            <a:r>
              <a:rPr lang="en-US" sz="953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</a:t>
            </a:r>
            <a:r>
              <a:rPr lang="en-US" sz="953" u="sng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Awesome</a:t>
            </a:r>
            <a:r>
              <a:rPr lang="en-US" sz="953" u="sng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Lists</a:t>
            </a:r>
            <a:endParaRPr lang="en-US" sz="953" dirty="0"/>
          </a:p>
        </p:txBody>
      </p:sp>
      <p:sp>
        <p:nvSpPr>
          <p:cNvPr id="45" name="Connector line-1792802359753-642950133"/>
          <p:cNvSpPr/>
          <p:nvPr/>
        </p:nvSpPr>
        <p:spPr>
          <a:xfrm>
            <a:off x="457200" y="91059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6" name="Connector line-1792802359753-633097404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863" dirty="0"/>
          </a:p>
        </p:txBody>
      </p:sp>
      <p:sp>
        <p:nvSpPr>
          <p:cNvPr id="48" name="Text 46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c2a8e00f-97e5-44b5-af7a-f38424156e77" descr="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Hiểu</a:t>
            </a:r>
            <a:r>
              <a:rPr lang="en-US" sz="2250" dirty="0" spc="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đúng</a:t>
            </a:r>
            <a:r>
              <a:rPr lang="en-US" sz="2250" dirty="0" spc="-1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Awesome</a:t>
            </a:r>
            <a:endParaRPr lang="en-US" sz="2250" dirty="0"/>
          </a:p>
        </p:txBody>
      </p:sp>
      <p:sp>
        <p:nvSpPr>
          <p:cNvPr id="5" name="Connector line-1792802363073-520064733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Kho</a:t>
            </a:r>
            <a:r>
              <a:rPr lang="en-US" sz="1875" dirty="0" spc="-5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này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thực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sự</a:t>
            </a:r>
            <a:r>
              <a:rPr lang="en-US" sz="1875" dirty="0" spc="-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giúp</a:t>
            </a:r>
            <a:r>
              <a:rPr lang="en-US" sz="1875" dirty="0" spc="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mình</a:t>
            </a:r>
            <a:r>
              <a:rPr lang="en-US" sz="1875" dirty="0" spc="-4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làm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việc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gì?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khám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 tài nguyên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tầng: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 tới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ngành;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chuyên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ngành dẫn tới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cụ,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 liệu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trị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cốt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lõi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 chọn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do.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 xuất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 ở đây là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khởi đầu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phải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đảm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người. Chương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chuyển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muốn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mơ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 nhiệm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hoàn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mình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 ở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tầng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nào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thống.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[R1][R2]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363085-728692658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363087-175897815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Kho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lưu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trữ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dung,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mã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lịch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đổi.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Curation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Tuyển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 đích,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 vi.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Trang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repo.</a:t>
            </a:r>
            <a:endParaRPr lang="en-US" sz="1125" dirty="0"/>
          </a:p>
        </p:txBody>
      </p:sp>
      <p:sp>
        <p:nvSpPr>
          <p:cNvPr id="24" name="Connector line-1792802363099-598075738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06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4d12ef5-ec51-4f49-a3f7-3d66a40df1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Đặt</a:t>
            </a:r>
            <a:r>
              <a:rPr lang="en-US" sz="2250" dirty="0" spc="-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câu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hỏi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trước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khi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mở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 sách</a:t>
            </a:r>
            <a:endParaRPr lang="en-US" sz="2250" dirty="0"/>
          </a:p>
        </p:txBody>
      </p:sp>
      <p:sp>
        <p:nvSpPr>
          <p:cNvPr id="5" name="Connector line-1792802365871-42717055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Viết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yêu cầu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 đầu</a:t>
            </a:r>
            <a:r>
              <a:rPr lang="en-US" sz="1125" dirty="0" spc="-7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ra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ràng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buộc</a:t>
            </a:r>
            <a:r>
              <a:rPr lang="en-US" sz="1125" dirty="0" spc="-8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rõ</a:t>
            </a:r>
            <a:r>
              <a:rPr lang="en-US" sz="1125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ràng.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Nếu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“có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 cụ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nào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hay?”,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càng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lớn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càng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dễ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tâm.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 bằng một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muốn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làm,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dấu hiệu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công.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viết:</a:t>
            </a:r>
            <a:r>
              <a:rPr lang="en-US" sz="1140" dirty="0" spc="-1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“Tôi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muốn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JavaScript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tập, dùng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máy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có,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tiên”.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hỏi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ngoài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vi. Manifesto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rõ;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đọc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cũng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mẫu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project-brief.md trong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 bài tập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 một ghi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chú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trống.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 việc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muốn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 thành,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tránh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“học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thứ”.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 thức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bị, ngôn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ngữ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phí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chấp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thì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“chưa xác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định”.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nghĩa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được: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chú,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hoặc bảng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Viết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làm.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 chọn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framework,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ưu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hiệu năng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vẫn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 học cú pháp.</a:t>
            </a:r>
            <a:endParaRPr lang="en-US" sz="1095" dirty="0"/>
          </a:p>
        </p:txBody>
      </p:sp>
      <p:sp>
        <p:nvSpPr>
          <p:cNvPr id="23" name="Connector line-1792802365898-499011347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4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mục: mục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tiêu,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buộc,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ra,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ngoài phạm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Đặt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công nghệ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“học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AI”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vụ.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sản phẩm nhỏ hoặc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trả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2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Tại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sao “tìm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thư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viện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nhiều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sao</a:t>
            </a:r>
            <a:r>
              <a:rPr lang="en-US" sz="1013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nhất”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chưa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đủ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làm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yêu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cầu?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 Vì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xác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nhiệm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vụ,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 thư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viện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bạn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 ra.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Nhờ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hiểu.</a:t>
            </a:r>
            <a:endParaRPr lang="en-US" sz="923" dirty="0"/>
          </a:p>
        </p:txBody>
      </p:sp>
      <p:sp>
        <p:nvSpPr>
          <p:cNvPr id="32" name="Connector line-1792802365914-671511485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07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[R2]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d480148e-d856-417c-8851-0988602b9840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Đi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qua</a:t>
            </a:r>
            <a:r>
              <a:rPr lang="en-US" sz="2250" dirty="0" spc="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đúng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ba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tầng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liên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kết</a:t>
            </a:r>
            <a:endParaRPr lang="en-US" sz="2250" dirty="0"/>
          </a:p>
        </p:txBody>
      </p:sp>
      <p:sp>
        <p:nvSpPr>
          <p:cNvPr id="5" name="Connector line-1792802368878-8249083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Phân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biệt</a:t>
            </a:r>
            <a:r>
              <a:rPr lang="en-US" sz="1125" dirty="0" spc="-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repo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tổng,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danh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sách chuyên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ngành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tài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nguyên đích.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Ở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khác,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gói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 mềm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cài.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 thật: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Platforms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trỏ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awesome-nodejs.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chuyên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ngành,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mục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14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cũng phân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biệt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với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 một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 có.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Nhầm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tầng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dễ khiến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 thay đổi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nơi hoặc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tưởng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mình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[R1][R3]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readme.md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sindresorhus/awesome,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Platforms.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 danh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awesome-nodejs,</a:t>
            </a:r>
            <a:r>
              <a:rPr lang="en-US" sz="1095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 Contents của danh sách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gần yêu cầu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1. Mở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 đích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chính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 của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 lại ba dòng: repo tổng → danh sách chuyên ngành → tài nguyên đích. Viết một câu mô tả vai trò của từng dòng.</a:t>
            </a:r>
            <a:endParaRPr lang="en-US" sz="1095" dirty="0"/>
          </a:p>
        </p:txBody>
      </p:sp>
      <p:sp>
        <p:nvSpPr>
          <p:cNvPr id="23" name="Connector line-1792802368901-451585032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 đường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thật,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kèm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vai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trò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2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Tải</a:t>
            </a:r>
            <a:r>
              <a:rPr lang="en-US" sz="1013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013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bên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ngoài.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chỉ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 dung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Muốn</a:t>
            </a:r>
            <a:r>
              <a:rPr lang="en-US" sz="1013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đề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xuất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 thư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viện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Node.js,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bạn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thường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đọc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hướng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dẫn đóng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góp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ở đâu?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 danh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đích;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yếu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chủ đề.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Lặp lại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Python trong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Programming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Languages.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 hai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chia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mục,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luận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 lượng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viện.</a:t>
            </a:r>
            <a:endParaRPr lang="en-US" sz="923" dirty="0"/>
          </a:p>
        </p:txBody>
      </p:sp>
      <p:sp>
        <p:nvSpPr>
          <p:cNvPr id="32" name="Connector line-1792802368915-429571573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08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[R1]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2d569a80-a04d-4aa1-93ea-d41af73b5350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Đọc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bản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đồ 27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nhóm</a:t>
            </a:r>
            <a:endParaRPr lang="en-US" sz="2250" dirty="0"/>
          </a:p>
        </p:txBody>
      </p:sp>
      <p:sp>
        <p:nvSpPr>
          <p:cNvPr id="5" name="Connector line-1792802371643-164920256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r>
              <a:rPr lang="en-US" sz="1875" dirty="0" spc="-5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lối</a:t>
            </a:r>
            <a:r>
              <a:rPr lang="en-US" sz="1875" dirty="0" spc="-7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vào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nào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cho</a:t>
            </a:r>
            <a:r>
              <a:rPr lang="en-US" sz="1875" dirty="0" spc="-6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câu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hỏi</a:t>
            </a:r>
            <a:r>
              <a:rPr lang="en-US" sz="1875" dirty="0" spc="-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của</a:t>
            </a:r>
            <a:r>
              <a:rPr lang="en-US" sz="1875" dirty="0" spc="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mình?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lối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khám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phải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môn học. Platforms tổ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chạy;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Programming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Languages quanh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ngôn ngữ;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Front-End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Back-End quanh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vai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trò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Theory,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Books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Learn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tri thức hoặc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học.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có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liên quan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 nhiều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lối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vào. Vì</a:t>
            </a:r>
            <a:r>
              <a:rPr lang="en-US" sz="1350" dirty="0" spc="-1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vậy,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 vụ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 chiếu phạm vi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sẽ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hữu ích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hơn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cố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nhãn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 tuyệt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đối.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371650-391383339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371652-493564094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Nền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tảng hoặc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hoạt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Taxonomy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chia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 thành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</a:t>
            </a: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path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Lộ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xây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nguyên.</a:t>
            </a:r>
            <a:endParaRPr lang="en-US" sz="1125" dirty="0"/>
          </a:p>
        </p:txBody>
      </p:sp>
      <p:sp>
        <p:nvSpPr>
          <p:cNvPr id="24" name="Connector line-1792802371661-973825899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09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3a25483-f200-4fcd-9348-5d22260461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 nhóm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theo việc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cần</a:t>
            </a:r>
            <a:r>
              <a:rPr lang="en-US" sz="2250" dirty="0" spc="-6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làm</a:t>
            </a:r>
            <a:endParaRPr lang="en-US" sz="2250" dirty="0"/>
          </a:p>
        </p:txBody>
      </p:sp>
      <p:sp>
        <p:nvSpPr>
          <p:cNvPr id="5" name="Connector line-1792802386365-321272438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Tìm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hai lối</a:t>
            </a:r>
            <a:r>
              <a:rPr lang="en-US" sz="1125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vào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hợp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lý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giải thích được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sự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khác nhau.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web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Front-End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Development, Back-End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Development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ngôn ngữ quen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thuộc. Muốn hiểu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tảng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thì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Computer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Science, Theory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Books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cửa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coi các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mức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 dễ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khó: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đưa</a:t>
            </a:r>
            <a:r>
              <a:rPr lang="en-US" sz="1140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 bắt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buộc.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 ở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kê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27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mẫu để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thử.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 tập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gắn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 mỗi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biên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soạn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hứa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rằng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đích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sẽ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dạy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 đề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Lấy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 cầu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khoanh hai nhóm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liên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27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nhóm,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 của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 đích.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 bằng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thấy phạm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 rõ,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 xác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 dự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phòng.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dựa vào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 nhất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sao.</a:t>
            </a:r>
            <a:endParaRPr lang="en-US" sz="1095" dirty="0"/>
          </a:p>
        </p:txBody>
      </p:sp>
      <p:sp>
        <p:nvSpPr>
          <p:cNvPr id="23" name="Connector line-1792802386386-550579150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 điều hướng</a:t>
            </a: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rằng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đứng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 thức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học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trước.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hướng,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động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Vì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nhu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cầu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thể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hai đường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đi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đúng?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 Vì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chia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góc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nhìn: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trường, vai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trò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việc,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lĩnh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vực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ngoài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lập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trình,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chẳng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xa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khoa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học.</a:t>
            </a:r>
            <a:endParaRPr lang="en-US" sz="923" dirty="0"/>
          </a:p>
        </p:txBody>
      </p:sp>
      <p:sp>
        <p:nvSpPr>
          <p:cNvPr id="32" name="Connector line-1792802386397-564648770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10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[R1]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82e74025-4ccc-4b0c-87b6-f2c8e6971da0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Biến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thành</a:t>
            </a:r>
            <a:r>
              <a:rPr lang="en-US" sz="2250" dirty="0" spc="-8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lộ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trình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học</a:t>
            </a:r>
            <a:endParaRPr lang="en-US" sz="2250" dirty="0"/>
          </a:p>
        </p:txBody>
      </p:sp>
      <p:sp>
        <p:nvSpPr>
          <p:cNvPr id="5" name="Connector line-1792802389295-21218975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Sắp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 ba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bước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học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quan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hệ đầu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vào–đầu</a:t>
            </a:r>
            <a:r>
              <a:rPr lang="en-US" sz="1125" dirty="0" spc="-6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ra.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phong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phú không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tạo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tự bổ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sung thứ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 kiểm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bước: hiểu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 một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nhỏ,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rộng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sánh.</a:t>
            </a:r>
            <a:r>
              <a:rPr lang="en-US" sz="114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bước,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một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chính để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chuyển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 liên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tục.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dụ: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nhập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 khi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nâng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cao.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Learn,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Books và Computer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Science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14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 khám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nguồn;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 tự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điều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chỉnh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học.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tự: cần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thay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Gắn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chính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 mỗi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 và 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 thức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đó yêu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Đặt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 từng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bước. Chỉ chuyển bước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đầu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Nếu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quá khó,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quay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tảng.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thuật ngữ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khiến bạn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mắc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kẹt.</a:t>
            </a:r>
            <a:endParaRPr lang="en-US" sz="1095" dirty="0"/>
          </a:p>
        </p:txBody>
      </p:sp>
      <p:sp>
        <p:nvSpPr>
          <p:cNvPr id="23" name="Connector line-1792802389316-78476587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Lộ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bước,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nguyên,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 bắt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Lập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danh sách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khóa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 nhưng không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bài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hành.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nhỏ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mỗi nguồn chính.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Khi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nào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nên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đổi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tài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nguyên?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75" rIns="0" bIns="-4575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944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4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944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44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944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lệch</a:t>
            </a:r>
            <a:r>
              <a:rPr lang="en-US" sz="944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 hoặc thiếu kiến thức</a:t>
            </a:r>
            <a:r>
              <a:rPr lang="en-US" sz="944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nền;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đổi</a:t>
            </a:r>
            <a:r>
              <a:rPr lang="en-US" sz="944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944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944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vừa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thấy</a:t>
            </a:r>
            <a:r>
              <a:rPr lang="en-US" sz="944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44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944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944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944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hấp dẫn.</a:t>
            </a:r>
            <a:endParaRPr lang="en-US" sz="944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 có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quản</a:t>
            </a:r>
            <a:r>
              <a:rPr lang="en-US" sz="923" dirty="0" spc="-1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lý.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tăng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nguyên.</a:t>
            </a:r>
            <a:endParaRPr lang="en-US" sz="923" dirty="0"/>
          </a:p>
        </p:txBody>
      </p:sp>
      <p:sp>
        <p:nvSpPr>
          <p:cNvPr id="32" name="Connector line-1792802389329-836818799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11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[R1]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17e438b6-3148-47af-8fc9-b76fffe023e6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6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Tuyển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chọn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bằng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bằng chứng</a:t>
            </a:r>
            <a:endParaRPr lang="en-US" sz="2250" dirty="0"/>
          </a:p>
        </p:txBody>
      </p:sp>
      <p:sp>
        <p:nvSpPr>
          <p:cNvPr id="5" name="Connector line-1792802392243-620822765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66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Tại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sao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một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tài</a:t>
            </a:r>
            <a:r>
              <a:rPr lang="en-US" sz="1875" dirty="0" spc="-4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nguyên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xứng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đáng</a:t>
            </a:r>
            <a:r>
              <a:rPr lang="en-US" sz="1875" dirty="0" spc="-4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xuất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hiện?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awesome manifesto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chỉ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người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35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thật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 khuyên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 thích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lợi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còn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 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trì, đã lưu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trữ,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ngừng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thiếu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khỏi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chính; trường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 nằm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tệp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riêng.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 chuyển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thần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ấy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 thang điểm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350" dirty="0" spc="-1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35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viết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 thức của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392251-41877073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392253-787336470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Bằng chứng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tái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Archived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chủ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 án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chuyển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sang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lưu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trữ.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Điểm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giữa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lựa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chọn.</a:t>
            </a:r>
            <a:endParaRPr lang="en-US" sz="1125" dirty="0"/>
          </a:p>
        </p:txBody>
      </p:sp>
      <p:sp>
        <p:nvSpPr>
          <p:cNvPr id="24" name="Connector line-1792802392262-588123552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12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55def6a-d629-4c4f-a588-9c8050565c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Lập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hồ sơ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ứng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viên</a:t>
            </a:r>
            <a:endParaRPr lang="en-US" sz="2250" dirty="0"/>
          </a:p>
        </p:txBody>
      </p:sp>
      <p:sp>
        <p:nvSpPr>
          <p:cNvPr id="5" name="Connector line-1792802395087-255881861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Phân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biệt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điều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đã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quan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sát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với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điều đang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suy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đoán.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381" rIns="0" bIns="-5381" rtlCol="0" anchor="t"/>
          <a:lstStyle/>
          <a:p>
            <a:pPr algn="l" indent="0" marL="0">
              <a:lnSpc>
                <a:spcPts val="1561"/>
              </a:lnSpc>
              <a:buNone/>
            </a:pP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 hấp dẫn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khuyên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khác dùng.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chính,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vi, người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hợp,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bắt đầu,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tình</a:t>
            </a:r>
            <a:r>
              <a:rPr lang="en-US" sz="111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 trì quan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sát được.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 nhận</a:t>
            </a:r>
            <a:r>
              <a:rPr lang="en-US" sz="111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có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1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chứng.</a:t>
            </a:r>
            <a:r>
              <a:rPr lang="en-US" sz="111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 “đã lưu trữ” phải dựa</a:t>
            </a:r>
            <a:r>
              <a:rPr lang="en-US" sz="111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 trạng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11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repo;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“dễ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dùng”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 đã thử. Không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gần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đây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 đủ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luận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ngừng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hoạt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động, bởi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tài nguyên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ổn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11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đổi.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chất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chọn;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</a:t>
            </a:r>
            <a:r>
              <a:rPr lang="en-US" sz="111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1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1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viết.</a:t>
            </a:r>
            <a:r>
              <a:rPr lang="en-US" sz="111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115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mẫu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candidate-log.csv.</a:t>
            </a:r>
            <a:r>
              <a:rPr lang="en-US" sz="1095" dirty="0" spc="-2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dòng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 dự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gốc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phép.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Chép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chứng;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không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thấy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“chưa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minh”.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trữ,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 báo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ngừng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đầu.</a:t>
            </a:r>
            <a:r>
              <a:rPr lang="en-US" sz="1095" dirty="0" spc="-1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sát khỏi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diễn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nhân.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Thử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nguyên.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 vào,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còn hạn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chế.</a:t>
            </a:r>
            <a:endParaRPr lang="en-US" sz="1095" dirty="0"/>
          </a:p>
        </p:txBody>
      </p:sp>
      <p:sp>
        <p:nvSpPr>
          <p:cNvPr id="23" name="Connector line-1792802395118-778113338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 ứng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liên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bằng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thử/chưa thử.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“miễn phí,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toàn,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dễ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dùng” theo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ấn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tượng.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thể,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quả thử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tế.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Bạn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chưa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tìm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thấy giấy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phép thì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nên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ghi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gì?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minh,</a:t>
            </a:r>
            <a:r>
              <a:rPr lang="en-US" sz="945" dirty="0" spc="-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án; không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suy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quyền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923" dirty="0" spc="-6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bạn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bác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bỏ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cách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còn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đúng.</a:t>
            </a:r>
            <a:endParaRPr lang="en-US" sz="923" dirty="0"/>
          </a:p>
        </p:txBody>
      </p:sp>
      <p:sp>
        <p:nvSpPr>
          <p:cNvPr id="32" name="Connector line-1792802395129-501756511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13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[R2]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ec7f16d0-cbb5-4353-86f8-69d665d4a508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So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sánh</a:t>
            </a:r>
            <a:r>
              <a:rPr lang="en-US" sz="2250" dirty="0" spc="-8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2250" dirty="0" spc="-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loại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2250" dirty="0" spc="-1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lý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do</a:t>
            </a:r>
            <a:endParaRPr lang="en-US" sz="2250" dirty="0"/>
          </a:p>
        </p:txBody>
      </p:sp>
      <p:sp>
        <p:nvSpPr>
          <p:cNvPr id="5" name="Connector line-1792802398059-582140876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Ra quyết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định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 thể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giải thích lại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cho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người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khác.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 chí.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gồm: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 nhiệm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vụ,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 Bạn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chấm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đến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2,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không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thế điều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buộc.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 án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quyền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 định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 minh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chặn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quyết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hiện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cao.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Manifesto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khuyến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khích bỏ</a:t>
            </a:r>
            <a:r>
              <a:rPr lang="en-US" sz="1140" dirty="0" spc="1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bớt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vì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nhiều;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tiêu của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lựa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xếp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phổ quát.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 ứng viên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cùng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 vụ.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 bắt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buộc,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tránh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bên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mình thích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thắng.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Chấm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bốn tiêu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chứng: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 đạt/chưa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 đạt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 đạt tác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ưu điểm,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 chế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tình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huống không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từng ứng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hoãn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 hai.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đoạn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 định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khiến bạn sẽ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1095" dirty="0"/>
          </a:p>
        </p:txBody>
      </p:sp>
      <p:sp>
        <p:nvSpPr>
          <p:cNvPr id="23" name="Connector line-1792802398080-558953267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sánh</a:t>
            </a: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đoạn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luận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khoảng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 câu.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Cộng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bỏ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buộc.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Luôn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chặn trước khi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 sánh.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Hai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ứng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viên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cùng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điểm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thì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làm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gì?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 Thử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biệt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trọng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theo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 của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dùng;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bịa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Đưa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 từng ô từ liên kết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 không.</a:t>
            </a:r>
            <a:endParaRPr lang="en-US" sz="923" dirty="0"/>
          </a:p>
        </p:txBody>
      </p:sp>
      <p:sp>
        <p:nvSpPr>
          <p:cNvPr id="32" name="Connector line-1792802398091-463557052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14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[R2]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06335ea3-a5e4-4a22-8a1c-56316f29f3e0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Viết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mục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giới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thiệu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ích</a:t>
            </a:r>
            <a:endParaRPr lang="en-US" sz="2250" dirty="0"/>
          </a:p>
        </p:txBody>
      </p:sp>
      <p:sp>
        <p:nvSpPr>
          <p:cNvPr id="5" name="Connector line-1792802401165-64786874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Người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đọc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hiểu</a:t>
            </a:r>
            <a:r>
              <a:rPr lang="en-US" sz="1875" dirty="0" spc="6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được</a:t>
            </a:r>
            <a:r>
              <a:rPr lang="en-US" sz="1875" dirty="0" spc="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gì</a:t>
            </a:r>
            <a:r>
              <a:rPr lang="en-US" sz="1875" dirty="0" spc="-9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sau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một</a:t>
            </a:r>
            <a:r>
              <a:rPr lang="en-US" sz="1875" dirty="0" spc="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dòng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mô</a:t>
            </a:r>
            <a:r>
              <a:rPr lang="en-US" sz="1875" dirty="0" spc="-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tả?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 ngắn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gọn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 tin.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biệt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 chủ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 xuất vào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án/chủ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khẩu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hiệu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nói “một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tài nguyên”.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 mục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 nhất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quán về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 tên,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chấm.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 này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chú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sát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dài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ngắn,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35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401172-870319144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401173-18904173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tên,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Câu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nêu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năng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phạm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 cụ thể.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Editorial</a:t>
            </a:r>
            <a:r>
              <a:rPr lang="en-US" sz="1125" b="1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 nghĩa, cấu trúc và cách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diễn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đạt.</a:t>
            </a:r>
            <a:endParaRPr lang="en-US" sz="1125" dirty="0"/>
          </a:p>
        </p:txBody>
      </p:sp>
      <p:sp>
        <p:nvSpPr>
          <p:cNvPr id="24" name="Connector line-1792802401183-590593178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15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b128227-f600-4b6d-bb27-bf4c1f6c00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Viết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một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entry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không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quảng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cáo</a:t>
            </a:r>
            <a:endParaRPr lang="en-US" sz="2250" dirty="0"/>
          </a:p>
        </p:txBody>
      </p:sp>
      <p:sp>
        <p:nvSpPr>
          <p:cNvPr id="5" name="Connector line-1792802404072-302169874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Viết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mô</a:t>
            </a:r>
            <a:r>
              <a:rPr lang="en-US" sz="1125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tả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năng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 thể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kiểm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 entry có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ích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 quyết định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“tốt</a:t>
            </a:r>
            <a:r>
              <a:rPr lang="en-US" sz="114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nhất”,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“cực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mạnh”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 đánh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giá.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và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ngăn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dấu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gạch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ngang;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chữ hoa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thúc bằng dấu chấm. Khi đề xuất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lên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 chủ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quảng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 chính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iOS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hệ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“tài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và công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iOS”. [R5]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 viên đã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 sơ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trả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“nó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cung cấp chức năng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gì?”.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Xóa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cáo, nhận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Giữ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dự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 gốc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tả. Dùng đoạn mẫu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 bài tập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cú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pháp Markdown.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gốc. Nếu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vượt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bạn đã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hẹp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bổ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1095" dirty="0"/>
          </a:p>
        </p:txBody>
      </p:sp>
      <p:sp>
        <p:nvSpPr>
          <p:cNvPr id="23" name="Connector line-1792802404090-7123976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 entry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 định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chọn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nằm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Đưa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khen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bỏ chức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năng.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 từ cụ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gốc.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Mô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tả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ngắn có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cần kể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hết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tính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năng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 Nó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nêu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 chức năng hoặc phạm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đọc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sàng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lọc; chi tiết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nằm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Nhờ người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entry;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 hiểu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lệch.</a:t>
            </a:r>
            <a:endParaRPr lang="en-US" sz="923" dirty="0"/>
          </a:p>
        </p:txBody>
      </p:sp>
      <p:sp>
        <p:nvSpPr>
          <p:cNvPr id="32" name="Connector line-1792802404101-287401864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16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[R5]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b208f181-ec0d-4e0f-9c3a-7d3e298f7282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Thử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trải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nghiệm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của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người đọc</a:t>
            </a:r>
            <a:endParaRPr lang="en-US" sz="2250" dirty="0"/>
          </a:p>
        </p:txBody>
      </p:sp>
      <p:sp>
        <p:nvSpPr>
          <p:cNvPr id="5" name="Connector line-1792802407054-71716751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Đo</a:t>
            </a:r>
            <a:r>
              <a:rPr lang="en-US" sz="1125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xem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danh sách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giúp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người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mới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tìm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thứ cần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Tuyển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dừng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nguyên.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có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chất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 vẫn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khó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 nếu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mơ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nhau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Manifesto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nhóm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dạng nhất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quán.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 một nhiệm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kiếm: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đọc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 hỏi,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 tự chọn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</a:t>
            </a:r>
            <a:r>
              <a:rPr lang="en-US" sz="114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lựa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chọn. Không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đặt một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mọi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người;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cần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vị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nhầm và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 thiếu.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trúc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 có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trả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lời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có.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sẵn mục cần mở.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Nhờ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người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 thử,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tạm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rời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liệu.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dừng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nhầm.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Hỏi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entry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 năng họ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đợi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 chưa biết.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nhãn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 hoặc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tả,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 nhiệm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nhầm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lẫn có giảm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endParaRPr lang="en-US" sz="1095" dirty="0"/>
          </a:p>
        </p:txBody>
      </p:sp>
      <p:sp>
        <p:nvSpPr>
          <p:cNvPr id="23" name="Connector line-1792802407071-913665181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 chú thử đọc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 nhiệm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vụ, quan sát,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quả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lần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 sau.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Đánh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 bằng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“giao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diện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đẹp”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 không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 người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 tìm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gì.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Người đọc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chọn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sai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 luôn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là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lỗi của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họ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nhãn,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cấu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trúc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945" dirty="0" spc="-6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kỳ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vọng sai; cần</a:t>
            </a:r>
            <a:r>
              <a:rPr lang="en-US" sz="945" dirty="0" spc="-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 quan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sát.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 một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sang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 vì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vị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 vụ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hơn.</a:t>
            </a:r>
            <a:endParaRPr lang="en-US" sz="923" dirty="0"/>
          </a:p>
        </p:txBody>
      </p:sp>
      <p:sp>
        <p:nvSpPr>
          <p:cNvPr id="32" name="Connector line-1792802407081-72433229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17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[R2]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0c306539-71f9-4a13-99cc-c4d2d502a4e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08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Tự</a:t>
            </a:r>
            <a:r>
              <a:rPr lang="en-US" sz="2250" dirty="0" spc="-2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xây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 của mình</a:t>
            </a:r>
            <a:endParaRPr lang="en-US" sz="2250" dirty="0"/>
          </a:p>
        </p:txBody>
      </p:sp>
      <p:sp>
        <p:nvSpPr>
          <p:cNvPr id="5" name="Connector line-1792802463492-18965551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Một</a:t>
            </a:r>
            <a:r>
              <a:rPr lang="en-US" sz="1875" dirty="0" spc="-1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repo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tuyển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chọn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cần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những thành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phần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nào?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Danh sách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 cần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rõ, tránh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tốt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tồn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sức. Hướng dẫn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 hành nêu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awesome-name-of-list,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mặc định main,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title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case,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35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góp.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khuyến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nghị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CC0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Creative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Commons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hợp;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đây là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thay đổi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 được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kết.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khung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 tập,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 điều kiện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lên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[R4][R5]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463506-65559061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463509-351695398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Ranh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 tượng của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Điều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 sử dụng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Contribution</a:t>
            </a: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guide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Hướng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thay đổi.</a:t>
            </a:r>
            <a:endParaRPr lang="en-US" sz="1125" dirty="0"/>
          </a:p>
        </p:txBody>
      </p:sp>
      <p:sp>
        <p:nvSpPr>
          <p:cNvPr id="24" name="Connector line-1792802463522-101288161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18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9c460fa-d88c-42be-990d-8d7dd23a1b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7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Tạo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README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phạm vi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mục</a:t>
            </a: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lục</a:t>
            </a:r>
            <a:endParaRPr lang="en-US" sz="2250" dirty="0"/>
          </a:p>
        </p:txBody>
      </p:sp>
      <p:sp>
        <p:nvSpPr>
          <p:cNvPr id="5" name="Connector line-1792802466770-482626805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-18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Tạo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bản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nháp danh sách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cấu trúc</a:t>
            </a:r>
            <a:r>
              <a:rPr lang="en-US" sz="1125" dirty="0" spc="-8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rõ</a:t>
            </a:r>
            <a:r>
              <a:rPr lang="en-US" sz="1125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ràng.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498" rIns="0" bIns="-5498" rtlCol="0" anchor="t"/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138" dirty="0" spc="-1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Trước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mới,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 tìm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tương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create-list.md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khuyên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tốt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trùng.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thật sự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khác,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 cần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biệt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phạm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 tượng,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chỉ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tên.</a:t>
            </a:r>
            <a:r>
              <a:rPr lang="en-US" sz="1138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tiên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sách;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lồng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cấp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đưa Contributing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Footnotes vào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lục.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1138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</a:t>
            </a:r>
            <a:r>
              <a:rPr lang="en-US" sz="1138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GitHub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trình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duyệt,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Node.js. Bộ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khung kèm theo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38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cấu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trúc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 bạn tự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[R4][R5]</a:t>
            </a:r>
            <a:endParaRPr lang="en-US" sz="1138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Tìm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đang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có;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tương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bạn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riêng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 Awesome,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awesome-ten-chu-de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main.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 tả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 đủ</a:t>
            </a:r>
            <a:r>
              <a:rPr lang="en-US" sz="1095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 viên.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 các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chứng;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Preview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kết. Không sao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chép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 chọn của mình.</a:t>
            </a:r>
            <a:endParaRPr lang="en-US" sz="1095" dirty="0"/>
          </a:p>
        </p:txBody>
      </p:sp>
      <p:sp>
        <p:nvSpPr>
          <p:cNvPr id="23" name="Connector line-1792802466796-127913370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nháp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vi,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lục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2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 nhóm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rỗng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một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rộng.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Giảm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 cho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 khi bạn giải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 chí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Có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cần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tạo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repo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mới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cho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mọi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chủ</a:t>
            </a:r>
            <a:r>
              <a:rPr lang="en-US" sz="1013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đề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 có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tốt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 phạm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vi,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thể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hữu ích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hơn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 bản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 một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“danh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dành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cho…” và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“danh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 không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bao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gồm…”.</a:t>
            </a:r>
            <a:endParaRPr lang="en-US" sz="923" dirty="0"/>
          </a:p>
        </p:txBody>
      </p:sp>
      <p:sp>
        <p:nvSpPr>
          <p:cNvPr id="32" name="Connector line-1792802466807-552505631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19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[R4]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fd6efc36-3895-4454-8635-aeb394541fd8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Thêm quy</a:t>
            </a: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tắc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đóng góp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giấy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phép</a:t>
            </a:r>
            <a:endParaRPr lang="en-US" sz="2250" dirty="0"/>
          </a:p>
        </p:txBody>
      </p:sp>
      <p:sp>
        <p:nvSpPr>
          <p:cNvPr id="5" name="Connector line-1792802469698-493309803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Giúp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người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khác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hiểu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cách đóng góp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quyền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sử dụng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nội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dung.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 cần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nào được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chấp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 thay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Manifesto cho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khảo contributing.md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 điều chỉnh.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phép,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 khuyến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nghị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mạnh</a:t>
            </a:r>
            <a:r>
              <a:rPr lang="en-US" sz="114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CC0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chấp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Creative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Commons;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 giấy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mã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GPL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phù hợp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 cầu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 nói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viện được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vẫn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 của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nó. Nếu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40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quyền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hình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ảnh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chép,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 kiểm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vì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gán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3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contributing.md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 chí chất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 cầu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nêu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 xuất.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 theo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sử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 nội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 chính thức,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khoản.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Đặt tệp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LICENSE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license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 gốc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hướng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 quyền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hình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ảnh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 dung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bên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thứ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 có.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badge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đặt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hướng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dẫn;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đừng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 badge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tuyên bố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chấp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nhận.</a:t>
            </a:r>
            <a:endParaRPr lang="en-US" sz="1095" dirty="0"/>
          </a:p>
        </p:txBody>
      </p:sp>
      <p:sp>
        <p:nvSpPr>
          <p:cNvPr id="23" name="Connector line-1792802469719-918739609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contributing.md</a:t>
            </a:r>
            <a:r>
              <a:rPr lang="en-US" sz="1013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 chí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đọc,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lựa chọn.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rằng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 cấp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quyền dùng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link.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Quyền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 riêng.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Badge Awesome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chứng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minh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danh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sách</a:t>
            </a:r>
            <a:r>
              <a:rPr lang="en-US" sz="1013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đã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nhận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vào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repo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tổng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Manifesto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 dùng</a:t>
            </a:r>
            <a:r>
              <a:rPr lang="en-US" sz="94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badge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Đưa quy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hỏi họ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nộp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gì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endParaRPr lang="en-US" sz="923" dirty="0"/>
          </a:p>
        </p:txBody>
      </p:sp>
      <p:sp>
        <p:nvSpPr>
          <p:cNvPr id="32" name="Connector line-1792802469729-483013856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20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[R5]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c389a1b2-3437-4314-987b-1b5b0cbb1cf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2250" dirty="0" spc="-1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tra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chất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5" name="Connector line-1792802472670-348249005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1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Làm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sao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biết danh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đã sẵn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sàng để</a:t>
            </a:r>
            <a:r>
              <a:rPr lang="en-US" sz="1875" dirty="0" spc="-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người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khác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đọc?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35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lớp: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tính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quán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 phải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vi, bằng chứng,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 liệu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án;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35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phát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Markdown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awesome-lint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 riêng,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CLI.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báo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sạch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 minh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tốt, cũng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350" dirty="0" spc="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vượt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tuổi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 thực tế.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[R5][R6]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472679-384563205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472681-245039516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 hoặc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cấu trúc.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positive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Cảnh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 đưa</a:t>
            </a:r>
            <a:r>
              <a:rPr lang="en-US" sz="112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phản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ánh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tế.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</a:t>
            </a: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gate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Điều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 trước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chuyển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bước.</a:t>
            </a:r>
            <a:endParaRPr lang="en-US" sz="1125" dirty="0"/>
          </a:p>
        </p:txBody>
      </p:sp>
      <p:sp>
        <p:nvSpPr>
          <p:cNvPr id="24" name="Connector line-1792802472691-495643678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[R6]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21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ff1783a-0a35-421a-8899-b488fc0090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Rà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soát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thủ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công trước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khi</a:t>
            </a:r>
            <a:r>
              <a:rPr lang="en-US" sz="2250" dirty="0" spc="-5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chạy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công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cụ</a:t>
            </a:r>
            <a:endParaRPr lang="en-US" sz="2250" dirty="0"/>
          </a:p>
        </p:txBody>
      </p:sp>
      <p:sp>
        <p:nvSpPr>
          <p:cNvPr id="5" name="Connector line-1792802475563-94886130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Phát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hiện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trùng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lặp,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entry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lệch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phạm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vi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bằng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chứng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còn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thiếu.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 máy kiểm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câu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hiểu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bắt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phạm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 viên: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năng</a:t>
            </a:r>
            <a:r>
              <a:rPr lang="en-US" sz="114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và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còn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không?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 cầu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chứa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 lưu trữ,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ngừng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thiếu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chính.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lịch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 sự cần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chuyển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tệp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thích.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Đừng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con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hoạt động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 bộ entry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 dấu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 được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tồn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cùng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Đối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chiếu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liệu,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chứng;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lần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cần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Thử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lục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</a:t>
            </a:r>
            <a:r>
              <a:rPr lang="en-US" sz="1095" dirty="0" spc="-1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Preview,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nhãn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đảm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Contributing,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Footnotes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hiện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 theo yêu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cầu.</a:t>
            </a:r>
            <a:endParaRPr lang="en-US" sz="1095" dirty="0"/>
          </a:p>
        </p:txBody>
      </p:sp>
      <p:sp>
        <p:nvSpPr>
          <p:cNvPr id="23" name="Connector line-1792802475581-152536773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Checklist có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 đạt/chưa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 cho từng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Xóa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mục chỉ vì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lâu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commit.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 thêm thông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báo, tình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 trước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kết luận.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Liên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kết mở được có đủ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chứng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minh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entry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tốt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 Nó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 truy</a:t>
            </a:r>
            <a:r>
              <a:rPr lang="en-US" sz="945" dirty="0" spc="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cập;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vẫn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 tra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dung,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khả năng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yếu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thiện hồ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mới.</a:t>
            </a:r>
            <a:endParaRPr lang="en-US" sz="923" dirty="0"/>
          </a:p>
        </p:txBody>
      </p:sp>
      <p:sp>
        <p:nvSpPr>
          <p:cNvPr id="32" name="Connector line-1792802475591-461079496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22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[R5]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c2458a8d-63eb-47da-bb2e-f0cb69a61059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Chạy</a:t>
            </a: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awesome-lint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hiểu</a:t>
            </a:r>
            <a:r>
              <a:rPr lang="en-US" sz="2250" dirty="0" spc="-1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kết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quả</a:t>
            </a:r>
            <a:endParaRPr lang="en-US" sz="2250" dirty="0"/>
          </a:p>
        </p:txBody>
      </p:sp>
      <p:sp>
        <p:nvSpPr>
          <p:cNvPr id="5" name="Connector line-1792802479038-801133871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  Dùng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 công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cụ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kiểm</a:t>
            </a:r>
            <a:r>
              <a:rPr lang="en-US" sz="1125" dirty="0" spc="-7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tra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mà không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nhầm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lint với đánh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giá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chất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lượng.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awesome-lint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 kiểm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 chạy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tại.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Git.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Lệnh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 thực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thi,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vậy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công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4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chạy.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 kết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 thiếu badge,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dòng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gạch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chéo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URL.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tắc,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vị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nhân.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yêu cầu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 cụ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xử</a:t>
            </a:r>
            <a:r>
              <a:rPr lang="en-US" sz="114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lỗi;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sai,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 yêu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vấn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vì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 hết cảnh báo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[R5][R6]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 phù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 chưa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Node.js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soát thủ công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dấu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bạn. Lệnh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npx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awesome-lint.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thông báo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tệp, dòng,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cột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quy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tắc; sửa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Lưu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095" dirty="0" spc="-1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 nghi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sai,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thiểu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chiếu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 trước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tắc.</a:t>
            </a:r>
            <a:endParaRPr lang="en-US" sz="1095" dirty="0"/>
          </a:p>
        </p:txBody>
      </p:sp>
      <p:sp>
        <p:nvSpPr>
          <p:cNvPr id="23" name="Connector line-1792802479057-755594519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013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 nêu môi trường,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lệnh, lỗi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trước/sau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 do chưa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13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2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Tắt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 quả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sạch.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sạch chỉ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nghĩa khi các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 tra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vẫn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hoạt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Lint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sạch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làm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danh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sách đủ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điều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kiện gửi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lên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repo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tổng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Còn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lượng, tuổi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sách,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 và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cộng đồng.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 một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ngôn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ngữ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bạn,</a:t>
            </a:r>
            <a:r>
              <a:rPr lang="en-US" sz="923" dirty="0" spc="-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 thay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nhân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nó.</a:t>
            </a:r>
            <a:endParaRPr lang="en-US" sz="923" dirty="0"/>
          </a:p>
        </p:txBody>
      </p:sp>
      <p:sp>
        <p:nvSpPr>
          <p:cNvPr id="32" name="Connector line-1792802479066-710493558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[R6]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23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[R6]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365eb756-7534-4277-90c2-073f97e386c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Đóng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góp</a:t>
            </a:r>
            <a:r>
              <a:rPr lang="en-US" sz="2250" dirty="0" spc="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đúng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nơi,</a:t>
            </a:r>
            <a:r>
              <a:rPr lang="en-US" sz="2250" dirty="0" spc="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đúng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điều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kiện</a:t>
            </a:r>
            <a:endParaRPr lang="en-US" sz="2250" dirty="0"/>
          </a:p>
        </p:txBody>
      </p:sp>
      <p:sp>
        <p:nvSpPr>
          <p:cNvPr id="5" name="Connector line-1792802482289-436208084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Khi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nào</a:t>
            </a:r>
            <a:r>
              <a:rPr lang="en-US" sz="1875" dirty="0" spc="-1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bằng cách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nào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nên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đề</a:t>
            </a:r>
            <a:r>
              <a:rPr lang="en-US" sz="1875" dirty="0" spc="-4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xuất thay</a:t>
            </a:r>
            <a:r>
              <a:rPr lang="en-US" sz="1875" dirty="0" spc="0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đổi?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luồng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nhau: đề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 nguyên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chuyên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đề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cả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bày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thao tác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 qua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duyệt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 PR.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chặt hơn: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tuổi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 30</a:t>
            </a:r>
            <a:r>
              <a:rPr lang="en-US" sz="135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ngày,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danh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hay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 toàn</a:t>
            </a:r>
            <a:r>
              <a:rPr lang="en-US" sz="135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tạo,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-1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ít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bốn PR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đọc</a:t>
            </a:r>
            <a:r>
              <a:rPr lang="en-US" sz="13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 hiện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tại;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xong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 quyền gửi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cộng đồng.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[R3][R4][R5]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482296-379854001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482298-676806126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request</a:t>
            </a: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(PR)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12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12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Maintainer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 án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Đọc,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 thể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về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đổi.</a:t>
            </a:r>
            <a:endParaRPr lang="en-US" sz="1125" dirty="0"/>
          </a:p>
        </p:txBody>
      </p:sp>
      <p:sp>
        <p:nvSpPr>
          <p:cNvPr id="24" name="Connector line-1792802482306-814811275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24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9fe356a-6762-40ee-828e-0bfbf3c2d4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Đề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xuất một tài</a:t>
            </a: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nguyên</a:t>
            </a:r>
            <a:r>
              <a:rPr lang="en-US" sz="2250" dirty="0" spc="-7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vào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sẵn</a:t>
            </a:r>
            <a:endParaRPr lang="en-US" sz="2250" dirty="0"/>
          </a:p>
        </p:txBody>
      </p:sp>
      <p:sp>
        <p:nvSpPr>
          <p:cNvPr id="5" name="Connector line-1792802485576-210037629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Soạn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thay đổi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nhỏ,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đúng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phạm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vi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 có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lý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do.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502" rIns="0" bIns="-5502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contributing.md</a:t>
            </a:r>
            <a:r>
              <a:rPr lang="en-US" sz="1140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sách, chỉnh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diện GitHub,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4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PR.</a:t>
            </a:r>
            <a:r>
              <a:rPr lang="en-US" sz="1140" dirty="0" spc="-1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vậy,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 cần đọc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 dẫn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 chính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đích: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nhau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quy tắc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140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 nhỏ,</a:t>
            </a:r>
            <a:r>
              <a:rPr lang="en-US" sz="114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4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 và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 hợp. Nếu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maintainer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điều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chỉnh, sửa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 hồi.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 dạy cách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bị; giáo trình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 PR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hay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bên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ngoài.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14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tạm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dừng nhận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PR,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nháp</a:t>
            </a:r>
            <a:r>
              <a:rPr lang="en-US" sz="114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 và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14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dõi</a:t>
            </a:r>
            <a:r>
              <a:rPr lang="en-US" sz="114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</a:t>
            </a:r>
            <a:r>
              <a:rPr lang="en-US" sz="114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báo.</a:t>
            </a:r>
            <a:r>
              <a:rPr lang="en-US" sz="114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99" rIns="0" bIns="-5299" rtlCol="0" anchor="t"/>
          <a:lstStyle/>
          <a:p>
            <a:pPr algn="l" indent="0" marL="0">
              <a:lnSpc>
                <a:spcPts val="1531"/>
              </a:lnSpc>
              <a:buNone/>
            </a:pPr>
            <a:r>
              <a:rPr lang="en-US" sz="1094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4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contributing.md</a:t>
            </a:r>
            <a:r>
              <a:rPr lang="en-US" sz="1094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94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094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đích</a:t>
            </a:r>
            <a:r>
              <a:rPr lang="en-US" sz="1094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4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4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4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thông</a:t>
            </a:r>
            <a:r>
              <a:rPr lang="en-US" sz="1094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094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1094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 hiện</a:t>
            </a:r>
            <a:r>
              <a:rPr lang="en-US" sz="1094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tại, issue</a:t>
            </a:r>
            <a:r>
              <a:rPr lang="en-US" sz="1094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PR để</a:t>
            </a:r>
            <a:r>
              <a:rPr lang="en-US" sz="1094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tránh</a:t>
            </a:r>
            <a:r>
              <a:rPr lang="en-US" sz="1094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trùng.</a:t>
            </a:r>
            <a:endParaRPr lang="en-US" sz="1094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Chuẩn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 hoặc sửa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lỗi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vị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trí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vẫn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đang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thiện nội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Dùng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 duyệt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chỉnh README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trên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nhánh/fork của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bạn,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diff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Preview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bảo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đảm chỉ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Khi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 phép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mô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 cùng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cần.</a:t>
            </a:r>
            <a:endParaRPr lang="en-US" sz="1095" dirty="0"/>
          </a:p>
        </p:txBody>
      </p:sp>
      <p:sp>
        <p:nvSpPr>
          <p:cNvPr id="23" name="Connector line-1792802485595-447012496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diff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nhỏ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do;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 tế chỉ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đủ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Thêm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công cụ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 danh sách chuyên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ngành,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 trùng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PR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bị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yêu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cầu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sửa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có nghĩa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đóng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góp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thất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bại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Không.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một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 của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 thiện;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 hoặc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bằng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đổi,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 kiểm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923" dirty="0"/>
          </a:p>
        </p:txBody>
      </p:sp>
      <p:sp>
        <p:nvSpPr>
          <p:cNvPr id="32" name="Connector line-1792802485604-794410863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25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[R3]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c088e09c-c255-4f9b-a483-9447863a9ac4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2250" dirty="0" spc="-1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tra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điều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kiện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cho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một danh sách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mới</a:t>
            </a:r>
            <a:endParaRPr lang="en-US" sz="2250" dirty="0"/>
          </a:p>
        </p:txBody>
      </p:sp>
      <p:sp>
        <p:nvSpPr>
          <p:cNvPr id="5" name="Connector line-1792802512575-4479874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Biết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khi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nào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chưa nên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gửi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danh sách</a:t>
            </a:r>
            <a:r>
              <a:rPr lang="en-US" sz="1125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vào</a:t>
            </a:r>
            <a:r>
              <a:rPr lang="en-US" sz="1125" dirty="0" spc="-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repo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tổng.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498" rIns="0" bIns="-5498" rtlCol="0" anchor="t"/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create-list.md</a:t>
            </a:r>
            <a:r>
              <a:rPr lang="en-US" sz="1138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 chờ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 nhất 30</a:t>
            </a:r>
            <a:r>
              <a:rPr lang="en-US" sz="1138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ngày.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 làm</a:t>
            </a:r>
            <a:r>
              <a:rPr lang="en-US" sz="1138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cách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tính: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 commit thực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 tiên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 khi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khai,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lấy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mốc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gần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hơn.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cũng</a:t>
            </a:r>
            <a:r>
              <a:rPr lang="en-US" sz="1138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không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tạo,</a:t>
            </a:r>
            <a:r>
              <a:rPr lang="en-US" sz="1138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tạo,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38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 nhất bốn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 khác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 hồi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dung;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bình luận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“looks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good”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được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tính. Đây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quy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đọc,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đổi.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 khung và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ví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138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</a:t>
            </a:r>
            <a:r>
              <a:rPr lang="en-US" sz="1138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 không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danh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 để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 nguyên</a:t>
            </a:r>
            <a:r>
              <a:rPr lang="en-US" sz="1138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138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 và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 trì.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[R4][R5]</a:t>
            </a:r>
            <a:endParaRPr lang="en-US" sz="1138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 tiếp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tên repo/nhánh/tiêu đề/mục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lục/giấy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phép/định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từng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Đối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chiếu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 bắt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 sự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 công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khai; không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commit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khung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 lập thời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gian trưởng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tất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nghĩa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 hướng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dẫn.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mọi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đạt.</a:t>
            </a:r>
            <a:endParaRPr lang="en-US" sz="1095" dirty="0"/>
          </a:p>
        </p:txBody>
      </p:sp>
      <p:sp>
        <p:nvSpPr>
          <p:cNvPr id="23" name="Connector line-1792802512610-13839889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chứng;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chưa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sẵn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sàng.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Coi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30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 là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nhất,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 động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 hàng loạt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</a:t>
            </a:r>
            <a:r>
              <a:rPr lang="en-US" sz="1013" dirty="0" spc="-1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Vì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sao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giáo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trình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không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tạo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 danh sách</a:t>
            </a:r>
            <a:r>
              <a:rPr lang="en-US" sz="1013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AI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hoàn</a:t>
            </a:r>
            <a:r>
              <a:rPr lang="en-US" sz="1013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chỉnh</a:t>
            </a:r>
            <a:r>
              <a:rPr lang="en-US" sz="1013" dirty="0" spc="-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rồi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gửi giúp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bạn?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 Vì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nguồn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 danh sách do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giá,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tư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duy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923" dirty="0" spc="4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tại chưa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minh. Viết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hoạch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đáp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 chúng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việc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bạn.</a:t>
            </a:r>
            <a:endParaRPr lang="en-US" sz="923" dirty="0"/>
          </a:p>
        </p:txBody>
      </p:sp>
      <p:sp>
        <p:nvSpPr>
          <p:cNvPr id="32" name="Connector line-1792802512624-922323356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26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[R5]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278f71f4-397a-4b55-971b-88dfe4ac0e8b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BẢN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Duy trì</a:t>
            </a:r>
            <a:r>
              <a:rPr lang="en-US" sz="2250" dirty="0" spc="-9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và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tự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đánh</a:t>
            </a:r>
            <a:r>
              <a:rPr lang="en-US" sz="2250" dirty="0" spc="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giá</a:t>
            </a:r>
            <a:endParaRPr lang="en-US" sz="2250" dirty="0"/>
          </a:p>
        </p:txBody>
      </p:sp>
      <p:sp>
        <p:nvSpPr>
          <p:cNvPr id="5" name="Connector line-1792802515574-909787417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71700"/>
            <a:ext cx="6648450" cy="952500"/>
          </a:xfrm>
          <a:prstGeom prst="rect">
            <a:avLst/>
          </a:prstGeom>
          <a:noFill/>
          <a:ln/>
        </p:spPr>
        <p:txBody>
          <a:bodyPr wrap="square" lIns="0" tIns="5953" rIns="0" bIns="-5953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 spc="-1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Làm</a:t>
            </a:r>
            <a:r>
              <a:rPr lang="en-US" sz="1875" dirty="0" spc="-3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sao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</a:t>
            </a:r>
            <a:r>
              <a:rPr lang="en-US" sz="1875" dirty="0" spc="-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</a:t>
            </a:r>
            <a:r>
              <a:rPr lang="en-US" sz="1875" dirty="0" spc="-6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vẫn</a:t>
            </a:r>
            <a:r>
              <a:rPr lang="en-US" sz="1875" dirty="0" spc="1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1875" dirty="0" spc="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ích</a:t>
            </a:r>
            <a:r>
              <a:rPr lang="en-US" sz="1875" dirty="0" spc="-8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sau</a:t>
            </a:r>
            <a:r>
              <a:rPr lang="en-US" sz="1875" dirty="0" spc="-4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ngày</a:t>
            </a:r>
            <a:r>
              <a:rPr lang="en-US" sz="1875" dirty="0" spc="-2" kern="0">
                <a:solidFill>
                  <a:srgbClr val="147D7A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tạo?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7200" y="3343275"/>
            <a:ext cx="6648450" cy="2190750"/>
          </a:xfrm>
          <a:prstGeom prst="rect">
            <a:avLst/>
          </a:prstGeom>
          <a:noFill/>
          <a:ln/>
        </p:spPr>
        <p:txBody>
          <a:bodyPr wrap="square" lIns="0" tIns="6515" rIns="0" bIns="-6515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 spc="-3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đổi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các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 kết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 mất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dụng. Một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tốt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 được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3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do,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 nhận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kết. Manifesto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nhấn mạnh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tôn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trọng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khác; hướng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 giới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những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 lỗi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</a:t>
            </a:r>
            <a:r>
              <a:rPr lang="en-US" sz="13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chính.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 xuất nhịp kiểm</a:t>
            </a:r>
            <a:r>
              <a:rPr lang="en-US" sz="13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tra,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và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hợp. Nhịp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thang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chấm là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 xuất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 tập, không</a:t>
            </a:r>
            <a:r>
              <a:rPr lang="en-US" sz="13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3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3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chính thức của</a:t>
            </a:r>
            <a:r>
              <a:rPr lang="en-US" sz="13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r>
              <a:rPr lang="en-US" sz="13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5905500"/>
            <a:ext cx="6648450" cy="1047750"/>
          </a:xfrm>
          <a:prstGeom prst="roundRect">
            <a:avLst>
              <a:gd name="adj" fmla="val 1818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Tìm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013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endParaRPr lang="en-US" sz="1013" dirty="0"/>
          </a:p>
        </p:txBody>
      </p:sp>
      <p:sp>
        <p:nvSpPr>
          <p:cNvPr id="11" name="Connector line-1792802515581-148224404"/>
          <p:cNvSpPr/>
          <p:nvPr/>
        </p:nvSpPr>
        <p:spPr>
          <a:xfrm>
            <a:off x="24860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8194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Kiểm</a:t>
            </a: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4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endParaRPr lang="en-US" sz="1013" dirty="0"/>
          </a:p>
        </p:txBody>
      </p:sp>
      <p:sp>
        <p:nvSpPr>
          <p:cNvPr id="14" name="Connector line-1792802515583-548896002"/>
          <p:cNvSpPr/>
          <p:nvPr/>
        </p:nvSpPr>
        <p:spPr>
          <a:xfrm>
            <a:off x="4657725" y="6315075"/>
            <a:ext cx="257175" cy="0"/>
          </a:xfrm>
          <a:prstGeom prst="line">
            <a:avLst/>
          </a:prstGeom>
          <a:noFill/>
          <a:ln w="9525">
            <a:solidFill>
              <a:srgbClr val="147D7A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991100" y="6076950"/>
            <a:ext cx="1857375" cy="333375"/>
          </a:xfrm>
          <a:prstGeom prst="rect">
            <a:avLst/>
          </a:prstGeom>
          <a:noFill/>
          <a:ln/>
        </p:spPr>
        <p:txBody>
          <a:bodyPr wrap="square" lIns="0" tIns="4763" rIns="0" bIns="-4763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Chọn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65055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thích</a:t>
            </a:r>
            <a:r>
              <a:rPr lang="en-US" sz="101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57200" y="73628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NIỆM CẦN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 LẠI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7762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Maintenance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476500" y="776287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gian.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57200" y="84201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 log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476500" y="8420100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Nhật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 lý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thêm,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sửa, giữ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7200" y="9077325"/>
            <a:ext cx="180975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Capstone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76500" y="9077325"/>
            <a:ext cx="4629150" cy="5143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thực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hành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tổng hợp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lộ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trình.</a:t>
            </a:r>
            <a:endParaRPr lang="en-US" sz="1125" dirty="0"/>
          </a:p>
        </p:txBody>
      </p:sp>
      <p:sp>
        <p:nvSpPr>
          <p:cNvPr id="24" name="Connector line-1792802515594-554484483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27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150f253-e754-4f7e-90f7-d3840685e2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Thiết</a:t>
            </a:r>
            <a:r>
              <a:rPr lang="en-US" sz="2250" dirty="0" spc="-1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kế</a:t>
            </a:r>
            <a:r>
              <a:rPr lang="en-US" sz="2250" dirty="0" spc="-5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vòng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bảo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trì</a:t>
            </a:r>
            <a:endParaRPr lang="en-US" sz="2250" dirty="0"/>
          </a:p>
        </p:txBody>
      </p:sp>
      <p:sp>
        <p:nvSpPr>
          <p:cNvPr id="5" name="Connector line-1792802518692-412899287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Có cách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phát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hiện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xử lý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tài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nguyên không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còn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phù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hợp.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498" rIns="0" bIns="-5498" rtlCol="0" anchor="t"/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138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Hãy</a:t>
            </a:r>
            <a:r>
              <a:rPr lang="en-US" sz="1138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sản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phẩm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dùng.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Sau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mỗi phản hồi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lần kiểm</a:t>
            </a:r>
            <a:r>
              <a:rPr lang="en-US" sz="1138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tra,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thêm,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sửa,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mục;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138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bằng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 đề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ưu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tiên entry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dùng</a:t>
            </a:r>
            <a:r>
              <a:rPr lang="en-US" sz="1138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nhiều,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báo</a:t>
            </a:r>
            <a:r>
              <a:rPr lang="en-US" sz="1138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dụng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dễ thay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đổi.</a:t>
            </a:r>
            <a:r>
              <a:rPr lang="en-US" sz="1138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38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bị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lần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cố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tạm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thời,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nên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phân biệt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lỗi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truy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 tài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ngừng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hoạt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động.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38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lịch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sử,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 Awesome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đặt</a:t>
            </a:r>
            <a:r>
              <a:rPr lang="en-US" sz="1138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138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không phù hợp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8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 vào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tệp</a:t>
            </a:r>
            <a:r>
              <a:rPr lang="en-US" sz="1138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riêng.</a:t>
            </a:r>
            <a:r>
              <a:rPr lang="en-US" sz="1138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138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lịch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 sự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có;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của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phải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tiên mục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phản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cũ.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URL,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tình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</a:t>
            </a: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 định giữ/sửa/hoãn/loại,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nêu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ảnh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hưởng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tới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đọc;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nghi sự cố tạm thời.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 khác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 đối,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đối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chiếu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luận bằng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mức phổ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biến.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Cập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nhật quy tắc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 cần.</a:t>
            </a:r>
            <a:endParaRPr lang="en-US" sz="1095" dirty="0"/>
          </a:p>
        </p:txBody>
      </p:sp>
      <p:sp>
        <p:nvSpPr>
          <p:cNvPr id="23" name="Connector line-1792802518716-328777688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bảng bảo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nhật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có thể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 tra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Chỉ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13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 cũ,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13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xóa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ngay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một lỗi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mạng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đơn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lẻ.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Vì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sao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nên giữ nhật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ký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của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mục</a:t>
            </a:r>
            <a:r>
              <a:rPr lang="en-US" sz="1013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đã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loại?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 Để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định, tránh thêm lại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cùng vấn</a:t>
            </a: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 nào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945" dirty="0" spc="-8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945" dirty="0" spc="-6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lập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 thiếu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sau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đổi.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 định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tạm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thời và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923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đưa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 trở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923" dirty="0"/>
          </a:p>
        </p:txBody>
      </p:sp>
      <p:sp>
        <p:nvSpPr>
          <p:cNvPr id="32" name="Connector line-1792802518727-552280102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28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[R2]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73c92e15-fc94-420f-80c9-2296adab716b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CHƯƠNG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Đồ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án: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danh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sách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nhỏ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có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bằng chứng</a:t>
            </a:r>
            <a:endParaRPr lang="en-US" sz="2250" dirty="0"/>
          </a:p>
        </p:txBody>
      </p:sp>
      <p:sp>
        <p:nvSpPr>
          <p:cNvPr id="5" name="Connector line-1792802521764-765521526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38350"/>
            <a:ext cx="6648450" cy="657225"/>
          </a:xfrm>
          <a:prstGeom prst="roundRect">
            <a:avLst>
              <a:gd name="adj" fmla="val 2899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" y="2190750"/>
            <a:ext cx="6305550" cy="4476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MỤC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TIÊU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/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 Hoàn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thành</a:t>
            </a:r>
            <a:r>
              <a:rPr lang="en-US" sz="1125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một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bộ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tài</a:t>
            </a:r>
            <a:r>
              <a:rPr lang="en-US" sz="1125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liệu người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khác có</a:t>
            </a:r>
            <a:r>
              <a:rPr lang="en-US" sz="1125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thể</a:t>
            </a:r>
            <a:r>
              <a:rPr lang="en-US" sz="1125" dirty="0" spc="5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dùng</a:t>
            </a:r>
            <a:r>
              <a:rPr lang="en-US" sz="1125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và</a:t>
            </a:r>
            <a:r>
              <a:rPr lang="en-US" sz="1125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kiểm</a:t>
            </a:r>
            <a:r>
              <a:rPr lang="en-US" sz="1125" dirty="0" spc="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chứng.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9241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</a:t>
            </a: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CƠ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38500"/>
            <a:ext cx="6648450" cy="1304925"/>
          </a:xfrm>
          <a:prstGeom prst="rect">
            <a:avLst/>
          </a:prstGeom>
          <a:noFill/>
          <a:ln/>
        </p:spPr>
        <p:txBody>
          <a:bodyPr wrap="square" lIns="0" tIns="5463" rIns="0" bIns="-5463" rtlCol="0" anchor="t"/>
          <a:lstStyle/>
          <a:p>
            <a:pPr algn="l" indent="0" marL="0">
              <a:lnSpc>
                <a:spcPts val="1591"/>
              </a:lnSpc>
              <a:buNone/>
            </a:pPr>
            <a:r>
              <a:rPr lang="en-US" sz="1136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Đồ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 tổng hợp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chấm bằng</a:t>
            </a:r>
            <a:r>
              <a:rPr lang="en-US" sz="1136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số</a:t>
            </a:r>
            <a:r>
              <a:rPr lang="en-US" sz="1136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entry.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đúng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nhu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cầu,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tài</a:t>
            </a:r>
            <a:r>
              <a:rPr lang="en-US" sz="1136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nguyên,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thử,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136" dirty="0" spc="-1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biết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 hạn.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nộp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gồm README, hồ</a:t>
            </a:r>
            <a:r>
              <a:rPr lang="en-US" sz="1136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ứng</a:t>
            </a:r>
            <a:r>
              <a:rPr lang="en-US" sz="1136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viên,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136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đóng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góp,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quyết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 giấy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nhật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ký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36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tra.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36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upstream,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hãy giữ nó là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 án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 tập</a:t>
            </a:r>
            <a:r>
              <a:rPr lang="en-US" sz="1136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nhân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136" dirty="0" spc="-1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136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thái.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nhưng</a:t>
            </a:r>
            <a:r>
              <a:rPr lang="en-US" sz="1136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sẽ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phản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ánh kỹ năng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tốt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hơn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 tổng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lớn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này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phục vụ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học; không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động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 đã</a:t>
            </a:r>
            <a:r>
              <a:rPr lang="en-US" sz="1136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thạo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136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lĩnh</a:t>
            </a:r>
            <a:r>
              <a:rPr lang="en-US" sz="1136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vực</a:t>
            </a:r>
            <a:r>
              <a:rPr lang="en-US" sz="1136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136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27</a:t>
            </a:r>
            <a:r>
              <a:rPr lang="en-US" sz="1136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nhóm.</a:t>
            </a:r>
            <a:r>
              <a:rPr lang="en-US" sz="1136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[R2][R5]</a:t>
            </a:r>
            <a:endParaRPr lang="en-US" sz="1136" dirty="0"/>
          </a:p>
        </p:txBody>
      </p:sp>
      <p:sp>
        <p:nvSpPr>
          <p:cNvPr id="10" name="Text 8"/>
          <p:cNvSpPr/>
          <p:nvPr/>
        </p:nvSpPr>
        <p:spPr>
          <a:xfrm>
            <a:off x="457200" y="47053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 BƯỚC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6730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400" y="508635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504825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nhỏ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 các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tệp</a:t>
            </a:r>
            <a:r>
              <a:rPr lang="en-US" sz="109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 tập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đọc,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giá.</a:t>
            </a:r>
            <a:endParaRPr lang="en-US" sz="1095" dirty="0"/>
          </a:p>
        </p:txBody>
      </p:sp>
      <p:sp>
        <p:nvSpPr>
          <p:cNvPr id="14" name="Shape 12"/>
          <p:cNvSpPr/>
          <p:nvPr/>
        </p:nvSpPr>
        <p:spPr>
          <a:xfrm>
            <a:off x="457200" y="566737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400" y="568642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564832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Nhờ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 người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nhiệm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09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kiếm. Lưu điều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họ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 sửa sau phản hồi.</a:t>
            </a:r>
            <a:endParaRPr lang="en-US" sz="1095" dirty="0"/>
          </a:p>
        </p:txBody>
      </p:sp>
      <p:sp>
        <p:nvSpPr>
          <p:cNvPr id="17" name="Shape 15"/>
          <p:cNvSpPr/>
          <p:nvPr/>
        </p:nvSpPr>
        <p:spPr>
          <a:xfrm>
            <a:off x="457200" y="6267450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400" y="6286500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250" y="6248400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Chạy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phép.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Giữ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trung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 các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minh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chạy.</a:t>
            </a:r>
            <a:endParaRPr lang="en-US" sz="1095" dirty="0"/>
          </a:p>
        </p:txBody>
      </p:sp>
      <p:sp>
        <p:nvSpPr>
          <p:cNvPr id="20" name="Shape 18"/>
          <p:cNvSpPr/>
          <p:nvPr/>
        </p:nvSpPr>
        <p:spPr>
          <a:xfrm>
            <a:off x="457200" y="6867525"/>
            <a:ext cx="257175" cy="257175"/>
          </a:xfrm>
          <a:prstGeom prst="roundRect">
            <a:avLst>
              <a:gd name="adj" fmla="val 7407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3400" y="6886575"/>
            <a:ext cx="161925" cy="219075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6848475"/>
            <a:ext cx="6248400" cy="542925"/>
          </a:xfrm>
          <a:prstGeom prst="rect">
            <a:avLst/>
          </a:prstGeom>
          <a:noFill/>
          <a:ln/>
        </p:spPr>
        <p:txBody>
          <a:bodyPr wrap="square" lIns="0" tIns="5284" rIns="0" bIns="-5284" rtlCol="0" anchor="t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dirty="0" spc="-2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chấm theo rubric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 tài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liệu,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đã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làm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được,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09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 còn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09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9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lần kiểm</a:t>
            </a:r>
            <a:r>
              <a:rPr lang="en-US" sz="1095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9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tiếp</a:t>
            </a:r>
            <a:r>
              <a:rPr lang="en-US" sz="109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theo.</a:t>
            </a:r>
            <a:endParaRPr lang="en-US" sz="1095" dirty="0"/>
          </a:p>
        </p:txBody>
      </p:sp>
      <p:sp>
        <p:nvSpPr>
          <p:cNvPr id="23" name="Connector line-1792802521792-372263116"/>
          <p:cNvSpPr/>
          <p:nvPr/>
        </p:nvSpPr>
        <p:spPr>
          <a:xfrm>
            <a:off x="457200" y="7562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7762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6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900" b="1" dirty="0" spc="-2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ĐẠT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8039100"/>
            <a:ext cx="3114675" cy="65722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 nhân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thể đọc, 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sơ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57200" y="88106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LỖI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THƯỜNG GẶP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9077325"/>
            <a:ext cx="3114675" cy="91440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Tuyên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bố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“đạt chuẩn</a:t>
            </a:r>
            <a:r>
              <a:rPr lang="en-US" sz="1013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Awesome”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vì đủ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tệp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mẫu.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Tính</a:t>
            </a:r>
            <a:r>
              <a:rPr lang="en-US" sz="1013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đầy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cấu trúc khác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với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kiện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tiếp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914775" y="77628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14775" y="8039100"/>
            <a:ext cx="3190875" cy="552450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Dấu</a:t>
            </a:r>
            <a:r>
              <a:rPr lang="en-US" sz="1013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hiệu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bạn</a:t>
            </a:r>
            <a:r>
              <a:rPr lang="en-US" sz="1013" dirty="0" spc="4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đã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học</a:t>
            </a:r>
            <a:r>
              <a:rPr lang="en-US" sz="1013" dirty="0" spc="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được</a:t>
            </a:r>
            <a:r>
              <a:rPr lang="en-US" sz="1013" dirty="0" spc="-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cách dùng</a:t>
            </a:r>
            <a:r>
              <a:rPr lang="en-US" sz="1013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Awesome là</a:t>
            </a:r>
            <a:r>
              <a:rPr lang="en-US" sz="1013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gì?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914775" y="8620125"/>
            <a:ext cx="3190875" cy="657225"/>
          </a:xfrm>
          <a:prstGeom prst="rect">
            <a:avLst/>
          </a:prstGeom>
          <a:noFill/>
          <a:ln/>
        </p:spPr>
        <p:txBody>
          <a:bodyPr wrap="square" lIns="0" tIns="4561" rIns="0" bIns="-4561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ý: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 đúng</a:t>
            </a:r>
            <a:r>
              <a:rPr lang="en-US" sz="945" dirty="0" spc="-5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lối</a:t>
            </a:r>
            <a:r>
              <a:rPr lang="en-US" sz="945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vào,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 tài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945" dirty="0" spc="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 được vì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sao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945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945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loại</a:t>
            </a:r>
            <a:r>
              <a:rPr lang="en-US" sz="945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45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mục.</a:t>
            </a:r>
            <a:endParaRPr lang="en-US" sz="945" dirty="0"/>
          </a:p>
        </p:txBody>
      </p:sp>
      <p:sp>
        <p:nvSpPr>
          <p:cNvPr id="31" name="Text 29"/>
          <p:cNvSpPr/>
          <p:nvPr/>
        </p:nvSpPr>
        <p:spPr>
          <a:xfrm>
            <a:off x="3914775" y="9334500"/>
            <a:ext cx="3190875" cy="657225"/>
          </a:xfrm>
          <a:prstGeom prst="rect">
            <a:avLst/>
          </a:prstGeom>
          <a:noFill/>
          <a:ln/>
        </p:spPr>
        <p:txBody>
          <a:bodyPr wrap="square" lIns="0" tIns="4461" rIns="0" bIns="-4461" rtlCol="0" anchor="t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thêm:</a:t>
            </a:r>
            <a:r>
              <a:rPr lang="en-US" sz="923" dirty="0" spc="-8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bày dự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án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mà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trình. Sau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đó</a:t>
            </a:r>
            <a:r>
              <a:rPr lang="en-US" sz="923" dirty="0" spc="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 checklist</a:t>
            </a:r>
            <a:r>
              <a:rPr lang="en-US" sz="923" dirty="0" spc="-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923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 phần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còn</a:t>
            </a:r>
            <a:r>
              <a:rPr lang="en-US" sz="923" dirty="0" spc="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giải</a:t>
            </a:r>
            <a:r>
              <a:rPr lang="en-US" sz="923" dirty="0" spc="-1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thích</a:t>
            </a:r>
            <a:r>
              <a:rPr lang="en-US" sz="923" dirty="0" spc="2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923" dirty="0" spc="-5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rõ.</a:t>
            </a:r>
            <a:endParaRPr lang="en-US" sz="923" dirty="0"/>
          </a:p>
        </p:txBody>
      </p:sp>
      <p:sp>
        <p:nvSpPr>
          <p:cNvPr id="32" name="Connector line-1792802521803-117799566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29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14625"/>
            <a:ext cx="664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1"/>
              </a:rPr>
              <a:t>Bài đọc trên GitHub Radar ↗</a:t>
            </a:r>
            <a:pPr algn="l" indent="0" marL="0">
              <a:buNone/>
            </a:pPr>
            <a:r>
              <a:rPr lang="en-US" sz="900" dirty="0" spc="0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900" dirty="0" spc="-3" kern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buNone/>
            </a:pPr>
            <a:r>
              <a:rPr lang="en-US" sz="900" u="sng" dirty="0">
                <a:solidFill>
                  <a:srgbClr val="147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2"/>
              </a:rPr>
              <a:t>Tài liệu gốc [R5] 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  <p:txBody>
          <a:bodyPr/>
          <a:p/>
        </p:txBody>
      </p:sp>
      <p:pic>
        <p:nvPicPr>
          <p:cNvPr id="37" name="Moda image moda-export-watermark-d1e59696-6ca5-40c0-a44a-a3900138f563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GLOSSARY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Thuật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ngữ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&amp;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rubric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tự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đánh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giá</a:t>
            </a:r>
            <a:endParaRPr lang="en-US" sz="2250" dirty="0"/>
          </a:p>
        </p:txBody>
      </p:sp>
      <p:sp>
        <p:nvSpPr>
          <p:cNvPr id="5" name="Connector line-1792802524768-218451807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90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</a:t>
            </a:r>
            <a:r>
              <a:rPr lang="en-US" sz="1125" b="1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thiệu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171825" y="21907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Nơi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hiểu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tìm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đường đi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8765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Entry</a:t>
            </a:r>
            <a:r>
              <a:rPr lang="en-US" sz="1125" b="1" dirty="0" spc="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171825" y="28765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2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Tên</a:t>
            </a:r>
            <a:r>
              <a:rPr lang="en-US" sz="1125" dirty="0" spc="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liên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125" dirty="0" spc="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chức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năng.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57200" y="35623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Curation</a:t>
            </a:r>
            <a:r>
              <a:rPr lang="en-US" sz="1125" b="1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171825" y="35623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do,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thập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nhiều.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57200" y="42481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</a:t>
            </a:r>
            <a:r>
              <a:rPr lang="en-US" sz="1125" b="1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171825" y="42481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Nguồn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kết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quả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mở lại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57200" y="49339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</a:t>
            </a:r>
            <a:r>
              <a:rPr lang="en-US" sz="1125" b="1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25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thay</a:t>
            </a:r>
            <a:r>
              <a:rPr lang="en-US" sz="1125" b="1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171825" y="49339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Cách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mời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maintainer</a:t>
            </a:r>
            <a:r>
              <a:rPr lang="en-US" sz="112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12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xét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57200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Lint</a:t>
            </a:r>
            <a:r>
              <a:rPr lang="en-US" sz="1125" b="1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125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định</a:t>
            </a:r>
            <a:r>
              <a:rPr lang="en-US" sz="1125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171825" y="5619750"/>
            <a:ext cx="3933825" cy="523875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cụ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trợ;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đánh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57200" y="67246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RUBRIC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VIẾT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0–2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 MỖI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7162800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Phạm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050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tránh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76675" y="7162800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 chứng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từng</a:t>
            </a:r>
            <a:r>
              <a:rPr lang="en-US" sz="1050" dirty="0" spc="-7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7762875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giúp lựa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76675" y="7762875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lục và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</a:t>
            </a:r>
            <a:r>
              <a:rPr lang="en-US" sz="10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tắc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dễ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8362950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5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giới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trung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76675" y="8362950"/>
            <a:ext cx="3162300" cy="504825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phản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hồi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kế hoạch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duy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trì.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9248775"/>
            <a:ext cx="6648450" cy="619125"/>
          </a:xfrm>
          <a:prstGeom prst="roundRect">
            <a:avLst>
              <a:gd name="adj" fmla="val 3077"/>
            </a:avLst>
          </a:prstGeom>
          <a:solidFill>
            <a:srgbClr val="FFF0AD"/>
          </a:solidFill>
          <a:ln w="9525">
            <a:solidFill>
              <a:srgbClr val="FFF0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9391650"/>
            <a:ext cx="6324600" cy="447675"/>
          </a:xfrm>
          <a:prstGeom prst="rect">
            <a:avLst/>
          </a:prstGeom>
          <a:noFill/>
          <a:ln/>
        </p:spPr>
        <p:txBody>
          <a:bodyPr wrap="square" lIns="0" tIns="4895" rIns="0" bIns="-4895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0: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·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1: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một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phần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2: có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chứng.</a:t>
            </a:r>
            <a:endParaRPr lang="en-US" sz="1013" dirty="0"/>
          </a:p>
          <a:p>
            <a:pPr algn="l" indent="0" marL="0">
              <a:lnSpc>
                <a:spcPts val="1418"/>
              </a:lnSpc>
              <a:buNone/>
            </a:pP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</a:t>
            </a:r>
            <a:r>
              <a:rPr lang="en-US" sz="1013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điểm số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nào</a:t>
            </a:r>
            <a:r>
              <a:rPr lang="en-US" sz="1013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13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013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 vào</a:t>
            </a:r>
            <a:r>
              <a:rPr lang="en-US" sz="1013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Awesome.</a:t>
            </a:r>
            <a:endParaRPr lang="en-US" sz="1013" dirty="0"/>
          </a:p>
        </p:txBody>
      </p:sp>
      <p:sp>
        <p:nvSpPr>
          <p:cNvPr id="27" name="Connector line-1792802524793-693421150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9" name="Text 27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30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6bca493-a4d2-4e58-a76b-d6883b5ae9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WORKSHEET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Bộ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bài</a:t>
            </a:r>
            <a:r>
              <a:rPr lang="en-US" sz="2250" dirty="0" spc="-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tập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đi</a:t>
            </a:r>
            <a:r>
              <a:rPr lang="en-US" sz="2250" dirty="0" spc="-1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kèm</a:t>
            </a:r>
            <a:endParaRPr lang="en-US" sz="2250" dirty="0"/>
          </a:p>
        </p:txBody>
      </p:sp>
      <p:sp>
        <p:nvSpPr>
          <p:cNvPr id="5" name="Connector line-1792802528329-871861773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43125"/>
            <a:ext cx="6648450" cy="857250"/>
          </a:xfrm>
          <a:prstGeom prst="rect">
            <a:avLst/>
          </a:prstGeom>
          <a:noFill/>
          <a:ln/>
        </p:spPr>
        <p:txBody>
          <a:bodyPr wrap="square" lIns="0" tIns="6153" rIns="0" bIns="-6153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 spc="-3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Tệp</a:t>
            </a:r>
            <a:r>
              <a:rPr lang="en-US" sz="127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mẫu</a:t>
            </a:r>
            <a:r>
              <a:rPr lang="en-US" sz="127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27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</a:t>
            </a:r>
            <a:r>
              <a:rPr lang="en-US" sz="127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27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lab/</a:t>
            </a:r>
            <a:r>
              <a:rPr lang="en-US" sz="127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khung</a:t>
            </a:r>
            <a:r>
              <a:rPr lang="en-US" sz="127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27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27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27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điền. Không</a:t>
            </a:r>
            <a:r>
              <a:rPr lang="en-US" sz="127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27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275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27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r>
              <a:rPr lang="en-US" sz="127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một</a:t>
            </a:r>
            <a:r>
              <a:rPr lang="en-US" sz="127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27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được</a:t>
            </a:r>
            <a:r>
              <a:rPr lang="en-US" sz="127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tuyên bố</a:t>
            </a:r>
            <a:r>
              <a:rPr lang="en-US" sz="127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27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chuẩn.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57200" y="3276600"/>
            <a:ext cx="2714625" cy="571500"/>
          </a:xfrm>
          <a:prstGeom prst="rect">
            <a:avLst/>
          </a:prstGeom>
          <a:noFill/>
          <a:ln/>
        </p:spPr>
        <p:txBody>
          <a:bodyPr wrap="square" lIns="0" tIns="5257" rIns="0" bIns="-5257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project-brief.md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3381375" y="3276600"/>
            <a:ext cx="3724275" cy="60960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tiêu,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người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đọc,</a:t>
            </a:r>
            <a:r>
              <a:rPr lang="en-US" sz="112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ràng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buộc,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125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ngoài phạm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vi.</a:t>
            </a:r>
            <a:endParaRPr lang="en-US" sz="1125" dirty="0"/>
          </a:p>
        </p:txBody>
      </p:sp>
      <p:sp>
        <p:nvSpPr>
          <p:cNvPr id="9" name="Connector line-1792802528333-868006687"/>
          <p:cNvSpPr/>
          <p:nvPr/>
        </p:nvSpPr>
        <p:spPr>
          <a:xfrm>
            <a:off x="457200" y="39909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57200" y="4086225"/>
            <a:ext cx="2714625" cy="571500"/>
          </a:xfrm>
          <a:prstGeom prst="rect">
            <a:avLst/>
          </a:prstGeom>
          <a:noFill/>
          <a:ln/>
        </p:spPr>
        <p:txBody>
          <a:bodyPr wrap="square" lIns="0" tIns="5257" rIns="0" bIns="-5257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candidate-log.csv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3381375" y="4086225"/>
            <a:ext cx="3724275" cy="60960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URL,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tác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vụ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thử,</a:t>
            </a:r>
            <a:r>
              <a:rPr lang="en-US" sz="112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ngày,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hạn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chế.</a:t>
            </a:r>
            <a:endParaRPr lang="en-US" sz="1125" dirty="0"/>
          </a:p>
        </p:txBody>
      </p:sp>
      <p:sp>
        <p:nvSpPr>
          <p:cNvPr id="12" name="Connector line-1792802528336-170037459"/>
          <p:cNvSpPr/>
          <p:nvPr/>
        </p:nvSpPr>
        <p:spPr>
          <a:xfrm>
            <a:off x="457200" y="480060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57200" y="4895850"/>
            <a:ext cx="2714625" cy="571500"/>
          </a:xfrm>
          <a:prstGeom prst="rect">
            <a:avLst/>
          </a:prstGeom>
          <a:noFill/>
          <a:ln/>
        </p:spPr>
        <p:txBody>
          <a:bodyPr wrap="square" lIns="0" tIns="5257" rIns="0" bIns="-5257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readme.template.md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3381375" y="4895850"/>
            <a:ext cx="3724275" cy="60960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Bố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cục danh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sách; còn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cần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thật.</a:t>
            </a:r>
            <a:endParaRPr lang="en-US" sz="1125" dirty="0"/>
          </a:p>
        </p:txBody>
      </p:sp>
      <p:sp>
        <p:nvSpPr>
          <p:cNvPr id="15" name="Connector line-1792802528338-622748626"/>
          <p:cNvSpPr/>
          <p:nvPr/>
        </p:nvSpPr>
        <p:spPr>
          <a:xfrm>
            <a:off x="457200" y="56102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57200" y="5705475"/>
            <a:ext cx="2714625" cy="571500"/>
          </a:xfrm>
          <a:prstGeom prst="rect">
            <a:avLst/>
          </a:prstGeom>
          <a:noFill/>
          <a:ln/>
        </p:spPr>
        <p:txBody>
          <a:bodyPr wrap="square" lIns="0" tIns="5257" rIns="0" bIns="-5257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contributing.template.md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3381375" y="5705475"/>
            <a:ext cx="3724275" cy="60960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Tiêu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nhận/loại,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bằng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chứng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quy trình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xuất.</a:t>
            </a:r>
            <a:endParaRPr lang="en-US" sz="1125" dirty="0"/>
          </a:p>
        </p:txBody>
      </p:sp>
      <p:sp>
        <p:nvSpPr>
          <p:cNvPr id="18" name="Connector line-1792802528340-704929152"/>
          <p:cNvSpPr/>
          <p:nvPr/>
        </p:nvSpPr>
        <p:spPr>
          <a:xfrm>
            <a:off x="457200" y="6419850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57200" y="6515100"/>
            <a:ext cx="2714625" cy="571500"/>
          </a:xfrm>
          <a:prstGeom prst="rect">
            <a:avLst/>
          </a:prstGeom>
          <a:noFill/>
          <a:ln/>
        </p:spPr>
        <p:txBody>
          <a:bodyPr wrap="square" lIns="0" tIns="5257" rIns="0" bIns="-5257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 spc="-1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decision-log.md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3381375" y="6515100"/>
            <a:ext cx="3724275" cy="609600"/>
          </a:xfrm>
          <a:prstGeom prst="rect">
            <a:avLst/>
          </a:prstGeom>
          <a:noFill/>
          <a:ln/>
        </p:spPr>
        <p:txBody>
          <a:bodyPr wrap="square" lIns="0" tIns="5429" rIns="0" bIns="-5429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Ngày,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</a:t>
            </a:r>
            <a:r>
              <a:rPr lang="en-US" sz="112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đổi,</a:t>
            </a:r>
            <a:r>
              <a:rPr lang="en-US" sz="112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lý</a:t>
            </a:r>
            <a:r>
              <a:rPr lang="en-US" sz="112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12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12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</a:t>
            </a:r>
            <a:r>
              <a:rPr lang="en-US" sz="112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kiện</a:t>
            </a:r>
            <a:r>
              <a:rPr lang="en-US" sz="112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xem</a:t>
            </a:r>
            <a:r>
              <a:rPr lang="en-US" sz="1125" dirty="0" spc="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lại.</a:t>
            </a:r>
            <a:endParaRPr lang="en-US" sz="1125" dirty="0"/>
          </a:p>
        </p:txBody>
      </p:sp>
      <p:sp>
        <p:nvSpPr>
          <p:cNvPr id="21" name="Connector line-1792802528342-885990509"/>
          <p:cNvSpPr/>
          <p:nvPr/>
        </p:nvSpPr>
        <p:spPr>
          <a:xfrm>
            <a:off x="457200" y="722947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457200" y="777240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LỆNH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LINT</a:t>
            </a:r>
            <a:r>
              <a:rPr lang="en-US" sz="900" b="1" dirty="0" spc="-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900" b="1" dirty="0" spc="-18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900" b="1" dirty="0" spc="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LIỆU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CẦN NODE.JS</a:t>
            </a:r>
            <a:r>
              <a:rPr lang="en-US" sz="900" b="1" dirty="0" spc="-1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8124825"/>
            <a:ext cx="6648450" cy="647700"/>
          </a:xfrm>
          <a:prstGeom prst="roundRect">
            <a:avLst>
              <a:gd name="adj" fmla="val 2941"/>
            </a:avLst>
          </a:prstGeom>
          <a:solidFill>
            <a:srgbClr val="073B4C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700" y="8286750"/>
            <a:ext cx="6267450" cy="381000"/>
          </a:xfrm>
          <a:prstGeom prst="rect">
            <a:avLst/>
          </a:prstGeom>
          <a:noFill/>
          <a:ln/>
        </p:spPr>
        <p:txBody>
          <a:bodyPr wrap="square" lIns="0" tIns="7963" rIns="0" bIns="-7963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-14" kern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npx</a:t>
            </a:r>
            <a:r>
              <a:rPr lang="en-US" sz="1650" dirty="0" spc="-2" kern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awesome-lint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7200" y="9039225"/>
            <a:ext cx="6648450" cy="742950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Chạy</a:t>
            </a:r>
            <a:r>
              <a:rPr lang="en-US" sz="10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thư mục</a:t>
            </a:r>
            <a:r>
              <a:rPr lang="en-US" sz="1050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của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chính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bạn;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lệnh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thể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tải</a:t>
            </a:r>
            <a:r>
              <a:rPr lang="en-US" sz="10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gói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thi.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Nếu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chưa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50" dirty="0" spc="-4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môi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trường,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</a:t>
            </a:r>
            <a:r>
              <a:rPr lang="en-US" sz="1050" dirty="0" spc="-1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rõ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“chưa</a:t>
            </a:r>
            <a:r>
              <a:rPr lang="en-US" sz="1050" dirty="0" spc="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chạy”,</a:t>
            </a:r>
            <a:r>
              <a:rPr lang="en-US" sz="1050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rồi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dùng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thủ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công. [R6]</a:t>
            </a:r>
            <a:endParaRPr lang="en-US" sz="1050" dirty="0"/>
          </a:p>
        </p:txBody>
      </p:sp>
      <p:sp>
        <p:nvSpPr>
          <p:cNvPr id="26" name="Connector line-1792802528346-291171492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[R6]</a:t>
            </a:r>
            <a:endParaRPr lang="en-US" sz="863" dirty="0"/>
          </a:p>
        </p:txBody>
      </p:sp>
      <p:sp>
        <p:nvSpPr>
          <p:cNvPr id="28" name="Text 26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31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751cf58-e6cf-4725-9dcd-1fb35a161d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7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Trước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khi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đề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xuất</a:t>
            </a:r>
            <a:r>
              <a:rPr lang="en-US" sz="2250" dirty="0" spc="-4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upstream</a:t>
            </a:r>
            <a:endParaRPr lang="en-US" sz="2250" dirty="0"/>
          </a:p>
        </p:txBody>
      </p:sp>
      <p:sp>
        <p:nvSpPr>
          <p:cNvPr id="5" name="Connector line-1792802531270-510361157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43125"/>
            <a:ext cx="6648450" cy="942975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Đây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là tóm</a:t>
            </a:r>
            <a:r>
              <a:rPr lang="en-US" sz="120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tắt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để</a:t>
            </a:r>
            <a:r>
              <a:rPr lang="en-US" sz="120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tự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20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tra,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thay checklist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gốc.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lại</a:t>
            </a:r>
            <a:r>
              <a:rPr lang="en-US" sz="120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thái tiếp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trước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khi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gửi.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Bài</a:t>
            </a:r>
            <a:r>
              <a:rPr lang="en-US" sz="120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 AI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hỗ</a:t>
            </a:r>
            <a:r>
              <a:rPr lang="en-US" sz="1200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trợ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20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phải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đủ</a:t>
            </a:r>
            <a:r>
              <a:rPr lang="en-US" sz="120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điều kiện</a:t>
            </a:r>
            <a:r>
              <a:rPr lang="en-US" sz="120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gửi</a:t>
            </a:r>
            <a:r>
              <a:rPr lang="en-US" sz="120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20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trạng.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39090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" y="337185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Phạm</a:t>
            </a: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</a:t>
            </a:r>
            <a:r>
              <a:rPr lang="en-US" sz="1200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công</a:t>
            </a: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sức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050" y="370522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trùng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 tốt đã có;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bạn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thật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đọc,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tuyển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chọn.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do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tạo; PR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hoàn toàn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tạo.</a:t>
            </a:r>
            <a:endParaRPr lang="en-US" sz="1065" dirty="0"/>
          </a:p>
        </p:txBody>
      </p:sp>
      <p:sp>
        <p:nvSpPr>
          <p:cNvPr id="10" name="Shape 8"/>
          <p:cNvSpPr/>
          <p:nvPr/>
        </p:nvSpPr>
        <p:spPr>
          <a:xfrm>
            <a:off x="457200" y="44005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050" y="438150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Thời</a:t>
            </a: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gian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trưởng</a:t>
            </a:r>
            <a:r>
              <a:rPr lang="en-US" sz="1200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thành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050" y="471487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Ít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30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từ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thực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sự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đầu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tiên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hoặc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lúc công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khai,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lấy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mốc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gần hơn.</a:t>
            </a:r>
            <a:endParaRPr lang="en-US" sz="1065" dirty="0"/>
          </a:p>
        </p:txBody>
      </p:sp>
      <p:sp>
        <p:nvSpPr>
          <p:cNvPr id="13" name="Shape 11"/>
          <p:cNvSpPr/>
          <p:nvPr/>
        </p:nvSpPr>
        <p:spPr>
          <a:xfrm>
            <a:off x="457200" y="541020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050" y="539115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trúc &amp;</a:t>
            </a: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chất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lượng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050" y="572452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-2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Tên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slug,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nhánh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main,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Contents,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tả,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badge, hướng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 đóng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góp và</a:t>
            </a:r>
            <a:r>
              <a:rPr lang="en-US" sz="1065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giấy phép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hợp.</a:t>
            </a:r>
            <a:endParaRPr lang="en-US" sz="1065" dirty="0"/>
          </a:p>
        </p:txBody>
      </p:sp>
      <p:sp>
        <p:nvSpPr>
          <p:cNvPr id="16" name="Shape 14"/>
          <p:cNvSpPr/>
          <p:nvPr/>
        </p:nvSpPr>
        <p:spPr>
          <a:xfrm>
            <a:off x="457200" y="64198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050" y="640080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</a:t>
            </a:r>
            <a:r>
              <a:rPr lang="en-US" sz="1200" b="1" dirty="0" spc="-9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200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cộng</a:t>
            </a:r>
            <a:r>
              <a:rPr lang="en-US" sz="1200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050" y="673417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Chạy awesome-lint; thực hiện</a:t>
            </a:r>
            <a:r>
              <a:rPr lang="en-US" sz="1065" dirty="0" spc="-8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review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nội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ít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nhất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khác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hướng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dẫn, không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chỉ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“looks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good”.</a:t>
            </a:r>
            <a:endParaRPr lang="en-US" sz="1065" dirty="0"/>
          </a:p>
        </p:txBody>
      </p:sp>
      <p:sp>
        <p:nvSpPr>
          <p:cNvPr id="19" name="Shape 17"/>
          <p:cNvSpPr/>
          <p:nvPr/>
        </p:nvSpPr>
        <p:spPr>
          <a:xfrm>
            <a:off x="457200" y="742950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050" y="741045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r>
              <a:rPr lang="en-US" sz="1200" b="1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dạng</a:t>
            </a:r>
            <a:r>
              <a:rPr lang="en-US" sz="1200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200" b="1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050" y="774382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Tiêu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</a:t>
            </a:r>
            <a:r>
              <a:rPr lang="en-US" sz="1065" dirty="0" spc="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Add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Name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List;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entry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mô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tả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chủ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đề,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 quảng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cáo.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Thêm</a:t>
            </a:r>
            <a:r>
              <a:rPr lang="en-US" sz="106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ở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cuối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phù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hợp; URL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có #readme.</a:t>
            </a:r>
            <a:endParaRPr lang="en-US" sz="1065" dirty="0"/>
          </a:p>
        </p:txBody>
      </p:sp>
      <p:sp>
        <p:nvSpPr>
          <p:cNvPr id="22" name="Shape 20"/>
          <p:cNvSpPr/>
          <p:nvPr/>
        </p:nvSpPr>
        <p:spPr>
          <a:xfrm>
            <a:off x="457200" y="84391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73B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050" y="8420100"/>
            <a:ext cx="6324600" cy="285750"/>
          </a:xfrm>
          <a:prstGeom prst="rect">
            <a:avLst/>
          </a:prstGeom>
          <a:noFill/>
          <a:ln/>
        </p:spPr>
        <p:txBody>
          <a:bodyPr wrap="square" lIns="0" tIns="5791" rIns="0" bIns="-5791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Chính</a:t>
            </a:r>
            <a:r>
              <a:rPr lang="en-US" sz="1200" b="1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r>
              <a:rPr lang="en-US" sz="1200" b="1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hiện hành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050" y="8753475"/>
            <a:ext cx="6324600" cy="628650"/>
          </a:xfrm>
          <a:prstGeom prst="rect">
            <a:avLst/>
          </a:prstGeom>
          <a:noFill/>
          <a:ln/>
        </p:spPr>
        <p:txBody>
          <a:bodyPr wrap="square" lIns="0" tIns="5140" rIns="0" bIns="-514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Checklist hiện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 sách blockchain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mới dù</a:t>
            </a:r>
            <a:r>
              <a:rPr lang="en-US" sz="1065" dirty="0" spc="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còn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mục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lịch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sử.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1065" dirty="0" spc="-6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mọi</a:t>
            </a:r>
            <a:r>
              <a:rPr lang="en-US" sz="1065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yêu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cầu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gốc,</a:t>
            </a:r>
            <a:r>
              <a:rPr lang="en-US" sz="1065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gồm chi tiết</a:t>
            </a:r>
            <a:r>
              <a:rPr lang="en-US" sz="1065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xác</a:t>
            </a:r>
            <a:r>
              <a:rPr lang="en-US" sz="1065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nhận</a:t>
            </a:r>
            <a:r>
              <a:rPr lang="en-US" sz="1065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đã đọc.</a:t>
            </a:r>
            <a:endParaRPr lang="en-US" sz="1065" dirty="0"/>
          </a:p>
        </p:txBody>
      </p:sp>
      <p:sp>
        <p:nvSpPr>
          <p:cNvPr id="25" name="Connector line-1792802531289-379553826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32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b13d8d6-07e7-44a8-ad5a-67c87730d2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0"/>
            <a:ext cx="114300" cy="742950"/>
          </a:xfrm>
          <a:prstGeom prst="roundRect">
            <a:avLst>
              <a:gd name="adj" fmla="val 16667"/>
            </a:avLst>
          </a:prstGeom>
          <a:solidFill>
            <a:srgbClr val="D84A32"/>
          </a:solidFill>
          <a:ln w="9525">
            <a:solidFill>
              <a:srgbClr val="D84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86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-15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ATLAS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0100"/>
            <a:ext cx="6648450" cy="990600"/>
          </a:xfrm>
          <a:prstGeom prst="rect">
            <a:avLst/>
          </a:prstGeom>
          <a:noFill/>
          <a:ln/>
        </p:spPr>
        <p:txBody>
          <a:bodyPr wrap="square" lIns="0" tIns="7144" rIns="0" bIns="-7144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Nguồn</a:t>
            </a:r>
            <a:r>
              <a:rPr lang="en-US" sz="2250" dirty="0" spc="0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gốc</a:t>
            </a:r>
            <a:r>
              <a:rPr lang="en-US" sz="2250" dirty="0" spc="-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&amp;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phạm vi</a:t>
            </a:r>
            <a:r>
              <a:rPr lang="en-US" sz="2250" dirty="0" spc="2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kiểm</a:t>
            </a:r>
            <a:r>
              <a:rPr lang="en-US" sz="2250" dirty="0" spc="1" kern="0">
                <a:solidFill>
                  <a:srgbClr val="073B4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chứng</a:t>
            </a:r>
            <a:endParaRPr lang="en-US" sz="2250" dirty="0"/>
          </a:p>
        </p:txBody>
      </p:sp>
      <p:sp>
        <p:nvSpPr>
          <p:cNvPr id="5" name="Connector line-1792802535353-418625187"/>
          <p:cNvSpPr/>
          <p:nvPr/>
        </p:nvSpPr>
        <p:spPr>
          <a:xfrm>
            <a:off x="457200" y="1866900"/>
            <a:ext cx="6648450" cy="0"/>
          </a:xfrm>
          <a:prstGeom prst="line">
            <a:avLst/>
          </a:prstGeom>
          <a:noFill/>
          <a:ln w="9525">
            <a:solidFill>
              <a:srgbClr val="073B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57200" y="213360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R1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README: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bản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đồ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nhóm và liên kết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400300"/>
            <a:ext cx="6648450" cy="742950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https://github.com/sindresorhus/awesome/blob/bc98e517ddca672f55f9857d714fc3ea3c3540b2/readme.md</a:t>
            </a:r>
            <a:endParaRPr lang="en-US" sz="953" dirty="0"/>
          </a:p>
        </p:txBody>
      </p:sp>
      <p:sp>
        <p:nvSpPr>
          <p:cNvPr id="8" name="Text 6"/>
          <p:cNvSpPr/>
          <p:nvPr/>
        </p:nvSpPr>
        <p:spPr>
          <a:xfrm>
            <a:off x="457200" y="32480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R2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The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manifesto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514725"/>
            <a:ext cx="6648450" cy="742950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https://github.com/sindresorhus/awesome/blob/bc98e517ddca672f55f9857d714fc3ea3c3540b2/awesome.md</a:t>
            </a:r>
            <a:endParaRPr lang="en-US" sz="953" dirty="0"/>
          </a:p>
        </p:txBody>
      </p:sp>
      <p:sp>
        <p:nvSpPr>
          <p:cNvPr id="10" name="Text 8"/>
          <p:cNvSpPr/>
          <p:nvPr/>
        </p:nvSpPr>
        <p:spPr>
          <a:xfrm>
            <a:off x="457200" y="436245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R3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Contribution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Guidelines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629150"/>
            <a:ext cx="6648450" cy="742950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https://github.com/sindresorhus/awesome/blob/bc98e517ddca672f55f9857d714fc3ea3c3540b2/contributing.md</a:t>
            </a:r>
            <a:endParaRPr lang="en-US" sz="953" dirty="0"/>
          </a:p>
        </p:txBody>
      </p:sp>
      <p:sp>
        <p:nvSpPr>
          <p:cNvPr id="12" name="Text 10"/>
          <p:cNvSpPr/>
          <p:nvPr/>
        </p:nvSpPr>
        <p:spPr>
          <a:xfrm>
            <a:off x="457200" y="547687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R4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Creating</a:t>
            </a:r>
            <a:r>
              <a:rPr lang="en-US" sz="900" b="1" dirty="0" spc="-9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Your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Own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43575"/>
            <a:ext cx="6648450" cy="742950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https://github.com/sindresorhus/awesome/blob/bc98e517ddca672f55f9857d714fc3ea3c3540b2/create-list.md</a:t>
            </a:r>
            <a:endParaRPr lang="en-US" sz="953" dirty="0"/>
          </a:p>
        </p:txBody>
      </p:sp>
      <p:sp>
        <p:nvSpPr>
          <p:cNvPr id="14" name="Text 12"/>
          <p:cNvSpPr/>
          <p:nvPr/>
        </p:nvSpPr>
        <p:spPr>
          <a:xfrm>
            <a:off x="457200" y="6591300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R5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Checklist đề</a:t>
            </a:r>
            <a:r>
              <a:rPr lang="en-US" sz="900" b="1" dirty="0" spc="-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6648450" cy="742950"/>
          </a:xfrm>
          <a:prstGeom prst="rect">
            <a:avLst/>
          </a:prstGeom>
          <a:noFill/>
          <a:ln/>
        </p:spPr>
        <p:txBody>
          <a:bodyPr wrap="square" lIns="0" tIns="4371" rIns="0" bIns="-4371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dirty="0" spc="-3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https://github.com/sindresorhus/awesome/blob/bc98e517ddca672f55f9857d714fc3ea3c3540b2/pull_request_template.md</a:t>
            </a:r>
            <a:endParaRPr lang="en-US" sz="907" dirty="0"/>
          </a:p>
        </p:txBody>
      </p:sp>
      <p:sp>
        <p:nvSpPr>
          <p:cNvPr id="16" name="Text 14"/>
          <p:cNvSpPr/>
          <p:nvPr/>
        </p:nvSpPr>
        <p:spPr>
          <a:xfrm>
            <a:off x="457200" y="7705725"/>
            <a:ext cx="6648450" cy="22860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 spc="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R6</a:t>
            </a:r>
            <a:r>
              <a:rPr lang="en-US" sz="900" b="1" dirty="0" spc="-3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awesome-lint:</a:t>
            </a:r>
            <a:r>
              <a:rPr lang="en-US" sz="900" b="1" dirty="0" spc="1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</a:t>
            </a:r>
            <a:r>
              <a:rPr lang="en-US" sz="900" b="1" dirty="0" spc="0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900" b="1" dirty="0" spc="-2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kiểm</a:t>
            </a:r>
            <a:r>
              <a:rPr lang="en-US" sz="900" b="1" dirty="0" spc="-4" kern="0">
                <a:solidFill>
                  <a:srgbClr val="D84A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7972425"/>
            <a:ext cx="6648450" cy="742950"/>
          </a:xfrm>
          <a:prstGeom prst="rect">
            <a:avLst/>
          </a:prstGeom>
          <a:noFill/>
          <a:ln/>
        </p:spPr>
        <p:txBody>
          <a:bodyPr wrap="square" lIns="0" tIns="4606" rIns="0" bIns="-4606" rtlCol="0" anchor="t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 spc="-2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https://github.com/sindresorhus/awesome-lint/blob/4f870abda373cfa18c67822c39ee29c451ae8a70/readme.md</a:t>
            </a:r>
            <a:endParaRPr lang="en-US" sz="953" dirty="0"/>
          </a:p>
        </p:txBody>
      </p:sp>
      <p:sp>
        <p:nvSpPr>
          <p:cNvPr id="18" name="Text 16"/>
          <p:cNvSpPr/>
          <p:nvPr/>
        </p:nvSpPr>
        <p:spPr>
          <a:xfrm>
            <a:off x="457200" y="9086850"/>
            <a:ext cx="6648450" cy="838200"/>
          </a:xfrm>
          <a:prstGeom prst="rect">
            <a:avLst/>
          </a:prstGeom>
          <a:noFill/>
          <a:ln/>
        </p:spPr>
        <p:txBody>
          <a:bodyPr wrap="square" lIns="0" tIns="5067" rIns="0" bIns="-5067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Nguồn được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đọc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ngày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24/10/2026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ghim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theo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commit.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Giáo trình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không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chạy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thử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toàn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bộ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tài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nguyên</a:t>
            </a:r>
            <a:r>
              <a:rPr lang="en-US" sz="1050" dirty="0" spc="-5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trong</a:t>
            </a:r>
            <a:r>
              <a:rPr lang="en-US" sz="1050" dirty="0" spc="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danh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sách.</a:t>
            </a:r>
            <a:r>
              <a:rPr lang="en-US" sz="1050" dirty="0" spc="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Các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chương, bài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tập và</a:t>
            </a:r>
            <a:r>
              <a:rPr lang="en-US" sz="1050" dirty="0" spc="-2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rubric là nội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dung</a:t>
            </a:r>
            <a:r>
              <a:rPr lang="en-US" sz="1050" dirty="0" spc="-1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biên</a:t>
            </a:r>
            <a:r>
              <a:rPr lang="en-US" sz="1050" dirty="0" spc="0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soạn</a:t>
            </a:r>
            <a:r>
              <a:rPr lang="en-US" sz="1050" dirty="0" spc="-3" kern="0">
                <a:solidFill>
                  <a:srgbClr val="073B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riêng.</a:t>
            </a:r>
            <a:endParaRPr lang="en-US" sz="1050" dirty="0"/>
          </a:p>
        </p:txBody>
      </p:sp>
      <p:sp>
        <p:nvSpPr>
          <p:cNvPr id="19" name="Connector line-1792802535378-471031755"/>
          <p:cNvSpPr/>
          <p:nvPr/>
        </p:nvSpPr>
        <p:spPr>
          <a:xfrm>
            <a:off x="457200" y="10144125"/>
            <a:ext cx="6648450" cy="0"/>
          </a:xfrm>
          <a:prstGeom prst="line">
            <a:avLst/>
          </a:prstGeom>
          <a:noFill/>
          <a:ln w="9525">
            <a:solidFill>
              <a:srgbClr val="CBDDE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457200" y="10287000"/>
            <a:ext cx="5143500" cy="238125"/>
          </a:xfrm>
          <a:prstGeom prst="rect">
            <a:avLst/>
          </a:prstGeom>
          <a:noFill/>
          <a:ln/>
        </p:spPr>
        <p:txBody>
          <a:bodyPr wrap="square" lIns="0" tIns="4171" rIns="0" bIns="-4171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AWESOME</a:t>
            </a:r>
            <a:r>
              <a:rPr lang="en-US" sz="863" dirty="0" spc="-9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ATLAS</a:t>
            </a:r>
            <a:r>
              <a:rPr lang="en-US" sz="863" dirty="0" spc="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LAB</a:t>
            </a:r>
            <a:r>
              <a:rPr lang="en-US" sz="863" dirty="0" spc="-4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[R1]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[R2]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[R3]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[R4]</a:t>
            </a:r>
            <a:r>
              <a:rPr lang="en-US" sz="863" dirty="0" spc="0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[R5]</a:t>
            </a:r>
            <a:r>
              <a:rPr lang="en-US" sz="863" dirty="0" spc="-1" kern="0">
                <a:solidFill>
                  <a:srgbClr val="476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[R6]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6515100" y="10267950"/>
            <a:ext cx="590550" cy="285750"/>
          </a:xfrm>
          <a:prstGeom prst="rect">
            <a:avLst/>
          </a:prstGeom>
          <a:noFill/>
          <a:ln/>
        </p:spPr>
        <p:txBody>
          <a:bodyPr wrap="square" lIns="0" tIns="4343" rIns="0" bIns="-4343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2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33</a:t>
            </a:r>
            <a:r>
              <a:rPr lang="en-US" sz="900" dirty="0" spc="-3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/</a:t>
            </a:r>
            <a:r>
              <a:rPr lang="en-US" sz="900" dirty="0" spc="0" kern="0">
                <a:solidFill>
                  <a:srgbClr val="073B4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33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2e446db-0a02-4d3d-9a2a-ffd5cafce8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 Atlas Lab — 33 trang có mục lục và liên kết bài học</dc:title>
  <dc:subject>PptxGenJS Presentation</dc:subject>
  <dc:creator>PptxGenJS</dc:creator>
  <cp:lastModifiedBy>PptxGenJS</cp:lastModifiedBy>
  <cp:revision>1</cp:revision>
  <dcterms:created xsi:type="dcterms:W3CDTF">2026-10-24T02:23:06Z</dcterms:created>
  <dcterms:modified xsi:type="dcterms:W3CDTF">2026-10-24T02:23:06Z</dcterms:modified>
  <dc:language>vi-VN</dc:language>
</cp:coreProperties>
</file>