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8288000" cy="10287000"/>
  <p:notesSz cx="10287000" cy="18288000"/>
  <p:embeddedFontLst>
    <p:embeddedFont>
      <p:font typeface="Be Vietnam Pro"/>
      <p:regular r:id="rId50"/>
      <p:bold r:id="rId47"/>
    </p:embeddedFont>
    <p:embeddedFont>
      <p:font typeface="Bricolage Grotesque ExtraBold"/>
      <p:regular r:id="rId48"/>
    </p:embeddedFont>
    <p:embeddedFont>
      <p:font typeface="Be Vietnam Pro SemiBold"/>
      <p:regular r:id="rId49"/>
    </p:embeddedFont>
    <p:embeddedFont>
      <p:font typeface="Be Vietnam Pro ExtraBold"/>
      <p:regular r:id="rId51"/>
    </p:embeddedFont>
    <p:embeddedFont>
      <p:font typeface="Be Vietnam Pro Medium"/>
      <p:regular r:id="rId5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font" Target="fonts/font1.fntdata"/><Relationship Id="rId48" Type="http://schemas.openxmlformats.org/officeDocument/2006/relationships/font" Target="fonts/font2.fntdata"/><Relationship Id="rId49" Type="http://schemas.openxmlformats.org/officeDocument/2006/relationships/font" Target="fonts/font3.fntdata"/><Relationship Id="rId50" Type="http://schemas.openxmlformats.org/officeDocument/2006/relationships/font" Target="fonts/font4.fntdata"/><Relationship Id="rId51" Type="http://schemas.openxmlformats.org/officeDocument/2006/relationships/font" Target="fonts/font5.fntdata"/><Relationship Id="rId5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430250" y="3714750"/>
            <a:ext cx="1714500" cy="1714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20625" y="2905125"/>
            <a:ext cx="3333750" cy="3333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11000" y="2095500"/>
            <a:ext cx="4953000" cy="49530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01375" y="1285875"/>
            <a:ext cx="6572250" cy="65722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1750" y="476250"/>
            <a:ext cx="8191500" cy="8191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2125" y="-333375"/>
            <a:ext cx="9810750" cy="9810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39850" y="4324350"/>
            <a:ext cx="495300" cy="495300"/>
          </a:xfrm>
          <a:prstGeom prst="ellipse">
            <a:avLst/>
          </a:prstGeom>
          <a:solidFill>
            <a:srgbClr val="FF6A4D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00" b="1" spc="4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b="1" spc="4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100" b="1" spc="43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GenAI</a:t>
            </a:r>
            <a:r>
              <a:rPr lang="en-US" sz="81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Agents: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1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59</a:t>
            </a: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notebook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81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xây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Repo</a:t>
            </a:r>
            <a:r>
              <a:rPr lang="en-US" sz="3300" dirty="0" spc="-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59</a:t>
            </a:r>
            <a:r>
              <a:rPr lang="en-US" sz="3300" dirty="0" spc="-1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notebook</a:t>
            </a:r>
            <a:r>
              <a:rPr lang="en-US" sz="3300" dirty="0" spc="-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3300" dirty="0" spc="-1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dạy</a:t>
            </a:r>
            <a:r>
              <a:rPr lang="en-US" sz="33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gì,</a:t>
            </a:r>
            <a:r>
              <a:rPr lang="en-US" sz="330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33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300" dirty="0" spc="1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đâu,</a:t>
            </a:r>
            <a:r>
              <a:rPr lang="en-US" sz="33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cẩn</a:t>
            </a:r>
            <a:r>
              <a:rPr lang="en-US" sz="33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thận</a:t>
            </a:r>
            <a:r>
              <a:rPr lang="en-US" sz="33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r>
              <a:rPr lang="en-US" sz="33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LangGraph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MCP,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toàn,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lường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8660dd0-56ad-4845-ab09-4c98abc0c2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Repo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nên</a:t>
            </a:r>
            <a:r>
              <a:rPr lang="en-US" sz="69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69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cẩn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59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notebook,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4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từ</a:t>
            </a:r>
            <a:r>
              <a:rPr lang="en-US" sz="27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7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1b45571,</a:t>
            </a:r>
            <a:r>
              <a:rPr lang="en-US" sz="27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7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17/10/2026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47499f98-b8a1-4d70-be45-9fc5267946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khối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59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5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LangGraph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57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Dạy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lặp,</a:t>
            </a:r>
            <a:r>
              <a:rPr lang="en-US" sz="25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MCP,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Cẩn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cũ,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5c56cc5e-f34b-4dc8-bccb-2d5333c257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Agent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quanh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 hình;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luật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 nằm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mã,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prompt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Repo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sổ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chế;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đưa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sản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phẩm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repo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Giấy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thương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mại;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LICENSE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5dcd5ad5-0cd8-451b-ad14-fa456b3154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dạy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học,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 viện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GenAI</a:t>
            </a:r>
            <a:r>
              <a:rPr lang="en-US" sz="28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Nir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Diamant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59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Jupyter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8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 nói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 không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framework: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tiêu,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6669" rIns="0" bIns="-16669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</a:t>
            </a:r>
            <a:r>
              <a:rPr lang="en-US" sz="21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all_agents_tutorials,</a:t>
            </a: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1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1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notebook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dạy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4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xây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agent,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chatbot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import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sản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phẩm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2d998158-2731-407f-9d9b-3e75df091a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Tác</a:t>
            </a:r>
            <a:r>
              <a:rPr lang="en-US" sz="21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giả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Nir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Diamant;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tin,</a:t>
            </a:r>
            <a:r>
              <a:rPr lang="en-US" sz="255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kênh</a:t>
            </a:r>
            <a:r>
              <a:rPr lang="en-US" sz="2550" dirty="0" spc="-5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YouTube,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Discord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Reddit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Nội</a:t>
            </a: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59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notebook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Jupyter,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README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Framework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LangGraph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40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57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LangChain,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AutoGen,</a:t>
            </a:r>
            <a:r>
              <a:rPr lang="en-US" sz="25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CrewAI,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Swarm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Giấy</a:t>
            </a:r>
            <a:r>
              <a:rPr lang="en-US" sz="210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phép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Tùy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chỉnh,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mại;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</a:t>
            </a:r>
            <a:r>
              <a:rPr lang="en-US" sz="21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RAG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Techniques,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Agents</a:t>
            </a:r>
            <a:r>
              <a:rPr lang="en-US" sz="2550" dirty="0" spc="-5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Towards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Production,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Engineering,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Memory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Kiểm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thử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import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khói,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2381f617-5de1-490f-80eb-4a9001cbdd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all_agents_tutorials/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59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ctr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all_agents_tutorials/data/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mẫu cho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data/</a:t>
            </a:r>
            <a:r>
              <a:rPr lang="en-US" sz="3000" dirty="0" spc="-2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images/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scripts/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validate_notebook.py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tests/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khói,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requirements.txt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thuộc;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ab52c05a-bd13-4875-8735-fadb06baa9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57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59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4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59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33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33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59</a:t>
            </a:r>
            <a:r>
              <a:rPr lang="en-US" sz="33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33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.ipynb;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README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57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6981825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5048" rIns="0" bIns="-15048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trỏ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repo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notebook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PydanticAI,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notebook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link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7877175"/>
            <a:ext cx="16459200" cy="790575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56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33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59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(phép</a:t>
            </a:r>
            <a:r>
              <a:rPr lang="en-US" sz="33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3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viết)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6928eebf-051a-4b49-9ffb-c4a45fa46c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nhóm, từ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57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Analysis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 13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Business</a:t>
            </a:r>
            <a:r>
              <a:rPr lang="en-US" sz="30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án,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Creative</a:t>
            </a:r>
            <a:r>
              <a:rPr lang="en-US" sz="30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GIF,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thơ,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nhạc,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meme,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game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 án,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QA</a:t>
            </a:r>
            <a:r>
              <a:rPr lang="en-US" sz="30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tuân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dấu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vết,</a:t>
            </a:r>
            <a:r>
              <a:rPr lang="en-US" sz="24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Educational</a:t>
            </a:r>
            <a:r>
              <a:rPr lang="en-US" sz="3000" dirty="0" spc="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</a:t>
            </a:r>
            <a:r>
              <a:rPr lang="en-US" sz="30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-3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News</a:t>
            </a:r>
            <a:r>
              <a:rPr lang="en-US" sz="30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tập,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khoa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 tin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tức,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podcast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Còn</a:t>
            </a:r>
            <a:r>
              <a:rPr lang="en-US" sz="30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 11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Beginner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</a:t>
            </a:r>
            <a:r>
              <a:rPr lang="en-US" sz="24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 Shopping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40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Task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Advanced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1ebded5e-2097-4e0d-b7ec-57c3cd874e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Framework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endParaRPr lang="en-US" sz="5700" dirty="0"/>
          </a:p>
        </p:txBody>
      </p:sp>
      <p:sp>
        <p:nvSpPr>
          <p:cNvPr id="3" name="Connector line-1792666941758-826879227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4" name="Connector line-1792666941758-490492764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Connector line-1792666941759-603962922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Connector line-1792666941759-420697277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57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33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README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LangGraph: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LightRAG,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Ollama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LangChain: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 hàng,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PydanticAI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Transformers: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MCP,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AutoGen,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Swarm,</a:t>
            </a:r>
            <a:r>
              <a:rPr lang="en-US" sz="25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CrewAI,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Custom,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Pure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fa9f0cdf-31fd-4a1d-934e-3bd659393c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notebook,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gom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Tiêu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endParaRPr lang="en-US" sz="2700" dirty="0"/>
          </a:p>
        </p:txBody>
      </p:sp>
      <p:sp>
        <p:nvSpPr>
          <p:cNvPr id="7" name="Connector line-1792666942561-397716823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thích:</a:t>
            </a:r>
            <a:r>
              <a:rPr lang="en-US" sz="25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cơ,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phần,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550" dirty="0"/>
          </a:p>
        </p:txBody>
      </p:sp>
      <p:sp>
        <p:nvSpPr>
          <p:cNvPr id="12" name="Connector line-1792666942564-369360719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Sơ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Mermaid</a:t>
            </a:r>
            <a:r>
              <a:rPr lang="en-US" sz="2700" dirty="0" spc="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SVG</a:t>
            </a:r>
            <a:endParaRPr lang="en-US" sz="2700" dirty="0"/>
          </a:p>
        </p:txBody>
      </p:sp>
      <p:sp>
        <p:nvSpPr>
          <p:cNvPr id="17" name="Connector line-1792666942568-535466678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Cài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đặt, ví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endParaRPr lang="en-US" sz="2700" dirty="0"/>
          </a:p>
        </p:txBody>
      </p:sp>
      <p:sp>
        <p:nvSpPr>
          <p:cNvPr id="22" name="Connector line-1792666942571-598555318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sánh,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cân nhắc,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khảo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ce995d48-3cc2-462c-8469-e5550454f4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Script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57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notebook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script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1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validate_notebook.py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góp;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Overview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References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 bài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Overview,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Motivation,</a:t>
            </a:r>
            <a:r>
              <a:rPr lang="en-US" sz="2850" dirty="0" spc="-6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Components, Method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Details,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Conclusion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ý: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8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khó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8256" rIns="0" bIns="-18256" rtlCol="0" anchor="t"/>
          <a:lstStyle/>
          <a:p>
            <a:pPr algn="l" indent="0" marL="0">
              <a:lnSpc>
                <a:spcPts val="2806"/>
              </a:lnSpc>
              <a:buNone/>
            </a:pPr>
            <a:r>
              <a:rPr lang="en-US" sz="23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scripts/validate_notebook.py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595312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Cách</a:t>
            </a:r>
            <a:r>
              <a:rPr lang="en-US" sz="195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đọc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6410325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đồ,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40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ô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[S8]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 [S16]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ff6374be-ec68-47c7-a684-32acc4688b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file</a:t>
            </a:r>
            <a:r>
              <a:rPr lang="en-US" sz="57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là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khuyên.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2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6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lượt,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nhớ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gì;</a:t>
            </a:r>
            <a:r>
              <a:rPr lang="en-US" sz="27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700" dirty="0" spc="4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cả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là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óc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1deea41e-96ab-4f15-9b1a-273492d375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dụ: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giao: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có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8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tính chênh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làm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ra: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chỉ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mã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Việc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 hóa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đơn,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 cái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bao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nhiêu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Lượt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r>
              <a:rPr lang="en-US" sz="1950" dirty="0" spc="-2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195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xin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 file,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Lượt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 tự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chênh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ngày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8891a18e-e0ba-4f39-bfd3-a646e92128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562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562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Mã</a:t>
            </a:r>
            <a:r>
              <a:rPr lang="en-US" sz="2550" dirty="0" spc="-2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vòng</a:t>
            </a:r>
            <a:r>
              <a:rPr lang="en-US" sz="255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lặp</a:t>
            </a:r>
            <a:endParaRPr lang="en-US" sz="2550" dirty="0"/>
          </a:p>
        </p:txBody>
      </p:sp>
      <p:sp>
        <p:nvSpPr>
          <p:cNvPr id="5" name="Connector line-1792667314906-744854477"/>
          <p:cNvSpPr/>
          <p:nvPr/>
        </p:nvSpPr>
        <p:spPr>
          <a:xfrm>
            <a:off x="36576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0485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</a:t>
            </a:r>
            <a:r>
              <a:rPr lang="en-US" sz="25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2550" dirty="0"/>
          </a:p>
        </p:txBody>
      </p:sp>
      <p:sp>
        <p:nvSpPr>
          <p:cNvPr id="8" name="Connector line-1792667314908-409986341"/>
          <p:cNvSpPr/>
          <p:nvPr/>
        </p:nvSpPr>
        <p:spPr>
          <a:xfrm>
            <a:off x="91440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534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34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Công</a:t>
            </a:r>
            <a:r>
              <a:rPr lang="en-US" sz="25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endParaRPr lang="en-US" sz="2550" dirty="0"/>
          </a:p>
        </p:txBody>
      </p:sp>
      <p:sp>
        <p:nvSpPr>
          <p:cNvPr id="11" name="Connector line-1792667314910-657278311"/>
          <p:cNvSpPr/>
          <p:nvPr/>
        </p:nvSpPr>
        <p:spPr>
          <a:xfrm>
            <a:off x="146304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Connector line-1792667314910-161294551"/>
          <p:cNvSpPr/>
          <p:nvPr/>
        </p:nvSpPr>
        <p:spPr>
          <a:xfrm>
            <a:off x="3657600" y="4667250"/>
            <a:ext cx="54864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52850" y="3867150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 hội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endParaRPr lang="en-US" sz="2250" dirty="0"/>
          </a:p>
        </p:txBody>
      </p:sp>
      <p:sp>
        <p:nvSpPr>
          <p:cNvPr id="14" name="Connector line-1792667314912-119656596"/>
          <p:cNvSpPr/>
          <p:nvPr/>
        </p:nvSpPr>
        <p:spPr>
          <a:xfrm flipH="1">
            <a:off x="3657600" y="5629275"/>
            <a:ext cx="5486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752850" y="4829175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2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endParaRPr lang="en-US" sz="2250" dirty="0"/>
          </a:p>
        </p:txBody>
      </p:sp>
      <p:sp>
        <p:nvSpPr>
          <p:cNvPr id="16" name="Connector line-1792667314913-513550742"/>
          <p:cNvSpPr/>
          <p:nvPr/>
        </p:nvSpPr>
        <p:spPr>
          <a:xfrm>
            <a:off x="3657600" y="6591300"/>
            <a:ext cx="109728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752850" y="5791200"/>
            <a:ext cx="10782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250" dirty="0"/>
          </a:p>
        </p:txBody>
      </p:sp>
      <p:sp>
        <p:nvSpPr>
          <p:cNvPr id="18" name="Connector line-1792667314915-702945369"/>
          <p:cNvSpPr/>
          <p:nvPr/>
        </p:nvSpPr>
        <p:spPr>
          <a:xfrm flipH="1">
            <a:off x="3657600" y="7562850"/>
            <a:ext cx="109728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752850" y="6762750"/>
            <a:ext cx="10782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5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quả,</a:t>
            </a:r>
            <a:r>
              <a:rPr lang="en-US" sz="225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 lỗi,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dán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 thoại</a:t>
            </a:r>
            <a:endParaRPr lang="en-US" sz="2250" dirty="0"/>
          </a:p>
        </p:txBody>
      </p:sp>
      <p:sp>
        <p:nvSpPr>
          <p:cNvPr id="20" name="Connector line-1792667314918-907922317"/>
          <p:cNvSpPr/>
          <p:nvPr/>
        </p:nvSpPr>
        <p:spPr>
          <a:xfrm>
            <a:off x="3657600" y="8524875"/>
            <a:ext cx="54864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752850" y="7724775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</a:t>
            </a: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lại;</a:t>
            </a:r>
            <a:r>
              <a:rPr lang="en-US" sz="22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2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 hoặc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chạm MAX_TURNS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15/40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f51c1740-1a37-47bd-9fc5-6f82786ecf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bẫy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cách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Luật trong</a:t>
            </a:r>
            <a:r>
              <a:rPr lang="en-US" sz="42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1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«đừng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1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lỗi»</a:t>
            </a:r>
            <a:r>
              <a:rPr lang="en-US" sz="31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31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prompt.</a:t>
            </a: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1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1C4236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Luật trong</a:t>
            </a:r>
            <a:r>
              <a:rPr lang="en-US" sz="4200" dirty="0" spc="-2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42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1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1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BLOCKED.</a:t>
            </a:r>
            <a:r>
              <a:rPr lang="en-US" sz="31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1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cùng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 chữ;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mã: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trần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7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7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cứng,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luật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c29244d5-c994-4132-b51a-e63e966ab0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niệm:</a:t>
            </a: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thái,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nút,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cạnh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LangGraph,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(state)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TypedDict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thị;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trường: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loại,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(node)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cần cập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cạnh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(edge)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nút;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set_entry_point,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END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compile(),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invoke,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Mermaid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 luồng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Trạng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thái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chung,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TypedDict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Nút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hàm,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Cạnh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thứ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4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rẽ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92955eab-d71f-4679-a602-d8399dccd4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một: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ống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57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Văn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endParaRPr lang="en-US" sz="2700" dirty="0"/>
          </a:p>
        </p:txBody>
      </p:sp>
      <p:sp>
        <p:nvSpPr>
          <p:cNvPr id="7" name="Connector line-1792667016350-282593356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loại:</a:t>
            </a:r>
            <a:r>
              <a:rPr lang="en-US" sz="27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News,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Blog,</a:t>
            </a:r>
            <a:r>
              <a:rPr lang="en-US" sz="270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Research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Other</a:t>
            </a:r>
            <a:endParaRPr lang="en-US" sz="2700" dirty="0"/>
          </a:p>
        </p:txBody>
      </p:sp>
      <p:sp>
        <p:nvSpPr>
          <p:cNvPr id="12" name="Connector line-1792667016352-124384670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Trích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thể: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người,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chức,</a:t>
            </a:r>
            <a:r>
              <a:rPr lang="en-US" sz="27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7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endParaRPr lang="en-US" sz="2700" dirty="0"/>
          </a:p>
        </p:txBody>
      </p:sp>
      <p:sp>
        <p:nvSpPr>
          <p:cNvPr id="17" name="Connector line-1792667016355-394410191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9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Tóm</a:t>
            </a:r>
            <a:r>
              <a:rPr lang="en-US" sz="27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ngắn</a:t>
            </a:r>
            <a:endParaRPr lang="en-US" sz="2700" dirty="0"/>
          </a:p>
        </p:txBody>
      </p:sp>
      <p:sp>
        <p:nvSpPr>
          <p:cNvPr id="22" name="Connector line-1792667016357-566335110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8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7c434832-4ab7-48f9-90d4-b5f9de16f5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hai: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rẽ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</a:t>
            </a:r>
            <a:r>
              <a:rPr lang="en-US" sz="57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5700" dirty="0"/>
          </a:p>
        </p:txBody>
      </p:sp>
      <p:sp>
        <p:nvSpPr>
          <p:cNvPr id="3" name="Connector line-1792667017193-809251010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4" name="Connector line-1792667017193-988048013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Connector line-1792667017193-199064255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Connector line-1792667017193-239157789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Technical: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Billing: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General: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Negative: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38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42f96d55-167e-4135-9c15-b128c7340a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notebook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8096250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7486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Ngắn</a:t>
            </a:r>
            <a:r>
              <a:rPr lang="en-US" sz="21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7486650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Lịch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sử hội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thoại theo</a:t>
            </a:r>
            <a:r>
              <a:rPr lang="en-US" sz="2550" dirty="0" spc="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phiên,</a:t>
            </a:r>
            <a:r>
              <a:rPr lang="en-US" sz="2550" dirty="0" spc="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dictionary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 session_id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277350" y="2724150"/>
            <a:ext cx="8096250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27735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658350" y="2933700"/>
            <a:ext cx="7486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Dài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58350" y="3448050"/>
            <a:ext cx="7486650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Dictionary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long_term_memory,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chèn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«Long-term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memory»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5829300"/>
            <a:ext cx="8096250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038850"/>
            <a:ext cx="7486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</a:t>
            </a:r>
            <a:r>
              <a:rPr lang="en-US" sz="21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tắc</a:t>
            </a:r>
            <a:r>
              <a:rPr lang="en-US" sz="2100" dirty="0" spc="3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lưu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95400" y="6553200"/>
            <a:ext cx="7486650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550" dirty="0" spc="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dài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20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 5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gần nhất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277350" y="5829300"/>
            <a:ext cx="8096250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27735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9658350" y="6038850"/>
            <a:ext cx="7486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Giới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58350" y="6553200"/>
            <a:ext cx="7486650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Đo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dài chứ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trọng;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mất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kernel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khởi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(suy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luận)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[S11]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67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20/40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633a39d7-24e1-4e8c-9cb0-aaeb9a76bf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thiện:</a:t>
            </a:r>
            <a:r>
              <a:rPr lang="en-US" sz="57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57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lời,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chiếu,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8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lời:</a:t>
            </a:r>
            <a:r>
              <a:rPr lang="en-US" sz="27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xét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prompt</a:t>
            </a:r>
            <a:endParaRPr lang="en-US" sz="2700" dirty="0"/>
          </a:p>
        </p:txBody>
      </p:sp>
      <p:sp>
        <p:nvSpPr>
          <p:cNvPr id="7" name="Connector line-1792667019246-210596630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Phản chiếu: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thiện</a:t>
            </a:r>
            <a:endParaRPr lang="en-US" sz="2700" dirty="0"/>
          </a:p>
        </p:txBody>
      </p:sp>
      <p:sp>
        <p:nvSpPr>
          <p:cNvPr id="12" name="Connector line-1792667019249-53450091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Học: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27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nhớ,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endParaRPr lang="en-US" sz="2700" dirty="0"/>
          </a:p>
        </p:txBody>
      </p:sp>
      <p:sp>
        <p:nvSpPr>
          <p:cNvPr id="17" name="Connector line-1792667019251-618421043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thiếu: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495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21/40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0de4e371-62d3-4ad7-a242-b78f16f4c5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vai,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29337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29337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Clio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(lịch</a:t>
            </a:r>
            <a:r>
              <a:rPr lang="en-US" sz="2550" dirty="0" spc="7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sử)</a:t>
            </a:r>
            <a:endParaRPr lang="en-US" sz="2550" dirty="0"/>
          </a:p>
        </p:txBody>
      </p:sp>
      <p:sp>
        <p:nvSpPr>
          <p:cNvPr id="5" name="Connector line-1792667085618-120766378"/>
          <p:cNvSpPr/>
          <p:nvPr/>
        </p:nvSpPr>
        <p:spPr>
          <a:xfrm>
            <a:off x="50292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1633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11633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Data</a:t>
            </a:r>
            <a:r>
              <a:rPr lang="en-US" sz="25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(dữ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liệu)</a:t>
            </a:r>
            <a:endParaRPr lang="en-US" sz="2550" dirty="0"/>
          </a:p>
        </p:txBody>
      </p:sp>
      <p:sp>
        <p:nvSpPr>
          <p:cNvPr id="8" name="Connector line-1792667085621-153738786"/>
          <p:cNvSpPr/>
          <p:nvPr/>
        </p:nvSpPr>
        <p:spPr>
          <a:xfrm>
            <a:off x="132588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9" name="Connector line-1792667085622-307297633"/>
          <p:cNvSpPr/>
          <p:nvPr/>
        </p:nvSpPr>
        <p:spPr>
          <a:xfrm>
            <a:off x="5029200" y="4143375"/>
            <a:ext cx="0" cy="8572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257800" y="4143375"/>
            <a:ext cx="7467600" cy="85725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Clio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 lịch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endParaRPr lang="en-US" sz="2250" dirty="0"/>
          </a:p>
        </p:txBody>
      </p:sp>
      <p:sp>
        <p:nvSpPr>
          <p:cNvPr id="11" name="Connector line-1792667085624-298683228"/>
          <p:cNvSpPr/>
          <p:nvPr/>
        </p:nvSpPr>
        <p:spPr>
          <a:xfrm>
            <a:off x="5029200" y="5629275"/>
            <a:ext cx="8229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24450" y="4829175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Data</a:t>
            </a: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2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gì</a:t>
            </a:r>
            <a:endParaRPr lang="en-US" sz="2250" dirty="0"/>
          </a:p>
        </p:txBody>
      </p:sp>
      <p:sp>
        <p:nvSpPr>
          <p:cNvPr id="13" name="Connector line-1792667085627-619236067"/>
          <p:cNvSpPr/>
          <p:nvPr/>
        </p:nvSpPr>
        <p:spPr>
          <a:xfrm flipH="1">
            <a:off x="5029200" y="6591300"/>
            <a:ext cx="8229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124450" y="5791200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Clio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endParaRPr lang="en-US" sz="2250" dirty="0"/>
          </a:p>
        </p:txBody>
      </p:sp>
      <p:sp>
        <p:nvSpPr>
          <p:cNvPr id="15" name="Connector line-1792667085629-344590022"/>
          <p:cNvSpPr/>
          <p:nvPr/>
        </p:nvSpPr>
        <p:spPr>
          <a:xfrm>
            <a:off x="5029200" y="7562850"/>
            <a:ext cx="8229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124450" y="6762750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Data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 xu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endParaRPr lang="en-US" sz="2250" dirty="0"/>
          </a:p>
        </p:txBody>
      </p:sp>
      <p:sp>
        <p:nvSpPr>
          <p:cNvPr id="17" name="Connector line-1792667085631-507481657"/>
          <p:cNvSpPr/>
          <p:nvPr/>
        </p:nvSpPr>
        <p:spPr>
          <a:xfrm flipH="1">
            <a:off x="5029200" y="8524875"/>
            <a:ext cx="82296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124450" y="7724775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Clio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4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22/40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27cd7637-cdd0-4371-8d9d-6ad8101ae2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MCP: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USB-C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MCP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(Model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Protocol)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USB-C: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[S14]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vai: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như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dựng;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nối;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phơi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Vì</a:t>
            </a:r>
            <a:r>
              <a:rPr lang="en-US" sz="1950" dirty="0" spc="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595312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Được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6410325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cắm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cụ, khám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53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747f5459-de0e-4374-8f00-3c07faa343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host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endParaRPr lang="en-US" sz="5700" dirty="0"/>
          </a:p>
        </p:txBody>
      </p:sp>
      <p:sp>
        <p:nvSpPr>
          <p:cNvPr id="3" name="Connector line-1792667087687-344221350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72415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Connector line-1792667087688-60405955"/>
          <p:cNvSpPr/>
          <p:nvPr/>
        </p:nvSpPr>
        <p:spPr>
          <a:xfrm flipV="1">
            <a:off x="2971800" y="523875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Khám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phá: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host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server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3895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Connector line-1792667087690-357274202"/>
          <p:cNvSpPr/>
          <p:nvPr/>
        </p:nvSpPr>
        <p:spPr>
          <a:xfrm>
            <a:off x="7086600" y="605790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2197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Lập</a:t>
            </a:r>
            <a:r>
              <a:rPr lang="en-US" sz="2700" dirty="0" spc="-3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hoạch: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95375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Connector line-1792667087691-328895992"/>
          <p:cNvSpPr/>
          <p:nvPr/>
        </p:nvSpPr>
        <p:spPr>
          <a:xfrm flipV="1">
            <a:off x="11201400" y="523875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334500" y="342900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Thực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thi: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client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server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506855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4" name="Connector line-1792667087694-903594152"/>
          <p:cNvSpPr/>
          <p:nvPr/>
        </p:nvSpPr>
        <p:spPr>
          <a:xfrm>
            <a:off x="15316200" y="605790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3449300" y="6381750"/>
            <a:ext cx="37338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Diễn giải: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700" dirty="0" spc="-3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81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24/40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70f6b767-b668-495d-92a5-315d70cb91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phê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báo. Cổng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phụ, nhận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giả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8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phê</a:t>
            </a:r>
            <a:r>
              <a:rPr lang="en-US" sz="285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giữa</a:t>
            </a: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dừng,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tra,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«bạn chắc</a:t>
            </a:r>
            <a:r>
              <a:rPr lang="en-US" sz="2400" dirty="0" spc="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chứ?»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10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1192ce25-d47c-4b5d-b511-3b8beabeab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phê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r>
              <a:rPr lang="en-US" sz="57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2700" dirty="0"/>
          </a:p>
        </p:txBody>
      </p:sp>
      <p:sp>
        <p:nvSpPr>
          <p:cNvPr id="7" name="Connector line-1792667089575-606030633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loại: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thấp,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endParaRPr lang="en-US" sz="2700" dirty="0"/>
          </a:p>
        </p:txBody>
      </p:sp>
      <p:sp>
        <p:nvSpPr>
          <p:cNvPr id="12" name="Connector line-1792667089578-987526274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Rủi</a:t>
            </a:r>
            <a:r>
              <a:rPr lang="en-US" sz="27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r>
              <a:rPr lang="en-US" sz="27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cổng,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700" dirty="0"/>
          </a:p>
        </p:txBody>
      </p:sp>
      <p:sp>
        <p:nvSpPr>
          <p:cNvPr id="17" name="Connector line-1792667089580-573286501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duyệt: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approve,</a:t>
            </a:r>
            <a:r>
              <a:rPr lang="en-US" sz="25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reject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modify</a:t>
            </a:r>
            <a:endParaRPr lang="en-US" sz="2550" dirty="0"/>
          </a:p>
        </p:txBody>
      </p:sp>
      <p:sp>
        <p:nvSpPr>
          <p:cNvPr id="22" name="Connector line-1792667089583-961991715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38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01b49015-49f9-4598-92dc-86fc3051c3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giữ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phải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execute_tool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thêm,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67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1088f555-f695-4091-bf84-a3329a667a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Chấm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dấu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vết,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giám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Chuỗi</a:t>
            </a:r>
            <a:r>
              <a:rPr lang="en-US" sz="3000" dirty="0" spc="-1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công</a:t>
            </a:r>
            <a:r>
              <a:rPr lang="en-US" sz="30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r>
              <a:rPr lang="en-US" sz="30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đúng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25%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Tham</a:t>
            </a:r>
            <a:r>
              <a:rPr lang="en-US" sz="30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số</a:t>
            </a:r>
            <a:r>
              <a:rPr lang="en-US" sz="30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đúng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25%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3000" dirty="0" spc="2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30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khớp</a:t>
            </a:r>
            <a:r>
              <a:rPr lang="en-US" sz="3000" dirty="0" spc="-3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kết</a:t>
            </a: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quả</a:t>
            </a:r>
            <a:r>
              <a:rPr lang="en-US" sz="3000" dirty="0" spc="-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công</a:t>
            </a:r>
            <a:r>
              <a:rPr lang="en-US" sz="30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25%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Độ</a:t>
            </a:r>
            <a:r>
              <a:rPr lang="en-US" sz="30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trễ</a:t>
            </a:r>
            <a:r>
              <a:rPr lang="en-US" sz="3000" dirty="0" spc="-1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30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ngân</a:t>
            </a:r>
            <a:r>
              <a:rPr lang="en-US" sz="300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sách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25%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Có</a:t>
            </a:r>
            <a:r>
              <a:rPr lang="en-US" sz="30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r>
              <a:rPr lang="en-US" sz="3000" dirty="0" spc="1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thực</a:t>
            </a:r>
            <a:r>
              <a:rPr lang="en-US" sz="30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thi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96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6a541271-9eea-401c-b907-d61f1a2003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Router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bước: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57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suất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b="1" dirty="0" spc="-2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850" b="1" dirty="0" spc="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lách: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ticket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phải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[S17]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lần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tin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(calibration).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ECE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Dữ</a:t>
            </a: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banking77,</a:t>
            </a:r>
            <a:r>
              <a:rPr lang="en-US" sz="240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77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gộp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</a:t>
            </a:r>
            <a:r>
              <a:rPr lang="en-US" sz="19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Qwen3-1.7B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máy,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Công</a:t>
            </a:r>
            <a:r>
              <a:rPr lang="en-US" sz="19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temperature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scaling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24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308945c2-1f30-4577-80e5-8427d8f767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rẻ,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đắt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4200" dirty="0" spc="-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(prefill)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3150" dirty="0" spc="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lượt,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chip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4200" dirty="0" spc="-5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(decode)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chip chủ</a:t>
            </a:r>
            <a:r>
              <a:rPr lang="en-US" sz="31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Bốn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đòn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bẩy: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8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cỡ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 thoại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chung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53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b6fcf1f1-5cb0-4941-af87-f7ad6fb847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Lộ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Vòng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while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không: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Hội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nhớ,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môn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LangGraph: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quen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00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lĩnh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vực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bạn,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 dụ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hỗ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trợ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Cổng phê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30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 dấu</a:t>
            </a:r>
            <a:r>
              <a:rPr lang="en-US" sz="30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vết: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MCP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thật,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[S14] [S15]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781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31/40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3dd215c3-3e9b-46fd-b168-d3b9b40b7f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Khóa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API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OPENAI_API_KEY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ANTHROPIC_API_KEY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Môi</a:t>
            </a:r>
            <a:r>
              <a:rPr lang="en-US" sz="300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requirements.txt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langchain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0.2.16,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langgraph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0.2.18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Ngoại</a:t>
            </a:r>
            <a:r>
              <a:rPr lang="en-US" sz="30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langgraph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0.2.76,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cần</a:t>
            </a:r>
            <a:r>
              <a:rPr lang="en-US" sz="30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đọc-viết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Chi</a:t>
            </a:r>
            <a:r>
              <a:rPr lang="en-US" sz="3000" dirty="0" spc="-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phí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mỗi lần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10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1a38a3c0-4d27-4fe9-b985-28a241ab0f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Giấy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thoải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mái,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xin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381125"/>
          </a:xfrm>
          <a:prstGeom prst="roundRect">
            <a:avLst>
              <a:gd name="adj" fmla="val 15172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Được: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chép,</a:t>
            </a:r>
            <a:r>
              <a:rPr lang="en-US" sz="28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391025"/>
            <a:ext cx="15125700" cy="1381125"/>
          </a:xfrm>
          <a:prstGeom prst="roundRect">
            <a:avLst>
              <a:gd name="adj" fmla="val 15172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391025"/>
            <a:ext cx="14363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Phải: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giả,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924550"/>
            <a:ext cx="13792200" cy="1381125"/>
          </a:xfrm>
          <a:prstGeom prst="roundRect">
            <a:avLst>
              <a:gd name="adj" fmla="val 15172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924550"/>
            <a:ext cx="13030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 khi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7458075"/>
            <a:ext cx="12458700" cy="1381125"/>
          </a:xfrm>
          <a:prstGeom prst="roundRect">
            <a:avLst>
              <a:gd name="adj" fmla="val 15172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7458075"/>
            <a:ext cx="11696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góp: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vĩnh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viễn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phần</a:t>
            </a:r>
            <a:r>
              <a:rPr lang="en-US" sz="2850" b="1" dirty="0" spc="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39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c48acc47-8dcb-4fe1-be55-a3f2735dd7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Quảng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dõi: biết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spcAft>
                <a:spcPts val="1350"/>
              </a:spcAft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khối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thiệu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45"/>
              </a:lnSpc>
              <a:spcAft>
                <a:spcPts val="1350"/>
              </a:spcAft>
              <a:buNone/>
            </a:pPr>
            <a:r>
              <a:rPr lang="en-US" sz="2700" b="1" dirty="0" spc="-1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270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7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Production</a:t>
            </a:r>
            <a:pPr algn="l" indent="0" marL="0">
              <a:lnSpc>
                <a:spcPts val="3645"/>
              </a:lnSpc>
              <a:spcAft>
                <a:spcPts val="1350"/>
              </a:spcAft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7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CodeRabbit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Qodo,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50.000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45"/>
              </a:lnSpc>
              <a:spcAft>
                <a:spcPts val="1350"/>
              </a:spcAft>
              <a:buNone/>
            </a:pPr>
            <a:r>
              <a:rPr lang="en-US" sz="27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645"/>
              </a:lnSpc>
              <a:spcAft>
                <a:spcPts val="1350"/>
              </a:spcAft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 phí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 khóa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nhau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trung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rag-techniques-tracker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lại nút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45"/>
              </a:lnSpc>
              <a:buNone/>
            </a:pPr>
            <a:r>
              <a:rPr lang="en-US" sz="27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64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52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59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nhúng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genai-agents-views-tracker;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nhận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64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đầu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README, các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4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notebook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bán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học,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Cách</a:t>
            </a:r>
            <a:r>
              <a:rPr lang="en-US" sz="19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tránh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về,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67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85afcb8b-04c8-40b0-bf1d-35cae01267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biết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cũ,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phê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Đa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OpenAI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phí;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 ở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chơi: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dictionary,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kịch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ở</a:t>
            </a:r>
            <a:r>
              <a:rPr lang="en-US" sz="27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import</a:t>
            </a:r>
            <a:r>
              <a:rPr lang="en-US" sz="27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 thử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khói,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AGENTS.md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Giấy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</a:t>
            </a:r>
            <a:r>
              <a:rPr lang="en-US" sz="25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thương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mại: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 văn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sản phẩm có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96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35/40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c0190f61-7b5b-48cd-bee8-4ba994a96e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bốn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bài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57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tutorial,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59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Giao</a:t>
            </a:r>
            <a:r>
              <a:rPr lang="en-US" sz="3000" dirty="0" spc="1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thức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MCP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dùng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stdio_client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30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requirements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LangGraph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0.2.18,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0.2.76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Khóa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API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«không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cứng»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[S15]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924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6" name="Shape 54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36/40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1908b6a4-4ab9-4a2c-966d-d5fb8ad2f9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900" dirty="0" spc="1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-7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r>
              <a:rPr lang="en-US" sz="69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Hợp:</a:t>
            </a:r>
            <a:r>
              <a:rPr lang="en-US" sz="27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7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3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hợp:</a:t>
            </a:r>
            <a:r>
              <a:rPr lang="en-US" sz="27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phẩm;</a:t>
            </a:r>
            <a:r>
              <a:rPr lang="en-US" sz="27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 chỉ</a:t>
            </a:r>
            <a:r>
              <a:rPr lang="en-US" sz="27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27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agents-towards-production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153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94df13f8-3093-4667-8503-02f054cea2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 không</a:t>
            </a: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LangGraph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550" dirty="0" spc="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40</a:t>
            </a: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57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lường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phê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vết,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router,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mại; có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 cáo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382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6a8313fa-e8cb-4172-9d19-541763bb88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README,</a:t>
            </a:r>
            <a:r>
              <a:rPr lang="en-US" sz="31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CONTRIBUTING,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31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requirements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1b45571;</a:t>
            </a:r>
            <a:r>
              <a:rPr lang="en-US" sz="31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script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1C4236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42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1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nào;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1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1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fork,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issue;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 bài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router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đọc-viết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tả;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700" dirty="0" spc="-3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video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giả,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giấy phép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pháp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10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3" name="Shape 51"/>
          <p:cNvSpPr/>
          <p:nvPr/>
        </p:nvSpPr>
        <p:spPr>
          <a:xfrm>
            <a:off x="9858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baaa6169-bfcc-4a06-b054-ba1d25b4cd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README.md: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thiệu,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57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học,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AGENTS.md: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59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notebook,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cục,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CONTRIBUTING.md: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LICENSE: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 chỉnh,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phi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requirements.txt: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thư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scripts/validate_notebook.py: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8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con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không: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while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Simple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Conversational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Introduction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LangGraph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Customer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Support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LangGraph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640" rIns="0" bIns="-7640" rtlCol="0" anchor="ctr"/>
          <a:lstStyle/>
          <a:p>
            <a:pPr algn="l" indent="0" marL="0">
              <a:lnSpc>
                <a:spcPts val="2453"/>
              </a:lnSpc>
              <a:buNone/>
            </a:pPr>
            <a:r>
              <a:rPr lang="en-US" sz="2079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079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Memory-Enhanced</a:t>
            </a:r>
            <a:r>
              <a:rPr lang="en-US" sz="2079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Conversational</a:t>
            </a:r>
            <a:r>
              <a:rPr lang="en-US" sz="2079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079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Self-Improving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Multi-Agent Collaboration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Building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Human-in-the-Loop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Approval Agent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Trace-Based Agent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Evaluation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One-Step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Decision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vs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Write: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What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One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Answer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Costs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9839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7" name="Text 9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R01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40/40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9" name="Moda image moda-export-watermark-f3ca9b37-24c1-4848-a0a2-3bd17b0733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2026-10-22T11:09:02Z</dcterms:created>
  <dcterms:modified xsi:type="dcterms:W3CDTF">2026-10-22T11:09:02Z</dcterms:modified>
</cp:coreProperties>
</file>