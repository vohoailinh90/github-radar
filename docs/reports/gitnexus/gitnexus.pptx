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7562850" cy="10696575"/>
  <p:notesSz cx="10696575" cy="7562850"/>
  <p:embeddedFontLst>
    <p:embeddedFont>
      <p:font typeface="JetBrains Mono Medium"/>
      <p:regular r:id="rId21"/>
    </p:embeddedFont>
    <p:embeddedFont>
      <p:font typeface="Bricolage Grotesque"/>
      <p:bold r:id="rId22"/>
    </p:embeddedFont>
    <p:embeddedFont>
      <p:font typeface="Be Vietnam Pro Medium"/>
      <p:regular r:id="rId23"/>
    </p:embeddedFont>
    <p:embeddedFont>
      <p:font typeface="JetBrains Mono"/>
      <p:regular r:id="rId24"/>
      <p:bold r:id="rId29"/>
    </p:embeddedFont>
    <p:embeddedFont>
      <p:font typeface="Bricolage Grotesque SemiBold"/>
      <p:regular r:id="rId25"/>
    </p:embeddedFont>
    <p:embeddedFont>
      <p:font typeface="Be Vietnam Pro"/>
      <p:regular r:id="rId26"/>
      <p:bold r:id="rId27"/>
    </p:embeddedFont>
    <p:embeddedFont>
      <p:font typeface="Be Vietnam Pro SemiBold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858912268-243440614"/>
          <p:cNvSpPr/>
          <p:nvPr/>
        </p:nvSpPr>
        <p:spPr>
          <a:xfrm flipH="1" flipV="1">
            <a:off x="1809750" y="5334000"/>
            <a:ext cx="467091" cy="288659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Connector line-1792858912271-131230635"/>
          <p:cNvSpPr/>
          <p:nvPr/>
        </p:nvSpPr>
        <p:spPr>
          <a:xfrm flipH="1">
            <a:off x="4953000" y="4150583"/>
            <a:ext cx="326660" cy="80241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Connector line-1792858912271-253928347"/>
          <p:cNvSpPr/>
          <p:nvPr/>
        </p:nvSpPr>
        <p:spPr>
          <a:xfrm>
            <a:off x="3341747" y="7208167"/>
            <a:ext cx="373003" cy="316583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Connector line-1792858912271-956408212"/>
          <p:cNvSpPr/>
          <p:nvPr/>
        </p:nvSpPr>
        <p:spPr>
          <a:xfrm flipH="1">
            <a:off x="6096000" y="6538918"/>
            <a:ext cx="158428" cy="70008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Connector line-1792858912272-431892258"/>
          <p:cNvSpPr/>
          <p:nvPr/>
        </p:nvSpPr>
        <p:spPr>
          <a:xfrm>
            <a:off x="-357948" y="7123668"/>
            <a:ext cx="1500948" cy="49633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Connector line-1792858912272-591743356"/>
          <p:cNvSpPr/>
          <p:nvPr/>
        </p:nvSpPr>
        <p:spPr>
          <a:xfrm flipH="1">
            <a:off x="1809750" y="5266145"/>
            <a:ext cx="744625" cy="6785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Connector line-1792858912272-876620542"/>
          <p:cNvSpPr/>
          <p:nvPr/>
        </p:nvSpPr>
        <p:spPr>
          <a:xfrm flipH="1">
            <a:off x="4953000" y="4714450"/>
            <a:ext cx="525516" cy="238550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Connector line-1792858912272-789642302"/>
          <p:cNvSpPr/>
          <p:nvPr/>
        </p:nvSpPr>
        <p:spPr>
          <a:xfrm flipH="1">
            <a:off x="3714750" y="6783303"/>
            <a:ext cx="452677" cy="74144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Connector line-1792858912273-641612238"/>
          <p:cNvSpPr/>
          <p:nvPr/>
        </p:nvSpPr>
        <p:spPr>
          <a:xfrm flipH="1">
            <a:off x="6096000" y="6983009"/>
            <a:ext cx="959439" cy="255991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Connector line-1792858912278-546174156"/>
          <p:cNvSpPr/>
          <p:nvPr/>
        </p:nvSpPr>
        <p:spPr>
          <a:xfrm>
            <a:off x="1139907" y="6397391"/>
            <a:ext cx="3093" cy="1222609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Connector line-1792858912278-804157243"/>
          <p:cNvSpPr/>
          <p:nvPr/>
        </p:nvSpPr>
        <p:spPr>
          <a:xfrm>
            <a:off x="1143487" y="4604882"/>
            <a:ext cx="666263" cy="729118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Connector line-1792858912278-377826947"/>
          <p:cNvSpPr/>
          <p:nvPr/>
        </p:nvSpPr>
        <p:spPr>
          <a:xfrm flipH="1" flipV="1">
            <a:off x="4953000" y="4953000"/>
            <a:ext cx="370371" cy="103717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Connector line-1792858912278-774067809"/>
          <p:cNvSpPr/>
          <p:nvPr/>
        </p:nvSpPr>
        <p:spPr>
          <a:xfrm flipH="1">
            <a:off x="3714750" y="7302988"/>
            <a:ext cx="649443" cy="22176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Connector line-1792858912278-692655693"/>
          <p:cNvSpPr/>
          <p:nvPr/>
        </p:nvSpPr>
        <p:spPr>
          <a:xfrm flipH="1" flipV="1">
            <a:off x="6096000" y="7239000"/>
            <a:ext cx="1064032" cy="806018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Connector line-1792858912279-865435203"/>
          <p:cNvSpPr/>
          <p:nvPr/>
        </p:nvSpPr>
        <p:spPr>
          <a:xfrm flipH="1">
            <a:off x="1143000" y="6735848"/>
            <a:ext cx="610781" cy="88415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Connector line-1792858912279-992642709"/>
          <p:cNvSpPr/>
          <p:nvPr/>
        </p:nvSpPr>
        <p:spPr>
          <a:xfrm flipH="1" flipV="1">
            <a:off x="1809750" y="5334000"/>
            <a:ext cx="614721" cy="94042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Connector line-1792858912279-359781324"/>
          <p:cNvSpPr/>
          <p:nvPr/>
        </p:nvSpPr>
        <p:spPr>
          <a:xfrm flipH="1" flipV="1">
            <a:off x="4953000" y="4953000"/>
            <a:ext cx="1422405" cy="512173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Connector line-1792858912279-709139238"/>
          <p:cNvSpPr/>
          <p:nvPr/>
        </p:nvSpPr>
        <p:spPr>
          <a:xfrm flipH="1">
            <a:off x="3714750" y="7179744"/>
            <a:ext cx="1203090" cy="345006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Connector line-1792858912279-998053799"/>
          <p:cNvSpPr/>
          <p:nvPr/>
        </p:nvSpPr>
        <p:spPr>
          <a:xfrm flipH="1" flipV="1">
            <a:off x="6096000" y="7239000"/>
            <a:ext cx="214208" cy="51735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Connector line-1792858912279-829089357"/>
          <p:cNvSpPr/>
          <p:nvPr/>
        </p:nvSpPr>
        <p:spPr>
          <a:xfrm>
            <a:off x="990639" y="6736703"/>
            <a:ext cx="152361" cy="88329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Connector line-1792858912279-214703096"/>
          <p:cNvSpPr/>
          <p:nvPr/>
        </p:nvSpPr>
        <p:spPr>
          <a:xfrm flipH="1" flipV="1">
            <a:off x="1809750" y="5334000"/>
            <a:ext cx="1213477" cy="77117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Connector line-1792858912279-767533677"/>
          <p:cNvSpPr/>
          <p:nvPr/>
        </p:nvSpPr>
        <p:spPr>
          <a:xfrm flipV="1">
            <a:off x="3886691" y="4953000"/>
            <a:ext cx="1066309" cy="674768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Connector line-1792858912280-1285785"/>
          <p:cNvSpPr/>
          <p:nvPr/>
        </p:nvSpPr>
        <p:spPr>
          <a:xfrm flipH="1">
            <a:off x="3714750" y="6529309"/>
            <a:ext cx="914538" cy="995441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Connector line-1792858912280-802393440"/>
          <p:cNvSpPr/>
          <p:nvPr/>
        </p:nvSpPr>
        <p:spPr>
          <a:xfrm flipH="1" flipV="1">
            <a:off x="6096000" y="7239000"/>
            <a:ext cx="75561" cy="42838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Connector line-1792858912280-67056043"/>
          <p:cNvSpPr/>
          <p:nvPr/>
        </p:nvSpPr>
        <p:spPr>
          <a:xfrm>
            <a:off x="471060" y="7507736"/>
            <a:ext cx="671940" cy="11226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Connector line-1792858912280-61533311"/>
          <p:cNvSpPr/>
          <p:nvPr/>
        </p:nvSpPr>
        <p:spPr>
          <a:xfrm>
            <a:off x="658240" y="4800448"/>
            <a:ext cx="1151510" cy="533552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Connector line-1792858912280-678995096"/>
          <p:cNvSpPr/>
          <p:nvPr/>
        </p:nvSpPr>
        <p:spPr>
          <a:xfrm flipV="1">
            <a:off x="4126907" y="4953000"/>
            <a:ext cx="826093" cy="42221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Connector line-1792858912280-816155844"/>
          <p:cNvSpPr/>
          <p:nvPr/>
        </p:nvSpPr>
        <p:spPr>
          <a:xfrm flipH="1" flipV="1">
            <a:off x="3714750" y="7524750"/>
            <a:ext cx="1234940" cy="34927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Connector line-1792858912280-148728532"/>
          <p:cNvSpPr/>
          <p:nvPr/>
        </p:nvSpPr>
        <p:spPr>
          <a:xfrm flipH="1" flipV="1">
            <a:off x="6096000" y="7239000"/>
            <a:ext cx="1459843" cy="43674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Connector line-1792858912280-535015880"/>
          <p:cNvSpPr/>
          <p:nvPr/>
        </p:nvSpPr>
        <p:spPr>
          <a:xfrm flipV="1">
            <a:off x="756468" y="7620000"/>
            <a:ext cx="386532" cy="1177949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Connector line-1792858912280-600601221"/>
          <p:cNvSpPr/>
          <p:nvPr/>
        </p:nvSpPr>
        <p:spPr>
          <a:xfrm>
            <a:off x="1211127" y="4800504"/>
            <a:ext cx="598623" cy="533496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Connector line-1792858912281-685681670"/>
          <p:cNvSpPr/>
          <p:nvPr/>
        </p:nvSpPr>
        <p:spPr>
          <a:xfrm flipH="1" flipV="1">
            <a:off x="4953000" y="4953000"/>
            <a:ext cx="1526069" cy="312461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Connector line-1792858912281-980023121"/>
          <p:cNvSpPr/>
          <p:nvPr/>
        </p:nvSpPr>
        <p:spPr>
          <a:xfrm flipV="1">
            <a:off x="2730569" y="7524750"/>
            <a:ext cx="984181" cy="95159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Connector line-1792858912281-255937705"/>
          <p:cNvSpPr/>
          <p:nvPr/>
        </p:nvSpPr>
        <p:spPr>
          <a:xfrm>
            <a:off x="6042028" y="5909486"/>
            <a:ext cx="53972" cy="1329514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Connector line-1792858912281-92152080"/>
          <p:cNvSpPr/>
          <p:nvPr/>
        </p:nvSpPr>
        <p:spPr>
          <a:xfrm flipH="1" flipV="1">
            <a:off x="1143000" y="7620000"/>
            <a:ext cx="534110" cy="104940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Connector line-1792858912281-15950956"/>
          <p:cNvSpPr/>
          <p:nvPr/>
        </p:nvSpPr>
        <p:spPr>
          <a:xfrm flipH="1">
            <a:off x="1809750" y="5300465"/>
            <a:ext cx="574315" cy="3353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Connector line-1792858912281-696572736"/>
          <p:cNvSpPr/>
          <p:nvPr/>
        </p:nvSpPr>
        <p:spPr>
          <a:xfrm flipH="1" flipV="1">
            <a:off x="4953000" y="4953000"/>
            <a:ext cx="1312378" cy="350700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Connector line-1792858912281-481009459"/>
          <p:cNvSpPr/>
          <p:nvPr/>
        </p:nvSpPr>
        <p:spPr>
          <a:xfrm flipV="1">
            <a:off x="3157699" y="7524750"/>
            <a:ext cx="557051" cy="1197193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Connector line-1792858912281-892888328"/>
          <p:cNvSpPr/>
          <p:nvPr/>
        </p:nvSpPr>
        <p:spPr>
          <a:xfrm flipH="1">
            <a:off x="6096000" y="6546493"/>
            <a:ext cx="986788" cy="69250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Connector line-1792858912281-74825352"/>
          <p:cNvSpPr/>
          <p:nvPr/>
        </p:nvSpPr>
        <p:spPr>
          <a:xfrm flipH="1" flipV="1">
            <a:off x="1143000" y="7620000"/>
            <a:ext cx="376967" cy="31938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2" name="Connector line-1792858912281-860588809"/>
          <p:cNvSpPr/>
          <p:nvPr/>
        </p:nvSpPr>
        <p:spPr>
          <a:xfrm>
            <a:off x="537278" y="4904354"/>
            <a:ext cx="1272472" cy="429646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Connector line-1792858912281-180988297"/>
          <p:cNvSpPr/>
          <p:nvPr/>
        </p:nvSpPr>
        <p:spPr>
          <a:xfrm flipV="1">
            <a:off x="4675388" y="4953000"/>
            <a:ext cx="277612" cy="84011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Connector line-1792858912281-789520170"/>
          <p:cNvSpPr/>
          <p:nvPr/>
        </p:nvSpPr>
        <p:spPr>
          <a:xfrm>
            <a:off x="2936161" y="7299974"/>
            <a:ext cx="778589" cy="224776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Connector line-1792858912281-695984165"/>
          <p:cNvSpPr/>
          <p:nvPr/>
        </p:nvSpPr>
        <p:spPr>
          <a:xfrm flipV="1">
            <a:off x="4732296" y="7239000"/>
            <a:ext cx="1363704" cy="179267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Connector line-1792858912281-651538833"/>
          <p:cNvSpPr/>
          <p:nvPr/>
        </p:nvSpPr>
        <p:spPr>
          <a:xfrm>
            <a:off x="931121" y="6334797"/>
            <a:ext cx="211879" cy="1285203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Connector line-1792858912282-27119287"/>
          <p:cNvSpPr/>
          <p:nvPr/>
        </p:nvSpPr>
        <p:spPr>
          <a:xfrm>
            <a:off x="1014944" y="4575075"/>
            <a:ext cx="794806" cy="758925"/>
          </a:xfrm>
          <a:prstGeom prst="line">
            <a:avLst/>
          </a:prstGeom>
          <a:noFill/>
          <a:ln w="9525">
            <a:solidFill>
              <a:srgbClr val="2FA39A">
                <a:alpha val="4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Connector line-1792858912282-449248293"/>
          <p:cNvSpPr/>
          <p:nvPr/>
        </p:nvSpPr>
        <p:spPr>
          <a:xfrm>
            <a:off x="2276841" y="5622659"/>
            <a:ext cx="3977587" cy="916259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49" name="Connector line-1792858912282-251797343"/>
          <p:cNvSpPr/>
          <p:nvPr/>
        </p:nvSpPr>
        <p:spPr>
          <a:xfrm flipH="1" flipV="1">
            <a:off x="5478516" y="4714450"/>
            <a:ext cx="775913" cy="1824469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Connector line-1792858912282-870533219"/>
          <p:cNvSpPr/>
          <p:nvPr/>
        </p:nvSpPr>
        <p:spPr>
          <a:xfrm flipH="1">
            <a:off x="1139907" y="4714450"/>
            <a:ext cx="4338608" cy="1682942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1" name="Connector line-1792858912282-514056219"/>
          <p:cNvSpPr/>
          <p:nvPr/>
        </p:nvSpPr>
        <p:spPr>
          <a:xfrm>
            <a:off x="1139907" y="6397391"/>
            <a:ext cx="3224286" cy="905597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2" name="Connector line-1792858912282-354536656"/>
          <p:cNvSpPr/>
          <p:nvPr/>
        </p:nvSpPr>
        <p:spPr>
          <a:xfrm flipH="1" flipV="1">
            <a:off x="2424471" y="6274425"/>
            <a:ext cx="1939722" cy="1028564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3" name="Connector line-1792858912282-236534702"/>
          <p:cNvSpPr/>
          <p:nvPr/>
        </p:nvSpPr>
        <p:spPr>
          <a:xfrm>
            <a:off x="2424471" y="6274425"/>
            <a:ext cx="3885736" cy="1481930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4" name="Connector line-1792858912282-113507447"/>
          <p:cNvSpPr/>
          <p:nvPr/>
        </p:nvSpPr>
        <p:spPr>
          <a:xfrm flipH="1" flipV="1">
            <a:off x="3886691" y="5627768"/>
            <a:ext cx="2423516" cy="2128586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5" name="Connector line-1792858912282-147210242"/>
          <p:cNvSpPr/>
          <p:nvPr/>
        </p:nvSpPr>
        <p:spPr>
          <a:xfrm flipH="1">
            <a:off x="471060" y="5627768"/>
            <a:ext cx="3415632" cy="1879968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6" name="Connector line-1792858912282-362573432"/>
          <p:cNvSpPr/>
          <p:nvPr/>
        </p:nvSpPr>
        <p:spPr>
          <a:xfrm>
            <a:off x="471060" y="7507736"/>
            <a:ext cx="4478630" cy="366289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7" name="Connector line-1792858912282-363792555"/>
          <p:cNvSpPr/>
          <p:nvPr/>
        </p:nvSpPr>
        <p:spPr>
          <a:xfrm flipH="1" flipV="1">
            <a:off x="1211127" y="4800504"/>
            <a:ext cx="3738562" cy="3073521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8" name="Connector line-1792858912283-836601596"/>
          <p:cNvSpPr/>
          <p:nvPr/>
        </p:nvSpPr>
        <p:spPr>
          <a:xfrm>
            <a:off x="1211127" y="4800504"/>
            <a:ext cx="4830901" cy="1108981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59" name="Connector line-1792858912283-992447669"/>
          <p:cNvSpPr/>
          <p:nvPr/>
        </p:nvSpPr>
        <p:spPr>
          <a:xfrm flipV="1">
            <a:off x="6042028" y="5303700"/>
            <a:ext cx="223350" cy="605786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0" name="Connector line-1792858912283-10909100"/>
          <p:cNvSpPr/>
          <p:nvPr/>
        </p:nvSpPr>
        <p:spPr>
          <a:xfrm flipH="1">
            <a:off x="1519967" y="5303700"/>
            <a:ext cx="4745411" cy="2635685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1" name="Connector line-1792858912283-15537976"/>
          <p:cNvSpPr/>
          <p:nvPr/>
        </p:nvSpPr>
        <p:spPr>
          <a:xfrm flipV="1">
            <a:off x="1519967" y="7299974"/>
            <a:ext cx="1416194" cy="639411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2" name="Connector line-1792858912283-283113156"/>
          <p:cNvSpPr/>
          <p:nvPr/>
        </p:nvSpPr>
        <p:spPr>
          <a:xfrm flipH="1" flipV="1">
            <a:off x="1014944" y="4575075"/>
            <a:ext cx="1921217" cy="2724899"/>
          </a:xfrm>
          <a:prstGeom prst="line">
            <a:avLst/>
          </a:prstGeom>
          <a:noFill/>
          <a:ln w="9525">
            <a:solidFill>
              <a:srgbClr val="7FA39D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63" name="Connector line-1792858912283-145152143"/>
          <p:cNvSpPr/>
          <p:nvPr/>
        </p:nvSpPr>
        <p:spPr>
          <a:xfrm flipV="1">
            <a:off x="1809750" y="4953000"/>
            <a:ext cx="3143250" cy="381000"/>
          </a:xfrm>
          <a:prstGeom prst="line">
            <a:avLst/>
          </a:prstGeom>
          <a:noFill/>
          <a:ln w="14288">
            <a:solidFill>
              <a:srgbClr val="F0A93A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4" name="Connector line-1792858912283-56374834"/>
          <p:cNvSpPr/>
          <p:nvPr/>
        </p:nvSpPr>
        <p:spPr>
          <a:xfrm flipH="1">
            <a:off x="3714750" y="4953000"/>
            <a:ext cx="1238250" cy="2571750"/>
          </a:xfrm>
          <a:prstGeom prst="line">
            <a:avLst/>
          </a:prstGeom>
          <a:noFill/>
          <a:ln w="14288">
            <a:solidFill>
              <a:srgbClr val="F0A93A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5" name="Connector line-1792858912283-237215465"/>
          <p:cNvSpPr/>
          <p:nvPr/>
        </p:nvSpPr>
        <p:spPr>
          <a:xfrm flipV="1">
            <a:off x="3714750" y="7239000"/>
            <a:ext cx="2381250" cy="285750"/>
          </a:xfrm>
          <a:prstGeom prst="line">
            <a:avLst/>
          </a:prstGeom>
          <a:noFill/>
          <a:ln w="14288">
            <a:solidFill>
              <a:srgbClr val="F0A93A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6" name="Connector line-1792858912283-615522446"/>
          <p:cNvSpPr/>
          <p:nvPr/>
        </p:nvSpPr>
        <p:spPr>
          <a:xfrm flipH="1">
            <a:off x="1143000" y="7239000"/>
            <a:ext cx="4953000" cy="381000"/>
          </a:xfrm>
          <a:prstGeom prst="line">
            <a:avLst/>
          </a:prstGeom>
          <a:noFill/>
          <a:ln w="14288">
            <a:solidFill>
              <a:srgbClr val="F0A93A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7" name="Connector line-1792858912283-203003355"/>
          <p:cNvSpPr/>
          <p:nvPr/>
        </p:nvSpPr>
        <p:spPr>
          <a:xfrm flipV="1">
            <a:off x="1143000" y="5334000"/>
            <a:ext cx="666750" cy="2286000"/>
          </a:xfrm>
          <a:prstGeom prst="line">
            <a:avLst/>
          </a:prstGeom>
          <a:noFill/>
          <a:ln w="14288">
            <a:solidFill>
              <a:srgbClr val="F0A93A">
                <a:alpha val="5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2219690" y="5565508"/>
            <a:ext cx="114303" cy="114303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5232341" y="4103264"/>
            <a:ext cx="94640" cy="94640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303043" y="7169463"/>
            <a:ext cx="77407" cy="77407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197249" y="6481739"/>
            <a:ext cx="114358" cy="11435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2502009" y="5213779"/>
            <a:ext cx="104732" cy="10473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442789" y="4678724"/>
            <a:ext cx="71452" cy="7145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107657" y="6723533"/>
            <a:ext cx="119539" cy="119539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7006667" y="6934237"/>
            <a:ext cx="97544" cy="97544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102598" y="6360082"/>
            <a:ext cx="74618" cy="7461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80360" y="4541755"/>
            <a:ext cx="126254" cy="126254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289830" y="5956633"/>
            <a:ext cx="67082" cy="6708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307361" y="7246156"/>
            <a:ext cx="113664" cy="113664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7128103" y="8013089"/>
            <a:ext cx="63859" cy="63859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1702155" y="6684222"/>
            <a:ext cx="103252" cy="10325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2380631" y="6230584"/>
            <a:ext cx="87681" cy="87681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334243" y="5424012"/>
            <a:ext cx="82323" cy="82323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4877078" y="7138982"/>
            <a:ext cx="81524" cy="81524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252855" y="7699002"/>
            <a:ext cx="114705" cy="114705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940965" y="6687028"/>
            <a:ext cx="99349" cy="99349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2983554" y="6065499"/>
            <a:ext cx="79346" cy="79346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3854912" y="5595989"/>
            <a:ext cx="63558" cy="6355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4596669" y="6496690"/>
            <a:ext cx="65239" cy="65239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6109564" y="7605387"/>
            <a:ext cx="123994" cy="123994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436787" y="7473463"/>
            <a:ext cx="68546" cy="68546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609261" y="4751470"/>
            <a:ext cx="97957" cy="97957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079716" y="4948031"/>
            <a:ext cx="94382" cy="9438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4901002" y="7825338"/>
            <a:ext cx="97375" cy="97375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517012" y="7636916"/>
            <a:ext cx="77662" cy="7766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13381" y="8754862"/>
            <a:ext cx="86173" cy="86173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152534" y="4741910"/>
            <a:ext cx="117188" cy="11718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6449093" y="5235484"/>
            <a:ext cx="59953" cy="59953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2670146" y="8415921"/>
            <a:ext cx="120847" cy="120847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6011278" y="5878735"/>
            <a:ext cx="61501" cy="61501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634330" y="7682160"/>
            <a:ext cx="85560" cy="85560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2340851" y="5257251"/>
            <a:ext cx="86428" cy="8642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6222476" y="5260798"/>
            <a:ext cx="85803" cy="85803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3096285" y="8660529"/>
            <a:ext cx="122828" cy="12282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7022958" y="6486664"/>
            <a:ext cx="119658" cy="119658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1473654" y="7893072"/>
            <a:ext cx="92626" cy="92626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77457" y="4844533"/>
            <a:ext cx="119642" cy="119642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609198" y="5726926"/>
            <a:ext cx="132381" cy="132381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2889800" y="7253614"/>
            <a:ext cx="92721" cy="92721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4697301" y="7383273"/>
            <a:ext cx="69990" cy="69990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871873" y="6275548"/>
            <a:ext cx="118496" cy="118496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951719" y="4511850"/>
            <a:ext cx="126450" cy="126450"/>
          </a:xfrm>
          <a:prstGeom prst="ellipse">
            <a:avLst/>
          </a:prstGeom>
          <a:solidFill>
            <a:srgbClr val="2FA39A">
              <a:alpha val="85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1581150" y="5105400"/>
            <a:ext cx="457200" cy="457200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1666875" y="5191125"/>
            <a:ext cx="285750" cy="285750"/>
          </a:xfrm>
          <a:prstGeom prst="ellipse">
            <a:avLst/>
          </a:prstGeom>
          <a:solidFill>
            <a:srgbClr val="2FA39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4638675" y="4638675"/>
            <a:ext cx="628650" cy="628650"/>
          </a:xfrm>
          <a:prstGeom prst="ellipse">
            <a:avLst/>
          </a:prstGeom>
          <a:solidFill>
            <a:srgbClr val="E2552B">
              <a:alpha val="16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4724400" y="4724400"/>
            <a:ext cx="457200" cy="457200"/>
          </a:xfrm>
          <a:prstGeom prst="ellipse">
            <a:avLst/>
          </a:prstGeom>
          <a:solidFill>
            <a:srgbClr val="E2552B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467100" y="7277100"/>
            <a:ext cx="495300" cy="495300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3552825" y="7362825"/>
            <a:ext cx="323850" cy="323850"/>
          </a:xfrm>
          <a:prstGeom prst="ellipse">
            <a:avLst/>
          </a:prstGeom>
          <a:solidFill>
            <a:srgbClr val="2FA39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86450" y="7029450"/>
            <a:ext cx="419100" cy="419100"/>
          </a:xfrm>
          <a:prstGeom prst="ellipse">
            <a:avLst/>
          </a:prstGeom>
          <a:solidFill>
            <a:srgbClr val="F0A93A">
              <a:alpha val="16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5972175" y="7115175"/>
            <a:ext cx="247650" cy="247650"/>
          </a:xfrm>
          <a:prstGeom prst="ellipse">
            <a:avLst/>
          </a:prstGeom>
          <a:solidFill>
            <a:srgbClr val="F0A93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962025" y="7439025"/>
            <a:ext cx="361950" cy="361950"/>
          </a:xfrm>
          <a:prstGeom prst="ellipse">
            <a:avLst/>
          </a:prstGeom>
          <a:solidFill>
            <a:srgbClr val="2FA39A">
              <a:alpha val="16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1047750" y="7524750"/>
            <a:ext cx="190500" cy="190500"/>
          </a:xfrm>
          <a:prstGeom prst="ellipse">
            <a:avLst/>
          </a:prstGeom>
          <a:solidFill>
            <a:srgbClr val="2FA39A"/>
          </a:solidFill>
          <a:ln/>
        </p:spPr>
      </p:sp>
      <p:sp>
        <p:nvSpPr>
          <p:cNvPr id="123" name="Text 121"/>
          <p:cNvSpPr/>
          <p:nvPr/>
        </p:nvSpPr>
        <p:spPr>
          <a:xfrm>
            <a:off x="457200" y="41910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F0A9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BÁO CÁO KỸ THUẬT</a:t>
            </a:r>
            <a:endParaRPr lang="en-US" sz="825" dirty="0"/>
          </a:p>
        </p:txBody>
      </p:sp>
      <p:sp>
        <p:nvSpPr>
          <p:cNvPr id="124" name="Text 122"/>
          <p:cNvSpPr/>
          <p:nvPr/>
        </p:nvSpPr>
        <p:spPr>
          <a:xfrm>
            <a:off x="4248150" y="4191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7FA39D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24 · 10 · 2026</a:t>
            </a:r>
            <a:endParaRPr lang="en-US" sz="825" dirty="0"/>
          </a:p>
        </p:txBody>
      </p:sp>
      <p:sp>
        <p:nvSpPr>
          <p:cNvPr id="125" name="Text 123"/>
          <p:cNvSpPr/>
          <p:nvPr/>
        </p:nvSpPr>
        <p:spPr>
          <a:xfrm>
            <a:off x="457200" y="819150"/>
            <a:ext cx="6648450" cy="1238250"/>
          </a:xfrm>
          <a:prstGeom prst="rect">
            <a:avLst/>
          </a:prstGeom>
          <a:noFill/>
          <a:ln/>
        </p:spPr>
        <p:txBody>
          <a:bodyPr wrap="square" lIns="0" tIns="82398" rIns="0" bIns="-82398" rtlCol="0" anchor="t"/>
          <a:lstStyle/>
          <a:p>
            <a:pPr algn="l" indent="0" marL="0">
              <a:lnSpc>
                <a:spcPts val="8110"/>
              </a:lnSpc>
              <a:buNone/>
            </a:pPr>
            <a:r>
              <a:rPr lang="en-US" sz="8110" b="1" spc="-258" kern="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GitNexus</a:t>
            </a:r>
            <a:endParaRPr lang="en-US" sz="8110" dirty="0"/>
          </a:p>
        </p:txBody>
      </p:sp>
      <p:sp>
        <p:nvSpPr>
          <p:cNvPr id="126" name="Text 124"/>
          <p:cNvSpPr/>
          <p:nvPr/>
        </p:nvSpPr>
        <p:spPr>
          <a:xfrm>
            <a:off x="457200" y="2114550"/>
            <a:ext cx="5715000" cy="8001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Biến</a:t>
            </a:r>
            <a:r>
              <a:rPr lang="en-US" sz="1950" dirty="0" spc="1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1950" dirty="0" spc="-3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codebase</a:t>
            </a:r>
            <a:r>
              <a:rPr lang="en-US" sz="1950" dirty="0" spc="1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1950" dirty="0" spc="12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</a:t>
            </a:r>
            <a:r>
              <a:rPr lang="en-US" sz="1950" dirty="0" spc="2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1950" dirty="0" spc="9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</a:t>
            </a:r>
            <a:r>
              <a:rPr lang="en-US" sz="1950" dirty="0" spc="8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1950" dirty="0" spc="1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1950" dirty="0" spc="-3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950" dirty="0" spc="-10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950" dirty="0" spc="0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1950" dirty="0" spc="2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1950" dirty="0" spc="0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1950" dirty="0" spc="-11" kern="0">
                <a:solidFill>
                  <a:srgbClr val="CFE3D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endParaRPr lang="en-US" sz="1950" dirty="0"/>
          </a:p>
        </p:txBody>
      </p:sp>
      <p:sp>
        <p:nvSpPr>
          <p:cNvPr id="127" name="Text 125"/>
          <p:cNvSpPr/>
          <p:nvPr/>
        </p:nvSpPr>
        <p:spPr>
          <a:xfrm>
            <a:off x="2152650" y="52197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endParaRPr lang="en-US" sz="825" dirty="0"/>
          </a:p>
        </p:txBody>
      </p:sp>
      <p:sp>
        <p:nvSpPr>
          <p:cNvPr id="128" name="Text 126"/>
          <p:cNvSpPr/>
          <p:nvPr/>
        </p:nvSpPr>
        <p:spPr>
          <a:xfrm>
            <a:off x="5295900" y="46672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Process</a:t>
            </a:r>
            <a:endParaRPr lang="en-US" sz="825" dirty="0"/>
          </a:p>
        </p:txBody>
      </p:sp>
      <p:sp>
        <p:nvSpPr>
          <p:cNvPr id="129" name="Text 127"/>
          <p:cNvSpPr/>
          <p:nvPr/>
        </p:nvSpPr>
        <p:spPr>
          <a:xfrm>
            <a:off x="3981450" y="77343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Community</a:t>
            </a:r>
            <a:endParaRPr lang="en-US" sz="825" dirty="0"/>
          </a:p>
        </p:txBody>
      </p:sp>
      <p:sp>
        <p:nvSpPr>
          <p:cNvPr id="130" name="Text 128"/>
          <p:cNvSpPr/>
          <p:nvPr/>
        </p:nvSpPr>
        <p:spPr>
          <a:xfrm>
            <a:off x="6324600" y="74104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</a:t>
            </a:r>
            <a:endParaRPr lang="en-US" sz="825" dirty="0"/>
          </a:p>
        </p:txBody>
      </p:sp>
      <p:sp>
        <p:nvSpPr>
          <p:cNvPr id="131" name="Connector line-1792858912343-570110955"/>
          <p:cNvSpPr/>
          <p:nvPr/>
        </p:nvSpPr>
        <p:spPr>
          <a:xfrm>
            <a:off x="457200" y="8839200"/>
            <a:ext cx="6648450" cy="0"/>
          </a:xfrm>
          <a:prstGeom prst="line">
            <a:avLst/>
          </a:prstGeom>
          <a:noFill/>
          <a:ln w="9525">
            <a:solidFill>
              <a:srgbClr val="2A4743"/>
            </a:solidFill>
            <a:prstDash val="solid"/>
            <a:headEnd type="none"/>
            <a:tailEnd type="none"/>
          </a:ln>
        </p:spPr>
      </p:sp>
      <p:sp>
        <p:nvSpPr>
          <p:cNvPr id="132" name="Text 130"/>
          <p:cNvSpPr/>
          <p:nvPr/>
        </p:nvSpPr>
        <p:spPr>
          <a:xfrm>
            <a:off x="457200" y="9010650"/>
            <a:ext cx="152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08" kern="0" dirty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PHIÊN BẢN NPM</a:t>
            </a:r>
            <a:endParaRPr lang="en-US" sz="825" dirty="0"/>
          </a:p>
        </p:txBody>
      </p:sp>
      <p:sp>
        <p:nvSpPr>
          <p:cNvPr id="133" name="Text 131"/>
          <p:cNvSpPr/>
          <p:nvPr/>
        </p:nvSpPr>
        <p:spPr>
          <a:xfrm>
            <a:off x="457200" y="92011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0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1.6.12</a:t>
            </a:r>
            <a:endParaRPr lang="en-US" sz="1800" dirty="0"/>
          </a:p>
        </p:txBody>
      </p:sp>
      <p:sp>
        <p:nvSpPr>
          <p:cNvPr id="134" name="Text 132"/>
          <p:cNvSpPr/>
          <p:nvPr/>
        </p:nvSpPr>
        <p:spPr>
          <a:xfrm>
            <a:off x="2171700" y="9010650"/>
            <a:ext cx="152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08" kern="0" dirty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 ĐÃ ĐỌC</a:t>
            </a:r>
            <a:endParaRPr lang="en-US" sz="825" dirty="0"/>
          </a:p>
        </p:txBody>
      </p:sp>
      <p:sp>
        <p:nvSpPr>
          <p:cNvPr id="135" name="Text 133"/>
          <p:cNvSpPr/>
          <p:nvPr/>
        </p:nvSpPr>
        <p:spPr>
          <a:xfrm>
            <a:off x="2171700" y="92011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d8a256a</a:t>
            </a:r>
            <a:endParaRPr lang="en-US" sz="1800" dirty="0"/>
          </a:p>
        </p:txBody>
      </p:sp>
      <p:sp>
        <p:nvSpPr>
          <p:cNvPr id="136" name="Text 134"/>
          <p:cNvSpPr/>
          <p:nvPr/>
        </p:nvSpPr>
        <p:spPr>
          <a:xfrm>
            <a:off x="3886200" y="9010650"/>
            <a:ext cx="152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08" kern="0" dirty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NGÔN NGỮ · TOOL MCP</a:t>
            </a:r>
            <a:endParaRPr lang="en-US" sz="825" dirty="0"/>
          </a:p>
        </p:txBody>
      </p:sp>
      <p:sp>
        <p:nvSpPr>
          <p:cNvPr id="137" name="Text 135"/>
          <p:cNvSpPr/>
          <p:nvPr/>
        </p:nvSpPr>
        <p:spPr>
          <a:xfrm>
            <a:off x="3886200" y="92011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18 ·</a:t>
            </a:r>
            <a:r>
              <a:rPr lang="en-US" sz="1800" dirty="0" spc="0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19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5600700" y="9010650"/>
            <a:ext cx="152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08" kern="0" dirty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GIẤY PHÉP</a:t>
            </a:r>
            <a:endParaRPr lang="en-US" sz="825" dirty="0"/>
          </a:p>
        </p:txBody>
      </p:sp>
      <p:sp>
        <p:nvSpPr>
          <p:cNvPr id="139" name="Text 137"/>
          <p:cNvSpPr/>
          <p:nvPr/>
        </p:nvSpPr>
        <p:spPr>
          <a:xfrm>
            <a:off x="5600700" y="920115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PolyForm</a:t>
            </a:r>
            <a:r>
              <a:rPr lang="en-US" sz="1800" dirty="0" spc="1" kern="0">
                <a:solidFill>
                  <a:srgbClr val="F3EEE4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 NC</a:t>
            </a:r>
            <a:endParaRPr lang="en-US" sz="1800" dirty="0"/>
          </a:p>
        </p:txBody>
      </p:sp>
      <p:sp>
        <p:nvSpPr>
          <p:cNvPr id="140" name="Text 138"/>
          <p:cNvSpPr/>
          <p:nvPr/>
        </p:nvSpPr>
        <p:spPr>
          <a:xfrm>
            <a:off x="457200" y="9906000"/>
            <a:ext cx="6648450" cy="342900"/>
          </a:xfrm>
          <a:prstGeom prst="rect">
            <a:avLst/>
          </a:prstGeom>
          <a:noFill/>
          <a:ln/>
        </p:spPr>
        <p:txBody>
          <a:bodyPr wrap="square" lIns="0" tIns="-802" rIns="0" bIns="802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1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github.com/abhigyanpatwari/GitNexus</a:t>
            </a:r>
            <a:r>
              <a:rPr lang="en-US" sz="825" dirty="0" spc="0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825" dirty="0" spc="-1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shallow</a:t>
            </a:r>
            <a:r>
              <a:rPr lang="en-US" sz="825" dirty="0" spc="1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r>
              <a:rPr lang="en-US" sz="825" dirty="0" spc="-3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825" dirty="0" spc="-5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24/10/2026).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825" dirty="0" spc="3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825" dirty="0" spc="-1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từ việc</a:t>
            </a:r>
            <a:r>
              <a:rPr lang="en-US" sz="825" dirty="0" spc="5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825" dirty="0" spc="0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825" dirty="0" spc="-5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-1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825" dirty="0" spc="3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825" dirty="0" spc="-6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repo;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825" dirty="0" spc="3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825" dirty="0" spc="6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825" dirty="0" spc="4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825" dirty="0" spc="2" kern="0">
                <a:solidFill>
                  <a:srgbClr val="7FA39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thử.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2" name="Moda image moda-export-watermark-64c99545-3860-43ab-84e5-b7a7740e1e3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/ 14</a:t>
            </a:r>
            <a:endParaRPr lang="en-US" sz="825" dirty="0"/>
          </a:p>
        </p:txBody>
      </p:sp>
      <p:sp>
        <p:nvSpPr>
          <p:cNvPr id="4" name="Connector line-1792883646043-763130548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· TÓM TẮT ĐIỀU HÀNH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GitNexus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2550" b="1" spc="-4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gì,</a:t>
            </a:r>
            <a:r>
              <a:rPr lang="en-US" sz="2550" b="1" spc="-6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2550" b="1" spc="-4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vì</a:t>
            </a: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sao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đáng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chú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858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GitNexus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codebase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symbol,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thi.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MCP,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grep.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955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6289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101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248.612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9600" y="31051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symbol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825" dirty="0" spc="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chính</a:t>
            </a:r>
            <a:r>
              <a:rPr lang="en-US" sz="825" dirty="0" spc="-7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5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(AGENTS.md)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2724150" y="24955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12" name="Text 10"/>
          <p:cNvSpPr/>
          <p:nvPr/>
        </p:nvSpPr>
        <p:spPr>
          <a:xfrm>
            <a:off x="2876550" y="26289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88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565.510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76550" y="31051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(lời</a:t>
            </a:r>
            <a:r>
              <a:rPr lang="en-US" sz="825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import,</a:t>
            </a:r>
            <a:r>
              <a:rPr lang="en-US" sz="825" dirty="0" spc="-1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thừa...)</a:t>
            </a:r>
            <a:r>
              <a:rPr lang="en-US" sz="825" dirty="0" spc="6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991100" y="24955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15" name="Text 13"/>
          <p:cNvSpPr/>
          <p:nvPr/>
        </p:nvSpPr>
        <p:spPr>
          <a:xfrm>
            <a:off x="5143500" y="26289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86" kern="0" dirty="0">
                <a:solidFill>
                  <a:srgbClr val="E255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918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143500" y="31051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825" dirty="0" spc="6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(process)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57200" y="36004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37338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77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9600" y="42100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có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provider,</a:t>
            </a:r>
            <a:r>
              <a:rPr lang="en-US" sz="825" dirty="0" spc="-1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COBOL</a:t>
            </a:r>
            <a:r>
              <a:rPr lang="en-US" sz="825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-9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Vue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2724150" y="36004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21" name="Text 19"/>
          <p:cNvSpPr/>
          <p:nvPr/>
        </p:nvSpPr>
        <p:spPr>
          <a:xfrm>
            <a:off x="2876550" y="37338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79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876550" y="42100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52" rIns="0" bIns="-3152" rtlCol="0" anchor="t"/>
          <a:lstStyle/>
          <a:p>
            <a:pPr algn="l" indent="0" marL="0">
              <a:lnSpc>
                <a:spcPts val="1112"/>
              </a:lnSpc>
              <a:buNone/>
            </a:pPr>
            <a:r>
              <a:rPr lang="en-US" sz="824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</a:t>
            </a:r>
            <a:r>
              <a:rPr lang="en-US" sz="824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824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(17</a:t>
            </a:r>
            <a:r>
              <a:rPr lang="en-US" sz="824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24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4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824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824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24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nhóm)</a:t>
            </a:r>
            <a:endParaRPr lang="en-US" sz="824" dirty="0"/>
          </a:p>
        </p:txBody>
      </p:sp>
      <p:sp>
        <p:nvSpPr>
          <p:cNvPr id="23" name="Shape 21"/>
          <p:cNvSpPr/>
          <p:nvPr/>
        </p:nvSpPr>
        <p:spPr>
          <a:xfrm>
            <a:off x="4991100" y="3600450"/>
            <a:ext cx="2114550" cy="952500"/>
          </a:xfrm>
          <a:prstGeom prst="roundRect">
            <a:avLst>
              <a:gd name="adj" fmla="val 10000"/>
            </a:avLst>
          </a:prstGeom>
          <a:solidFill>
            <a:srgbClr val="EAE3D4"/>
          </a:solidFill>
          <a:ln/>
        </p:spPr>
      </p:sp>
      <p:sp>
        <p:nvSpPr>
          <p:cNvPr id="24" name="Text 22"/>
          <p:cNvSpPr/>
          <p:nvPr/>
        </p:nvSpPr>
        <p:spPr>
          <a:xfrm>
            <a:off x="5143500" y="3733800"/>
            <a:ext cx="180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54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35</a:t>
            </a:r>
            <a:r>
              <a:rPr lang="en-US" sz="3000" b="1" spc="-75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3000" b="1" spc="-56" kern="0" dirty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143500" y="4210050"/>
            <a:ext cx="1809750" cy="2857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(đếm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nguồn)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57200" y="4819650"/>
            <a:ext cx="203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Là</a:t>
            </a: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5105400"/>
            <a:ext cx="2038350" cy="180975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monorepo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TypeScript: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(CLI,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server,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HTTP,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mục),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React,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gói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chung.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1.6.12,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 phép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PolyForm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Noncommercial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1.0.0,</a:t>
            </a:r>
            <a:r>
              <a:rPr lang="en-US" sz="900" dirty="0" spc="-1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22.18+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24.11+.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62250" y="4819650"/>
            <a:ext cx="203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Hoạt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thế nào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762250" y="5105400"/>
            <a:ext cx="2038350" cy="180975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parse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tree-sitter,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lời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thừa,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toán Leiden,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thực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thi,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LadybugDB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.gitnexus/.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67300" y="4819650"/>
            <a:ext cx="2038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Dùng</a:t>
            </a:r>
            <a:r>
              <a:rPr lang="en-US" sz="1350" b="1" dirty="0" spc="-1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vào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067300" y="5105400"/>
            <a:ext cx="2038350" cy="1809750"/>
          </a:xfrm>
          <a:prstGeom prst="rect">
            <a:avLst/>
          </a:prstGeom>
          <a:noFill/>
          <a:ln/>
        </p:spPr>
        <p:txBody>
          <a:bodyPr wrap="square" lIns="0" tIns="-2286" rIns="0" bIns="2286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 trước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(impact),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90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(detect_changes),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(rename), và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nguy hiểm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(explain,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cờ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--pdg).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7162800"/>
            <a:ext cx="6648450" cy="2743200"/>
          </a:xfrm>
          <a:prstGeom prst="roundRect">
            <a:avLst>
              <a:gd name="adj" fmla="val 4861"/>
            </a:avLst>
          </a:prstGeom>
          <a:solidFill>
            <a:srgbClr val="0E1A1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73533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Nhận</a:t>
            </a:r>
            <a:r>
              <a:rPr lang="en-US" sz="1500" b="1" dirty="0" spc="6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1500" b="1" dirty="0" spc="-8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tổng</a:t>
            </a:r>
            <a:r>
              <a:rPr lang="en-US" sz="15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quát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" y="77343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F0A9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ĐIỂM MẠNH</a:t>
            </a:r>
            <a:endParaRPr lang="en-US" sz="825" dirty="0"/>
          </a:p>
        </p:txBody>
      </p:sp>
      <p:sp>
        <p:nvSpPr>
          <p:cNvPr id="35" name="Text richtext-1792883646135-631801692"/>
          <p:cNvSpPr/>
          <p:nvPr/>
        </p:nvSpPr>
        <p:spPr>
          <a:xfrm>
            <a:off x="685800" y="7962900"/>
            <a:ext cx="2895600" cy="18097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3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Kỷ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"chính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đủ":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phủ,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900" dirty="0" spc="-1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nói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 (ARCHITECTURE.md).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900" dirty="0" spc="-1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cậy: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epistemic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exact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lower-bound,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risk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(MCP,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CLI,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web),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</a:t>
            </a:r>
            <a:r>
              <a:rPr lang="en-US" sz="900" dirty="0" spc="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00500" y="77343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F0A9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CẦN LƯU Ý</a:t>
            </a:r>
            <a:endParaRPr lang="en-US" sz="825" dirty="0"/>
          </a:p>
        </p:txBody>
      </p:sp>
      <p:sp>
        <p:nvSpPr>
          <p:cNvPr id="37" name="Text richtext-1792883646156-405131830"/>
          <p:cNvSpPr/>
          <p:nvPr/>
        </p:nvSpPr>
        <p:spPr>
          <a:xfrm>
            <a:off x="4000500" y="7962900"/>
            <a:ext cx="2895600" cy="18097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 phép phi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mại: dùng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 cần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akonlabs.com.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gitnexus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thực;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phải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ARCHITECTURE.md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phase,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tool,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node; mã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phase,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tool,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node.</a:t>
            </a:r>
            <a:endParaRPr lang="en-US" sz="900" dirty="0"/>
          </a:p>
        </p:txBody>
      </p:sp>
      <p:sp>
        <p:nvSpPr>
          <p:cNvPr id="38" name="Connector line-1792883646165-118595318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457200" y="1030605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abhigyanpatwari/GitNexus</a:t>
            </a:r>
            <a:r>
              <a:rPr lang="en-US" sz="825" dirty="0" spc="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d8a256a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(24/10/2026)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-2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825" dirty="0" spc="-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825" dirty="0" spc="9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1e855c96-aca5-459d-88a8-5daf23d117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/ 14</a:t>
            </a:r>
            <a:endParaRPr lang="en-US" sz="825" dirty="0"/>
          </a:p>
        </p:txBody>
      </p:sp>
      <p:sp>
        <p:nvSpPr>
          <p:cNvPr id="4" name="Connector line-1792883699179-667858060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· Ý TƯỞNG CỐT LÕI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2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Tính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sẵn</a:t>
            </a:r>
            <a:r>
              <a:rPr lang="en-US" sz="2550" b="1" spc="-3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2550" b="1" spc="-2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thị,</a:t>
            </a:r>
            <a:r>
              <a:rPr lang="en-US" sz="2550" b="1" spc="-5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khỏi</a:t>
            </a:r>
            <a:r>
              <a:rPr lang="en-US" sz="2550" b="1" spc="-34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phải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đoán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858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 sửa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 nơi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(theo README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81250"/>
            <a:ext cx="3248025" cy="1333500"/>
          </a:xfrm>
          <a:prstGeom prst="roundRect">
            <a:avLst>
              <a:gd name="adj" fmla="val 8571"/>
            </a:avLst>
          </a:prstGeom>
          <a:solidFill>
            <a:srgbClr val="EAE3D4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" y="25336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Agent</a:t>
            </a:r>
            <a:r>
              <a:rPr lang="en-US" sz="1200" b="1" dirty="0" spc="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 có</a:t>
            </a:r>
            <a:r>
              <a:rPr lang="en-US" sz="1200" b="1" dirty="0" spc="-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grep</a:t>
            </a:r>
            <a:r>
              <a:rPr lang="en-US" sz="1200" b="1" dirty="0" spc="-1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200" b="1" dirty="0" spc="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 file</a:t>
            </a:r>
            <a:endParaRPr lang="en-US" sz="1200" dirty="0"/>
          </a:p>
        </p:txBody>
      </p:sp>
      <p:sp>
        <p:nvSpPr>
          <p:cNvPr id="10" name="Text richtext-1792883699193-900826821"/>
          <p:cNvSpPr/>
          <p:nvPr/>
        </p:nvSpPr>
        <p:spPr>
          <a:xfrm>
            <a:off x="647700" y="2838450"/>
            <a:ext cx="2895600" cy="8191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375"/>
              </a:spcAft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suy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375"/>
              </a:spcAft>
              <a:buSzPct val="100000"/>
              <a:buFont typeface="Arial"/>
              <a:buChar char="•"/>
            </a:pP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 cấu trúc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57625" y="2381250"/>
            <a:ext cx="3248025" cy="1333500"/>
          </a:xfrm>
          <a:prstGeom prst="roundRect">
            <a:avLst>
              <a:gd name="adj" fmla="val 8571"/>
            </a:avLst>
          </a:prstGeom>
          <a:solidFill>
            <a:srgbClr val="0E5C58"/>
          </a:solidFill>
          <a:ln/>
        </p:spPr>
      </p:sp>
      <p:sp>
        <p:nvSpPr>
          <p:cNvPr id="12" name="Text 10"/>
          <p:cNvSpPr/>
          <p:nvPr/>
        </p:nvSpPr>
        <p:spPr>
          <a:xfrm>
            <a:off x="4048125" y="25336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6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Agent</a:t>
            </a:r>
            <a:r>
              <a:rPr lang="en-US" sz="120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12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 thị</a:t>
            </a:r>
            <a:r>
              <a:rPr lang="en-US" sz="1200" b="1" dirty="0" spc="-5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GitNexus</a:t>
            </a:r>
            <a:endParaRPr lang="en-US" sz="1200" dirty="0"/>
          </a:p>
        </p:txBody>
      </p:sp>
      <p:sp>
        <p:nvSpPr>
          <p:cNvPr id="13" name="Text richtext-1792883699201-395991153"/>
          <p:cNvSpPr/>
          <p:nvPr/>
        </p:nvSpPr>
        <p:spPr>
          <a:xfrm>
            <a:off x="4048125" y="2838450"/>
            <a:ext cx="2895600" cy="8191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375"/>
              </a:spcAft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 thẳng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query,</a:t>
            </a:r>
            <a:r>
              <a:rPr lang="en-US" sz="900" dirty="0" spc="-7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impact,</a:t>
            </a:r>
            <a:r>
              <a:rPr lang="en-US" sz="900" dirty="0" spc="-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375"/>
              </a:spcAft>
              <a:buSzPct val="100000"/>
              <a:buFont typeface="Arial"/>
              <a:buChar char="•"/>
            </a:pPr>
            <a:r>
              <a:rPr lang="en-US" sz="900" dirty="0" spc="-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900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thực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900" dirty="0" spc="-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900" dirty="0" spc="-1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900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khi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9052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dùng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cùng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4191000"/>
            <a:ext cx="2114550" cy="1333500"/>
          </a:xfrm>
          <a:prstGeom prst="roundRect">
            <a:avLst>
              <a:gd name="adj" fmla="val 7143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" y="43243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MCP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09600" y="45148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</a:t>
            </a: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công cụ</a:t>
            </a:r>
            <a:r>
              <a:rPr lang="en-US" sz="1125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1125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09600" y="47815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impact.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3111.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24150" y="4191000"/>
            <a:ext cx="2114550" cy="1333500"/>
          </a:xfrm>
          <a:prstGeom prst="roundRect">
            <a:avLst>
              <a:gd name="adj" fmla="val 7143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76550" y="43243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876550" y="45148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</a:t>
            </a: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dòng</a:t>
            </a:r>
            <a:r>
              <a:rPr lang="en-US" sz="1125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lệnh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2876550" y="47815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 impact,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list. Cờ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--watch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chỉ mục lại khi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91100" y="4191000"/>
            <a:ext cx="2114550" cy="1333500"/>
          </a:xfrm>
          <a:prstGeom prst="roundRect">
            <a:avLst>
              <a:gd name="adj" fmla="val 7143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3500" y="43243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WEB UI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0" y="45148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</a:t>
            </a:r>
            <a:r>
              <a:rPr lang="en-US" sz="1125" b="1" dirty="0" spc="-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trình</a:t>
            </a:r>
            <a:r>
              <a:rPr lang="en-US" sz="1125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duyệt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143500" y="4781550"/>
            <a:ext cx="1809750" cy="7048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gitnexus serve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 sẵn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57150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Bắt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đầu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nhanh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7200" y="5981700"/>
            <a:ext cx="6648450" cy="1581150"/>
          </a:xfrm>
          <a:prstGeom prst="roundRect">
            <a:avLst>
              <a:gd name="adj" fmla="val 6024"/>
            </a:avLst>
          </a:prstGeom>
          <a:solidFill>
            <a:srgbClr val="0E1A19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" y="6115050"/>
            <a:ext cx="6286500" cy="1333500"/>
          </a:xfrm>
          <a:prstGeom prst="rect">
            <a:avLst/>
          </a:prstGeom>
          <a:noFill/>
          <a:ln/>
        </p:spPr>
        <p:txBody>
          <a:bodyPr wrap="square" lIns="0" tIns="-4572" rIns="0" bIns="4572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1.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Lập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chỉ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mục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từ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thư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mục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gốc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của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repo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</a:t>
            </a:r>
            <a:r>
              <a:rPr lang="en-US" sz="900" dirty="0" spc="3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gitnexus</a:t>
            </a: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analyze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2.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Cấu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hình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MCP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cho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các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editor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(chạy một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lần)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npx</a:t>
            </a:r>
            <a:r>
              <a:rPr lang="en-US" sz="900" dirty="0" spc="3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gitnexus</a:t>
            </a: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setup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3.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Hỏi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đồ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thị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bằng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CLI,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hoặc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phục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vụ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index</a:t>
            </a:r>
            <a:r>
              <a:rPr lang="en-US" sz="900" dirty="0" spc="3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cho web</a:t>
            </a:r>
            <a:r>
              <a:rPr lang="en-US" sz="900" dirty="0" spc="2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UI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</a:t>
            </a:r>
            <a:r>
              <a:rPr lang="en-US" sz="900" dirty="0" spc="3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impact UserService</a:t>
            </a: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--direction</a:t>
            </a:r>
            <a:r>
              <a:rPr lang="en-US" sz="900" dirty="0" spc="3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upstream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2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</a:t>
            </a:r>
            <a:r>
              <a:rPr lang="en-US" sz="900" dirty="0" spc="3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serve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77533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Sáu việc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1350" b="1" dirty="0" spc="-1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ngay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20050"/>
          <a:ext cx="5672138" cy="914400"/>
        </p:xfrm>
        <a:graphic>
          <a:graphicData uri="http://schemas.openxmlformats.org/drawingml/2006/table">
            <a:tbl>
              <a:tblPr/>
              <a:tblGrid>
                <a:gridCol w="4191000"/>
                <a:gridCol w="2457450"/>
              </a:tblGrid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1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900" b="1" dirty="0" spc="-2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900" b="1" dirty="0" spc="-5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1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900" b="1" dirty="0" spc="0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 luồng thực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phụ thuộc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symbol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context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900" dirty="0" spc="-9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 thay</a:t>
                      </a: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thể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hưởng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impact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Dò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đường</a:t>
                      </a:r>
                      <a:r>
                        <a:rPr lang="en-US" sz="900" dirty="0" spc="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hai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symbol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trace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Đánh giá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tác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git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diff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detect_changes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r>
                        <a:rPr lang="en-US" sz="900" dirty="0" spc="-7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áp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 nghĩa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rename</a:t>
                      </a:r>
                      <a:endParaRPr lang="en-US" sz="1200" dirty="0"/>
                    </a:p>
                  </a:txBody>
                  <a:tcPr marL="57150" marR="57150" marT="57150" marB="5715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sp>
        <p:nvSpPr>
          <p:cNvPr id="32" name="Connector line-1792883699255-77115792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/>
          <p:nvPr/>
        </p:nvSpPr>
        <p:spPr>
          <a:xfrm>
            <a:off x="457200" y="1030605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README.md,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gitnexus/README.md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cốt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aa2e9b1-3344-4af8-ac50-2797d940fd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 / 14</a:t>
            </a:r>
            <a:endParaRPr lang="en-US" sz="825" dirty="0"/>
          </a:p>
        </p:txBody>
      </p:sp>
      <p:sp>
        <p:nvSpPr>
          <p:cNvPr id="4" name="Connector line-1792883767399-272568135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· KIẾN TRÚC TỔNG THỂ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2550" b="1" spc="-4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monorepo,</a:t>
            </a:r>
            <a:r>
              <a:rPr lang="en-US" sz="2550" b="1" spc="-4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2550" b="1" spc="-3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2550" b="1" spc="-2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thị,</a:t>
            </a:r>
            <a:r>
              <a:rPr lang="en-US" sz="2550" b="1" spc="-4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2550" b="1" spc="-5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cửa</a:t>
            </a:r>
            <a:r>
              <a:rPr lang="en-US" sz="2550" b="1" spc="-5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858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(gitnexus),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(gitnexus-web),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(gitnexus-shared),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xoay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nhất: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 công cụ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003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Luồng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 mã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 đến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công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cụ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81300"/>
            <a:ext cx="1504950" cy="800100"/>
          </a:xfrm>
          <a:prstGeom prst="roundRect">
            <a:avLst>
              <a:gd name="adj" fmla="val 1190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0550" y="2895600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Mã nguồn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90550" y="3143250"/>
            <a:ext cx="1257300" cy="38100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-1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r>
              <a:rPr lang="en-US" sz="825" dirty="0" spc="-6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825" dirty="0" spc="8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đĩa,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2171700" y="2781300"/>
            <a:ext cx="1504950" cy="800100"/>
          </a:xfrm>
          <a:prstGeom prst="roundRect">
            <a:avLst>
              <a:gd name="adj" fmla="val 11905"/>
            </a:avLst>
          </a:prstGeom>
          <a:solidFill>
            <a:srgbClr val="0E5C58"/>
          </a:solidFill>
          <a:ln/>
        </p:spPr>
      </p:sp>
      <p:sp>
        <p:nvSpPr>
          <p:cNvPr id="13" name="Text 11"/>
          <p:cNvSpPr/>
          <p:nvPr/>
        </p:nvSpPr>
        <p:spPr>
          <a:xfrm>
            <a:off x="2305050" y="2895600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Pipeline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305050" y="3143250"/>
            <a:ext cx="1257300" cy="38100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0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</a:t>
            </a:r>
            <a:r>
              <a:rPr lang="en-US" sz="825" dirty="0" spc="1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825" dirty="0" spc="0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825" dirty="0" spc="-1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825" dirty="0" spc="1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25" dirty="0" spc="-18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DAG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3886200" y="2781300"/>
            <a:ext cx="1504950" cy="800100"/>
          </a:xfrm>
          <a:prstGeom prst="roundRect">
            <a:avLst>
              <a:gd name="adj" fmla="val 1190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19550" y="2895600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Đồ</a:t>
            </a:r>
            <a:r>
              <a:rPr lang="en-US" sz="1125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019550" y="3143250"/>
            <a:ext cx="1257300" cy="38100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KnowledgeGraph</a:t>
            </a:r>
            <a:r>
              <a:rPr lang="en-US" sz="825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5600700" y="2781300"/>
            <a:ext cx="1504950" cy="800100"/>
          </a:xfrm>
          <a:prstGeom prst="roundRect">
            <a:avLst>
              <a:gd name="adj" fmla="val 11905"/>
            </a:avLst>
          </a:prstGeom>
          <a:solidFill>
            <a:srgbClr val="0E1A19"/>
          </a:solidFill>
          <a:ln/>
        </p:spPr>
      </p:sp>
      <p:sp>
        <p:nvSpPr>
          <p:cNvPr id="19" name="Text 17"/>
          <p:cNvSpPr/>
          <p:nvPr/>
        </p:nvSpPr>
        <p:spPr>
          <a:xfrm>
            <a:off x="5734050" y="2895600"/>
            <a:ext cx="1257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2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LadybugDB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734050" y="3143250"/>
            <a:ext cx="1257300" cy="38100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825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825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</a:t>
            </a:r>
            <a:r>
              <a:rPr lang="en-US" sz="825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.gitnexus/</a:t>
            </a:r>
            <a:endParaRPr lang="en-US" sz="825" dirty="0"/>
          </a:p>
        </p:txBody>
      </p:sp>
      <p:sp>
        <p:nvSpPr>
          <p:cNvPr id="21" name="Connector line-1792883767430-36156863"/>
          <p:cNvSpPr/>
          <p:nvPr/>
        </p:nvSpPr>
        <p:spPr>
          <a:xfrm>
            <a:off x="1962150" y="3181350"/>
            <a:ext cx="209550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 w="lg" len="lg"/>
          </a:ln>
        </p:spPr>
      </p:sp>
      <p:sp>
        <p:nvSpPr>
          <p:cNvPr id="22" name="Connector line-1792883767430-370314325"/>
          <p:cNvSpPr/>
          <p:nvPr/>
        </p:nvSpPr>
        <p:spPr>
          <a:xfrm>
            <a:off x="3676650" y="3181350"/>
            <a:ext cx="209550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 w="lg" len="lg"/>
          </a:ln>
        </p:spPr>
      </p:sp>
      <p:sp>
        <p:nvSpPr>
          <p:cNvPr id="23" name="Connector line-1792883767431-359757548"/>
          <p:cNvSpPr/>
          <p:nvPr/>
        </p:nvSpPr>
        <p:spPr>
          <a:xfrm>
            <a:off x="5391150" y="3181350"/>
            <a:ext cx="209550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 w="lg" len="lg"/>
          </a:ln>
        </p:spPr>
      </p:sp>
      <p:sp>
        <p:nvSpPr>
          <p:cNvPr id="24" name="Shape 22"/>
          <p:cNvSpPr/>
          <p:nvPr/>
        </p:nvSpPr>
        <p:spPr>
          <a:xfrm>
            <a:off x="457200" y="4476750"/>
            <a:ext cx="2114550" cy="1181100"/>
          </a:xfrm>
          <a:prstGeom prst="roundRect">
            <a:avLst>
              <a:gd name="adj" fmla="val 806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461010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MCP STDIO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09600" y="4800600"/>
            <a:ext cx="1809750" cy="800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mcp.ts,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LocalBackend,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tools.ts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resources.ts. Agent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24150" y="4476750"/>
            <a:ext cx="2114550" cy="1181100"/>
          </a:xfrm>
          <a:prstGeom prst="roundRect">
            <a:avLst>
              <a:gd name="adj" fmla="val 806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76550" y="461010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HTTP BRIDGE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876550" y="4800600"/>
            <a:ext cx="1809750" cy="800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serve.ts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Express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(api.ts,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mcp-http.ts)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900" dirty="0" spc="-2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4747.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 từ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91100" y="4476750"/>
            <a:ext cx="2114550" cy="1181100"/>
          </a:xfrm>
          <a:prstGeom prst="roundRect">
            <a:avLst>
              <a:gd name="adj" fmla="val 806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43500" y="461010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 TRỰC TIẾP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43500" y="4800600"/>
            <a:ext cx="1809750" cy="800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cypher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tool.ts,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server.</a:t>
            </a:r>
            <a:endParaRPr lang="en-US" sz="900" dirty="0"/>
          </a:p>
        </p:txBody>
      </p:sp>
      <p:sp>
        <p:nvSpPr>
          <p:cNvPr id="33" name="Connector line-1792883767444-209312411"/>
          <p:cNvSpPr/>
          <p:nvPr/>
        </p:nvSpPr>
        <p:spPr>
          <a:xfrm rot="5400000">
            <a:off x="3486150" y="1609725"/>
            <a:ext cx="895350" cy="4838700"/>
          </a:xfrm>
          <a:prstGeom prst="bentConnector3">
            <a:avLst/>
          </a:prstGeom>
          <a:noFill/>
          <a:ln w="14288">
            <a:solidFill>
              <a:srgbClr val="0E5C58"/>
            </a:solidFill>
            <a:prstDash val="solid"/>
            <a:headEnd type="none"/>
            <a:tailEnd type="triangle" w="lg" len="lg"/>
          </a:ln>
        </p:spPr>
      </p:sp>
      <p:sp>
        <p:nvSpPr>
          <p:cNvPr id="34" name="Connector line-1792883767445-218711202"/>
          <p:cNvSpPr/>
          <p:nvPr/>
        </p:nvSpPr>
        <p:spPr>
          <a:xfrm rot="5400000">
            <a:off x="4619625" y="2743200"/>
            <a:ext cx="895350" cy="2571750"/>
          </a:xfrm>
          <a:prstGeom prst="bentConnector3">
            <a:avLst/>
          </a:prstGeom>
          <a:noFill/>
          <a:ln w="14288">
            <a:solidFill>
              <a:srgbClr val="0E5C58"/>
            </a:solidFill>
            <a:prstDash val="solid"/>
            <a:headEnd type="none"/>
            <a:tailEnd type="triangle" w="lg" len="lg"/>
          </a:ln>
        </p:spPr>
      </p:sp>
      <p:sp>
        <p:nvSpPr>
          <p:cNvPr id="35" name="Connector line-1792883767445-319149890"/>
          <p:cNvSpPr/>
          <p:nvPr/>
        </p:nvSpPr>
        <p:spPr>
          <a:xfrm rot="5400000">
            <a:off x="5753100" y="3876675"/>
            <a:ext cx="895350" cy="304800"/>
          </a:xfrm>
          <a:prstGeom prst="bentConnector3">
            <a:avLst/>
          </a:prstGeom>
          <a:noFill/>
          <a:ln w="14288">
            <a:solidFill>
              <a:srgbClr val="0E5C58"/>
            </a:solidFill>
            <a:prstDash val="solid"/>
            <a:headEnd type="none"/>
            <a:tailEnd type="triangle" w="lg" len="lg"/>
          </a:ln>
        </p:spPr>
      </p:sp>
      <p:sp>
        <p:nvSpPr>
          <p:cNvPr id="36" name="Text 34"/>
          <p:cNvSpPr/>
          <p:nvPr/>
        </p:nvSpPr>
        <p:spPr>
          <a:xfrm>
            <a:off x="457200" y="59626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thư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mục</a:t>
            </a:r>
            <a:endParaRPr lang="en-US" sz="1350" dirty="0"/>
          </a:p>
        </p:txBody>
      </p:sp>
      <p:sp>
        <p:nvSpPr>
          <p:cNvPr id="37" name="Connector line-1792883767461-403816628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457200" y="10306050"/>
            <a:ext cx="533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ARCHITECTURE.md;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số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8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248400"/>
          <a:ext cx="5672138" cy="914400"/>
        </p:xfrm>
        <a:graphic>
          <a:graphicData uri="http://schemas.openxmlformats.org/drawingml/2006/table">
            <a:tbl>
              <a:tblPr/>
              <a:tblGrid>
                <a:gridCol w="2152650"/>
                <a:gridCol w="4495800"/>
              </a:tblGrid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5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900" b="1" dirty="0" spc="-2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dẫn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-16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Vai</a:t>
                      </a:r>
                      <a:r>
                        <a:rPr lang="en-US" sz="900" b="1" dirty="0" spc="-7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trò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gitnexus/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Gói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npm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gitnexus: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CLI,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MCP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server,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API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HTTP,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pipeline,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LadybugDB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gitnexus-web/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Web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UI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Vite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7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React,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client</a:t>
                      </a: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mỏng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API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gitnexus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gitnexus-shared/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Kiểu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hằng</a:t>
                      </a:r>
                      <a:r>
                        <a:rPr lang="en-US" sz="900" dirty="0" spc="-7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 cho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CLI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7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(schema,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900" dirty="0" spc="1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gitnexus-claude-plugin/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+2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gói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Skill, hook</a:t>
                      </a:r>
                      <a:r>
                        <a:rPr lang="en-US" sz="900" dirty="0" spc="-7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 hình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tĩnh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cho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Claude,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Cursor,</a:t>
                      </a:r>
                      <a:r>
                        <a:rPr lang="en-US" sz="900" dirty="0" spc="-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Factory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eval/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đánh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SWE-bench:</a:t>
                      </a: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agent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GitNexus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.github/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32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workflow: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CI,</a:t>
                      </a:r>
                      <a:r>
                        <a:rPr lang="en-US" sz="900" dirty="0" spc="-4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quét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mật, phát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hành,</a:t>
                      </a:r>
                      <a:r>
                        <a:rPr lang="en-US" sz="900" dirty="0" spc="-1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review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900" dirty="0" spc="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457200" y="8801100"/>
            <a:ext cx="6648450" cy="1123950"/>
          </a:xfrm>
          <a:prstGeom prst="roundRect">
            <a:avLst>
              <a:gd name="adj" fmla="val 10169"/>
            </a:avLst>
          </a:prstGeom>
          <a:solidFill>
            <a:srgbClr val="0E1A19"/>
          </a:solidFill>
          <a:ln/>
        </p:spPr>
      </p:sp>
      <p:sp>
        <p:nvSpPr>
          <p:cNvPr id="42" name="Text 39"/>
          <p:cNvSpPr/>
          <p:nvPr/>
        </p:nvSpPr>
        <p:spPr>
          <a:xfrm>
            <a:off x="647700" y="8934450"/>
            <a:ext cx="609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Muốn</a:t>
            </a:r>
            <a:r>
              <a:rPr lang="en-US" sz="1200" b="1" dirty="0" spc="-9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1200" b="1" dirty="0" spc="-6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gì,</a:t>
            </a:r>
            <a:r>
              <a:rPr lang="en-US" sz="12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bắt</a:t>
            </a:r>
            <a:r>
              <a:rPr lang="en-US" sz="120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đầu từ đâu</a:t>
            </a:r>
            <a:r>
              <a:rPr lang="en-US" sz="1200" b="1" dirty="0" spc="-19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(đường</a:t>
            </a:r>
            <a:r>
              <a:rPr lang="en-US" sz="120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dẫn</a:t>
            </a:r>
            <a:r>
              <a:rPr lang="en-US" sz="120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 gitnexus/)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47700" y="9239250"/>
            <a:ext cx="3105150" cy="590550"/>
          </a:xfrm>
          <a:prstGeom prst="rect">
            <a:avLst/>
          </a:prstGeom>
          <a:noFill/>
          <a:ln/>
        </p:spPr>
        <p:txBody>
          <a:bodyPr wrap="square" lIns="0" tIns="-4286" rIns="0" bIns="4286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 spc="1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thị: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src/core/ingestion/pipeline-phases/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DB: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src/core/lbug/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kiếm: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src/core/search/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000500" y="9239250"/>
            <a:ext cx="3009900" cy="590550"/>
          </a:xfrm>
          <a:prstGeom prst="rect">
            <a:avLst/>
          </a:prstGeom>
          <a:noFill/>
          <a:ln/>
        </p:spPr>
        <p:txBody>
          <a:bodyPr wrap="square" lIns="0" tIns="-4286" rIns="0" bIns="4286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MCP: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src/mcp/tools.ts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repo: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src/core/group/</a:t>
            </a:r>
            <a:endParaRPr lang="en-US" sz="90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Embeddings: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44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src/core/embeddings/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6ce8e352-3d26-462f-ad77-95c4414e22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 / 14</a:t>
            </a:r>
            <a:endParaRPr lang="en-US" sz="825" dirty="0"/>
          </a:p>
        </p:txBody>
      </p:sp>
      <p:sp>
        <p:nvSpPr>
          <p:cNvPr id="4" name="Connector line-1792883915644-163270559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 · PIPELINE LẬP CHỈ MỤC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4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</a:t>
            </a: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phase</a:t>
            </a:r>
            <a:r>
              <a:rPr lang="en-US" sz="2550" b="1" spc="-6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xếp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thành</a:t>
            </a:r>
            <a:r>
              <a:rPr lang="en-US" sz="2550" b="1" spc="-4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2550" b="1" spc="-8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DAG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runFullAnalysis,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05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runPipelineFromRepo.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phụ thuộc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05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ra;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chạy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105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thứ tự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topo,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105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0030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Phụ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thuộc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giữa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phase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2476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10" name="Text 8"/>
          <p:cNvSpPr/>
          <p:nvPr/>
        </p:nvSpPr>
        <p:spPr>
          <a:xfrm>
            <a:off x="4514850" y="24574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5143500" y="2476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14950" y="24574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độc</a:t>
            </a:r>
            <a:r>
              <a:rPr lang="en-US" sz="825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943600" y="2476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E255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5050" y="2457450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--pdg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28003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23900" y="27908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Quét</a:t>
            </a:r>
            <a:r>
              <a:rPr lang="en-US" sz="900" dirty="0" spc="-4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09750" y="2743200"/>
            <a:ext cx="4572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18" name="Text 16"/>
          <p:cNvSpPr/>
          <p:nvPr/>
        </p:nvSpPr>
        <p:spPr>
          <a:xfrm>
            <a:off x="1809750" y="2743200"/>
            <a:ext cx="457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324100" y="2743200"/>
            <a:ext cx="13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5D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4600" y="2743200"/>
            <a:ext cx="78105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21" name="Text 19"/>
          <p:cNvSpPr/>
          <p:nvPr/>
        </p:nvSpPr>
        <p:spPr>
          <a:xfrm>
            <a:off x="2514600" y="2743200"/>
            <a:ext cx="781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structure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57200" y="31432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23900" y="31337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Nhánh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900" dirty="0" spc="-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09750" y="30861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9750" y="3086100"/>
            <a:ext cx="99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springConfig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2857500" y="3086100"/>
            <a:ext cx="7239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7500" y="3086100"/>
            <a:ext cx="723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markdown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3638550" y="30861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8550" y="3086100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cobol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57200" y="34861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23900" y="34766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Cú</a:t>
            </a:r>
            <a:r>
              <a:rPr lang="en-US" sz="900" dirty="0" spc="-4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09750" y="34290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33" name="Text 31"/>
          <p:cNvSpPr/>
          <p:nvPr/>
        </p:nvSpPr>
        <p:spPr>
          <a:xfrm>
            <a:off x="1809750" y="3429000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57200" y="38290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04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723900" y="38195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Nhánh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 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09750" y="3771900"/>
            <a:ext cx="6096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09750" y="37719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routes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2476500" y="3771900"/>
            <a:ext cx="5334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76500" y="3771900"/>
            <a:ext cx="53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3067050" y="37719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67050" y="3771900"/>
            <a:ext cx="41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orm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57200" y="41719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23900" y="41624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Liên</a:t>
            </a:r>
            <a:r>
              <a:rPr lang="en-US" sz="900" dirty="0" spc="-1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file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09750" y="4114800"/>
            <a:ext cx="78105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45" name="Text 43"/>
          <p:cNvSpPr/>
          <p:nvPr/>
        </p:nvSpPr>
        <p:spPr>
          <a:xfrm>
            <a:off x="1809750" y="4114800"/>
            <a:ext cx="781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crossFile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2647950" y="4114800"/>
            <a:ext cx="13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5D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8450" y="4114800"/>
            <a:ext cx="116205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48" name="Text 46"/>
          <p:cNvSpPr/>
          <p:nvPr/>
        </p:nvSpPr>
        <p:spPr>
          <a:xfrm>
            <a:off x="2838450" y="4114800"/>
            <a:ext cx="116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scopeResolution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457200" y="45148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723900" y="45053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900" dirty="0" spc="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Spring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09750" y="4457700"/>
            <a:ext cx="1627573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9750" y="4457700"/>
            <a:ext cx="16275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springAutoConfiguration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3492808" y="4457700"/>
            <a:ext cx="758301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92808" y="4457700"/>
            <a:ext cx="75830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springAop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4306595" y="4457700"/>
            <a:ext cx="131315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06595" y="4457700"/>
            <a:ext cx="1313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springDestinations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457200" y="48577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723900" y="48482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4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Dọn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cục</a:t>
            </a:r>
            <a:r>
              <a:rPr lang="en-US" sz="900" dirty="0" spc="-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809750" y="4800600"/>
            <a:ext cx="12954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60" name="Text 58"/>
          <p:cNvSpPr/>
          <p:nvPr/>
        </p:nvSpPr>
        <p:spPr>
          <a:xfrm>
            <a:off x="1809750" y="4800600"/>
            <a:ext cx="1295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pruneLocalSymbols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57200" y="52006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723900" y="51911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2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</a:t>
            </a:r>
            <a:r>
              <a:rPr lang="en-US" sz="900" dirty="0" spc="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</a:t>
            </a:r>
            <a:r>
              <a:rPr lang="en-US" sz="900" dirty="0" spc="-9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900" dirty="0" spc="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809750" y="5143500"/>
            <a:ext cx="4191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64" name="Text 62"/>
          <p:cNvSpPr/>
          <p:nvPr/>
        </p:nvSpPr>
        <p:spPr>
          <a:xfrm>
            <a:off x="1809750" y="5143500"/>
            <a:ext cx="41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mro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2286000" y="5143500"/>
            <a:ext cx="13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5D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→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476500" y="5143500"/>
            <a:ext cx="14859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67" name="Text 65"/>
          <p:cNvSpPr/>
          <p:nvPr/>
        </p:nvSpPr>
        <p:spPr>
          <a:xfrm>
            <a:off x="2476500" y="5143500"/>
            <a:ext cx="148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springAopInheritance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4019550" y="5143500"/>
            <a:ext cx="13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5D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→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210050" y="5143500"/>
            <a:ext cx="3429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70" name="Text 68"/>
          <p:cNvSpPr/>
          <p:nvPr/>
        </p:nvSpPr>
        <p:spPr>
          <a:xfrm>
            <a:off x="4210050" y="514350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457200" y="55435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723900" y="55340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Bậc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cao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809750" y="5486400"/>
            <a:ext cx="91440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74" name="Text 72"/>
          <p:cNvSpPr/>
          <p:nvPr/>
        </p:nvSpPr>
        <p:spPr>
          <a:xfrm>
            <a:off x="1809750" y="5486400"/>
            <a:ext cx="914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communities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2781300" y="5486400"/>
            <a:ext cx="133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5D"/>
                </a:solidFill>
                <a:latin typeface="sans-serif" pitchFamily="34" charset="0"/>
                <a:ea typeface="sans-serif" pitchFamily="34" charset="-122"/>
                <a:cs typeface="sans-serif" pitchFamily="34" charset="-120"/>
              </a:rPr>
              <a:t>→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971800" y="5486400"/>
            <a:ext cx="781050" cy="247650"/>
          </a:xfrm>
          <a:prstGeom prst="roundRect">
            <a:avLst>
              <a:gd name="adj" fmla="val 50000"/>
            </a:avLst>
          </a:prstGeom>
          <a:solidFill>
            <a:srgbClr val="0E5C58"/>
          </a:solidFill>
          <a:ln/>
        </p:spPr>
      </p:sp>
      <p:sp>
        <p:nvSpPr>
          <p:cNvPr id="77" name="Text 75"/>
          <p:cNvSpPr/>
          <p:nvPr/>
        </p:nvSpPr>
        <p:spPr>
          <a:xfrm>
            <a:off x="2971800" y="5486400"/>
            <a:ext cx="781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processes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457200" y="5886450"/>
            <a:ext cx="2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+2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723900" y="5876925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Cờ</a:t>
            </a: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--pdg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809750" y="58293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E2552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809750" y="5829300"/>
            <a:ext cx="1066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B63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taintSummaries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2933700" y="5829300"/>
            <a:ext cx="990600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E2552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933700" y="5829300"/>
            <a:ext cx="99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B63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callSummaries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457200" y="63246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Vòng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đời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lần</a:t>
            </a:r>
            <a:r>
              <a:rPr lang="en-US" sz="1350" b="1" dirty="0" spc="-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analyze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457200" y="6648450"/>
            <a:ext cx="3990975" cy="285750"/>
          </a:xfrm>
          <a:prstGeom prst="roundRect">
            <a:avLst>
              <a:gd name="adj" fmla="val 20000"/>
            </a:avLst>
          </a:prstGeom>
          <a:solidFill>
            <a:srgbClr val="0E5C58"/>
          </a:solidFill>
          <a:ln/>
        </p:spPr>
      </p:sp>
      <p:sp>
        <p:nvSpPr>
          <p:cNvPr id="86" name="Text 84"/>
          <p:cNvSpPr/>
          <p:nvPr/>
        </p:nvSpPr>
        <p:spPr>
          <a:xfrm>
            <a:off x="457200" y="6648450"/>
            <a:ext cx="39909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3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0–60%:</a:t>
            </a:r>
            <a:r>
              <a:rPr lang="en-US" sz="825" dirty="0" spc="1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pipeline</a:t>
            </a:r>
            <a:r>
              <a:rPr lang="en-US" sz="825" dirty="0" spc="8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825" dirty="0" spc="7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</a:t>
            </a:r>
            <a:r>
              <a:rPr lang="en-US" sz="825" dirty="0" spc="2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825" dirty="0" spc="-5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825" dirty="0" spc="2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RAM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4467225" y="6648450"/>
            <a:ext cx="1647825" cy="285750"/>
          </a:xfrm>
          <a:prstGeom prst="roundRect">
            <a:avLst>
              <a:gd name="adj" fmla="val 20000"/>
            </a:avLst>
          </a:prstGeom>
          <a:solidFill>
            <a:srgbClr val="0E1A19"/>
          </a:solidFill>
          <a:ln/>
        </p:spPr>
      </p:sp>
      <p:sp>
        <p:nvSpPr>
          <p:cNvPr id="88" name="Text 86"/>
          <p:cNvSpPr/>
          <p:nvPr/>
        </p:nvSpPr>
        <p:spPr>
          <a:xfrm>
            <a:off x="4467225" y="6648450"/>
            <a:ext cx="16478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2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60–85%:</a:t>
            </a:r>
            <a:r>
              <a:rPr lang="en-US" sz="825" dirty="0" spc="3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nạp</a:t>
            </a:r>
            <a:r>
              <a:rPr lang="en-US" sz="825" dirty="0" spc="-3" kern="0">
                <a:solidFill>
                  <a:srgbClr val="F3EEE4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LadybugDB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6134100" y="6648450"/>
            <a:ext cx="857250" cy="285750"/>
          </a:xfrm>
          <a:prstGeom prst="roundRect">
            <a:avLst>
              <a:gd name="adj" fmla="val 20000"/>
            </a:avLst>
          </a:prstGeom>
          <a:solidFill>
            <a:srgbClr val="F0A93A"/>
          </a:solidFill>
          <a:ln/>
        </p:spPr>
      </p:sp>
      <p:sp>
        <p:nvSpPr>
          <p:cNvPr id="90" name="Text 88"/>
          <p:cNvSpPr/>
          <p:nvPr/>
        </p:nvSpPr>
        <p:spPr>
          <a:xfrm>
            <a:off x="6134100" y="6648450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9" kern="0">
                <a:solidFill>
                  <a:srgbClr val="14201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FTS</a:t>
            </a:r>
            <a:r>
              <a:rPr lang="en-US" sz="825" dirty="0" spc="1" kern="0">
                <a:solidFill>
                  <a:srgbClr val="14201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825" dirty="0" spc="0" kern="0">
                <a:solidFill>
                  <a:srgbClr val="14201E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embed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7010400" y="6648450"/>
            <a:ext cx="95250" cy="285750"/>
          </a:xfrm>
          <a:prstGeom prst="roundRect">
            <a:avLst>
              <a:gd name="adj" fmla="val 50000"/>
            </a:avLst>
          </a:prstGeom>
          <a:solidFill>
            <a:srgbClr val="E2552B"/>
          </a:solidFill>
          <a:ln/>
        </p:spPr>
      </p:sp>
      <p:sp>
        <p:nvSpPr>
          <p:cNvPr id="92" name="Text 90"/>
          <p:cNvSpPr/>
          <p:nvPr/>
        </p:nvSpPr>
        <p:spPr>
          <a:xfrm>
            <a:off x="457200" y="7029450"/>
            <a:ext cx="6648450" cy="495300"/>
          </a:xfrm>
          <a:prstGeom prst="rect">
            <a:avLst/>
          </a:prstGeom>
          <a:noFill/>
          <a:ln/>
        </p:spPr>
        <p:txBody>
          <a:bodyPr wrap="square" lIns="0" tIns="-2117" rIns="0" bIns="2117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9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839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83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839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83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lastCommit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83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</a:t>
            </a:r>
            <a:r>
              <a:rPr lang="en-US" sz="839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(trừ khi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83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--force)</a:t>
            </a:r>
            <a:r>
              <a:rPr lang="en-US" sz="83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39" dirty="0" spc="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embeddings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 Sau 85% là</a:t>
            </a:r>
            <a:r>
              <a:rPr lang="en-US" sz="839" dirty="0" spc="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839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FTS</a:t>
            </a:r>
            <a:r>
              <a:rPr lang="en-US" sz="83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embeddings; embeddings mới</a:t>
            </a:r>
            <a:r>
              <a:rPr lang="en-US" sz="839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(cờ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--embeddings) chiếm 90–98%; 98–100%</a:t>
            </a:r>
            <a:r>
              <a:rPr lang="en-US" sz="83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83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metadata,</a:t>
            </a:r>
            <a:r>
              <a:rPr lang="en-US" sz="839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839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83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39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839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83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 và</a:t>
            </a:r>
            <a:r>
              <a:rPr lang="en-US" sz="83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CLAUDE.md.</a:t>
            </a:r>
            <a:endParaRPr lang="en-US" sz="839" dirty="0"/>
          </a:p>
        </p:txBody>
      </p:sp>
      <p:sp>
        <p:nvSpPr>
          <p:cNvPr id="93" name="Shape 91"/>
          <p:cNvSpPr/>
          <p:nvPr/>
        </p:nvSpPr>
        <p:spPr>
          <a:xfrm>
            <a:off x="457200" y="7734300"/>
            <a:ext cx="3248025" cy="2038350"/>
          </a:xfrm>
          <a:prstGeom prst="roundRect">
            <a:avLst>
              <a:gd name="adj" fmla="val 5607"/>
            </a:avLst>
          </a:prstGeom>
          <a:solidFill>
            <a:srgbClr val="EAE3D4"/>
          </a:solidFill>
          <a:ln/>
        </p:spPr>
      </p:sp>
      <p:sp>
        <p:nvSpPr>
          <p:cNvPr id="94" name="Text 92"/>
          <p:cNvSpPr/>
          <p:nvPr/>
        </p:nvSpPr>
        <p:spPr>
          <a:xfrm>
            <a:off x="647700" y="78867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Bộ</a:t>
            </a:r>
            <a:r>
              <a:rPr lang="en-US" sz="1200" b="1" dirty="0" spc="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chạy</a:t>
            </a:r>
            <a:r>
              <a:rPr lang="en-US" sz="1200" b="1" dirty="0" spc="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phase</a:t>
            </a:r>
            <a:r>
              <a:rPr lang="en-US" sz="1200" b="1" dirty="0" spc="-9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(runner)</a:t>
            </a:r>
            <a:endParaRPr lang="en-US" sz="1200" dirty="0"/>
          </a:p>
        </p:txBody>
      </p:sp>
      <p:sp>
        <p:nvSpPr>
          <p:cNvPr id="95" name="Text richtext-1792883915793-487330045"/>
          <p:cNvSpPr/>
          <p:nvPr/>
        </p:nvSpPr>
        <p:spPr>
          <a:xfrm>
            <a:off x="647700" y="8191500"/>
            <a:ext cx="2895600" cy="1504950"/>
          </a:xfrm>
          <a:prstGeom prst="rect">
            <a:avLst/>
          </a:prstGeom>
          <a:noFill/>
          <a:ln/>
        </p:spPr>
        <p:txBody>
          <a:bodyPr wrap="square" lIns="0" tIns="-832" rIns="0" bIns="832" rtlCol="0" anchor="t"/>
          <a:lstStyle/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Sắp</a:t>
            </a:r>
            <a:r>
              <a:rPr lang="en-US" sz="874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874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topo (Kahn);</a:t>
            </a:r>
            <a:r>
              <a:rPr lang="en-US" sz="874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874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874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874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trùng,</a:t>
            </a:r>
            <a:r>
              <a:rPr lang="en-US" sz="874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874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874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874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74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874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874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874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tự;</a:t>
            </a:r>
            <a:r>
              <a:rPr lang="en-US" sz="874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874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874" dirty="0" spc="-1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874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874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874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874" dirty="0" spc="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874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874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</a:t>
            </a:r>
            <a:r>
              <a:rPr lang="en-US" sz="874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874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874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874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KnowledgeGraph</a:t>
            </a:r>
            <a:r>
              <a:rPr lang="en-US" sz="874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874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buSzPct val="100000"/>
              <a:buFont typeface="Arial"/>
              <a:buChar char="•"/>
            </a:pPr>
            <a:r>
              <a:rPr lang="en-US" sz="874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phase:</a:t>
            </a:r>
            <a:r>
              <a:rPr lang="en-US" sz="874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874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export,</a:t>
            </a:r>
            <a:r>
              <a:rPr lang="en-US" sz="874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874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874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874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buildPhaseList().</a:t>
            </a:r>
            <a:endParaRPr lang="en-US" sz="874" dirty="0"/>
          </a:p>
        </p:txBody>
      </p:sp>
      <p:sp>
        <p:nvSpPr>
          <p:cNvPr id="96" name="Shape 94"/>
          <p:cNvSpPr/>
          <p:nvPr/>
        </p:nvSpPr>
        <p:spPr>
          <a:xfrm>
            <a:off x="3857625" y="7734300"/>
            <a:ext cx="3248025" cy="2038350"/>
          </a:xfrm>
          <a:prstGeom prst="roundRect">
            <a:avLst>
              <a:gd name="adj" fmla="val 5607"/>
            </a:avLst>
          </a:prstGeom>
          <a:solidFill>
            <a:srgbClr val="0E5C58"/>
          </a:solidFill>
          <a:ln/>
        </p:spPr>
      </p:sp>
      <p:sp>
        <p:nvSpPr>
          <p:cNvPr id="97" name="Text 95"/>
          <p:cNvSpPr/>
          <p:nvPr/>
        </p:nvSpPr>
        <p:spPr>
          <a:xfrm>
            <a:off x="4048125" y="78867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6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Parse</a:t>
            </a:r>
            <a:r>
              <a:rPr lang="en-US" sz="12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120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mẻ,</a:t>
            </a:r>
            <a:r>
              <a:rPr lang="en-US" sz="12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12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cache</a:t>
            </a:r>
            <a:endParaRPr lang="en-US" sz="1200" dirty="0"/>
          </a:p>
        </p:txBody>
      </p:sp>
      <p:sp>
        <p:nvSpPr>
          <p:cNvPr id="98" name="Text richtext-1792883915808-443944326"/>
          <p:cNvSpPr/>
          <p:nvPr/>
        </p:nvSpPr>
        <p:spPr>
          <a:xfrm>
            <a:off x="4048125" y="8191500"/>
            <a:ext cx="2895600" cy="1504950"/>
          </a:xfrm>
          <a:prstGeom prst="rect">
            <a:avLst/>
          </a:prstGeom>
          <a:noFill/>
          <a:ln/>
        </p:spPr>
        <p:txBody>
          <a:bodyPr wrap="square" lIns="0" tIns="-832" rIns="0" bIns="832" rtlCol="0" anchor="t"/>
          <a:lstStyle/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874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các</a:t>
            </a: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mẻ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874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MB</a:t>
            </a:r>
            <a:r>
              <a:rPr lang="en-US" sz="874" dirty="0" spc="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874" dirty="0" spc="-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-1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Worker</a:t>
            </a:r>
            <a:r>
              <a:rPr lang="en-US" sz="874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pool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874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874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parse</a:t>
            </a:r>
            <a:r>
              <a:rPr lang="en-US" sz="874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874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</a:t>
            </a:r>
            <a:r>
              <a:rPr lang="en-US" sz="874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874" dirty="0" spc="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74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ParsedFile</a:t>
            </a:r>
            <a:r>
              <a:rPr lang="en-US" sz="874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874" dirty="0" spc="-7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stream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874" dirty="0" spc="-7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874" dirty="0" spc="1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874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874" dirty="0"/>
          </a:p>
          <a:p>
            <a:pPr algn="l" marL="228600" indent="-98460">
              <a:lnSpc>
                <a:spcPts val="1311"/>
              </a:lnSpc>
              <a:buSzPct val="100000"/>
              <a:buFont typeface="Arial"/>
              <a:buChar char="•"/>
            </a:pP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 nhận diện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74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874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(SHA-256): mẻ</a:t>
            </a:r>
            <a:r>
              <a:rPr lang="en-US" sz="874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874" dirty="0" spc="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874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874" dirty="0" spc="-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874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874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parse.</a:t>
            </a:r>
            <a:endParaRPr lang="en-US" sz="874" dirty="0"/>
          </a:p>
        </p:txBody>
      </p:sp>
      <p:sp>
        <p:nvSpPr>
          <p:cNvPr id="99" name="Connector line-1792883915821-225489721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100" name="Text 98"/>
          <p:cNvSpPr/>
          <p:nvPr/>
        </p:nvSpPr>
        <p:spPr>
          <a:xfrm>
            <a:off x="457200" y="10306050"/>
            <a:ext cx="533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ARCHITECTURE.md;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pipeline.ts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(buildPhaseList);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pipeline-phases/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825" dirty="0"/>
          </a:p>
        </p:txBody>
      </p:sp>
      <p:sp>
        <p:nvSpPr>
          <p:cNvPr id="102" name="Shape 100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3" name="Moda image moda-export-watermark-2be7911d-b724-45da-b34b-c308623486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 / 14</a:t>
            </a:r>
            <a:endParaRPr lang="en-US" sz="825" dirty="0"/>
          </a:p>
        </p:txBody>
      </p:sp>
      <p:sp>
        <p:nvSpPr>
          <p:cNvPr id="4" name="Connector line-1792884053937-833108655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05 · PHÂN GIẢI VÀ ĐA NGÔN NGỮ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pipeline,</a:t>
            </a:r>
            <a:r>
              <a:rPr lang="en-US" sz="2550" b="1" spc="-6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mười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tám</a:t>
            </a:r>
            <a:r>
              <a:rPr lang="en-US" sz="2550" b="1" spc="-5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ngôn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ngữ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 nhất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dành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hỏi: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 nào?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chung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(phân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phạm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vi)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phần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050" dirty="0" spc="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050" dirty="0" spc="-1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-1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0030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tầng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nuôi</a:t>
            </a: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241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0E1A19"/>
          </a:solidFill>
          <a:ln/>
        </p:spPr>
      </p:sp>
      <p:sp>
        <p:nvSpPr>
          <p:cNvPr id="10" name="Text 8"/>
          <p:cNvSpPr/>
          <p:nvPr/>
        </p:nvSpPr>
        <p:spPr>
          <a:xfrm>
            <a:off x="590550" y="280035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3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Đồ</a:t>
            </a:r>
            <a:r>
              <a:rPr lang="en-US" sz="1050" b="1" dirty="0" spc="2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</a:t>
            </a:r>
            <a:r>
              <a:rPr lang="en-US" sz="1050" b="1" dirty="0" spc="3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thống</a:t>
            </a:r>
            <a:r>
              <a:rPr lang="en-US" sz="1050" b="1" dirty="0" spc="2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0550" y="300990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35</a:t>
            </a:r>
            <a:r>
              <a:rPr lang="en-US" sz="825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 node,</a:t>
            </a:r>
            <a:r>
              <a:rPr lang="en-US" sz="825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</a:t>
            </a:r>
            <a:r>
              <a:rPr lang="en-US" sz="825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825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825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825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(gitnexus-shared)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57200" y="33528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0E5C58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" y="34290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Pipeline</a:t>
            </a:r>
            <a:r>
              <a:rPr lang="en-US" sz="105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105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r>
              <a:rPr lang="en-US" sz="105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 phạm</a:t>
            </a:r>
            <a:r>
              <a:rPr lang="en-US" sz="10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0550" y="363855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30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</a:t>
            </a:r>
            <a:r>
              <a:rPr lang="en-US" sz="825" dirty="0" spc="-4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registry,</a:t>
            </a:r>
            <a:r>
              <a:rPr lang="en-US" sz="825" dirty="0" spc="2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</a:t>
            </a:r>
            <a:r>
              <a:rPr lang="en-US" sz="825" dirty="0" spc="-3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825" dirty="0" spc="-1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tầng,</a:t>
            </a:r>
            <a:r>
              <a:rPr lang="en-US" sz="825" dirty="0" spc="3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825" dirty="0" spc="2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825" dirty="0" spc="-13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825" dirty="0" spc="6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825" dirty="0" spc="-3" kern="0">
                <a:solidFill>
                  <a:srgbClr val="D3E8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(MRO)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57200" y="398145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1F7A72"/>
          </a:solidFill>
          <a:ln/>
        </p:spPr>
      </p:sp>
      <p:sp>
        <p:nvSpPr>
          <p:cNvPr id="16" name="Text 14"/>
          <p:cNvSpPr/>
          <p:nvPr/>
        </p:nvSpPr>
        <p:spPr>
          <a:xfrm>
            <a:off x="590550" y="405765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Language</a:t>
            </a:r>
            <a:r>
              <a:rPr lang="en-US" sz="1050" b="1" dirty="0" spc="-5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provider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0550" y="426720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Ngữ nghĩa</a:t>
            </a:r>
            <a:r>
              <a:rPr lang="en-US" sz="825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import,</a:t>
            </a:r>
            <a:r>
              <a:rPr lang="en-US" sz="825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kiểu,</a:t>
            </a:r>
            <a:r>
              <a:rPr lang="en-US" sz="825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export,</a:t>
            </a:r>
            <a:r>
              <a:rPr lang="en-US" sz="825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chiến lược</a:t>
            </a:r>
            <a:r>
              <a:rPr lang="en-US" sz="825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MRO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457200" y="46101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D6E8E4"/>
          </a:solidFill>
          <a:ln/>
        </p:spPr>
      </p:sp>
      <p:sp>
        <p:nvSpPr>
          <p:cNvPr id="19" name="Text 17"/>
          <p:cNvSpPr/>
          <p:nvPr/>
        </p:nvSpPr>
        <p:spPr>
          <a:xfrm>
            <a:off x="590550" y="46863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7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Truy</a:t>
            </a:r>
            <a:r>
              <a:rPr lang="en-US" sz="1050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vấn</a:t>
            </a:r>
            <a:r>
              <a:rPr lang="en-US" sz="1050" b="1" dirty="0" spc="-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tree-sitter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0550" y="4895850"/>
            <a:ext cx="316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S-expression</a:t>
            </a:r>
            <a:r>
              <a:rPr lang="en-US" sz="825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825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825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825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825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825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capture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endParaRPr lang="en-US" sz="825" dirty="0"/>
          </a:p>
        </p:txBody>
      </p:sp>
      <p:sp>
        <p:nvSpPr>
          <p:cNvPr id="21" name="Connector line-1792884053973-299531966"/>
          <p:cNvSpPr/>
          <p:nvPr/>
        </p:nvSpPr>
        <p:spPr>
          <a:xfrm flipV="1">
            <a:off x="2171700" y="4476750"/>
            <a:ext cx="0" cy="13335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884053973-929484930"/>
          <p:cNvSpPr/>
          <p:nvPr/>
        </p:nvSpPr>
        <p:spPr>
          <a:xfrm flipV="1">
            <a:off x="2171700" y="3848100"/>
            <a:ext cx="0" cy="13335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884053973-902866992"/>
          <p:cNvSpPr/>
          <p:nvPr/>
        </p:nvSpPr>
        <p:spPr>
          <a:xfrm flipV="1">
            <a:off x="2171700" y="3219450"/>
            <a:ext cx="0" cy="13335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152900" y="2400300"/>
            <a:ext cx="295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18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provider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đăng ký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152900" y="27241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2900" y="27241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JavaScript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5162550" y="27241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2550" y="27241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172200" y="27241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7241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152900" y="30575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52900" y="30575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Java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162550" y="30575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2550" y="30575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172200" y="30575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0575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C++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4152900" y="339090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52900" y="339090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Objective-C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5162550" y="339090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2550" y="339090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C#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172200" y="339090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339090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4152900" y="372427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52900" y="372427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Ruby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5162550" y="372427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2550" y="372427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Rust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6172200" y="372427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372427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PHP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4152900" y="40576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52900" y="40576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Kotlin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5162550" y="40576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62550" y="40576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Swift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6172200" y="4057650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72200" y="4057650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Dart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4152900" y="43910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52900" y="43910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Vue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5162550" y="43910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E255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62550" y="43910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B63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COBOL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6172200" y="4391025"/>
            <a:ext cx="923925" cy="2476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4288">
            <a:solidFill>
              <a:srgbClr val="0E5C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4391025"/>
            <a:ext cx="923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Zig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152900" y="4743450"/>
            <a:ext cx="2952750" cy="38100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COBOL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(viền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cam)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825" dirty="0" spc="-1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regex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825" dirty="0" spc="-6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tree-sitter.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457200" y="539115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Thứ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phát cạnh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57200" y="5715000"/>
            <a:ext cx="3429000" cy="1809750"/>
          </a:xfrm>
          <a:prstGeom prst="rect">
            <a:avLst/>
          </a:prstGeom>
          <a:noFill/>
          <a:ln/>
        </p:spPr>
        <p:txBody>
          <a:bodyPr wrap="square" lIns="0" tIns="-1429" rIns="0" bIns="1429" rtlCol="0" anchor="t"/>
          <a:lstStyle/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emitReceiverBoundCalls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(đầu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tiên)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emitFreeCallFallback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emitReferencesViaLookup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emitPropertyDispatchCalls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emitCallableValueFlow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emitImportedValueReferences</a:t>
            </a:r>
            <a:endParaRPr lang="en-US" sz="825" dirty="0"/>
          </a:p>
          <a:p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pPr algn="l" indent="0" marL="0">
              <a:lnSpc>
                <a:spcPts val="1350"/>
              </a:lnSpc>
              <a:spcAft>
                <a:spcPts val="225"/>
              </a:spcAft>
              <a:buNone/>
            </a:pP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emitUniqueNamePropertyAccesses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(phương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cuối)</a:t>
            </a:r>
            <a:endParaRPr lang="en-US" sz="825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825" dirty="0" spc="-5" kern="0">
                <a:solidFill>
                  <a:srgbClr val="E255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emitImportEdges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152900" y="5391150"/>
            <a:ext cx="2952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Thứ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1350" b="1" dirty="0" spc="-1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</a:t>
            </a:r>
            <a:r>
              <a:rPr lang="en-US" sz="1350" b="1" dirty="0" spc="-1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thừa</a:t>
            </a:r>
            <a:r>
              <a:rPr lang="en-US" sz="1350" b="1" dirty="0" spc="-1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(MRO)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4152900" y="5715000"/>
            <a:ext cx="2952750" cy="18097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first-wins: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C#, C++,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TypeScript,</a:t>
            </a:r>
            <a:r>
              <a:rPr lang="en-US" sz="900" dirty="0" spc="-1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</a:t>
            </a:r>
            <a:endParaRPr lang="en-US" sz="900" dirty="0"/>
          </a:p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c3: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(tuyến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C3)</a:t>
            </a:r>
            <a:endParaRPr lang="en-US" sz="900" dirty="0"/>
          </a:p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ruby-mixin: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-1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Ruby,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mixin</a:t>
            </a:r>
            <a:endParaRPr lang="en-US" sz="900" dirty="0"/>
          </a:p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none: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900" dirty="0" spc="-1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cắm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ScopeResolver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SCOPE_RESOLVERS;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ingestion/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(quy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AGENTS.md).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7734300"/>
            <a:ext cx="6648450" cy="2171700"/>
          </a:xfrm>
          <a:prstGeom prst="roundRect">
            <a:avLst>
              <a:gd name="adj" fmla="val 6140"/>
            </a:avLst>
          </a:prstGeom>
          <a:solidFill>
            <a:srgbClr val="0E1A19"/>
          </a:solidFill>
          <a:ln/>
        </p:spPr>
      </p:sp>
      <p:sp>
        <p:nvSpPr>
          <p:cNvPr id="67" name="Text 65"/>
          <p:cNvSpPr/>
          <p:nvPr/>
        </p:nvSpPr>
        <p:spPr>
          <a:xfrm>
            <a:off x="685800" y="79057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Nguyên tắc:</a:t>
            </a:r>
            <a:r>
              <a:rPr lang="en-US" sz="15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chính</a:t>
            </a:r>
            <a:r>
              <a:rPr lang="en-US" sz="1500" b="1" dirty="0" spc="-6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xác</a:t>
            </a:r>
            <a:r>
              <a:rPr lang="en-US" sz="1500" b="1" dirty="0" spc="-5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</a:t>
            </a:r>
            <a:r>
              <a:rPr lang="en-US" sz="15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đầy</a:t>
            </a:r>
            <a:r>
              <a:rPr lang="en-US" sz="150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endParaRPr lang="en-US" sz="1500" dirty="0"/>
          </a:p>
        </p:txBody>
      </p:sp>
      <p:sp>
        <p:nvSpPr>
          <p:cNvPr id="68" name="Text richtext-1792884054051-102485852"/>
          <p:cNvSpPr/>
          <p:nvPr/>
        </p:nvSpPr>
        <p:spPr>
          <a:xfrm>
            <a:off x="685800" y="8305800"/>
            <a:ext cx="2895600" cy="15811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phủ;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900" dirty="0" spc="-1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dối.</a:t>
            </a:r>
            <a:r>
              <a:rPr lang="en-US" sz="900" dirty="0" spc="-1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Regex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chính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 chọn,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đoán: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báo hai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router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bằng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chứng: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Express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qua import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900" dirty="0"/>
          </a:p>
        </p:txBody>
      </p:sp>
      <p:sp>
        <p:nvSpPr>
          <p:cNvPr id="69" name="Text richtext-1792884054058-408564502"/>
          <p:cNvSpPr/>
          <p:nvPr/>
        </p:nvSpPr>
        <p:spPr>
          <a:xfrm>
            <a:off x="4000500" y="8305800"/>
            <a:ext cx="2895600" cy="15811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Vượt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tiêu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 chỉ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-1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impact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</a:t>
            </a:r>
            <a:r>
              <a:rPr lang="en-US" sz="900" dirty="0" spc="-1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epistemic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exact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lower-bound,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cận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lời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hụt;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(như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fetch)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làm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hụt.</a:t>
            </a:r>
            <a:endParaRPr lang="en-US" sz="900" dirty="0"/>
          </a:p>
        </p:txBody>
      </p:sp>
      <p:sp>
        <p:nvSpPr>
          <p:cNvPr id="70" name="Connector line-1792884054067-882334062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71" name="Text 69"/>
          <p:cNvSpPr/>
          <p:nvPr/>
        </p:nvSpPr>
        <p:spPr>
          <a:xfrm>
            <a:off x="457200" y="10306050"/>
            <a:ext cx="533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(Scope-Resolution Pipeline);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gitnexus-shared/src/languages.ts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7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34e23ec3-5229-45a9-a94d-ab71f59d62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 / 14</a:t>
            </a:r>
            <a:endParaRPr lang="en-US" sz="825" dirty="0"/>
          </a:p>
        </p:txBody>
      </p:sp>
      <p:sp>
        <p:nvSpPr>
          <p:cNvPr id="4" name="Connector line-1792884197781-9571699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06 · DỮ LIỆU VÀ LƯU TRỮ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2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35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2550" b="1" spc="-42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node,</a:t>
            </a:r>
            <a:r>
              <a:rPr lang="en-US" sz="2550" b="1" spc="-4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 bảng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2550" b="1" spc="-4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nằm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LadybugDB,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1050" dirty="0" spc="-1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(tên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05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KuzuDB).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riêng;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CodeRelation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 bằng cột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812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 node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Cấu trúc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76400" y="273367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File, Folder, Module, Namespace, Section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57200" y="29908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Khả</a:t>
            </a: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76400" y="298132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Function, Method, Constructor, Delegate, Macro, Template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57200" y="32385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76400" y="3228975"/>
            <a:ext cx="5429250" cy="3429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Class, Interface, Struct, Enum, Trait, Impl, Union, Typedef, TypeAlias, Record, Protocol, Category, Annotation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36766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</a:t>
            </a:r>
            <a:r>
              <a:rPr lang="en-US" sz="900" dirty="0" spc="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76400" y="366712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Const, Static, Variable, Property, CodeElement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57200" y="3924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76400" y="391477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Community, Process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57200" y="41719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900" dirty="0" spc="-7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framework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76400" y="416242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Route, Tool, Destination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57200" y="44196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B63A1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Cờ</a:t>
            </a:r>
            <a:r>
              <a:rPr lang="en-US" sz="900" dirty="0" spc="-5" kern="0">
                <a:solidFill>
                  <a:srgbClr val="B63A1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--pdg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76400" y="441007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B63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BasicBlock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33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CodeRelation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51625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Cấu trúc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76400" y="515302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CONTAINS, DEFINES, HAS_METHOD, HAS_PROPERTY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57200" y="54102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Gọi, phụ</a:t>
            </a: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76400" y="540067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CALLS, IMPORTS, ACCESSES, FETCHES, QUERIES, WRAPS, INJECTS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57200" y="56578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2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</a:t>
            </a:r>
            <a:r>
              <a:rPr lang="en-US" sz="900" dirty="0" spc="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thừa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76400" y="564832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EXTENDS, IMPLEMENTS, METHOD_OVERRIDES, OVERRIDES, METHOD_IMPLEMENTS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57200" y="59055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Lớp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76400" y="5895975"/>
            <a:ext cx="5429250" cy="17145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MEMBER_OF, STEP_IN_PROCESS, ENTRY_POINT_OF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57200" y="61531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Framework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76400" y="6143625"/>
            <a:ext cx="5429250" cy="3429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HANDLES_ROUTE, HANDLES_TOOL, PUBLISHES_TO, CONSUMES_FROM, CONDITIONAL_ON, DECLARES, ADVISED_BY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57200" y="65722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B63A1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Cờ</a:t>
            </a:r>
            <a:r>
              <a:rPr lang="en-US" sz="900" dirty="0" spc="-5" kern="0">
                <a:solidFill>
                  <a:srgbClr val="B63A1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--pdg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76400" y="6562725"/>
            <a:ext cx="5429250" cy="3429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B63A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CFG, REACHING_DEF, CDG, POST_DOMINATE, TAINTED, SANITIZES, TAINT_PATH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57200" y="70104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Lưu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trữ</a:t>
            </a:r>
            <a:r>
              <a:rPr lang="en-US" sz="1350" b="1" dirty="0" spc="-17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</a:t>
            </a:r>
            <a:r>
              <a:rPr lang="en-US" sz="1350" b="1" dirty="0" spc="-1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tươi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 chỉ mục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457200" y="7353300"/>
            <a:ext cx="3028950" cy="2552700"/>
          </a:xfrm>
          <a:prstGeom prst="roundRect">
            <a:avLst>
              <a:gd name="adj" fmla="val 4478"/>
            </a:avLst>
          </a:prstGeom>
          <a:solidFill>
            <a:srgbClr val="0E1A19"/>
          </a:solidFill>
          <a:ln/>
        </p:spPr>
      </p:sp>
      <p:sp>
        <p:nvSpPr>
          <p:cNvPr id="38" name="Text 36"/>
          <p:cNvSpPr/>
          <p:nvPr/>
        </p:nvSpPr>
        <p:spPr>
          <a:xfrm>
            <a:off x="628650" y="7505700"/>
            <a:ext cx="2762250" cy="22860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&lt;repo&gt;/.gitnexus/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lbug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LadybugDB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lbug.wal, lbug.shadow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nhật ký, checkpoint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lbug.lock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khoá một người ghi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gitnexus.json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lastCommit, stats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meta.json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bản sao cũ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~/.gitnexus/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registry.json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đăng ký repo cho MCP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stores/&lt;key&gt;/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kho dùng chung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caches/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 cache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commits/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đồ thị mỗi commit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CFE3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checkouts/ 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đồ thị cục bộ</a:t>
            </a:r>
            <a:endParaRPr lang="en-US" sz="825" dirty="0"/>
          </a:p>
        </p:txBody>
      </p:sp>
      <p:sp>
        <p:nvSpPr>
          <p:cNvPr id="39" name="Text richtext-1792884197858-723692051"/>
          <p:cNvSpPr/>
          <p:nvPr/>
        </p:nvSpPr>
        <p:spPr>
          <a:xfrm>
            <a:off x="3695700" y="7353300"/>
            <a:ext cx="3409950" cy="25527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-2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900" b="1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900" b="1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b="1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900" b="1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ghi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hàng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(cùng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importer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chúng);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50%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lại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900" b="1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worktree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origin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kho;</a:t>
            </a:r>
            <a:r>
              <a:rPr lang="en-US" sz="900" dirty="0" spc="-1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--no-share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GITNEXUS_SHARED_STORE=off.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900" b="1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tươi: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lastCommit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 thành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current,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behind,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diverged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Embeddings: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Snowflake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arctic-embed-xs 384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 Function,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Class, Method,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Interface;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SHA1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dung.</a:t>
            </a:r>
            <a:endParaRPr lang="en-US" sz="900" dirty="0"/>
          </a:p>
        </p:txBody>
      </p:sp>
      <p:sp>
        <p:nvSpPr>
          <p:cNvPr id="40" name="Connector line-1792884197871-975139819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457200" y="10306050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gitnexus-shared/src/lbug/schema-constants.ts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(đếm);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</a:t>
            </a:r>
            <a:r>
              <a:rPr lang="en-US" sz="825" dirty="0" spc="-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(Storage)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7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02f09216-a7fa-4ae5-9139-5db4e5b50c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 / 14</a:t>
            </a:r>
            <a:endParaRPr lang="en-US" sz="825" dirty="0"/>
          </a:p>
        </p:txBody>
      </p:sp>
      <p:sp>
        <p:nvSpPr>
          <p:cNvPr id="4" name="Connector line-1792884360763-481049518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07 · TÌM KIẾM VÀ PHÂN TÍCH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7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2550" b="1" spc="-3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thị thô</a:t>
            </a:r>
            <a:r>
              <a:rPr lang="en-US" sz="2550" b="1" spc="-34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2550" b="1" spc="-5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trả</a:t>
            </a:r>
            <a:r>
              <a:rPr lang="en-US" sz="2550" b="1" spc="-4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lời</a:t>
            </a:r>
            <a:r>
              <a:rPr lang="en-US" sz="2550" b="1" spc="-6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xếp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cạnh,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bậc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giúp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hướng: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(Community)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(Process).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05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trộn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còn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1050" dirty="0" spc="-1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00300"/>
            <a:ext cx="3248025" cy="1581150"/>
          </a:xfrm>
          <a:prstGeom prst="roundRect">
            <a:avLst>
              <a:gd name="adj" fmla="val 7229"/>
            </a:avLst>
          </a:prstGeom>
          <a:solidFill>
            <a:srgbClr val="EAE3D4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" y="25336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Tìm</a:t>
            </a:r>
            <a:r>
              <a:rPr lang="en-US" sz="1200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kiếm</a:t>
            </a:r>
            <a:r>
              <a:rPr lang="en-US" sz="1200" b="1" dirty="0" spc="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lai:</a:t>
            </a:r>
            <a:r>
              <a:rPr lang="en-US" sz="1200" b="1" dirty="0" spc="-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BM25</a:t>
            </a:r>
            <a:r>
              <a:rPr lang="en-US" sz="1200" b="1" dirty="0" spc="-1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200" b="1" dirty="0" spc="-7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vector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7700" y="2838450"/>
            <a:ext cx="2867025" cy="285750"/>
          </a:xfrm>
          <a:prstGeom prst="roundRect">
            <a:avLst>
              <a:gd name="adj" fmla="val 20000"/>
            </a:avLst>
          </a:prstGeom>
          <a:solidFill>
            <a:srgbClr val="0E1A19"/>
          </a:solidFill>
          <a:ln/>
        </p:spPr>
      </p:sp>
      <p:sp>
        <p:nvSpPr>
          <p:cNvPr id="11" name="Text 9"/>
          <p:cNvSpPr/>
          <p:nvPr/>
        </p:nvSpPr>
        <p:spPr>
          <a:xfrm>
            <a:off x="647700" y="2838450"/>
            <a:ext cx="2867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điểm = Σ 1 / (60 + hạng)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7700" y="3219450"/>
            <a:ext cx="2867025" cy="7239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4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 (BM25)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(vector)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hạng;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 theo hạng,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hoá.</a:t>
            </a:r>
            <a:r>
              <a:rPr lang="en-US" sz="900" dirty="0" spc="-1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hai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57625" y="2400300"/>
            <a:ext cx="3248025" cy="1581150"/>
          </a:xfrm>
          <a:prstGeom prst="roundRect">
            <a:avLst>
              <a:gd name="adj" fmla="val 7229"/>
            </a:avLst>
          </a:prstGeom>
          <a:solidFill>
            <a:srgbClr val="D6E8E4"/>
          </a:solidFill>
          <a:ln/>
        </p:spPr>
      </p:sp>
      <p:sp>
        <p:nvSpPr>
          <p:cNvPr id="14" name="Text 12"/>
          <p:cNvSpPr/>
          <p:nvPr/>
        </p:nvSpPr>
        <p:spPr>
          <a:xfrm>
            <a:off x="4048125" y="25336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Cụm</a:t>
            </a:r>
            <a:r>
              <a:rPr lang="en-US" sz="1200" b="1" dirty="0" spc="-8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chức</a:t>
            </a:r>
            <a:r>
              <a:rPr lang="en-US" sz="1200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năng: thuật</a:t>
            </a:r>
            <a:r>
              <a:rPr lang="en-US" sz="1200" b="1" dirty="0" spc="-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toán</a:t>
            </a:r>
            <a:r>
              <a:rPr lang="en-US" sz="1200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Leiden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8125" y="2838450"/>
            <a:ext cx="2867025" cy="10668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Leiden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graphology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vendor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trong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repo)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cụm.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 năng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icebug có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90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 cụm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719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Luồng</a:t>
            </a:r>
            <a:r>
              <a:rPr lang="en-US" sz="1350" b="1" dirty="0" spc="-1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</a:t>
            </a:r>
            <a:r>
              <a:rPr lang="en-US" sz="1350" b="1" dirty="0" spc="-1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(Process)</a:t>
            </a:r>
            <a:r>
              <a:rPr lang="en-US" sz="1350" b="1" dirty="0" spc="-1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dò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thế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495800"/>
            <a:ext cx="2019300" cy="361950"/>
          </a:xfrm>
          <a:prstGeom prst="roundRect">
            <a:avLst>
              <a:gd name="adj" fmla="val 21053"/>
            </a:avLst>
          </a:prstGeom>
          <a:solidFill>
            <a:srgbClr val="0E5C5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95800"/>
            <a:ext cx="2019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 spc="-4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r>
              <a:rPr lang="en-US" sz="10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105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Tìm</a:t>
            </a:r>
            <a:r>
              <a:rPr lang="en-US" sz="105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entry</a:t>
            </a:r>
            <a:r>
              <a:rPr lang="en-US" sz="10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point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71775" y="4495800"/>
            <a:ext cx="2019300" cy="361950"/>
          </a:xfrm>
          <a:prstGeom prst="roundRect">
            <a:avLst>
              <a:gd name="adj" fmla="val 21053"/>
            </a:avLst>
          </a:prstGeom>
          <a:solidFill>
            <a:srgbClr val="0E5C58"/>
          </a:solidFill>
          <a:ln/>
        </p:spPr>
      </p:sp>
      <p:sp>
        <p:nvSpPr>
          <p:cNvPr id="20" name="Text 18"/>
          <p:cNvSpPr/>
          <p:nvPr/>
        </p:nvSpPr>
        <p:spPr>
          <a:xfrm>
            <a:off x="2771775" y="4495800"/>
            <a:ext cx="2019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r>
              <a:rPr lang="en-US" sz="10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 Duyệt</a:t>
            </a:r>
            <a:r>
              <a:rPr lang="en-US" sz="105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10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CALLS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86350" y="4495800"/>
            <a:ext cx="2019300" cy="361950"/>
          </a:xfrm>
          <a:prstGeom prst="roundRect">
            <a:avLst>
              <a:gd name="adj" fmla="val 21053"/>
            </a:avLst>
          </a:prstGeom>
          <a:solidFill>
            <a:srgbClr val="0E5C58"/>
          </a:solidFill>
          <a:ln/>
        </p:spPr>
      </p:sp>
      <p:sp>
        <p:nvSpPr>
          <p:cNvPr id="22" name="Text 20"/>
          <p:cNvSpPr/>
          <p:nvPr/>
        </p:nvSpPr>
        <p:spPr>
          <a:xfrm>
            <a:off x="5086350" y="4495800"/>
            <a:ext cx="2019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r>
              <a:rPr lang="en-US" sz="10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·</a:t>
            </a:r>
            <a:r>
              <a:rPr lang="en-US" sz="105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Gộp</a:t>
            </a:r>
            <a:r>
              <a:rPr lang="en-US" sz="1050" b="1" dirty="0" spc="-1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05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gắn</a:t>
            </a:r>
            <a:r>
              <a:rPr lang="en-US" sz="105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nhãn</a:t>
            </a:r>
            <a:endParaRPr lang="en-US" sz="1050" dirty="0"/>
          </a:p>
        </p:txBody>
      </p:sp>
      <p:sp>
        <p:nvSpPr>
          <p:cNvPr id="23" name="Connector line-1792884360800-927835196"/>
          <p:cNvSpPr/>
          <p:nvPr/>
        </p:nvSpPr>
        <p:spPr>
          <a:xfrm>
            <a:off x="2476500" y="4676775"/>
            <a:ext cx="295275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884360800-482017887"/>
          <p:cNvSpPr/>
          <p:nvPr/>
        </p:nvSpPr>
        <p:spPr>
          <a:xfrm>
            <a:off x="4791075" y="4676775"/>
            <a:ext cx="295275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7200" y="4953000"/>
            <a:ext cx="2019300" cy="800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(handle,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Controller),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export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framework;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71775" y="4953000"/>
            <a:ext cx="2019300" cy="800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DFS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CALLS,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900" dirty="0" spc="-1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rẽ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mỗi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node;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6350" y="4953000"/>
            <a:ext cx="2019300" cy="800100"/>
          </a:xfrm>
          <a:prstGeom prst="rect">
            <a:avLst/>
          </a:prstGeom>
          <a:noFill/>
          <a:ln/>
        </p:spPr>
        <p:txBody>
          <a:bodyPr wrap="square" lIns="0" tIns="-817" rIns="0" bIns="817" rtlCol="0" anchor="t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858" dirty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 luồng trùng lặp, gắn nhãn heuristic (ví dụ HandleLogin → CreateSession) và ghi nhận luồng nằm trong một cụm hay đi xuyên cụm.</a:t>
            </a:r>
            <a:endParaRPr lang="en-US" sz="858" dirty="0"/>
          </a:p>
        </p:txBody>
      </p:sp>
      <p:sp>
        <p:nvSpPr>
          <p:cNvPr id="28" name="Text 26"/>
          <p:cNvSpPr/>
          <p:nvPr/>
        </p:nvSpPr>
        <p:spPr>
          <a:xfrm>
            <a:off x="457200" y="5810250"/>
            <a:ext cx="6648450" cy="342900"/>
          </a:xfrm>
          <a:prstGeom prst="rect">
            <a:avLst/>
          </a:prstGeom>
          <a:noFill/>
          <a:ln/>
        </p:spPr>
        <p:txBody>
          <a:bodyPr wrap="square" lIns="0" tIns="-802" rIns="0" bIns="802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 được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--max-processes, --max-process-trace-depth,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--max-process-branching,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--max-entry-point-candidates.</a:t>
            </a:r>
            <a:r>
              <a:rPr lang="en-US" sz="825" dirty="0" spc="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đặt,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825" dirty="0" spc="-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825" dirty="0" spc="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825" dirty="0" spc="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symbols/10.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57200" y="6305550"/>
            <a:ext cx="664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Thang</a:t>
            </a:r>
            <a:r>
              <a:rPr lang="en-US" sz="13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rủi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ro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impact</a:t>
            </a:r>
            <a:r>
              <a:rPr lang="en-US" sz="1350" b="1" dirty="0" spc="-1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(ngưỡng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 gitnexus-shared)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6648450"/>
            <a:ext cx="1238250" cy="1066800"/>
          </a:xfrm>
          <a:prstGeom prst="roundRect">
            <a:avLst>
              <a:gd name="adj" fmla="val 8929"/>
            </a:avLst>
          </a:prstGeom>
          <a:solidFill>
            <a:srgbClr val="E6DCC4"/>
          </a:solidFill>
          <a:ln/>
        </p:spPr>
      </p:sp>
      <p:sp>
        <p:nvSpPr>
          <p:cNvPr id="31" name="Text 29"/>
          <p:cNvSpPr/>
          <p:nvPr/>
        </p:nvSpPr>
        <p:spPr>
          <a:xfrm>
            <a:off x="571500" y="6743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17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LOW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71500" y="6972300"/>
            <a:ext cx="1009650" cy="70485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Dưới</a:t>
            </a:r>
            <a:r>
              <a:rPr lang="en-US" sz="825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825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ngưỡng</a:t>
            </a:r>
            <a:r>
              <a:rPr lang="en-US" sz="825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lại.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1809750" y="6648450"/>
            <a:ext cx="1238250" cy="1066800"/>
          </a:xfrm>
          <a:prstGeom prst="roundRect">
            <a:avLst>
              <a:gd name="adj" fmla="val 8929"/>
            </a:avLst>
          </a:prstGeom>
          <a:solidFill>
            <a:srgbClr val="F0A93A"/>
          </a:solidFill>
          <a:ln/>
        </p:spPr>
      </p:sp>
      <p:sp>
        <p:nvSpPr>
          <p:cNvPr id="34" name="Text 32"/>
          <p:cNvSpPr/>
          <p:nvPr/>
        </p:nvSpPr>
        <p:spPr>
          <a:xfrm>
            <a:off x="1924050" y="6743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MEDIUM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924050" y="6972300"/>
            <a:ext cx="1009650" cy="70485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-5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825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825" dirty="0" spc="4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825" dirty="0" spc="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825" dirty="0" spc="-7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825" dirty="0" spc="0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825" dirty="0" spc="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825" dirty="0" spc="-5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825" dirty="0" spc="-2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r>
              <a:rPr lang="en-US" sz="825" dirty="0" spc="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825" dirty="0" spc="2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825" dirty="0" spc="4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825" dirty="0" spc="-7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825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3162300" y="6648450"/>
            <a:ext cx="1238250" cy="1066800"/>
          </a:xfrm>
          <a:prstGeom prst="roundRect">
            <a:avLst>
              <a:gd name="adj" fmla="val 8929"/>
            </a:avLst>
          </a:prstGeom>
          <a:solidFill>
            <a:srgbClr val="E2552B"/>
          </a:solidFill>
          <a:ln/>
        </p:spPr>
      </p:sp>
      <p:sp>
        <p:nvSpPr>
          <p:cNvPr id="37" name="Text 35"/>
          <p:cNvSpPr/>
          <p:nvPr/>
        </p:nvSpPr>
        <p:spPr>
          <a:xfrm>
            <a:off x="3276600" y="6743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HIGH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3276600" y="6972300"/>
            <a:ext cx="1009650" cy="70485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0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r>
              <a:rPr lang="en-US" sz="825" dirty="0" spc="4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825" dirty="0" spc="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825" dirty="0" spc="-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825" dirty="0" spc="-5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process,</a:t>
            </a:r>
            <a:r>
              <a:rPr lang="en-US" sz="825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825" dirty="0" spc="0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</a:t>
            </a:r>
            <a:r>
              <a:rPr lang="en-US" sz="825" dirty="0" spc="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825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825" dirty="0" spc="2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ảnh</a:t>
            </a:r>
            <a:r>
              <a:rPr lang="en-US" sz="825" dirty="0" spc="4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825" dirty="0" spc="-7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825" dirty="0" spc="0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4514850" y="6648450"/>
            <a:ext cx="1238250" cy="1066800"/>
          </a:xfrm>
          <a:prstGeom prst="roundRect">
            <a:avLst>
              <a:gd name="adj" fmla="val 8929"/>
            </a:avLst>
          </a:prstGeom>
          <a:solidFill>
            <a:srgbClr val="8E2A12"/>
          </a:solidFill>
          <a:ln/>
        </p:spPr>
      </p:sp>
      <p:sp>
        <p:nvSpPr>
          <p:cNvPr id="40" name="Text 38"/>
          <p:cNvSpPr/>
          <p:nvPr/>
        </p:nvSpPr>
        <p:spPr>
          <a:xfrm>
            <a:off x="4629150" y="6743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5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CRITICAL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629150" y="6972300"/>
            <a:ext cx="1009650" cy="704850"/>
          </a:xfrm>
          <a:prstGeom prst="rect">
            <a:avLst/>
          </a:prstGeom>
          <a:noFill/>
          <a:ln/>
        </p:spPr>
        <p:txBody>
          <a:bodyPr wrap="square" lIns="0" tIns="1834" rIns="0" bIns="-1834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 spc="-9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30</a:t>
            </a:r>
            <a:r>
              <a:rPr lang="en-US" sz="825" dirty="0" spc="4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825" dirty="0" spc="2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825" dirty="0" spc="0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825" dirty="0" spc="-5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process,</a:t>
            </a:r>
            <a:r>
              <a:rPr lang="en-US" sz="825" dirty="0" spc="-1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825" dirty="0" spc="0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</a:t>
            </a:r>
            <a:r>
              <a:rPr lang="en-US" sz="825" dirty="0" spc="3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825" dirty="0" spc="-2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825" dirty="0" spc="2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ảnh</a:t>
            </a:r>
            <a:r>
              <a:rPr lang="en-US" sz="825" dirty="0" spc="4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825" dirty="0" spc="-8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825" dirty="0" spc="0" kern="0">
                <a:solidFill>
                  <a:srgbClr val="F6E4D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lên.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5867400" y="6648450"/>
            <a:ext cx="1238250" cy="1066800"/>
          </a:xfrm>
          <a:prstGeom prst="roundRect">
            <a:avLst>
              <a:gd name="adj" fmla="val 8929"/>
            </a:avLst>
          </a:prstGeom>
          <a:solidFill>
            <a:srgbClr val="FBF8F2"/>
          </a:solidFill>
          <a:ln w="14288">
            <a:solidFill>
              <a:srgbClr val="6B665D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981700" y="674370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5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UNKNOWN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5981700" y="6972300"/>
            <a:ext cx="1009650" cy="704850"/>
          </a:xfrm>
          <a:prstGeom prst="rect">
            <a:avLst/>
          </a:prstGeom>
          <a:noFill/>
          <a:ln/>
        </p:spPr>
        <p:txBody>
          <a:bodyPr wrap="square" lIns="0" tIns="1793" rIns="0" bIns="-1793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18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Upstream</a:t>
            </a:r>
            <a:r>
              <a:rPr lang="en-US" sz="818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818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818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818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818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818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818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818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818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818" dirty="0"/>
          </a:p>
        </p:txBody>
      </p:sp>
      <p:sp>
        <p:nvSpPr>
          <p:cNvPr id="45" name="Text 43"/>
          <p:cNvSpPr/>
          <p:nvPr/>
        </p:nvSpPr>
        <p:spPr>
          <a:xfrm>
            <a:off x="457200" y="7848600"/>
            <a:ext cx="6648450" cy="685800"/>
          </a:xfrm>
          <a:prstGeom prst="rect">
            <a:avLst/>
          </a:prstGeom>
          <a:noFill/>
          <a:ln/>
        </p:spPr>
        <p:txBody>
          <a:bodyPr wrap="square" lIns="0" tIns="-2301" rIns="0" bIns="2301" rtlCol="0" anchor="t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UNKNOWN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89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899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899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89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899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89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phân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89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89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(truy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899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899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89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thường,</a:t>
            </a:r>
            <a:r>
              <a:rPr lang="en-US" sz="89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dispatch</a:t>
            </a:r>
            <a:r>
              <a:rPr lang="en-US" sz="899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899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chéo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899" dirty="0" spc="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ngữ).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899" dirty="0" spc="-1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899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89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899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899" dirty="0" spc="-2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LOW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MEDIUM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bị</a:t>
            </a:r>
            <a:r>
              <a:rPr lang="en-US" sz="899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899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 thay</a:t>
            </a:r>
            <a:r>
              <a:rPr lang="en-US" sz="899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899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899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899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899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899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tin.</a:t>
            </a:r>
            <a:endParaRPr lang="en-US" sz="899" dirty="0"/>
          </a:p>
        </p:txBody>
      </p:sp>
      <p:sp>
        <p:nvSpPr>
          <p:cNvPr id="46" name="Shape 44"/>
          <p:cNvSpPr/>
          <p:nvPr/>
        </p:nvSpPr>
        <p:spPr>
          <a:xfrm>
            <a:off x="457200" y="8705850"/>
            <a:ext cx="6648450" cy="1200150"/>
          </a:xfrm>
          <a:prstGeom prst="roundRect">
            <a:avLst>
              <a:gd name="adj" fmla="val 11111"/>
            </a:avLst>
          </a:prstGeom>
          <a:solidFill>
            <a:srgbClr val="0E1A19"/>
          </a:solidFill>
          <a:ln/>
        </p:spPr>
      </p:sp>
      <p:sp>
        <p:nvSpPr>
          <p:cNvPr id="47" name="Text 45"/>
          <p:cNvSpPr/>
          <p:nvPr/>
        </p:nvSpPr>
        <p:spPr>
          <a:xfrm>
            <a:off x="647700" y="8839200"/>
            <a:ext cx="609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Chính</a:t>
            </a:r>
            <a:r>
              <a:rPr lang="en-US" sz="12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repo</a:t>
            </a:r>
            <a:r>
              <a:rPr lang="en-US" sz="12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ép</a:t>
            </a:r>
            <a:r>
              <a:rPr lang="en-US" sz="1200" b="1" dirty="0" spc="-5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1200" b="1" dirty="0" spc="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120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quy</a:t>
            </a:r>
            <a:r>
              <a:rPr lang="en-US" sz="12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tắc này</a:t>
            </a:r>
            <a:r>
              <a:rPr lang="en-US" sz="1200" b="1" dirty="0" spc="-8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(AGENTS.md)</a:t>
            </a:r>
            <a:endParaRPr lang="en-US" sz="1200" dirty="0"/>
          </a:p>
        </p:txBody>
      </p:sp>
      <p:sp>
        <p:nvSpPr>
          <p:cNvPr id="48" name="Text richtext-1792884360850-455418573"/>
          <p:cNvSpPr/>
          <p:nvPr/>
        </p:nvSpPr>
        <p:spPr>
          <a:xfrm>
            <a:off x="647700" y="9124950"/>
            <a:ext cx="6286500" cy="7239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symbol;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HIGH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CRITICAL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300"/>
              </a:spcAft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Coi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risk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UNKNOWN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quyết: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detect_changes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commit;</a:t>
            </a:r>
            <a:r>
              <a:rPr lang="en-US" sz="900" dirty="0" spc="-1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partial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truncated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900" dirty="0" spc="-1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sạch.</a:t>
            </a:r>
            <a:endParaRPr lang="en-US" sz="900" dirty="0"/>
          </a:p>
        </p:txBody>
      </p:sp>
      <p:sp>
        <p:nvSpPr>
          <p:cNvPr id="49" name="Connector line-1792884360859-706978846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457200" y="10306050"/>
            <a:ext cx="6096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hybrid-search.ts;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community-processor.ts;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process-processor.ts;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impact-risk.ts;</a:t>
            </a:r>
            <a:r>
              <a:rPr lang="en-US" sz="825" dirty="0" spc="-6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340565b2-9807-4e0f-ae3f-dda23478d2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 / 14</a:t>
            </a:r>
            <a:endParaRPr lang="en-US" sz="825" dirty="0"/>
          </a:p>
        </p:txBody>
      </p:sp>
      <p:sp>
        <p:nvSpPr>
          <p:cNvPr id="4" name="Connector line-1792884432397-355296359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08 · CÔNG CỤ MCP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19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công</a:t>
            </a:r>
            <a:r>
              <a:rPr lang="en-US" sz="2550" b="1" spc="-4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cụ,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chia theo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 cần</a:t>
            </a: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cụ,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05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đường.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05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tham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05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tuỳ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chọn,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050" dirty="0" spc="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05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@group.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00300"/>
            <a:ext cx="3248025" cy="2324100"/>
          </a:xfrm>
          <a:prstGeom prst="roundRect">
            <a:avLst>
              <a:gd name="adj" fmla="val 4918"/>
            </a:avLst>
          </a:prstGeom>
          <a:solidFill>
            <a:srgbClr val="D6E8E4"/>
          </a:solidFill>
          <a:ln/>
        </p:spPr>
      </p:sp>
      <p:sp>
        <p:nvSpPr>
          <p:cNvPr id="9" name="Text 7"/>
          <p:cNvSpPr/>
          <p:nvPr/>
        </p:nvSpPr>
        <p:spPr>
          <a:xfrm>
            <a:off x="628650" y="25336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KHÁM PHÁ · 5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2781300"/>
            <a:ext cx="29146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list_repos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900" dirty="0" spc="-1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BM25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vector, gom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360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thuộc,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trace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90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endParaRPr lang="en-US" sz="825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cypher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Cypher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3857625" y="2400300"/>
            <a:ext cx="3248025" cy="2324100"/>
          </a:xfrm>
          <a:prstGeom prst="roundRect">
            <a:avLst>
              <a:gd name="adj" fmla="val 4918"/>
            </a:avLst>
          </a:prstGeom>
          <a:solidFill>
            <a:srgbClr val="EAE3D4"/>
          </a:solidFill>
          <a:ln/>
        </p:spPr>
      </p:sp>
      <p:sp>
        <p:nvSpPr>
          <p:cNvPr id="12" name="Text 10"/>
          <p:cNvSpPr/>
          <p:nvPr/>
        </p:nvSpPr>
        <p:spPr>
          <a:xfrm>
            <a:off x="4029075" y="25336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AN TOÀN KHI SỬA · 4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029075" y="2781300"/>
            <a:ext cx="291465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900" dirty="0" spc="-1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 risk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detect_changes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ánh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rename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bằng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plan_token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825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trúc,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 thứ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457200" y="4857750"/>
            <a:ext cx="3248025" cy="190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650" y="49911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API VÀ TÍCH HỢP · 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28650" y="5238750"/>
            <a:ext cx="291465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route_map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route,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handler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api_impact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handler</a:t>
            </a:r>
            <a:endParaRPr lang="en-US" sz="825" dirty="0"/>
          </a:p>
          <a:p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shape_check</a:t>
            </a:r>
            <a:pPr algn="l" indent="0" marL="0">
              <a:lnSpc>
                <a:spcPts val="1305"/>
              </a:lnSpc>
              <a:spcAft>
                <a:spcPts val="375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 shape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825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tool_map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MCP/RPC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handler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857625" y="4857750"/>
            <a:ext cx="3248025" cy="914400"/>
          </a:xfrm>
          <a:prstGeom prst="roundRect">
            <a:avLst>
              <a:gd name="adj" fmla="val 12500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9075" y="49911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LUỒNG DỮ LIỆU, CẦN --PDG · 2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29075" y="5219700"/>
            <a:ext cx="29146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300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</a:t>
            </a:r>
            <a:pPr algn="l" indent="0" marL="0">
              <a:lnSpc>
                <a:spcPts val="1305"/>
              </a:lnSpc>
              <a:spcAft>
                <a:spcPts val="300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90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825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pdg_query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3857625" y="5886450"/>
            <a:ext cx="3248025" cy="876300"/>
          </a:xfrm>
          <a:prstGeom prst="roundRect">
            <a:avLst>
              <a:gd name="adj" fmla="val 13043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9075" y="60198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ĐỌC MÃ GỐC · 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29075" y="6248400"/>
            <a:ext cx="2914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300"/>
              </a:spcAft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read_file</a:t>
            </a:r>
            <a:pPr algn="l" indent="0" marL="0">
              <a:lnSpc>
                <a:spcPts val="1305"/>
              </a:lnSpc>
              <a:spcAft>
                <a:spcPts val="300"/>
              </a:spcAft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file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checkout,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endParaRPr lang="en-US" sz="825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grep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457200" y="6896100"/>
            <a:ext cx="6648450" cy="590550"/>
          </a:xfrm>
          <a:prstGeom prst="roundRect">
            <a:avLst>
              <a:gd name="adj" fmla="val 1935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650" y="70104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NHÓM REPO · 2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28650" y="7200900"/>
            <a:ext cx="6324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group_list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900" dirty="0" spc="-1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1305"/>
              </a:lnSpc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group_sync</a:t>
            </a:r>
            <a:pPr algn="l" indent="0" marL="0">
              <a:lnSpc>
                <a:spcPts val="1305"/>
              </a:lnSpc>
              <a:buNone/>
            </a:pP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90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Contract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Registry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900" dirty="0" spc="-1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57200" y="7677150"/>
            <a:ext cx="6648450" cy="2228850"/>
          </a:xfrm>
          <a:prstGeom prst="roundRect">
            <a:avLst>
              <a:gd name="adj" fmla="val 5983"/>
            </a:avLst>
          </a:prstGeom>
          <a:solidFill>
            <a:srgbClr val="0E1A19"/>
          </a:solidFill>
          <a:ln/>
        </p:spPr>
      </p:sp>
      <p:sp>
        <p:nvSpPr>
          <p:cNvPr id="27" name="Text 25"/>
          <p:cNvSpPr/>
          <p:nvPr/>
        </p:nvSpPr>
        <p:spPr>
          <a:xfrm>
            <a:off x="647700" y="7829550"/>
            <a:ext cx="609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13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soát</a:t>
            </a:r>
            <a:r>
              <a:rPr lang="en-US" sz="13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truy</a:t>
            </a:r>
            <a:r>
              <a:rPr lang="en-US" sz="135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cập</a:t>
            </a:r>
            <a:r>
              <a:rPr lang="en-US" sz="1350" b="1" dirty="0" spc="-17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350" b="1" dirty="0" spc="-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ngân</a:t>
            </a:r>
            <a:r>
              <a:rPr lang="en-US" sz="135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sách</a:t>
            </a:r>
            <a:r>
              <a:rPr lang="en-US" sz="1350" b="1" dirty="0" spc="-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135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hồi</a:t>
            </a:r>
            <a:endParaRPr lang="en-US" sz="1350" dirty="0"/>
          </a:p>
        </p:txBody>
      </p:sp>
      <p:sp>
        <p:nvSpPr>
          <p:cNvPr id="28" name="Text richtext-1792884432454-990342641"/>
          <p:cNvSpPr/>
          <p:nvPr/>
        </p:nvSpPr>
        <p:spPr>
          <a:xfrm>
            <a:off x="647700" y="8172450"/>
            <a:ext cx="3009900" cy="990600"/>
          </a:xfrm>
          <a:prstGeom prst="rect">
            <a:avLst/>
          </a:prstGeom>
          <a:noFill/>
          <a:ln/>
        </p:spPr>
        <p:txBody>
          <a:bodyPr wrap="square" lIns="0" tIns="-1429" rIns="0" bIns="1429" rtlCol="0" anchor="t"/>
          <a:lstStyle/>
          <a:p>
            <a:pPr algn="l" marL="228600" indent="-94269">
              <a:lnSpc>
                <a:spcPts val="135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GITNEXUS_MCP_READ_ONLY=1</a:t>
            </a:r>
            <a:pPr algn="l" marL="228600" indent="-2286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 mặt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repo;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rename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cypher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ẩn.</a:t>
            </a:r>
            <a:endParaRPr lang="en-US" sz="825" dirty="0"/>
          </a:p>
          <a:p>
            <a:pPr algn="l" marL="228600" indent="-94269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GITNEXUS_MCP_ALLOWED_REPOS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tool,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 nhúng.</a:t>
            </a:r>
            <a:endParaRPr lang="en-US" sz="825" dirty="0"/>
          </a:p>
        </p:txBody>
      </p:sp>
      <p:sp>
        <p:nvSpPr>
          <p:cNvPr id="29" name="Text richtext-1792884432459-36611365"/>
          <p:cNvSpPr/>
          <p:nvPr/>
        </p:nvSpPr>
        <p:spPr>
          <a:xfrm>
            <a:off x="3924300" y="8172450"/>
            <a:ext cx="3009900" cy="990600"/>
          </a:xfrm>
          <a:prstGeom prst="rect">
            <a:avLst/>
          </a:prstGeom>
          <a:noFill/>
          <a:ln/>
        </p:spPr>
        <p:txBody>
          <a:bodyPr wrap="square" lIns="0" tIns="-1429" rIns="0" bIns="1429" rtlCol="0" anchor="t"/>
          <a:lstStyle/>
          <a:p>
            <a:pPr algn="l" marL="228600" indent="-94269">
              <a:lnSpc>
                <a:spcPts val="1350"/>
              </a:lnSpc>
              <a:spcAft>
                <a:spcPts val="450"/>
              </a:spcAft>
              <a:buSzPct val="100000"/>
              <a:buFont typeface="Arial"/>
              <a:buChar char="•"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maxTokens</a:t>
            </a:r>
            <a:pPr algn="l" marL="228600" indent="-2286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 theo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 lượng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825" dirty="0"/>
          </a:p>
          <a:p>
            <a:pPr algn="l" marL="228600" indent="-94269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825" dirty="0" spc="-5" kern="0">
                <a:solidFill>
                  <a:srgbClr val="F0A9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response_sections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về;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900" dirty="0" spc="-1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bỏ.</a:t>
            </a:r>
            <a:endParaRPr lang="en-US" sz="825" dirty="0"/>
          </a:p>
        </p:txBody>
      </p:sp>
      <p:sp>
        <p:nvSpPr>
          <p:cNvPr id="30" name="Connector line-1792884432463-197931739"/>
          <p:cNvSpPr/>
          <p:nvPr/>
        </p:nvSpPr>
        <p:spPr>
          <a:xfrm>
            <a:off x="647700" y="9277350"/>
            <a:ext cx="6267450" cy="0"/>
          </a:xfrm>
          <a:prstGeom prst="line">
            <a:avLst/>
          </a:prstGeom>
          <a:noFill/>
          <a:ln w="9525">
            <a:solidFill>
              <a:srgbClr val="2A4743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47700" y="9372600"/>
            <a:ext cx="6286500" cy="476250"/>
          </a:xfrm>
          <a:prstGeom prst="rect">
            <a:avLst/>
          </a:prstGeom>
          <a:noFill/>
          <a:ln/>
        </p:spPr>
        <p:txBody>
          <a:bodyPr wrap="square" lIns="0" tIns="-1587" rIns="0" bIns="1587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Resource: repos, setup, repo/{name}/context, clusters, cluster/{name}, processes, process/{name}, schema, group/{name}/contracts, group/{name}/status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 spc="-5" kern="0">
                <a:solidFill>
                  <a:srgbClr val="7FA3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Prompt: detect_impact, generate_map</a:t>
            </a:r>
            <a:endParaRPr lang="en-US" sz="825" dirty="0"/>
          </a:p>
        </p:txBody>
      </p:sp>
      <p:sp>
        <p:nvSpPr>
          <p:cNvPr id="32" name="Connector line-1792884432466-665107483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57200" y="10306050"/>
            <a:ext cx="533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docs/mcp-reference.md;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gitnexus/src/mcp/tools.ts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endParaRPr lang="en-US" sz="825" dirty="0"/>
          </a:p>
        </p:txBody>
      </p:sp>
      <p:sp>
        <p:nvSpPr>
          <p:cNvPr id="35" name="Connector line-1792886956766-576669392"/>
          <p:cNvSpPr/>
          <p:nvPr/>
        </p:nvSpPr>
        <p:spPr>
          <a:xfrm>
            <a:off x="628650" y="4076700"/>
            <a:ext cx="2914650" cy="0"/>
          </a:xfrm>
          <a:prstGeom prst="line">
            <a:avLst/>
          </a:prstGeom>
          <a:noFill/>
          <a:ln w="9525">
            <a:solidFill>
              <a:srgbClr val="9FC4BD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28650" y="4171950"/>
            <a:ext cx="2914650" cy="495300"/>
          </a:xfrm>
          <a:prstGeom prst="rect">
            <a:avLst/>
          </a:prstGeom>
          <a:noFill/>
          <a:ln/>
        </p:spPr>
        <p:txBody>
          <a:bodyPr wrap="square" lIns="0" tIns="532" rIns="0" bIns="-532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825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825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825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825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825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branch</a:t>
            </a:r>
            <a:r>
              <a:rPr lang="en-US" sz="825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chỉ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825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825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825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--branch</a:t>
            </a:r>
            <a:r>
              <a:rPr lang="en-US" sz="825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(trừ</a:t>
            </a:r>
            <a:r>
              <a:rPr lang="en-US" sz="825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read_file</a:t>
            </a:r>
            <a:r>
              <a:rPr lang="en-US" sz="825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grep,</a:t>
            </a:r>
            <a:r>
              <a:rPr lang="en-US" sz="825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vốn</a:t>
            </a:r>
            <a:r>
              <a:rPr lang="en-US" sz="825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825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825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checkout).</a:t>
            </a:r>
            <a:endParaRPr lang="en-US" sz="825" dirty="0"/>
          </a:p>
        </p:txBody>
      </p:sp>
      <p:sp>
        <p:nvSpPr>
          <p:cNvPr id="37" name="Connector line-1792886956770-249315565"/>
          <p:cNvSpPr/>
          <p:nvPr/>
        </p:nvSpPr>
        <p:spPr>
          <a:xfrm>
            <a:off x="4029075" y="4324350"/>
            <a:ext cx="2914650" cy="0"/>
          </a:xfrm>
          <a:prstGeom prst="line">
            <a:avLst/>
          </a:prstGeom>
          <a:noFill/>
          <a:ln w="9525">
            <a:solidFill>
              <a:srgbClr val="C9BFAA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4029075" y="4381500"/>
            <a:ext cx="2914650" cy="304800"/>
          </a:xfrm>
          <a:prstGeom prst="rect">
            <a:avLst/>
          </a:prstGeom>
          <a:noFill/>
          <a:ln/>
        </p:spPr>
        <p:txBody>
          <a:bodyPr wrap="square" lIns="0" tIns="532" rIns="0" bIns="-532" rtlCol="0" anchor="t"/>
          <a:lstStyle/>
          <a:p>
            <a:pPr algn="l" indent="0" marL="0">
              <a:lnSpc>
                <a:spcPts val="1196"/>
              </a:lnSpc>
              <a:buNone/>
            </a:pPr>
            <a:r>
              <a:rPr lang="en-US" sz="825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825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825" dirty="0" spc="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825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825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rename</a:t>
            </a:r>
            <a:r>
              <a:rPr lang="en-US" sz="825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825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825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825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5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825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825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825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5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825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825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825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825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825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762d0e2-9fcf-4c13-ade8-364d13be79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/ 14</a:t>
            </a:r>
            <a:endParaRPr lang="en-US" sz="825" dirty="0"/>
          </a:p>
        </p:txBody>
      </p:sp>
      <p:sp>
        <p:nvSpPr>
          <p:cNvPr id="4" name="Connector line-1792884505992-911260399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476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09 · PHÂN TÍCH SÂU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3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Luồng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</a:t>
            </a:r>
            <a:r>
              <a:rPr lang="en-US" sz="2550" b="1" spc="-3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</a:t>
            </a:r>
            <a:r>
              <a:rPr lang="en-US" sz="2550" b="1" spc="-6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2550" b="1" spc="-44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repo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050" dirty="0" spc="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105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gọi: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CFG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PDG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050" dirty="0" spc="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vết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taint,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05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050" dirty="0" spc="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hợp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 Cả hai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tuỳ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0030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r>
              <a:rPr lang="en-US" sz="1350" b="1" dirty="0" spc="-7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CFG</a:t>
            </a:r>
            <a:r>
              <a:rPr lang="en-US" sz="1350" b="1" dirty="0" spc="-17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PDG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(tuỳ</a:t>
            </a:r>
            <a:r>
              <a:rPr lang="en-US" sz="1350" b="1" dirty="0" spc="-1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chọn)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724150"/>
            <a:ext cx="6648450" cy="457200"/>
          </a:xfrm>
          <a:prstGeom prst="roundRect">
            <a:avLst>
              <a:gd name="adj" fmla="val 16667"/>
            </a:avLst>
          </a:prstGeom>
          <a:solidFill>
            <a:srgbClr val="EAE3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241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0E5C5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241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M1 CFG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885950" y="2771775"/>
            <a:ext cx="510540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BasicBlock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CFG;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(seq,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cond-true,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loop-back...)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cột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reason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bảng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CodeRelation.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57550"/>
            <a:ext cx="6648450" cy="45720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575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1F7A7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575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M2 REACHING_DEF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885950" y="3305175"/>
            <a:ext cx="510540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dữ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90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reason.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90950"/>
            <a:ext cx="6648450" cy="457200"/>
          </a:xfrm>
          <a:prstGeom prst="roundRect">
            <a:avLst>
              <a:gd name="adj" fmla="val 16667"/>
            </a:avLst>
          </a:prstGeom>
          <a:solidFill>
            <a:srgbClr val="EAE3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909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B63A1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09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M3-4 TAINT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885950" y="3838575"/>
            <a:ext cx="510540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TAINTED,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SANITIZES,</a:t>
            </a:r>
            <a:r>
              <a:rPr lang="en-US" sz="900" dirty="0" spc="-2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TAINT_PATH: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hàm,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đích.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324350"/>
            <a:ext cx="6648450" cy="457200"/>
          </a:xfrm>
          <a:prstGeom prst="roundRect">
            <a:avLst>
              <a:gd name="adj" fmla="val 16667"/>
            </a:avLst>
          </a:prstGeom>
          <a:solidFill>
            <a:srgbClr val="F4EFE6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243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1F7A7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243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3EEE4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M5 CDG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885950" y="4371975"/>
            <a:ext cx="510540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90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900" dirty="0" spc="-1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Ferrante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90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trội;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reason.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857750"/>
            <a:ext cx="6648450" cy="457200"/>
          </a:xfrm>
          <a:prstGeom prst="roundRect">
            <a:avLst>
              <a:gd name="adj" fmla="val 16667"/>
            </a:avLst>
          </a:prstGeom>
          <a:solidFill>
            <a:srgbClr val="EAE3D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857750"/>
            <a:ext cx="1295400" cy="457200"/>
          </a:xfrm>
          <a:prstGeom prst="roundRect">
            <a:avLst>
              <a:gd name="adj" fmla="val 16667"/>
            </a:avLst>
          </a:prstGeom>
          <a:solidFill>
            <a:srgbClr val="0E1A1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577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F0A93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M6 ĐỌC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885950" y="4905375"/>
            <a:ext cx="510540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pdg_query</a:t>
            </a:r>
            <a:r>
              <a:rPr lang="en-US" sz="900" dirty="0" spc="-1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90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(controls)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biến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(flows);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taint.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neo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LIMIT.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5429250"/>
            <a:ext cx="6648450" cy="4953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tắt,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trần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cạnh.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Provider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 không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900" dirty="0" spc="-1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VALID_RELATION_TYPES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Nhóm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repo</a:t>
            </a:r>
            <a:r>
              <a:rPr lang="en-US" sz="1350" b="1" dirty="0" spc="-17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350" b="1" dirty="0" spc="-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hợp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1350" b="1" dirty="0" spc="-8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giữa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dịch</a:t>
            </a: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vụ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57200" y="6534150"/>
            <a:ext cx="1866900" cy="609600"/>
          </a:xfrm>
          <a:prstGeom prst="roundRect">
            <a:avLst>
              <a:gd name="adj" fmla="val 1562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0550" y="66484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Repo</a:t>
            </a:r>
            <a:r>
              <a:rPr lang="en-US" sz="1050" b="1" dirty="0" spc="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consumer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0550" y="6858000"/>
            <a:ext cx="1600200" cy="2476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 HTTP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khác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2847975" y="6534150"/>
            <a:ext cx="1866900" cy="609600"/>
          </a:xfrm>
          <a:prstGeom prst="roundRect">
            <a:avLst>
              <a:gd name="adj" fmla="val 15625"/>
            </a:avLst>
          </a:prstGeom>
          <a:solidFill>
            <a:srgbClr val="0E1A19"/>
          </a:solidFill>
          <a:ln/>
        </p:spPr>
      </p:sp>
      <p:sp>
        <p:nvSpPr>
          <p:cNvPr id="35" name="Text 33"/>
          <p:cNvSpPr/>
          <p:nvPr/>
        </p:nvSpPr>
        <p:spPr>
          <a:xfrm>
            <a:off x="2981325" y="66484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2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Contract Registry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81325" y="6858000"/>
            <a:ext cx="1600200" cy="2476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contracts.json</a:t>
            </a:r>
            <a:r>
              <a:rPr lang="en-US" sz="825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bridge</a:t>
            </a:r>
            <a:r>
              <a:rPr lang="en-US" sz="825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5238750" y="6534150"/>
            <a:ext cx="1866900" cy="609600"/>
          </a:xfrm>
          <a:prstGeom prst="roundRect">
            <a:avLst>
              <a:gd name="adj" fmla="val 1562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2100" y="66484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Repo</a:t>
            </a:r>
            <a:r>
              <a:rPr lang="en-US" sz="1050" b="1" dirty="0" spc="-5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provider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72100" y="6858000"/>
            <a:ext cx="1600200" cy="24765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825" dirty="0" spc="-7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825" dirty="0" spc="1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825" dirty="0"/>
          </a:p>
        </p:txBody>
      </p:sp>
      <p:sp>
        <p:nvSpPr>
          <p:cNvPr id="40" name="Connector line-1792884506046-27113051"/>
          <p:cNvSpPr/>
          <p:nvPr/>
        </p:nvSpPr>
        <p:spPr>
          <a:xfrm>
            <a:off x="2324100" y="6838950"/>
            <a:ext cx="523875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41" name="Connector line-1792884506047-406219636"/>
          <p:cNvSpPr/>
          <p:nvPr/>
        </p:nvSpPr>
        <p:spPr>
          <a:xfrm>
            <a:off x="4714875" y="6838950"/>
            <a:ext cx="523875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7200" y="7239000"/>
            <a:ext cx="6648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 spc="-5" kern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ContractLink: HTTP consumer đến provider, nối theo Contract.symbolUid</a:t>
            </a:r>
            <a:endParaRPr lang="en-US" sz="825" dirty="0"/>
          </a:p>
        </p:txBody>
      </p:sp>
      <p:sp>
        <p:nvSpPr>
          <p:cNvPr id="43" name="Text richtext-1792884506050-412473662"/>
          <p:cNvSpPr/>
          <p:nvPr/>
        </p:nvSpPr>
        <p:spPr>
          <a:xfrm>
            <a:off x="457200" y="7581900"/>
            <a:ext cx="6648450" cy="2286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900" b="1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@tên-nhóm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(hoặc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@nhóm/thư-mục-member).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900" dirty="0" spc="-1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RRF.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 tác</a:t>
            </a: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biên bằng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Contract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Bridge.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trace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900" dirty="0" spc="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(hop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CONTRACT_LINK),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900" b="1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b="1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(thử</a:t>
            </a: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nghiệm):</a:t>
            </a:r>
            <a:pPr algn="l" marL="228600" indent="-2286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pdg: true,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900" dirty="0" spc="-1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kề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REACHING_DEF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thủ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tục; dữ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b="1" dirty="0" spc="-1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900" b="1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thái: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900" dirty="0" spc="-1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resource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gitnexus://group/{name}/contracts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/status.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group_query,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group_context,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group_impact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900" dirty="0"/>
          </a:p>
        </p:txBody>
      </p:sp>
      <p:sp>
        <p:nvSpPr>
          <p:cNvPr id="44" name="Connector line-1792884506064-151624872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457200" y="10306050"/>
            <a:ext cx="6096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ARCHITECTURE.md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(Optional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CFG/PDG;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tools);</a:t>
            </a:r>
            <a:r>
              <a:rPr lang="en-US" sz="825" dirty="0" spc="-8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core/group/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cf84a59c-311c-4616-a36b-b4613b7dd7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 / 14</a:t>
            </a:r>
            <a:endParaRPr lang="en-US" sz="825" dirty="0"/>
          </a:p>
        </p:txBody>
      </p:sp>
      <p:sp>
        <p:nvSpPr>
          <p:cNvPr id="4" name="Connector line-1792884570738-700283826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10 · WEB UI, TRIỂN KHAI, BẢO MẬT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7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Web</a:t>
            </a:r>
            <a:r>
              <a:rPr lang="en-US" sz="2550" b="1" spc="-4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UI,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triển khai</a:t>
            </a:r>
            <a:r>
              <a:rPr lang="en-US" sz="2550" b="1" spc="-64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bảo mật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mỏng: mọi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050" dirty="0" spc="1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HTTP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(cổng</a:t>
            </a:r>
            <a:r>
              <a:rPr lang="en-US" sz="1050" dirty="0" spc="-2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4747).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050" dirty="0" spc="-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050" dirty="0" spc="-1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812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Ngăn</a:t>
            </a:r>
            <a:r>
              <a:rPr lang="en-US" sz="1350" b="1" dirty="0" spc="-1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xếp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1350" b="1" dirty="0" spc="-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web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 diện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19250" y="2743200"/>
            <a:ext cx="548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React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Vite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8,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Tailwind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i18next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(đa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1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9908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19250" y="2990850"/>
            <a:ext cx="548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Sigma.js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WebGL,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graphology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(layout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ForceAtlas2),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385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900" dirty="0" spc="-2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900" dirty="0" spc="-3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19250" y="3238500"/>
            <a:ext cx="548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LangChain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Anthropic,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OpenAI,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GenAI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Ollama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4861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Hiển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19250" y="3486150"/>
            <a:ext cx="548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Mermaid,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react-markdown,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syntax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highlighter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338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1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900" dirty="0" spc="0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19250" y="3733800"/>
            <a:ext cx="548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Vitest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vị, Playwright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e2e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(23.866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TSX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src)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957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 triển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khai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419600"/>
            <a:ext cx="2114550" cy="1695450"/>
          </a:xfrm>
          <a:prstGeom prst="roundRect">
            <a:avLst>
              <a:gd name="adj" fmla="val 5618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600" y="45529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CỤC BỘ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9600" y="47434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4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gitnexus</a:t>
            </a:r>
            <a:r>
              <a:rPr lang="en-US" sz="1125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serve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609600" y="5010150"/>
            <a:ext cx="1809750" cy="10668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gitnexus.vercel.app.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dùng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lại.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24150" y="4419600"/>
            <a:ext cx="2114550" cy="1695450"/>
          </a:xfrm>
          <a:prstGeom prst="roundRect">
            <a:avLst>
              <a:gd name="adj" fmla="val 5618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76550" y="45529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DOCKER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876550" y="47434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-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docker</a:t>
            </a:r>
            <a:r>
              <a:rPr lang="en-US" sz="1125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compose</a:t>
            </a: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up</a:t>
            </a:r>
            <a:r>
              <a:rPr lang="en-US" sz="1125" b="1" dirty="0" spc="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-d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2876550" y="5010150"/>
            <a:ext cx="1809750" cy="10668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900" dirty="0" spc="-2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4747,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4173.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 ký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Cosign,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GHCR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Hub.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91100" y="4419600"/>
            <a:ext cx="2114550" cy="1695450"/>
          </a:xfrm>
          <a:prstGeom prst="roundRect">
            <a:avLst>
              <a:gd name="adj" fmla="val 5618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43500" y="4552950"/>
            <a:ext cx="1809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RENDER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43500" y="474345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Blueprint</a:t>
            </a:r>
            <a:r>
              <a:rPr lang="en-US" sz="1125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hai</a:t>
            </a:r>
            <a:r>
              <a:rPr lang="en-US" sz="1125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dịch</a:t>
            </a:r>
            <a:r>
              <a:rPr lang="en-US" sz="1125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vụ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143500" y="5010150"/>
            <a:ext cx="1809750" cy="10668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/api/*.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tháng.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6343650"/>
            <a:ext cx="6648450" cy="3562350"/>
          </a:xfrm>
          <a:prstGeom prst="roundRect">
            <a:avLst>
              <a:gd name="adj" fmla="val 3743"/>
            </a:avLst>
          </a:prstGeom>
          <a:solidFill>
            <a:srgbClr val="0E1A19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65151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Ranh</a:t>
            </a:r>
            <a:r>
              <a:rPr lang="en-US" sz="1500" b="1" dirty="0" spc="-7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15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bảo mật</a:t>
            </a:r>
            <a:r>
              <a:rPr lang="en-US" sz="15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1500" b="1" dirty="0" spc="3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nhớ</a:t>
            </a:r>
            <a:endParaRPr lang="en-US" sz="1500" dirty="0"/>
          </a:p>
        </p:txBody>
      </p:sp>
      <p:sp>
        <p:nvSpPr>
          <p:cNvPr id="34" name="Text richtext-1792884570785-994291996"/>
          <p:cNvSpPr/>
          <p:nvPr/>
        </p:nvSpPr>
        <p:spPr>
          <a:xfrm>
            <a:off x="685800" y="6896100"/>
            <a:ext cx="6191250" cy="29146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</a:t>
            </a:r>
            <a:r>
              <a:rPr lang="en-US" sz="900" b="1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900" b="1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b="1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 khởi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GITNEXUS_PUBLIC_ORIGIN;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phải</a:t>
            </a:r>
            <a:r>
              <a:rPr lang="en-US" sz="900" dirty="0" spc="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1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900" b="1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Render,</a:t>
            </a:r>
            <a:r>
              <a:rPr lang="en-US" sz="900" b="1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900" b="1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b="1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900" b="1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900" b="1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900" b="1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xoá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Origin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chống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CSRF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dụng; ai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được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/api/mcp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Bearer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GITNEXUS_MCP_AUTH_TOKEN;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đặt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/api/grep chạy</a:t>
            </a:r>
            <a:r>
              <a:rPr lang="en-US" sz="900" b="1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regex</a:t>
            </a:r>
            <a:r>
              <a:rPr lang="en-US" sz="900" b="1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900" dirty="0" spc="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900" dirty="0" spc="-1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sách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worker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terminate.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900" b="1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900" b="1" dirty="0" spc="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ứng: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image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tag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vX.Y.Z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phiên bản npm,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Cosign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keyless</a:t>
            </a:r>
            <a:r>
              <a:rPr lang="en-US" sz="900" dirty="0" spc="-1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provenance và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SBOM.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b="1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900" b="1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900" b="1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900" b="1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900" b="1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LLM; embeddings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xa,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dùng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cung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900" dirty="0"/>
          </a:p>
        </p:txBody>
      </p:sp>
      <p:sp>
        <p:nvSpPr>
          <p:cNvPr id="35" name="Connector line-1792884570801-119781000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457200" y="10306050"/>
            <a:ext cx="6096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docs/deployment.md;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SECURITY.md;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gitnexus-web/package.json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-1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b35d300-02ca-4f2c-83c6-de2a6dd63f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/ 14</a:t>
            </a:r>
            <a:endParaRPr lang="en-US" sz="825" dirty="0"/>
          </a:p>
        </p:txBody>
      </p:sp>
      <p:sp>
        <p:nvSpPr>
          <p:cNvPr id="4" name="Connector line-1792885713386-444023891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11 · TÍCH HỢP AGENT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Cắm</a:t>
            </a:r>
            <a:r>
              <a:rPr lang="en-US" sz="2550" b="1" spc="-5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vào</a:t>
            </a:r>
            <a:r>
              <a:rPr lang="en-US" sz="2550" b="1" spc="-72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editor,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dạy</a:t>
            </a:r>
            <a:r>
              <a:rPr lang="en-US" sz="2550" b="1" spc="-50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agent</a:t>
            </a: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 việc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64770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analyze không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mục: nó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skill,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hook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CLAUDE.md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05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mà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ai nhắc.</a:t>
            </a:r>
            <a:r>
              <a:rPr lang="en-US" sz="105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setup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050" dirty="0" spc="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editor.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3812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1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Mức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hỗ</a:t>
            </a:r>
            <a:r>
              <a:rPr lang="en-US" sz="1350" b="1" dirty="0" spc="-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editor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05100"/>
          <a:ext cx="5672138" cy="914400"/>
        </p:xfrm>
        <a:graphic>
          <a:graphicData uri="http://schemas.openxmlformats.org/drawingml/2006/table">
            <a:tbl>
              <a:tblPr/>
              <a:tblGrid>
                <a:gridCol w="2038350"/>
                <a:gridCol w="952500"/>
                <a:gridCol w="666750"/>
                <a:gridCol w="1809750"/>
                <a:gridCol w="1181100"/>
              </a:tblGrid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-2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Editor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Skill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-2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Hook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 spc="8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Mức</a:t>
                      </a:r>
                      <a:r>
                        <a:rPr lang="en-US" sz="900" b="1" dirty="0" spc="-3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hỗ</a:t>
                      </a:r>
                      <a:r>
                        <a:rPr lang="en-US" sz="900" b="1" dirty="0" spc="-7" kern="0">
                          <a:solidFill>
                            <a:srgbClr val="F3EEE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01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Claude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PreToolUse,</a:t>
                      </a:r>
                      <a:r>
                        <a:rPr lang="en-US" sz="900" dirty="0" spc="-1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PostToolUse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Cursor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postToolUse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(cài</a:t>
                      </a:r>
                      <a:r>
                        <a:rPr lang="en-US" sz="900" dirty="0" spc="-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tay)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Antigravity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(Google)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9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AfterTool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Codex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8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PreToolUse,</a:t>
                      </a:r>
                      <a:r>
                        <a:rPr lang="en-US" sz="900" dirty="0" spc="-1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PostToolUse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9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Factory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(Droid)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PostToolUse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(plugin)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6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OpenCode,</a:t>
                      </a: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CodeBuddy,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Qoder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r>
                        <a:rPr lang="en-US" sz="900" dirty="0" spc="-5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skill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4EFE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Windsurf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2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Có,</a:t>
                      </a:r>
                      <a:r>
                        <a:rPr lang="en-US" sz="900" dirty="0" spc="-3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thủ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dirty="0" spc="-1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900" dirty="0" spc="0" kern="0">
                          <a:solidFill>
                            <a:srgbClr val="2A3836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MCP</a:t>
                      </a:r>
                      <a:endParaRPr lang="en-US" sz="1200" dirty="0"/>
                    </a:p>
                  </a:txBody>
                  <a:tcPr marL="76200" marR="76200" marT="76200" marB="53340">
                    <a:lnL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AE3D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50101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Hook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13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Claude Code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làm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5334000"/>
            <a:ext cx="1885950" cy="552450"/>
          </a:xfrm>
          <a:prstGeom prst="roundRect">
            <a:avLst>
              <a:gd name="adj" fmla="val 17241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550" y="5410200"/>
            <a:ext cx="1619250" cy="40005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-10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Agent</a:t>
            </a:r>
            <a:r>
              <a:rPr lang="en-US" sz="900" dirty="0" spc="-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6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Grep,</a:t>
            </a:r>
            <a:r>
              <a:rPr lang="en-US" sz="900" dirty="0" spc="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Glob</a:t>
            </a:r>
            <a:r>
              <a:rPr lang="en-US" sz="900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3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Bash</a:t>
            </a:r>
            <a:r>
              <a:rPr lang="en-US" sz="900" dirty="0" spc="2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1" kern="0">
                <a:solidFill>
                  <a:srgbClr val="14201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code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38450" y="5334000"/>
            <a:ext cx="1885950" cy="552450"/>
          </a:xfrm>
          <a:prstGeom prst="roundRect">
            <a:avLst>
              <a:gd name="adj" fmla="val 17241"/>
            </a:avLst>
          </a:prstGeom>
          <a:solidFill>
            <a:srgbClr val="0E5C58"/>
          </a:solidFill>
          <a:ln/>
        </p:spPr>
      </p:sp>
      <p:sp>
        <p:nvSpPr>
          <p:cNvPr id="14" name="Text 11"/>
          <p:cNvSpPr/>
          <p:nvPr/>
        </p:nvSpPr>
        <p:spPr>
          <a:xfrm>
            <a:off x="2971800" y="5410200"/>
            <a:ext cx="1619250" cy="40005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</a:t>
            </a:r>
            <a:r>
              <a:rPr lang="en-US" sz="900" dirty="0" spc="-18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PreToolUse</a:t>
            </a:r>
            <a:r>
              <a:rPr lang="en-US" sz="900" dirty="0" spc="0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9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</a:t>
            </a:r>
            <a:r>
              <a:rPr lang="en-US" sz="9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900" dirty="0" spc="-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900" dirty="0" spc="-1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3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F3EEE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19700" y="5334000"/>
            <a:ext cx="1885950" cy="552450"/>
          </a:xfrm>
          <a:prstGeom prst="roundRect">
            <a:avLst>
              <a:gd name="adj" fmla="val 17241"/>
            </a:avLst>
          </a:prstGeom>
          <a:solidFill>
            <a:srgbClr val="0E1A19"/>
          </a:solidFill>
          <a:ln/>
        </p:spPr>
      </p:sp>
      <p:sp>
        <p:nvSpPr>
          <p:cNvPr id="16" name="Text 13"/>
          <p:cNvSpPr/>
          <p:nvPr/>
        </p:nvSpPr>
        <p:spPr>
          <a:xfrm>
            <a:off x="5353050" y="5410200"/>
            <a:ext cx="1619250" cy="400050"/>
          </a:xfrm>
          <a:prstGeom prst="rect">
            <a:avLst/>
          </a:prstGeom>
          <a:noFill/>
          <a:ln/>
        </p:spPr>
        <p:txBody>
          <a:bodyPr wrap="square" lIns="0" tIns="2000" rIns="0" bIns="-200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 spc="-2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-1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thực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900" dirty="0"/>
          </a:p>
        </p:txBody>
      </p:sp>
      <p:sp>
        <p:nvSpPr>
          <p:cNvPr id="17" name="Connector line-1792885713418-298140306"/>
          <p:cNvSpPr/>
          <p:nvPr/>
        </p:nvSpPr>
        <p:spPr>
          <a:xfrm>
            <a:off x="2343150" y="5610225"/>
            <a:ext cx="495300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885713418-616776881"/>
          <p:cNvSpPr/>
          <p:nvPr/>
        </p:nvSpPr>
        <p:spPr>
          <a:xfrm>
            <a:off x="4724400" y="5610225"/>
            <a:ext cx="495300" cy="0"/>
          </a:xfrm>
          <a:prstGeom prst="line">
            <a:avLst/>
          </a:prstGeom>
          <a:noFill/>
          <a:ln w="14288">
            <a:solidFill>
              <a:srgbClr val="14201E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457200" y="6000750"/>
            <a:ext cx="6648450" cy="381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Hook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PostToolUse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Bash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chỉ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Cursor,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Antigravity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Factory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</a:t>
            </a:r>
            <a:r>
              <a:rPr lang="en-US" sz="900" dirty="0" spc="-1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6629400"/>
            <a:ext cx="3248025" cy="3276600"/>
          </a:xfrm>
          <a:prstGeom prst="roundRect">
            <a:avLst>
              <a:gd name="adj" fmla="val 3519"/>
            </a:avLst>
          </a:prstGeom>
          <a:solidFill>
            <a:srgbClr val="D6E8E4"/>
          </a:solidFill>
          <a:ln/>
        </p:spPr>
      </p:sp>
      <p:sp>
        <p:nvSpPr>
          <p:cNvPr id="21" name="Text 18"/>
          <p:cNvSpPr/>
          <p:nvPr/>
        </p:nvSpPr>
        <p:spPr>
          <a:xfrm>
            <a:off x="647700" y="67818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</a:t>
            </a:r>
            <a:r>
              <a:rPr lang="en-US" sz="1200" b="1" dirty="0" spc="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skill</a:t>
            </a:r>
            <a:r>
              <a:rPr lang="en-US" sz="1200" b="1" dirty="0" spc="6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</a:t>
            </a:r>
            <a:r>
              <a:rPr lang="en-US" sz="1200" b="1" dirty="0" spc="-9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kèm</a:t>
            </a:r>
            <a:r>
              <a:rPr lang="en-US" sz="1200" b="1" dirty="0" spc="-8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gói</a:t>
            </a:r>
            <a:r>
              <a:rPr lang="en-US" sz="1200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npm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7700" y="71247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CHUẨN · 8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47700" y="7334250"/>
            <a:ext cx="2857500" cy="14478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gitnexus-guide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gitnexus-cli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gitnexus-exploring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gitnexus-debugging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gitnexus-impact-analysis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gitnexus-refactoring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gitnexus-pdg-query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gitnexus-taint-analysis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47700" y="893445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QUY TRÌNH · 4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647700" y="9144000"/>
            <a:ext cx="2857500" cy="685800"/>
          </a:xfrm>
          <a:prstGeom prst="rect">
            <a:avLst/>
          </a:prstGeom>
          <a:noFill/>
          <a:ln/>
        </p:spPr>
        <p:txBody>
          <a:bodyPr wrap="square" lIns="0" tIns="-4191" rIns="0" bIns="4191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gitnexus-plan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gitnexus-work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gitnexus-review</a:t>
            </a:r>
            <a:endParaRPr lang="en-US" sz="825" dirty="0"/>
          </a:p>
          <a:p>
            <a:pPr algn="l" indent="0" marL="0">
              <a:lnSpc>
                <a:spcPts val="1320"/>
              </a:lnSpc>
              <a:buNone/>
            </a:pPr>
            <a:r>
              <a:rPr lang="en-US" sz="825" dirty="0" spc="-5" kern="0">
                <a:solidFill>
                  <a:srgbClr val="2A383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gitnexus-lfg (plan, work, review)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3857625" y="6629400"/>
            <a:ext cx="3248025" cy="3276600"/>
          </a:xfrm>
          <a:prstGeom prst="roundRect">
            <a:avLst>
              <a:gd name="adj" fmla="val 3519"/>
            </a:avLst>
          </a:prstGeom>
          <a:solidFill>
            <a:srgbClr val="EAE3D4"/>
          </a:solidFill>
          <a:ln/>
        </p:spPr>
      </p:sp>
      <p:sp>
        <p:nvSpPr>
          <p:cNvPr id="27" name="Text 24"/>
          <p:cNvSpPr/>
          <p:nvPr/>
        </p:nvSpPr>
        <p:spPr>
          <a:xfrm>
            <a:off x="4048125" y="67818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-19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1200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 chứng</a:t>
            </a:r>
            <a:r>
              <a:rPr lang="en-US" sz="1200" b="1" dirty="0" spc="-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1200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repo</a:t>
            </a:r>
            <a:endParaRPr lang="en-US" sz="1200" dirty="0"/>
          </a:p>
        </p:txBody>
      </p:sp>
      <p:sp>
        <p:nvSpPr>
          <p:cNvPr id="28" name="Text richtext-1792885713433-160303035"/>
          <p:cNvSpPr/>
          <p:nvPr/>
        </p:nvSpPr>
        <p:spPr>
          <a:xfrm>
            <a:off x="4048125" y="7124700"/>
            <a:ext cx="2895600" cy="27051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eval/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SWE-bench ở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độ: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baseline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(grep,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find,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cat),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(thêm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 GitNexus)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native_augment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(thêm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giàu</a:t>
            </a:r>
            <a:r>
              <a:rPr lang="en-US" sz="900" dirty="0" spc="-1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grep,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nghị).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pr-swarm-review/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persona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1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PR,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(swarm)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(solo)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 AI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b="1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eval/workflow_bench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work,</a:t>
            </a:r>
            <a:r>
              <a:rPr lang="en-US" sz="900" dirty="0" spc="-9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900" dirty="0"/>
          </a:p>
        </p:txBody>
      </p:sp>
      <p:sp>
        <p:nvSpPr>
          <p:cNvPr id="29" name="Connector line-1792885713447-280357967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/>
          <p:nvPr/>
        </p:nvSpPr>
        <p:spPr>
          <a:xfrm>
            <a:off x="457200" y="10306050"/>
            <a:ext cx="6096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gitnexus/README.md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(Editor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Support);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AGENTS.md;</a:t>
            </a:r>
            <a:r>
              <a:rPr lang="en-US" sz="825" dirty="0" spc="-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eval/README.md; gitnexus/skills/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 hợp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c28f5c0-688f-4747-b897-d1b52f292d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 / 14</a:t>
            </a:r>
            <a:endParaRPr lang="en-US" sz="825" dirty="0"/>
          </a:p>
        </p:txBody>
      </p:sp>
      <p:sp>
        <p:nvSpPr>
          <p:cNvPr id="4" name="Connector line-1792886321136-179463061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12 · QUY MÔ, CHẤT LƯỢNG, GIẤY PHÉP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Mã</a:t>
            </a:r>
            <a:r>
              <a:rPr lang="en-US" sz="2550" b="1" spc="-3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thử</a:t>
            </a:r>
            <a:r>
              <a:rPr lang="en-US" sz="2550" b="1" spc="-37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2550" b="1" spc="-51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hơn</a:t>
            </a:r>
            <a:r>
              <a:rPr lang="en-US" sz="2550" b="1" spc="-36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mã</a:t>
            </a:r>
            <a:r>
              <a:rPr lang="en-US" sz="2550" b="1" spc="-39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43815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105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d8a256a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(mọi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.ts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.tsx), trừ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ghi</a:t>
            </a:r>
            <a:r>
              <a:rPr lang="en-US" sz="1050" dirty="0" spc="-1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0980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Khối</a:t>
            </a:r>
            <a:r>
              <a:rPr lang="en-US" sz="1350" b="1" dirty="0" spc="-1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lượng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mã</a:t>
            </a:r>
            <a:r>
              <a:rPr lang="en-US" sz="1350" b="1" dirty="0" spc="-5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TypeScript</a:t>
            </a:r>
            <a:r>
              <a:rPr lang="en-US" sz="1350" b="1" dirty="0" spc="-1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(số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dòng)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6289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4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gitnexus/test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14550" y="2590800"/>
            <a:ext cx="4191000" cy="209550"/>
          </a:xfrm>
          <a:prstGeom prst="roundRect">
            <a:avLst>
              <a:gd name="adj" fmla="val 18182"/>
            </a:avLst>
          </a:prstGeom>
          <a:solidFill>
            <a:srgbClr val="0E5C5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28900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 spc="-5" kern="0">
                <a:solidFill>
                  <a:srgbClr val="0E5C5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501.873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57200" y="295275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5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gitnexus/src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14550" y="2914650"/>
            <a:ext cx="3067050" cy="209550"/>
          </a:xfrm>
          <a:prstGeom prst="roundRect">
            <a:avLst>
              <a:gd name="adj" fmla="val 18182"/>
            </a:avLst>
          </a:prstGeom>
          <a:solidFill>
            <a:srgbClr val="0E1A19"/>
          </a:solidFill>
          <a:ln/>
        </p:spPr>
      </p:sp>
      <p:sp>
        <p:nvSpPr>
          <p:cNvPr id="14" name="Text 12"/>
          <p:cNvSpPr/>
          <p:nvPr/>
        </p:nvSpPr>
        <p:spPr>
          <a:xfrm>
            <a:off x="5276850" y="2952750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 spc="-5" kern="0">
                <a:solidFill>
                  <a:srgbClr val="1420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366.610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57200" y="3276600"/>
            <a:ext cx="1619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-6" kern="0">
                <a:solidFill>
                  <a:srgbClr val="14201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gitnexus-web/src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14550" y="3238500"/>
            <a:ext cx="200025" cy="209550"/>
          </a:xfrm>
          <a:prstGeom prst="roundRect">
            <a:avLst>
              <a:gd name="adj" fmla="val 19048"/>
            </a:avLst>
          </a:prstGeom>
          <a:solidFill>
            <a:srgbClr val="F0A93A"/>
          </a:solidFill>
          <a:ln/>
        </p:spPr>
      </p:sp>
      <p:sp>
        <p:nvSpPr>
          <p:cNvPr id="17" name="Text 15"/>
          <p:cNvSpPr/>
          <p:nvPr/>
        </p:nvSpPr>
        <p:spPr>
          <a:xfrm>
            <a:off x="2409825" y="3276600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 spc="-5" kern="0">
                <a:solidFill>
                  <a:srgbClr val="1420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23.866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57200" y="3562350"/>
            <a:ext cx="6648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900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900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900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900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900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1,37</a:t>
            </a:r>
            <a:r>
              <a:rPr lang="en-US" sz="900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mã nguồn</a:t>
            </a:r>
            <a:r>
              <a:rPr lang="en-US" sz="900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900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900" dirty="0" spc="-9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(501.873</a:t>
            </a:r>
            <a:r>
              <a:rPr lang="en-US" sz="900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với</a:t>
            </a:r>
            <a:r>
              <a:rPr lang="en-US" sz="900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366.610</a:t>
            </a:r>
            <a:r>
              <a:rPr lang="en-US" sz="900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20" name="Text 18"/>
          <p:cNvSpPr/>
          <p:nvPr/>
        </p:nvSpPr>
        <p:spPr>
          <a:xfrm>
            <a:off x="609600" y="39624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905</a:t>
            </a:r>
            <a:r>
              <a:rPr lang="en-US" sz="195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+</a:t>
            </a:r>
            <a:r>
              <a:rPr lang="en-US" sz="1950" b="1" dirty="0" spc="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434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609600" y="43243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825" dirty="0" spc="-6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825" dirty="0" spc="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2724150" y="38862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23" name="Text 21"/>
          <p:cNvSpPr/>
          <p:nvPr/>
        </p:nvSpPr>
        <p:spPr>
          <a:xfrm>
            <a:off x="2876550" y="39624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876550" y="43243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workflow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991100" y="38862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26" name="Text 24"/>
          <p:cNvSpPr/>
          <p:nvPr/>
        </p:nvSpPr>
        <p:spPr>
          <a:xfrm>
            <a:off x="5143500" y="39624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9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1.071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5143500" y="43243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nguồn</a:t>
            </a:r>
            <a:r>
              <a:rPr lang="en-US" sz="825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gitnexus/src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57200" y="47244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29" name="Text 27"/>
          <p:cNvSpPr/>
          <p:nvPr/>
        </p:nvSpPr>
        <p:spPr>
          <a:xfrm>
            <a:off x="609600" y="48006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609600" y="51625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skill</a:t>
            </a:r>
            <a:r>
              <a:rPr lang="en-US" sz="825" dirty="0" spc="12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825" dirty="0" spc="-9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825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2724150" y="47244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32" name="Text 30"/>
          <p:cNvSpPr/>
          <p:nvPr/>
        </p:nvSpPr>
        <p:spPr>
          <a:xfrm>
            <a:off x="2876550" y="48006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2876550" y="51625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3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</a:t>
            </a:r>
            <a:r>
              <a:rPr lang="en-US" sz="825" dirty="0" spc="-9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825" dirty="0" spc="-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đọc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4991100" y="4724400"/>
            <a:ext cx="2114550" cy="723900"/>
          </a:xfrm>
          <a:prstGeom prst="roundRect">
            <a:avLst>
              <a:gd name="adj" fmla="val 13158"/>
            </a:avLst>
          </a:prstGeom>
          <a:solidFill>
            <a:srgbClr val="EAE3D4"/>
          </a:solidFill>
          <a:ln/>
        </p:spPr>
      </p:sp>
      <p:sp>
        <p:nvSpPr>
          <p:cNvPr id="35" name="Text 33"/>
          <p:cNvSpPr/>
          <p:nvPr/>
        </p:nvSpPr>
        <p:spPr>
          <a:xfrm>
            <a:off x="5143500" y="48006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27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~200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143500" y="5162550"/>
            <a:ext cx="1809750" cy="266700"/>
          </a:xfrm>
          <a:prstGeom prst="rect">
            <a:avLst/>
          </a:prstGeom>
          <a:noFill/>
          <a:ln/>
        </p:spPr>
        <p:txBody>
          <a:bodyPr wrap="square" lIns="0" tIns="3135" rIns="0" bIns="-3135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 spc="-8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test</a:t>
            </a:r>
            <a:r>
              <a:rPr lang="en-US" sz="825" dirty="0" spc="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825" dirty="0" spc="-4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825" dirty="0" spc="0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UI</a:t>
            </a:r>
            <a:r>
              <a:rPr lang="en-US" sz="825" dirty="0" spc="1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(theo</a:t>
            </a:r>
            <a:r>
              <a:rPr lang="en-US" sz="825" dirty="0" spc="-5" kern="0">
                <a:solidFill>
                  <a:srgbClr val="4A474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AGENTS.md)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57200" y="5657850"/>
            <a:ext cx="571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CI,</a:t>
            </a:r>
            <a:r>
              <a:rPr lang="en-US" sz="1350" b="1" dirty="0" spc="-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bảo</a:t>
            </a:r>
            <a:r>
              <a:rPr lang="en-US" sz="1350" b="1" dirty="0" spc="-3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mật</a:t>
            </a:r>
            <a:r>
              <a:rPr lang="en-US" sz="1350" b="1" dirty="0" spc="-16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350" b="1" dirty="0" spc="-2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phát hành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457200" y="6000750"/>
            <a:ext cx="3181350" cy="10287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ci-tests,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ci-quality, ci-e2e,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ci-report.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Pre-commit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prettier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typecheck;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900" b="1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codeql,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gitleaks,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trivy,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scorecard,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dependency-review,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workflow-lint.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24300" y="6000750"/>
            <a:ext cx="3181350" cy="10287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900" b="1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publish,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docker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(chỉ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phiên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npm),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release-evaluation.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b="1" dirty="0" spc="-2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900" b="1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hoá: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pr-autofix,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pr-labeler,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triage-sweep,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skill-sync,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gitnexus-review-agent,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claude.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7162800"/>
            <a:ext cx="6648450" cy="1809750"/>
          </a:xfrm>
          <a:prstGeom prst="roundRect">
            <a:avLst>
              <a:gd name="adj" fmla="val 7368"/>
            </a:avLst>
          </a:prstGeom>
          <a:solidFill>
            <a:srgbClr val="0E5C58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73152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Giấy</a:t>
            </a:r>
            <a:r>
              <a:rPr lang="en-US" sz="1500" b="1" dirty="0" spc="1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</a:t>
            </a:r>
            <a:r>
              <a:rPr lang="en-US" sz="1500" b="1" dirty="0" spc="-18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5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1500" b="1" dirty="0" spc="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1500" b="1" dirty="0" spc="-10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thương</a:t>
            </a:r>
            <a:r>
              <a:rPr lang="en-US" sz="1500" b="1" dirty="0" spc="-2" ker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mại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85800" y="7677150"/>
            <a:ext cx="2895600" cy="12192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-10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PolyForm</a:t>
            </a:r>
            <a:r>
              <a:rPr lang="en-US" sz="900" b="1" dirty="0" spc="-3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Noncommercial</a:t>
            </a:r>
            <a:r>
              <a:rPr lang="en-US" sz="900" b="1" dirty="0" spc="2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1.0.0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 spc="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Dành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</a:t>
            </a:r>
            <a:r>
              <a:rPr lang="en-US" sz="900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r>
              <a:rPr lang="en-US" sz="900" dirty="0" spc="-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(xem</a:t>
            </a:r>
            <a:r>
              <a:rPr lang="en-US" sz="900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900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LICENSE).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mại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900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akonlabs.com.</a:t>
            </a:r>
            <a:r>
              <a:rPr lang="en-US" sz="900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000500" y="7677150"/>
            <a:ext cx="2895600" cy="12192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900" b="1" dirty="0" spc="0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Enterprise (SaaS</a:t>
            </a:r>
            <a:r>
              <a:rPr lang="en-US" sz="900" b="1" dirty="0" spc="-1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b="1" dirty="0" spc="-3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b="1" dirty="0" spc="10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900" b="1" dirty="0" spc="16" kern="0">
                <a:solidFill>
                  <a:srgbClr val="F0A9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 spc="-1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</a:t>
            </a:r>
            <a:r>
              <a:rPr lang="en-US" sz="900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blast</a:t>
            </a:r>
            <a:r>
              <a:rPr lang="en-US" sz="900" dirty="0" spc="-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radius,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</a:t>
            </a:r>
            <a:r>
              <a:rPr lang="en-US" sz="900" dirty="0" spc="-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900" dirty="0" spc="-4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nhật,</a:t>
            </a:r>
            <a:r>
              <a:rPr lang="en-US" sz="900" dirty="0" spc="-5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lại,</a:t>
            </a:r>
            <a:r>
              <a:rPr lang="en-US" sz="900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900" dirty="0" spc="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900" dirty="0" spc="-7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repo,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900" dirty="0" spc="-1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900" dirty="0" spc="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OCaml,</a:t>
            </a:r>
            <a:r>
              <a:rPr lang="en-US" sz="900" dirty="0" spc="8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 ngôn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900" dirty="0" spc="-6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r>
              <a:rPr lang="en-US" sz="900" dirty="0" spc="-1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 Wiki</a:t>
            </a:r>
            <a:r>
              <a:rPr lang="en-US" sz="900" dirty="0" spc="0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3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2" kern="0">
                <a:solidFill>
                  <a:srgbClr val="E3F0E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OSS.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9163050"/>
            <a:ext cx="6648450" cy="781050"/>
          </a:xfrm>
          <a:prstGeom prst="roundRect">
            <a:avLst>
              <a:gd name="adj" fmla="val 12195"/>
            </a:avLst>
          </a:prstGeom>
          <a:solidFill>
            <a:srgbClr val="FBF8F2"/>
          </a:solidFill>
          <a:ln w="9525">
            <a:solidFill>
              <a:srgbClr val="D9D1C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650" y="9258300"/>
            <a:ext cx="6305550" cy="6286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repo: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CHANGELOG.md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1.5.3</a:t>
            </a:r>
            <a:r>
              <a:rPr lang="en-US" sz="900" dirty="0" spc="-1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(1/4/2026)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1.6.12,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900" dirty="0" spc="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900" dirty="0" spc="-1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ARCHITECTURE.md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phase,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tool,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node; mã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35.</a:t>
            </a:r>
            <a:endParaRPr lang="en-US" sz="900" dirty="0"/>
          </a:p>
        </p:txBody>
      </p:sp>
      <p:sp>
        <p:nvSpPr>
          <p:cNvPr id="46" name="Connector line-1792886321216-994416346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457200" y="10306050"/>
            <a:ext cx="6096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đếm;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AGENTS.md;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README.md</a:t>
            </a:r>
            <a:r>
              <a:rPr lang="en-US" sz="825" dirty="0" spc="-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(Enterprise);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LICENSE;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.github/workflows/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825" dirty="0" spc="0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825" dirty="0" spc="-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fa865023-0714-4767-95b8-b6c18bf391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3810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6B6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 · BÁO CÁO KỸ THUẬT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6153150" y="342900"/>
            <a:ext cx="952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spc="145" kern="0" dirty="0">
                <a:solidFill>
                  <a:srgbClr val="0E5C5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14 / 14</a:t>
            </a:r>
            <a:endParaRPr lang="en-US" sz="825" dirty="0"/>
          </a:p>
        </p:txBody>
      </p:sp>
      <p:sp>
        <p:nvSpPr>
          <p:cNvPr id="4" name="Connector line-1792886837640-663896945"/>
          <p:cNvSpPr/>
          <p:nvPr/>
        </p:nvSpPr>
        <p:spPr>
          <a:xfrm>
            <a:off x="457200" y="5524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457200" y="876300"/>
            <a:ext cx="571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E2552B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13 · ĐÁNH GIÁ VÀ PHỤ LỤC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57200" y="1085850"/>
            <a:ext cx="66484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spc="-4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r>
              <a:rPr lang="en-US" sz="2550" b="1" spc="-65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2550" b="1" spc="-38" kern="0" dirty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khuyến nghị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48450" cy="438150"/>
          </a:xfrm>
          <a:prstGeom prst="rect">
            <a:avLst/>
          </a:prstGeom>
          <a:noFill/>
          <a:ln/>
        </p:spPr>
        <p:txBody>
          <a:bodyPr wrap="square" lIns="0" tIns="-2683" rIns="0" bIns="2683" rtlCol="0" anchor="t"/>
          <a:lstStyle/>
          <a:p>
            <a:pPr algn="l" indent="0" marL="0">
              <a:lnSpc>
                <a:spcPts val="1628"/>
              </a:lnSpc>
              <a:buNone/>
            </a:pPr>
            <a:r>
              <a:rPr lang="en-US" sz="1050" dirty="0" spc="-2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05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05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105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05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 Phần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05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050" dirty="0" spc="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 đối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05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1050" dirty="0" spc="8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05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050" dirty="0" spc="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05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05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05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266950"/>
            <a:ext cx="2114550" cy="3695700"/>
          </a:xfrm>
          <a:prstGeom prst="roundRect">
            <a:avLst>
              <a:gd name="adj" fmla="val 5405"/>
            </a:avLst>
          </a:prstGeom>
          <a:solidFill>
            <a:srgbClr val="D6E8E4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24193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1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Điểm</a:t>
            </a:r>
            <a:r>
              <a:rPr lang="en-US" sz="1200" b="1" dirty="0" spc="0" kern="0">
                <a:solidFill>
                  <a:srgbClr val="0E5C5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mạnh</a:t>
            </a:r>
            <a:endParaRPr lang="en-US" sz="1200" dirty="0"/>
          </a:p>
        </p:txBody>
      </p:sp>
      <p:sp>
        <p:nvSpPr>
          <p:cNvPr id="10" name="Text richtext-1792886837652-980058882"/>
          <p:cNvSpPr/>
          <p:nvPr/>
        </p:nvSpPr>
        <p:spPr>
          <a:xfrm>
            <a:off x="609600" y="2743200"/>
            <a:ext cx="1828800" cy="31432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1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chắn: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lower-bound, UNKNOWN,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cụt,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900" dirty="0" spc="-9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900" dirty="0" spc="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 phục vụ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MCP,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web;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900" dirty="0" spc="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web.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4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dày;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-7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(AGENTS.md,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hook, skill).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Phủ</a:t>
            </a:r>
            <a:r>
              <a:rPr lang="en-US" sz="900" dirty="0" spc="-5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900" dirty="0" spc="-2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dirty="0" spc="0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900" dirty="0" spc="-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900" dirty="0" spc="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900" dirty="0" spc="6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900" dirty="0" spc="-3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2A383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(docs/languages/).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24150" y="2266950"/>
            <a:ext cx="2114550" cy="3695700"/>
          </a:xfrm>
          <a:prstGeom prst="roundRect">
            <a:avLst>
              <a:gd name="adj" fmla="val 5405"/>
            </a:avLst>
          </a:prstGeom>
          <a:solidFill>
            <a:srgbClr val="F6DCCB"/>
          </a:solidFill>
          <a:ln/>
        </p:spPr>
      </p:sp>
      <p:sp>
        <p:nvSpPr>
          <p:cNvPr id="12" name="Text 10"/>
          <p:cNvSpPr/>
          <p:nvPr/>
        </p:nvSpPr>
        <p:spPr>
          <a:xfrm>
            <a:off x="2876550" y="24193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0" kern="0">
                <a:solidFill>
                  <a:srgbClr val="8E2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Rủi</a:t>
            </a:r>
            <a:r>
              <a:rPr lang="en-US" sz="1200" b="1" dirty="0" spc="-7" kern="0">
                <a:solidFill>
                  <a:srgbClr val="8E2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ro</a:t>
            </a:r>
            <a:r>
              <a:rPr lang="en-US" sz="1200" b="1" dirty="0" spc="-11" kern="0">
                <a:solidFill>
                  <a:srgbClr val="8E2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200" b="1" dirty="0" spc="0" kern="0">
                <a:solidFill>
                  <a:srgbClr val="8E2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r>
              <a:rPr lang="en-US" sz="1200" b="1" dirty="0" spc="1" kern="0">
                <a:solidFill>
                  <a:srgbClr val="8E2A1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chế</a:t>
            </a:r>
            <a:endParaRPr lang="en-US" sz="1200" dirty="0"/>
          </a:p>
        </p:txBody>
      </p:sp>
      <p:sp>
        <p:nvSpPr>
          <p:cNvPr id="13" name="Text richtext-1792886837665-244002345"/>
          <p:cNvSpPr/>
          <p:nvPr/>
        </p:nvSpPr>
        <p:spPr>
          <a:xfrm>
            <a:off x="2876550" y="2743200"/>
            <a:ext cx="1828800" cy="31432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Giấy phép</a:t>
            </a:r>
            <a:r>
              <a:rPr lang="en-US" sz="900" dirty="0" spc="-6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PolyForm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Noncommercial: cần kiểm</a:t>
            </a:r>
            <a:r>
              <a:rPr lang="en-US" sz="900" dirty="0" spc="-9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900" dirty="0" spc="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dùng</a:t>
            </a:r>
            <a:r>
              <a:rPr lang="en-US" sz="900" dirty="0" spc="-5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4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</a:t>
            </a:r>
            <a:r>
              <a:rPr lang="en-US" sz="900" dirty="0" spc="4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7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thực;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900" dirty="0" spc="-5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1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900" dirty="0" spc="-9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ngữ;</a:t>
            </a:r>
            <a:r>
              <a:rPr lang="en-US" sz="900" dirty="0" spc="-15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cận</a:t>
            </a:r>
            <a:r>
              <a:rPr lang="en-US" sz="900" dirty="0" spc="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dưới,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900" dirty="0" spc="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epistemic.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22.18+;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4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prebuild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900" dirty="0" spc="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dịch</a:t>
            </a:r>
            <a:r>
              <a:rPr lang="en-US" sz="900" dirty="0" spc="-3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C/C++.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-28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kiến</a:t>
            </a:r>
            <a:r>
              <a:rPr lang="en-US" sz="900" dirty="0" spc="-2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900" dirty="0" spc="-1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900" dirty="0" spc="-4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vài</a:t>
            </a:r>
            <a:r>
              <a:rPr lang="en-US" sz="900" dirty="0" spc="0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900" dirty="0" spc="-6" kern="0">
                <a:solidFill>
                  <a:srgbClr val="3A2A2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91100" y="2266950"/>
            <a:ext cx="2114550" cy="3695700"/>
          </a:xfrm>
          <a:prstGeom prst="roundRect">
            <a:avLst>
              <a:gd name="adj" fmla="val 5405"/>
            </a:avLst>
          </a:prstGeom>
          <a:solidFill>
            <a:srgbClr val="0E1A19"/>
          </a:solidFill>
          <a:ln/>
        </p:spPr>
      </p:sp>
      <p:sp>
        <p:nvSpPr>
          <p:cNvPr id="15" name="Text 13"/>
          <p:cNvSpPr/>
          <p:nvPr/>
        </p:nvSpPr>
        <p:spPr>
          <a:xfrm>
            <a:off x="5143500" y="241935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 spc="0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Nên</a:t>
            </a:r>
            <a:r>
              <a:rPr lang="en-US" sz="1200" b="1" dirty="0" spc="1" kern="0">
                <a:solidFill>
                  <a:srgbClr val="F0A93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thử thế nào</a:t>
            </a:r>
            <a:endParaRPr lang="en-US" sz="1200" dirty="0"/>
          </a:p>
        </p:txBody>
      </p:sp>
      <p:sp>
        <p:nvSpPr>
          <p:cNvPr id="16" name="Text richtext-1792886837675-382021360"/>
          <p:cNvSpPr/>
          <p:nvPr/>
        </p:nvSpPr>
        <p:spPr>
          <a:xfrm>
            <a:off x="5143500" y="2743200"/>
            <a:ext cx="1828800" cy="314325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analyze,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900" dirty="0" spc="-9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status,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-1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Repo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RAM;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Render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900" dirty="0" spc="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GB,</a:t>
            </a:r>
            <a:r>
              <a:rPr lang="en-US" sz="900" dirty="0" spc="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GB nếu</a:t>
            </a:r>
            <a:r>
              <a:rPr lang="en-US" sz="900" dirty="0" spc="-5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900" dirty="0" spc="-6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AGENTS.md: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impact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detect_changes</a:t>
            </a:r>
            <a:r>
              <a:rPr lang="en-US" sz="900" dirty="0" spc="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nhóm</a:t>
            </a:r>
            <a:r>
              <a:rPr lang="en-US" sz="900" dirty="0" spc="-8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900" dirty="0" spc="-1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900" dirty="0" spc="0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</a:t>
            </a:r>
            <a:r>
              <a:rPr lang="en-US" sz="900" dirty="0" spc="-4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2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động:</a:t>
            </a:r>
            <a:r>
              <a:rPr lang="en-US" sz="900" dirty="0" spc="-7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900" dirty="0" spc="-1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-3" kern="0">
                <a:solidFill>
                  <a:srgbClr val="CFE3D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Enterprise.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191250"/>
            <a:ext cx="6648450" cy="3714750"/>
          </a:xfrm>
          <a:prstGeom prst="roundRect">
            <a:avLst>
              <a:gd name="adj" fmla="val 3590"/>
            </a:avLst>
          </a:prstGeom>
          <a:solidFill>
            <a:srgbClr val="EAE3D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63627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 spc="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Phạm</a:t>
            </a:r>
            <a:r>
              <a:rPr lang="en-US" sz="1500" b="1" dirty="0" spc="-3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r>
              <a:rPr lang="en-US" sz="1500" b="1" dirty="0" spc="-17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1500" b="1" dirty="0" spc="-7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1500" b="1" dirty="0" spc="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r>
              <a:rPr lang="en-US" sz="1500" b="1" dirty="0" spc="-2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 báo</a:t>
            </a:r>
            <a:r>
              <a:rPr lang="en-US" sz="1500" b="1" dirty="0" spc="-1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cáo</a:t>
            </a:r>
            <a:r>
              <a:rPr lang="en-US" sz="1500" b="1" dirty="0" spc="0" kern="0">
                <a:solidFill>
                  <a:srgbClr val="1420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này</a:t>
            </a:r>
            <a:endParaRPr lang="en-US" sz="1500" dirty="0"/>
          </a:p>
        </p:txBody>
      </p:sp>
      <p:sp>
        <p:nvSpPr>
          <p:cNvPr id="19" name="Text richtext-1792886837682-570254640"/>
          <p:cNvSpPr/>
          <p:nvPr/>
        </p:nvSpPr>
        <p:spPr>
          <a:xfrm>
            <a:off x="685800" y="67627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-857" rIns="0" bIns="857" rtlCol="0" anchor="t"/>
          <a:lstStyle/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 nông (độ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1)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abhigyanpatwari/GitNexus ở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d8a256a,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24/10/2026,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1.6.12.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làm: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ARCHITECTURE,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GUARDRAILS,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docs/,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package.json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(schema,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kiếm,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cụm,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luồng);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node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spcAft>
                <a:spcPts val="675"/>
              </a:spcAft>
              <a:buSzPct val="100000"/>
              <a:buFont typeface="Arial"/>
              <a:buChar char="•"/>
            </a:pPr>
            <a:r>
              <a:rPr lang="en-US" sz="900" b="1" dirty="0" spc="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làm:</a:t>
            </a:r>
            <a:pPr algn="l" marL="228600" indent="-2286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analyze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test,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900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giải.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sao,</a:t>
            </a:r>
            <a:r>
              <a:rPr lang="en-US" sz="900" dirty="0" spc="-8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900" dirty="0" spc="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900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403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900" dirty="0" spc="-1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proxy.</a:t>
            </a:r>
            <a:endParaRPr lang="en-US" sz="900" dirty="0"/>
          </a:p>
          <a:p>
            <a:pPr algn="l" marL="228600" indent="-100717">
              <a:lnSpc>
                <a:spcPts val="1350"/>
              </a:lnSpc>
              <a:buSzPct val="100000"/>
              <a:buFont typeface="Arial"/>
              <a:buChar char="•"/>
            </a:pP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900" b="1" dirty="0" spc="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900" b="1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900" b="1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900" b="1" dirty="0" spc="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900" b="1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repo:</a:t>
            </a:r>
            <a:pPr algn="l" marL="228600" indent="-228600">
              <a:lnSpc>
                <a:spcPts val="1350"/>
              </a:lnSpc>
              <a:buSzPct val="100000"/>
              <a:buChar char="•"/>
            </a:pP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248.612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symbol,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565.510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918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900" dirty="0" spc="-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GitNexus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900" dirty="0" spc="-7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AGENTS.md;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900" dirty="0" spc="-2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900" dirty="0" spc="3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900" dirty="0" spc="-4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900" dirty="0" spc="-5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 với</a:t>
            </a:r>
            <a:r>
              <a:rPr lang="en-US" sz="900" dirty="0" spc="0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900" dirty="0" spc="-1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900" dirty="0" spc="-6" kern="0">
                <a:solidFill>
                  <a:srgbClr val="3A383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tại.</a:t>
            </a:r>
            <a:endParaRPr lang="en-US" sz="900" dirty="0"/>
          </a:p>
        </p:txBody>
      </p:sp>
      <p:sp>
        <p:nvSpPr>
          <p:cNvPr id="20" name="Connector line-1792886837693-247441070"/>
          <p:cNvSpPr/>
          <p:nvPr/>
        </p:nvSpPr>
        <p:spPr>
          <a:xfrm>
            <a:off x="685800" y="8820150"/>
            <a:ext cx="6191250" cy="0"/>
          </a:xfrm>
          <a:prstGeom prst="line">
            <a:avLst/>
          </a:prstGeom>
          <a:noFill/>
          <a:ln w="9525">
            <a:solidFill>
              <a:srgbClr val="C9BFA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685800" y="8934450"/>
            <a:ext cx="619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spc="145" kern="0" dirty="0">
                <a:solidFill>
                  <a:srgbClr val="B63A1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FILE LÕI ĐÃ ĐỐI CHIẾU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85800" y="9144000"/>
            <a:ext cx="6191250" cy="685800"/>
          </a:xfrm>
          <a:prstGeom prst="rect">
            <a:avLst/>
          </a:prstGeom>
          <a:noFill/>
          <a:ln/>
        </p:spPr>
        <p:txBody>
          <a:bodyPr wrap="square" lIns="0" tIns="-5493" rIns="0" bIns="5493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825" dirty="0" spc="-5" kern="0">
                <a:solidFill>
                  <a:srgbClr val="4A474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gitnexus-shared/src/lbug/schema-constants.ts · gitnexus-shared/src/impact-risk.ts · gitnexus/src/core/ingestion/pipeline.ts · core/search/hybrid-search.ts · core/ingestion/community-processor.ts · core/ingestion/process-processor.ts · mcp/tools.ts</a:t>
            </a:r>
            <a:endParaRPr lang="en-US" sz="825" dirty="0"/>
          </a:p>
        </p:txBody>
      </p:sp>
      <p:sp>
        <p:nvSpPr>
          <p:cNvPr id="23" name="Connector line-1792886837698-179110007"/>
          <p:cNvSpPr/>
          <p:nvPr/>
        </p:nvSpPr>
        <p:spPr>
          <a:xfrm>
            <a:off x="457200" y="10191750"/>
            <a:ext cx="6648450" cy="0"/>
          </a:xfrm>
          <a:prstGeom prst="line">
            <a:avLst/>
          </a:prstGeom>
          <a:noFill/>
          <a:ln w="9525">
            <a:solidFill>
              <a:srgbClr val="D9D1C3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457200" y="10306050"/>
            <a:ext cx="5334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825" dirty="0" spc="-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 Claude,</a:t>
            </a:r>
            <a:r>
              <a:rPr lang="en-US" sz="825" dirty="0" spc="7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825" dirty="0" spc="2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Moda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200650" y="10306050"/>
            <a:ext cx="19050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825" dirty="0" spc="4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825" dirty="0" spc="-5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825" dirty="0" spc="3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825" dirty="0" spc="1" kern="0">
                <a:solidFill>
                  <a:srgbClr val="6B665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5868772" y="9806509"/>
            <a:ext cx="1210056" cy="406043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50d5266-3092-4e18-bee0-3ba636f1a2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61455" y="9899193"/>
            <a:ext cx="1024688" cy="220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2026-10-31T13:40:10Z</dcterms:created>
  <dcterms:modified xsi:type="dcterms:W3CDTF">2026-10-31T13:40:10Z</dcterms:modified>
</cp:coreProperties>
</file>