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8288000" cy="10287000"/>
  <p:notesSz cx="10287000" cy="18288000"/>
  <p:embeddedFontLst>
    <p:embeddedFont>
      <p:font typeface="Be Vietnam Pro SemiBold"/>
      <p:regular r:id="rId25"/>
    </p:embeddedFont>
    <p:embeddedFont>
      <p:font typeface="Be Vietnam Pro"/>
      <p:regular r:id="rId28"/>
      <p:bold r:id="rId26"/>
      <p:italic r:id="rId32"/>
    </p:embeddedFont>
    <p:embeddedFont>
      <p:font typeface="Bricolage Grotesque ExtraBold"/>
      <p:regular r:id="rId27"/>
    </p:embeddedFont>
    <p:embeddedFont>
      <p:font typeface="Be Vietnam Pro Medium"/>
      <p:regular r:id="rId29"/>
    </p:embeddedFont>
    <p:embeddedFont>
      <p:font typeface="Bricolage Grotesque"/>
      <p:bold r:id="rId30"/>
    </p:embeddedFont>
    <p:embeddedFont>
      <p:font typeface="Be Vietnam Pro ExtraBold"/>
      <p:regular r:id="rId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orchestrator.inc/installation" TargetMode="External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OrchestratorInc/agent-orchestrator/releases/latest" TargetMode="External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chestrator.inc/installation" TargetMode="External"/><Relationship Id="rId1" Type="http://schemas.openxmlformats.org/officeDocument/2006/relationships/image" Target="../media/image-9-1.png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OrchestratorInc/agent-orchestrator" TargetMode="External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0" y="2381250"/>
            <a:ext cx="6858000" cy="2762250"/>
          </a:xfrm>
          <a:custGeom>
            <a:avLst/>
            <a:gdLst/>
            <a:ahLst/>
            <a:cxnLst/>
            <a:rect l="l" t="t" r="r" b="b"/>
            <a:pathLst>
              <a:path w="6858000" h="2762250">
                <a:moveTo>
                  <a:pt x="0" y="2762250"/>
                </a:moveTo>
                <a:cubicBezTo>
                  <a:pt x="1143000" y="2762250"/>
                  <a:pt x="1143000" y="0"/>
                  <a:pt x="2286000" y="0"/>
                </a:cubicBezTo>
                <a:lnTo>
                  <a:pt x="4381500" y="0"/>
                </a:lnTo>
                <a:cubicBezTo>
                  <a:pt x="5715000" y="0"/>
                  <a:pt x="5715000" y="2762250"/>
                  <a:pt x="6858000" y="2762250"/>
                </a:cubicBezTo>
              </a:path>
            </a:pathLst>
          </a:custGeom>
          <a:ln w="76200">
            <a:solidFill>
              <a:srgbClr val="7C9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77500" y="5143500"/>
            <a:ext cx="6858000" cy="9144"/>
          </a:xfrm>
          <a:custGeom>
            <a:avLst/>
            <a:gdLst/>
            <a:ahLst/>
            <a:cxnLst/>
            <a:rect l="l" t="t" r="r" b="b"/>
            <a:pathLst>
              <a:path w="6858000" h="9144">
                <a:moveTo>
                  <a:pt x="0" y="0"/>
                </a:moveTo>
                <a:lnTo>
                  <a:pt x="6858000" y="0"/>
                </a:lnTo>
              </a:path>
            </a:pathLst>
          </a:custGeom>
          <a:ln w="76200">
            <a:solidFill>
              <a:srgbClr val="FF6A4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77500" y="5143500"/>
            <a:ext cx="6858000" cy="2762250"/>
          </a:xfrm>
          <a:custGeom>
            <a:avLst/>
            <a:gdLst/>
            <a:ahLst/>
            <a:cxnLst/>
            <a:rect l="l" t="t" r="r" b="b"/>
            <a:pathLst>
              <a:path w="6858000" h="2762250">
                <a:moveTo>
                  <a:pt x="0" y="0"/>
                </a:moveTo>
                <a:cubicBezTo>
                  <a:pt x="1143000" y="0"/>
                  <a:pt x="1143000" y="2762250"/>
                  <a:pt x="2286000" y="2762250"/>
                </a:cubicBezTo>
                <a:lnTo>
                  <a:pt x="4381500" y="2762250"/>
                </a:lnTo>
                <a:cubicBezTo>
                  <a:pt x="5715000" y="2762250"/>
                  <a:pt x="5715000" y="0"/>
                  <a:pt x="6858000" y="0"/>
                </a:cubicBezTo>
              </a:path>
            </a:pathLst>
          </a:custGeom>
          <a:ln w="76200">
            <a:solidFill>
              <a:srgbClr val="3DD6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630150" y="2247900"/>
            <a:ext cx="266700" cy="266700"/>
          </a:xfrm>
          <a:prstGeom prst="ellipse">
            <a:avLst/>
          </a:prstGeom>
          <a:solidFill>
            <a:srgbClr val="12141B"/>
          </a:solidFill>
          <a:ln w="57150">
            <a:solidFill>
              <a:srgbClr val="7C9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677900" y="2247900"/>
            <a:ext cx="266700" cy="2667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7" name="Shape 5"/>
          <p:cNvSpPr/>
          <p:nvPr/>
        </p:nvSpPr>
        <p:spPr>
          <a:xfrm>
            <a:off x="14725650" y="2247900"/>
            <a:ext cx="266700" cy="266700"/>
          </a:xfrm>
          <a:prstGeom prst="ellipse">
            <a:avLst/>
          </a:prstGeom>
          <a:solidFill>
            <a:srgbClr val="12141B"/>
          </a:solidFill>
          <a:ln w="57150">
            <a:solidFill>
              <a:srgbClr val="7C93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630150" y="5010150"/>
            <a:ext cx="266700" cy="266700"/>
          </a:xfrm>
          <a:prstGeom prst="ellipse">
            <a:avLst/>
          </a:prstGeom>
          <a:solidFill>
            <a:srgbClr val="12141B"/>
          </a:solidFill>
          <a:ln w="57150">
            <a:solidFill>
              <a:srgbClr val="FF6A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677900" y="5010150"/>
            <a:ext cx="266700" cy="266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0" name="Shape 8"/>
          <p:cNvSpPr/>
          <p:nvPr/>
        </p:nvSpPr>
        <p:spPr>
          <a:xfrm>
            <a:off x="14725650" y="5010150"/>
            <a:ext cx="266700" cy="266700"/>
          </a:xfrm>
          <a:prstGeom prst="ellipse">
            <a:avLst/>
          </a:prstGeom>
          <a:solidFill>
            <a:srgbClr val="12141B"/>
          </a:solidFill>
          <a:ln w="57150">
            <a:solidFill>
              <a:srgbClr val="FF6A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630150" y="7772400"/>
            <a:ext cx="266700" cy="266700"/>
          </a:xfrm>
          <a:prstGeom prst="ellipse">
            <a:avLst/>
          </a:prstGeom>
          <a:solidFill>
            <a:srgbClr val="12141B"/>
          </a:solidFill>
          <a:ln w="57150">
            <a:solidFill>
              <a:srgbClr val="3DD6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677900" y="7772400"/>
            <a:ext cx="266700" cy="2667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3" name="Shape 11"/>
          <p:cNvSpPr/>
          <p:nvPr/>
        </p:nvSpPr>
        <p:spPr>
          <a:xfrm>
            <a:off x="14725650" y="7772400"/>
            <a:ext cx="266700" cy="266700"/>
          </a:xfrm>
          <a:prstGeom prst="ellipse">
            <a:avLst/>
          </a:prstGeom>
          <a:solidFill>
            <a:srgbClr val="12141B"/>
          </a:solidFill>
          <a:ln w="57150">
            <a:solidFill>
              <a:srgbClr val="3DD6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29850" y="4895850"/>
            <a:ext cx="495300" cy="495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5" name="Shape 13"/>
          <p:cNvSpPr/>
          <p:nvPr/>
        </p:nvSpPr>
        <p:spPr>
          <a:xfrm>
            <a:off x="17087850" y="4895850"/>
            <a:ext cx="495300" cy="495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6" name="Text 14"/>
          <p:cNvSpPr/>
          <p:nvPr/>
        </p:nvSpPr>
        <p:spPr>
          <a:xfrm>
            <a:off x="12763500" y="17907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3" kern="0">
                <a:solidFill>
                  <a:srgbClr val="AFC0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worker</a:t>
            </a:r>
            <a:r>
              <a:rPr lang="en-US" sz="2250" dirty="0" spc="-1" kern="0">
                <a:solidFill>
                  <a:srgbClr val="AFC0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2763500" y="55245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3" kern="0">
                <a:solidFill>
                  <a:srgbClr val="FFA08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worker</a:t>
            </a:r>
            <a:r>
              <a:rPr lang="en-US" sz="2250" dirty="0" spc="0" kern="0">
                <a:solidFill>
                  <a:srgbClr val="FFA08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2763500" y="83058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3" kern="0">
                <a:solidFill>
                  <a:srgbClr val="8FF0C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worker</a:t>
            </a:r>
            <a:r>
              <a:rPr lang="en-US" sz="2250" dirty="0" spc="3" kern="0">
                <a:solidFill>
                  <a:srgbClr val="8FF0C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143000" y="8001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1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 ·</a:t>
            </a:r>
            <a:r>
              <a:rPr lang="en-US" sz="21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QUÉT</a:t>
            </a:r>
            <a:r>
              <a:rPr lang="en-US" sz="2100" b="1" spc="25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1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2026-10-17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143000" y="1619250"/>
            <a:ext cx="8572500" cy="3429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phối</a:t>
            </a:r>
            <a:r>
              <a:rPr lang="en-US" sz="72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đội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ngũ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coding</a:t>
            </a:r>
            <a:r>
              <a:rPr lang="en-US" sz="720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r>
              <a:rPr lang="en-US" sz="72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đa</a:t>
            </a:r>
            <a:r>
              <a:rPr lang="en-US" sz="7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nhiệm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1143000" y="5334000"/>
            <a:ext cx="8382000" cy="16192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Quản</a:t>
            </a:r>
            <a:r>
              <a:rPr lang="en-US" sz="28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coding</a:t>
            </a:r>
            <a:r>
              <a:rPr lang="en-US" sz="2850" dirty="0" spc="-2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8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850" dirty="0" spc="-2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2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85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branch và</a:t>
            </a:r>
            <a:r>
              <a:rPr lang="en-US" sz="2850" dirty="0" spc="-2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worktree</a:t>
            </a:r>
            <a:r>
              <a:rPr lang="en-US" sz="2850" dirty="0" spc="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85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8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8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xung</a:t>
            </a:r>
            <a:r>
              <a:rPr lang="en-US" sz="285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đột.</a:t>
            </a:r>
            <a:endParaRPr lang="en-US" sz="2850" dirty="0"/>
          </a:p>
        </p:txBody>
      </p:sp>
      <p:sp>
        <p:nvSpPr>
          <p:cNvPr id="22" name="Connector line-1792231519108-40097732"/>
          <p:cNvSpPr/>
          <p:nvPr/>
        </p:nvSpPr>
        <p:spPr>
          <a:xfrm>
            <a:off x="1143000" y="7524750"/>
            <a:ext cx="8382000" cy="0"/>
          </a:xfrm>
          <a:prstGeom prst="line">
            <a:avLst/>
          </a:prstGeom>
          <a:noFill/>
          <a:ln w="19050">
            <a:solidFill>
              <a:srgbClr val="F3EEE3">
                <a:alpha val="2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1143000" y="7810500"/>
            <a:ext cx="2095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13.260</a:t>
            </a:r>
            <a:endParaRPr lang="en-US" sz="4350" dirty="0"/>
          </a:p>
        </p:txBody>
      </p:sp>
      <p:sp>
        <p:nvSpPr>
          <p:cNvPr id="24" name="Text 22"/>
          <p:cNvSpPr/>
          <p:nvPr/>
        </p:nvSpPr>
        <p:spPr>
          <a:xfrm>
            <a:off x="1143000" y="8496300"/>
            <a:ext cx="209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sao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333750" y="7810500"/>
            <a:ext cx="1905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1.819</a:t>
            </a:r>
            <a:endParaRPr lang="en-US" sz="4350" dirty="0"/>
          </a:p>
        </p:txBody>
      </p:sp>
      <p:sp>
        <p:nvSpPr>
          <p:cNvPr id="26" name="Text 24"/>
          <p:cNvSpPr/>
          <p:nvPr/>
        </p:nvSpPr>
        <p:spPr>
          <a:xfrm>
            <a:off x="3333750" y="84963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fork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5334000" y="7810500"/>
            <a:ext cx="3143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103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Apache-2.0</a:t>
            </a:r>
            <a:endParaRPr lang="en-US" sz="4103" dirty="0"/>
          </a:p>
        </p:txBody>
      </p:sp>
      <p:sp>
        <p:nvSpPr>
          <p:cNvPr id="28" name="Text 26"/>
          <p:cNvSpPr/>
          <p:nvPr/>
        </p:nvSpPr>
        <p:spPr>
          <a:xfrm>
            <a:off x="5334000" y="8496300"/>
            <a:ext cx="3143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giấy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8572500" y="7810500"/>
            <a:ext cx="1143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Go</a:t>
            </a:r>
            <a:endParaRPr lang="en-US" sz="4350" dirty="0"/>
          </a:p>
        </p:txBody>
      </p:sp>
      <p:sp>
        <p:nvSpPr>
          <p:cNvPr id="30" name="Text 28"/>
          <p:cNvSpPr/>
          <p:nvPr/>
        </p:nvSpPr>
        <p:spPr>
          <a:xfrm>
            <a:off x="8572500" y="8496300"/>
            <a:ext cx="133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143000" y="95059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OrchestratorInc/agent-orchestrator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ddd6e128-de69-4b66-9442-b1f8ba5207b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1589767-751821836"/>
          <p:cNvSpPr/>
          <p:nvPr/>
        </p:nvSpPr>
        <p:spPr>
          <a:xfrm>
            <a:off x="1143000" y="9620250"/>
            <a:ext cx="1554480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00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14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29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43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57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72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01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15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29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44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058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973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887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01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71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630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9240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Text 21"/>
          <p:cNvSpPr/>
          <p:nvPr/>
        </p:nvSpPr>
        <p:spPr>
          <a:xfrm>
            <a:off x="16916400" y="9467850"/>
            <a:ext cx="99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02/18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agent-orchestrator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143000" y="99060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Bạn</a:t>
            </a: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sẽ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630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6300" dirty="0" spc="-7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63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6300" dirty="0"/>
          </a:p>
        </p:txBody>
      </p:sp>
      <p:sp>
        <p:nvSpPr>
          <p:cNvPr id="27" name="Text 25"/>
          <p:cNvSpPr/>
          <p:nvPr/>
        </p:nvSpPr>
        <p:spPr>
          <a:xfrm>
            <a:off x="1143000" y="2762250"/>
            <a:ext cx="8191500" cy="3143250"/>
          </a:xfrm>
          <a:prstGeom prst="rect">
            <a:avLst/>
          </a:prstGeom>
          <a:noFill/>
          <a:ln/>
        </p:spPr>
        <p:txBody>
          <a:bodyPr wrap="square" lIns="0" tIns="29238" rIns="0" bIns="-29238" rtlCol="0" anchor="t"/>
          <a:lstStyle/>
          <a:p>
            <a:pPr algn="l" indent="0" marL="0">
              <a:lnSpc>
                <a:spcPts val="5234"/>
              </a:lnSpc>
              <a:buNone/>
            </a:pPr>
            <a:r>
              <a:rPr lang="en-US" sz="4187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Ứng</a:t>
            </a:r>
            <a:r>
              <a:rPr lang="en-US" sz="4187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r>
              <a:rPr lang="en-US" sz="4187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desktop</a:t>
            </a:r>
            <a:r>
              <a:rPr lang="en-US" sz="4187" dirty="0" spc="2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4187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phối</a:t>
            </a:r>
            <a:r>
              <a:rPr lang="en-US" sz="4187" dirty="0" spc="-3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4187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giám</a:t>
            </a:r>
            <a:r>
              <a:rPr lang="en-US" sz="4187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sát</a:t>
            </a:r>
            <a:r>
              <a:rPr lang="en-US" sz="4187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4187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coding</a:t>
            </a:r>
            <a:r>
              <a:rPr lang="en-US" sz="4187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</a:t>
            </a:r>
            <a:r>
              <a:rPr lang="en-US" sz="4187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4187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khâu</a:t>
            </a:r>
            <a:r>
              <a:rPr lang="en-US" sz="4187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lập</a:t>
            </a:r>
            <a:r>
              <a:rPr lang="en-US" sz="4187" dirty="0" spc="-5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</a:t>
            </a:r>
            <a:r>
              <a:rPr lang="en-US" sz="4187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hoạch</a:t>
            </a:r>
            <a:r>
              <a:rPr lang="en-US" sz="4187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</a:t>
            </a:r>
            <a:r>
              <a:rPr lang="en-US" sz="4187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hợp</a:t>
            </a:r>
            <a:r>
              <a:rPr lang="en-US" sz="4187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</a:t>
            </a:r>
            <a:r>
              <a:rPr lang="en-US" sz="4187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4187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nguồn.</a:t>
            </a:r>
            <a:endParaRPr lang="en-US" sz="4187" dirty="0"/>
          </a:p>
        </p:txBody>
      </p:sp>
      <p:sp>
        <p:nvSpPr>
          <p:cNvPr id="28" name="Shape 26"/>
          <p:cNvSpPr/>
          <p:nvPr/>
        </p:nvSpPr>
        <p:spPr>
          <a:xfrm>
            <a:off x="1143000" y="7905750"/>
            <a:ext cx="8001000" cy="9144"/>
          </a:xfrm>
          <a:custGeom>
            <a:avLst/>
            <a:gdLst/>
            <a:ahLst/>
            <a:cxnLst/>
            <a:rect l="l" t="t" r="r" b="b"/>
            <a:pathLst>
              <a:path w="8001000" h="9144">
                <a:moveTo>
                  <a:pt x="0" y="0"/>
                </a:moveTo>
                <a:lnTo>
                  <a:pt x="8001000" y="0"/>
                </a:lnTo>
              </a:path>
            </a:pathLst>
          </a:custGeom>
          <a:ln w="76200">
            <a:solidFill>
              <a:srgbClr val="E847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1550" y="7734300"/>
            <a:ext cx="342900" cy="342900"/>
          </a:xfrm>
          <a:prstGeom prst="ellipse">
            <a:avLst/>
          </a:prstGeom>
          <a:solidFill>
            <a:srgbClr val="F3EEE3"/>
          </a:solidFill>
          <a:ln w="76200">
            <a:solidFill>
              <a:srgbClr val="E847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72050" y="7734300"/>
            <a:ext cx="342900" cy="3429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Shape 29"/>
          <p:cNvSpPr/>
          <p:nvPr/>
        </p:nvSpPr>
        <p:spPr>
          <a:xfrm>
            <a:off x="8972550" y="7734300"/>
            <a:ext cx="342900" cy="342900"/>
          </a:xfrm>
          <a:prstGeom prst="ellipse">
            <a:avLst/>
          </a:prstGeom>
          <a:solidFill>
            <a:srgbClr val="F3EEE3"/>
          </a:solidFill>
          <a:ln w="76200">
            <a:solidFill>
              <a:srgbClr val="E847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906000" y="2571750"/>
            <a:ext cx="7239000" cy="6096000"/>
          </a:xfrm>
          <a:prstGeom prst="roundRect">
            <a:avLst>
              <a:gd name="adj" fmla="val 5000"/>
            </a:avLst>
          </a:prstGeom>
          <a:solidFill>
            <a:srgbClr val="1F3FD1"/>
          </a:solidFill>
          <a:ln/>
        </p:spPr>
      </p:sp>
      <p:pic>
        <p:nvPicPr>
          <p:cNvPr id="33" name="Moda flattened rect-1792231589834-99986799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8450" y="3124200"/>
            <a:ext cx="952500" cy="95250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0477500" y="4381500"/>
            <a:ext cx="609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300" kern="0" dirty="0">
                <a:solidFill>
                  <a:srgbClr val="BFCB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100" b="1" spc="286" kern="0" dirty="0">
                <a:solidFill>
                  <a:srgbClr val="BFCB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2100" dirty="0"/>
          </a:p>
        </p:txBody>
      </p:sp>
      <p:sp>
        <p:nvSpPr>
          <p:cNvPr id="35" name="Text 32"/>
          <p:cNvSpPr/>
          <p:nvPr/>
        </p:nvSpPr>
        <p:spPr>
          <a:xfrm>
            <a:off x="10477500" y="4857750"/>
            <a:ext cx="6096000" cy="3524250"/>
          </a:xfrm>
          <a:prstGeom prst="rect">
            <a:avLst/>
          </a:prstGeom>
          <a:noFill/>
          <a:ln/>
        </p:spPr>
        <p:txBody>
          <a:bodyPr wrap="square" lIns="0" tIns="17812" rIns="0" bIns="-17812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Cài đặt</a:t>
            </a:r>
            <a:r>
              <a:rPr lang="en-US" sz="33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33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300" dirty="0" spc="3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33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3300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desktop</a:t>
            </a:r>
            <a:r>
              <a:rPr lang="en-US" sz="3300" dirty="0" spc="-2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3300" dirty="0" spc="-1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3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tính,</a:t>
            </a:r>
            <a:r>
              <a:rPr lang="en-US" sz="3300" dirty="0" spc="-4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33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3300" dirty="0" spc="-1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3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 mã</a:t>
            </a:r>
            <a:r>
              <a:rPr lang="en-US" sz="33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330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</a:t>
            </a:r>
            <a:r>
              <a:rPr lang="en-US" sz="3300" dirty="0" spc="-2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3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3300" dirty="0" spc="-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3300" dirty="0" spc="-3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worker</a:t>
            </a:r>
            <a:r>
              <a:rPr lang="en-US" sz="330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session</a:t>
            </a:r>
            <a:r>
              <a:rPr lang="en-US" sz="3300" dirty="0" spc="1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33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33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3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coding</a:t>
            </a:r>
            <a:r>
              <a:rPr lang="en-US" sz="3300" dirty="0" spc="-2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agent.</a:t>
            </a:r>
            <a:endParaRPr lang="en-US" sz="3300" dirty="0"/>
          </a:p>
        </p:txBody>
      </p:sp>
      <p:sp>
        <p:nvSpPr>
          <p:cNvPr id="36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548475e5-2775-464d-bdea-84484a9a6729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1608022-418204277"/>
          <p:cNvSpPr/>
          <p:nvPr/>
        </p:nvSpPr>
        <p:spPr>
          <a:xfrm>
            <a:off x="1143000" y="9620250"/>
            <a:ext cx="1554480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00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14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29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43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57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72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01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15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29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44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058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973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887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01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71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630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990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8384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Text 22"/>
          <p:cNvSpPr/>
          <p:nvPr/>
        </p:nvSpPr>
        <p:spPr>
          <a:xfrm>
            <a:off x="16916400" y="9467850"/>
            <a:ext cx="99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03/18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agent-orchestrator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4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VẤN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143000" y="99060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1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Vấn</a:t>
            </a:r>
            <a:r>
              <a:rPr lang="en-US" sz="63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</a:t>
            </a: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giải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quyết</a:t>
            </a:r>
            <a:endParaRPr lang="en-US" sz="6300" dirty="0"/>
          </a:p>
        </p:txBody>
      </p:sp>
      <p:sp>
        <p:nvSpPr>
          <p:cNvPr id="28" name="Text 26"/>
          <p:cNvSpPr/>
          <p:nvPr/>
        </p:nvSpPr>
        <p:spPr>
          <a:xfrm>
            <a:off x="1143000" y="2667000"/>
            <a:ext cx="9906000" cy="3429000"/>
          </a:xfrm>
          <a:prstGeom prst="rect">
            <a:avLst/>
          </a:prstGeom>
          <a:noFill/>
          <a:ln/>
        </p:spPr>
        <p:txBody>
          <a:bodyPr wrap="square" lIns="0" tIns="13171" rIns="0" bIns="-13171" rtlCol="0" anchor="t"/>
          <a:lstStyle/>
          <a:p>
            <a:pPr algn="l" indent="0" marL="0">
              <a:lnSpc>
                <a:spcPts val="4664"/>
              </a:lnSpc>
              <a:buNone/>
            </a:pPr>
            <a:r>
              <a:rPr lang="en-US" sz="3455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3455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3455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3455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3455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coding</a:t>
            </a:r>
            <a:r>
              <a:rPr lang="en-US" sz="3455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3455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3455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3455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455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3455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án,</a:t>
            </a:r>
            <a:r>
              <a:rPr lang="en-US" sz="3455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3455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3455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r>
              <a:rPr lang="en-US" sz="3455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r>
              <a:rPr lang="en-US" sz="3455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3455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khăn</a:t>
            </a:r>
            <a:r>
              <a:rPr lang="en-US" sz="3455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455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455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 chia</a:t>
            </a:r>
            <a:r>
              <a:rPr lang="en-US" sz="3455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455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455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455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3455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3455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3455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phù</a:t>
            </a:r>
            <a:r>
              <a:rPr lang="en-US" sz="3455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hợp.</a:t>
            </a:r>
            <a:r>
              <a:rPr lang="en-US" sz="3455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455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3455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3455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3455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3455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</a:t>
            </a:r>
            <a:r>
              <a:rPr lang="en-US" sz="3455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</a:t>
            </a:r>
            <a:r>
              <a:rPr lang="en-US" sz="3455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3455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3455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xung</a:t>
            </a:r>
            <a:r>
              <a:rPr lang="en-US" sz="3455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đột</a:t>
            </a:r>
            <a:r>
              <a:rPr lang="en-US" sz="3455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r>
              <a:rPr lang="en-US" sz="3455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</a:t>
            </a:r>
            <a:r>
              <a:rPr lang="en-US" sz="3455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455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3455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3455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3455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3455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3455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thử.</a:t>
            </a:r>
            <a:endParaRPr lang="en-US" sz="3455" dirty="0"/>
          </a:p>
        </p:txBody>
      </p:sp>
      <p:sp>
        <p:nvSpPr>
          <p:cNvPr id="29" name="Shape 27"/>
          <p:cNvSpPr/>
          <p:nvPr/>
        </p:nvSpPr>
        <p:spPr>
          <a:xfrm>
            <a:off x="12001500" y="2952750"/>
            <a:ext cx="2476500" cy="1238250"/>
          </a:xfrm>
          <a:custGeom>
            <a:avLst/>
            <a:gdLst/>
            <a:ahLst/>
            <a:cxnLst/>
            <a:rect l="l" t="t" r="r" b="b"/>
            <a:pathLst>
              <a:path w="2476500" h="1238250">
                <a:moveTo>
                  <a:pt x="0" y="0"/>
                </a:moveTo>
                <a:cubicBezTo>
                  <a:pt x="1333500" y="0"/>
                  <a:pt x="1333500" y="1238250"/>
                  <a:pt x="2476500" y="1238250"/>
                </a:cubicBezTo>
              </a:path>
            </a:pathLst>
          </a:custGeom>
          <a:ln w="76200">
            <a:solidFill>
              <a:srgbClr val="7C93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001500" y="4191000"/>
            <a:ext cx="2476500" cy="9144"/>
          </a:xfrm>
          <a:custGeom>
            <a:avLst/>
            <a:gdLst/>
            <a:ahLst/>
            <a:cxnLst/>
            <a:rect l="l" t="t" r="r" b="b"/>
            <a:pathLst>
              <a:path w="2476500" h="9144">
                <a:moveTo>
                  <a:pt x="0" y="0"/>
                </a:moveTo>
                <a:lnTo>
                  <a:pt x="2476500" y="0"/>
                </a:lnTo>
              </a:path>
            </a:pathLst>
          </a:custGeom>
          <a:ln w="76200">
            <a:solidFill>
              <a:srgbClr val="E847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001500" y="4191000"/>
            <a:ext cx="2476500" cy="1238250"/>
          </a:xfrm>
          <a:custGeom>
            <a:avLst/>
            <a:gdLst/>
            <a:ahLst/>
            <a:cxnLst/>
            <a:rect l="l" t="t" r="r" b="b"/>
            <a:pathLst>
              <a:path w="2476500" h="1238250">
                <a:moveTo>
                  <a:pt x="0" y="1238250"/>
                </a:moveTo>
                <a:cubicBezTo>
                  <a:pt x="1333500" y="1238250"/>
                  <a:pt x="1333500" y="0"/>
                  <a:pt x="2476500" y="0"/>
                </a:cubicBezTo>
              </a:path>
            </a:pathLst>
          </a:custGeom>
          <a:ln w="76200">
            <a:solidFill>
              <a:srgbClr val="1E7A4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849100" y="2800350"/>
            <a:ext cx="304800" cy="304800"/>
          </a:xfrm>
          <a:prstGeom prst="ellipse">
            <a:avLst/>
          </a:prstGeom>
          <a:solidFill>
            <a:srgbClr val="F3EEE3"/>
          </a:solidFill>
          <a:ln w="76200">
            <a:solidFill>
              <a:srgbClr val="7C93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849100" y="4038600"/>
            <a:ext cx="304800" cy="304800"/>
          </a:xfrm>
          <a:prstGeom prst="ellipse">
            <a:avLst/>
          </a:prstGeom>
          <a:solidFill>
            <a:srgbClr val="F3EEE3"/>
          </a:solidFill>
          <a:ln w="76200">
            <a:solidFill>
              <a:srgbClr val="E847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849100" y="5276850"/>
            <a:ext cx="304800" cy="304800"/>
          </a:xfrm>
          <a:prstGeom prst="ellipse">
            <a:avLst/>
          </a:prstGeom>
          <a:solidFill>
            <a:srgbClr val="F3EEE3"/>
          </a:solidFill>
          <a:ln w="76200">
            <a:solidFill>
              <a:srgbClr val="1E7A4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4439900" y="3771900"/>
            <a:ext cx="838200" cy="8382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6" name="Text 34"/>
          <p:cNvSpPr/>
          <p:nvPr/>
        </p:nvSpPr>
        <p:spPr>
          <a:xfrm>
            <a:off x="14439900" y="3848100"/>
            <a:ext cx="838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94" dirty="0" spc="4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!</a:t>
            </a:r>
            <a:endParaRPr lang="en-US" sz="4494" dirty="0"/>
          </a:p>
        </p:txBody>
      </p:sp>
      <p:sp>
        <p:nvSpPr>
          <p:cNvPr id="37" name="Shape 35"/>
          <p:cNvSpPr/>
          <p:nvPr/>
        </p:nvSpPr>
        <p:spPr>
          <a:xfrm>
            <a:off x="1143000" y="6572250"/>
            <a:ext cx="16002000" cy="2476500"/>
          </a:xfrm>
          <a:prstGeom prst="roundRect">
            <a:avLst>
              <a:gd name="adj" fmla="val 12308"/>
            </a:avLst>
          </a:prstGeom>
          <a:solidFill>
            <a:srgbClr val="F6D5CB"/>
          </a:solidFill>
          <a:ln/>
        </p:spPr>
      </p:sp>
      <p:sp>
        <p:nvSpPr>
          <p:cNvPr id="38" name="Text 36"/>
          <p:cNvSpPr/>
          <p:nvPr/>
        </p:nvSpPr>
        <p:spPr>
          <a:xfrm>
            <a:off x="1714500" y="68961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B02D1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</a:t>
            </a:r>
            <a:r>
              <a:rPr lang="en-US" sz="1950" b="1" spc="301" kern="0" dirty="0">
                <a:solidFill>
                  <a:srgbClr val="B02D1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1950" b="1" spc="302" kern="0" dirty="0">
                <a:solidFill>
                  <a:srgbClr val="B02D1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r>
              <a:rPr lang="en-US" sz="1950" b="1" spc="301" kern="0" dirty="0">
                <a:solidFill>
                  <a:srgbClr val="B02D1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1714500" y="7429500"/>
            <a:ext cx="14859000" cy="1428750"/>
          </a:xfrm>
          <a:prstGeom prst="rect">
            <a:avLst/>
          </a:prstGeom>
          <a:noFill/>
          <a:ln/>
        </p:spPr>
        <p:txBody>
          <a:bodyPr wrap="square" lIns="0" tIns="17812" rIns="0" bIns="-17812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Giống</a:t>
            </a:r>
            <a:r>
              <a:rPr lang="en-US" sz="33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</a:t>
            </a:r>
            <a:r>
              <a:rPr lang="en-US" sz="33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33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quản</a:t>
            </a:r>
            <a:r>
              <a:rPr lang="en-US" sz="33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đốc</a:t>
            </a:r>
            <a:r>
              <a:rPr lang="en-US" sz="33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33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trường</a:t>
            </a:r>
            <a:r>
              <a:rPr lang="en-US" sz="33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chia</a:t>
            </a:r>
            <a:r>
              <a:rPr lang="en-US" sz="33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mỗi</a:t>
            </a:r>
            <a:r>
              <a:rPr lang="en-US" sz="33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nhóm thợ</a:t>
            </a:r>
            <a:r>
              <a:rPr lang="en-US" sz="33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33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3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phòng</a:t>
            </a:r>
            <a:r>
              <a:rPr lang="en-US" sz="33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riêng</a:t>
            </a:r>
            <a:r>
              <a:rPr lang="en-US" sz="33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biệt</a:t>
            </a:r>
            <a:r>
              <a:rPr lang="en-US" sz="330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33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</a:t>
            </a:r>
            <a:r>
              <a:rPr lang="en-US" sz="33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33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mà</a:t>
            </a:r>
            <a:r>
              <a:rPr lang="en-US" sz="33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3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cản</a:t>
            </a:r>
            <a:r>
              <a:rPr lang="en-US" sz="330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trở</a:t>
            </a:r>
            <a:r>
              <a:rPr lang="en-US" sz="33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nhau.</a:t>
            </a:r>
            <a:endParaRPr lang="en-US" sz="3300" dirty="0"/>
          </a:p>
        </p:txBody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af3a2935-9ab6-461e-8b1d-0f4f43d8045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1608933-395433922"/>
          <p:cNvSpPr/>
          <p:nvPr/>
        </p:nvSpPr>
        <p:spPr>
          <a:xfrm>
            <a:off x="1143000" y="9620250"/>
            <a:ext cx="1554480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00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14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29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43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57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72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01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15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29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44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058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973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887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01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71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630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990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905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7528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Text 23"/>
          <p:cNvSpPr/>
          <p:nvPr/>
        </p:nvSpPr>
        <p:spPr>
          <a:xfrm>
            <a:off x="16916400" y="9467850"/>
            <a:ext cx="99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04/18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agent-orchestrator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143000" y="99060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63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nên</a:t>
            </a:r>
            <a:r>
              <a:rPr lang="en-US" sz="6300" dirty="0" spc="-7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xem</a:t>
            </a:r>
            <a:endParaRPr lang="en-US" sz="6300" dirty="0"/>
          </a:p>
        </p:txBody>
      </p:sp>
      <p:sp>
        <p:nvSpPr>
          <p:cNvPr id="29" name="Connector line-1792231608959-964773332"/>
          <p:cNvSpPr/>
          <p:nvPr/>
        </p:nvSpPr>
        <p:spPr>
          <a:xfrm>
            <a:off x="1143000" y="2667000"/>
            <a:ext cx="16002000" cy="0"/>
          </a:xfrm>
          <a:prstGeom prst="line">
            <a:avLst/>
          </a:prstGeom>
          <a:noFill/>
          <a:ln w="19050">
            <a:solidFill>
              <a:srgbClr val="14161C">
                <a:alpha val="2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1143000" y="2857500"/>
            <a:ext cx="14287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0" dirty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11250" dirty="0"/>
          </a:p>
        </p:txBody>
      </p:sp>
      <p:sp>
        <p:nvSpPr>
          <p:cNvPr id="31" name="Text 29"/>
          <p:cNvSpPr/>
          <p:nvPr/>
        </p:nvSpPr>
        <p:spPr>
          <a:xfrm>
            <a:off x="3143250" y="2857500"/>
            <a:ext cx="14001750" cy="1809750"/>
          </a:xfrm>
          <a:prstGeom prst="rect">
            <a:avLst/>
          </a:prstGeom>
          <a:noFill/>
          <a:ln/>
        </p:spPr>
        <p:txBody>
          <a:bodyPr wrap="square" lIns="0" tIns="18621" rIns="0" bIns="-18621" rtlCol="0" anchor="ctr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450" dirty="0" spc="-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Lập</a:t>
            </a:r>
            <a:r>
              <a:rPr lang="en-US" sz="34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34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r>
              <a:rPr lang="en-US" sz="34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34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34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</a:t>
            </a:r>
            <a:r>
              <a:rPr lang="en-US" sz="34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</a:t>
            </a:r>
            <a:r>
              <a:rPr lang="en-US" sz="34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34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34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coding</a:t>
            </a:r>
            <a:r>
              <a:rPr lang="en-US" sz="34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34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34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4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</a:t>
            </a:r>
            <a:r>
              <a:rPr lang="en-US" sz="34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xung</a:t>
            </a:r>
            <a:r>
              <a:rPr lang="en-US" sz="34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đột</a:t>
            </a:r>
            <a:r>
              <a:rPr lang="en-US" sz="34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4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3450" dirty="0"/>
          </a:p>
        </p:txBody>
      </p:sp>
      <p:sp>
        <p:nvSpPr>
          <p:cNvPr id="32" name="Connector line-1792231608973-860654364"/>
          <p:cNvSpPr/>
          <p:nvPr/>
        </p:nvSpPr>
        <p:spPr>
          <a:xfrm>
            <a:off x="1143000" y="4857750"/>
            <a:ext cx="16002000" cy="0"/>
          </a:xfrm>
          <a:prstGeom prst="line">
            <a:avLst/>
          </a:prstGeom>
          <a:noFill/>
          <a:ln w="19050">
            <a:solidFill>
              <a:srgbClr val="14161C">
                <a:alpha val="2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1143000" y="5048250"/>
            <a:ext cx="14287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11250" dirty="0"/>
          </a:p>
        </p:txBody>
      </p:sp>
      <p:sp>
        <p:nvSpPr>
          <p:cNvPr id="34" name="Text 32"/>
          <p:cNvSpPr/>
          <p:nvPr/>
        </p:nvSpPr>
        <p:spPr>
          <a:xfrm>
            <a:off x="3143250" y="5048250"/>
            <a:ext cx="14001750" cy="1809750"/>
          </a:xfrm>
          <a:prstGeom prst="rect">
            <a:avLst/>
          </a:prstGeom>
          <a:noFill/>
          <a:ln/>
        </p:spPr>
        <p:txBody>
          <a:bodyPr wrap="square" lIns="0" tIns="18621" rIns="0" bIns="-18621" rtlCol="0" anchor="ctr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45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Trưởng</a:t>
            </a:r>
            <a:r>
              <a:rPr lang="en-US" sz="34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34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34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34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 giám</a:t>
            </a:r>
            <a:r>
              <a:rPr lang="en-US" sz="34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34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34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3450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kéo</a:t>
            </a:r>
            <a:r>
              <a:rPr lang="en-US" sz="34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mã,</a:t>
            </a:r>
            <a:r>
              <a:rPr lang="en-US" sz="34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</a:t>
            </a:r>
            <a:r>
              <a:rPr lang="en-US" sz="34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4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345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34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34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34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4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34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endParaRPr lang="en-US" sz="3450" dirty="0"/>
          </a:p>
        </p:txBody>
      </p:sp>
      <p:sp>
        <p:nvSpPr>
          <p:cNvPr id="35" name="Connector line-1792231608985-490308546"/>
          <p:cNvSpPr/>
          <p:nvPr/>
        </p:nvSpPr>
        <p:spPr>
          <a:xfrm>
            <a:off x="1143000" y="7048500"/>
            <a:ext cx="16002000" cy="0"/>
          </a:xfrm>
          <a:prstGeom prst="line">
            <a:avLst/>
          </a:prstGeom>
          <a:noFill/>
          <a:ln w="19050">
            <a:solidFill>
              <a:srgbClr val="14161C">
                <a:alpha val="2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6" name="Text 34"/>
          <p:cNvSpPr/>
          <p:nvPr/>
        </p:nvSpPr>
        <p:spPr>
          <a:xfrm>
            <a:off x="1143000" y="7239000"/>
            <a:ext cx="14287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0" dirty="0" spc="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11250" dirty="0"/>
          </a:p>
        </p:txBody>
      </p:sp>
      <p:sp>
        <p:nvSpPr>
          <p:cNvPr id="37" name="Text 35"/>
          <p:cNvSpPr/>
          <p:nvPr/>
        </p:nvSpPr>
        <p:spPr>
          <a:xfrm>
            <a:off x="3143250" y="7239000"/>
            <a:ext cx="14001750" cy="1809750"/>
          </a:xfrm>
          <a:prstGeom prst="rect">
            <a:avLst/>
          </a:prstGeom>
          <a:noFill/>
          <a:ln/>
        </p:spPr>
        <p:txBody>
          <a:bodyPr wrap="square" lIns="0" tIns="18621" rIns="0" bIns="-18621" rtlCol="0" anchor="ctr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4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34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các công</a:t>
            </a:r>
            <a:r>
              <a:rPr lang="en-US" sz="34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34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 Claude</a:t>
            </a:r>
            <a:r>
              <a:rPr lang="en-US" sz="34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Code,</a:t>
            </a:r>
            <a:r>
              <a:rPr lang="en-US" sz="34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Codex,</a:t>
            </a:r>
            <a:r>
              <a:rPr lang="en-US" sz="34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Cursor</a:t>
            </a:r>
            <a:r>
              <a:rPr lang="en-US" sz="34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 có giao</a:t>
            </a:r>
            <a:r>
              <a:rPr lang="en-US" sz="34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34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 lý</a:t>
            </a:r>
            <a:r>
              <a:rPr lang="en-US" sz="34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34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endParaRPr lang="en-US" sz="345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ab0d32e5-0c4d-460d-87b3-028ceb476d9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1633861-560564501"/>
          <p:cNvSpPr/>
          <p:nvPr/>
        </p:nvSpPr>
        <p:spPr>
          <a:xfrm>
            <a:off x="1143000" y="9620250"/>
            <a:ext cx="1554480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00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14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29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43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57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72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01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15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29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44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058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973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887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01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71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630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990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905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819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6672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Text 24"/>
          <p:cNvSpPr/>
          <p:nvPr/>
        </p:nvSpPr>
        <p:spPr>
          <a:xfrm>
            <a:off x="16916400" y="9467850"/>
            <a:ext cx="99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05/18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agent-orchestrator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143000" y="99060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Lưu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6300" dirty="0" spc="-6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endParaRPr lang="en-US" sz="6300" dirty="0"/>
          </a:p>
        </p:txBody>
      </p:sp>
      <p:sp>
        <p:nvSpPr>
          <p:cNvPr id="30" name="Shape 28"/>
          <p:cNvSpPr/>
          <p:nvPr/>
        </p:nvSpPr>
        <p:spPr>
          <a:xfrm>
            <a:off x="1143000" y="2571750"/>
            <a:ext cx="7715250" cy="6096000"/>
          </a:xfrm>
          <a:prstGeom prst="roundRect">
            <a:avLst>
              <a:gd name="adj" fmla="val 5000"/>
            </a:avLst>
          </a:prstGeom>
          <a:solidFill>
            <a:srgbClr val="F3DFB8"/>
          </a:solidFill>
          <a:ln/>
        </p:spPr>
      </p:sp>
      <p:pic>
        <p:nvPicPr>
          <p:cNvPr id="31" name="Moda flattened rect-1792231633891-341094748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5450" y="3124200"/>
            <a:ext cx="952500" cy="95250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714500" y="4476750"/>
            <a:ext cx="6572250" cy="3810000"/>
          </a:xfrm>
          <a:prstGeom prst="rect">
            <a:avLst/>
          </a:prstGeom>
          <a:noFill/>
          <a:ln/>
        </p:spPr>
        <p:txBody>
          <a:bodyPr wrap="square" lIns="0" tIns="18621" rIns="0" bIns="-18621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4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Mỗi</a:t>
            </a:r>
            <a:r>
              <a:rPr lang="en-US" sz="345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34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harness</a:t>
            </a:r>
            <a:r>
              <a:rPr lang="en-US" sz="34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(Claude</a:t>
            </a:r>
            <a:r>
              <a:rPr lang="en-US" sz="34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Code,</a:t>
            </a:r>
            <a:r>
              <a:rPr lang="en-US" sz="345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Codex,</a:t>
            </a:r>
            <a:r>
              <a:rPr lang="en-US" sz="34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v.v.)</a:t>
            </a:r>
            <a:r>
              <a:rPr lang="en-US" sz="34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3450" dirty="0" spc="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mức</a:t>
            </a:r>
            <a:r>
              <a:rPr lang="en-US" sz="3450" dirty="0" spc="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</a:t>
            </a:r>
            <a:r>
              <a:rPr lang="en-US" sz="34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hỗ</a:t>
            </a:r>
            <a:r>
              <a:rPr lang="en-US" sz="3450" dirty="0" spc="-3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trợ</a:t>
            </a:r>
            <a:r>
              <a:rPr lang="en-US" sz="3450" dirty="0" spc="-4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Worker,</a:t>
            </a:r>
            <a:r>
              <a:rPr lang="en-US" sz="34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Chat</a:t>
            </a:r>
            <a:r>
              <a:rPr lang="en-US" sz="3450" dirty="0" spc="-2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3450" dirty="0" spc="-4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reviewer</a:t>
            </a:r>
            <a:r>
              <a:rPr lang="en-US" sz="34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khác nhau</a:t>
            </a:r>
            <a:endParaRPr lang="en-US" sz="3450" dirty="0"/>
          </a:p>
        </p:txBody>
      </p:sp>
      <p:sp>
        <p:nvSpPr>
          <p:cNvPr id="33" name="Shape 30"/>
          <p:cNvSpPr/>
          <p:nvPr/>
        </p:nvSpPr>
        <p:spPr>
          <a:xfrm>
            <a:off x="9429750" y="2571750"/>
            <a:ext cx="7715250" cy="6096000"/>
          </a:xfrm>
          <a:prstGeom prst="roundRect">
            <a:avLst>
              <a:gd name="adj" fmla="val 5000"/>
            </a:avLst>
          </a:prstGeom>
          <a:solidFill>
            <a:srgbClr val="F3DFB8"/>
          </a:solidFill>
          <a:ln/>
        </p:spPr>
      </p:sp>
      <p:pic>
        <p:nvPicPr>
          <p:cNvPr id="34" name="Moda flattened rect-1792231633899-516970973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200" y="3124200"/>
            <a:ext cx="952500" cy="95250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10001250" y="4476750"/>
            <a:ext cx="6572250" cy="3810000"/>
          </a:xfrm>
          <a:prstGeom prst="rect">
            <a:avLst/>
          </a:prstGeom>
          <a:noFill/>
          <a:ln/>
        </p:spPr>
        <p:txBody>
          <a:bodyPr wrap="square" lIns="0" tIns="18621" rIns="0" bIns="-18621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450" dirty="0" spc="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Cần</a:t>
            </a:r>
            <a:r>
              <a:rPr lang="en-US" sz="34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cài</a:t>
            </a:r>
            <a:r>
              <a:rPr lang="en-US" sz="34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đặt</a:t>
            </a:r>
            <a:r>
              <a:rPr lang="en-US" sz="345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riêng</a:t>
            </a:r>
            <a:r>
              <a:rPr lang="en-US" sz="34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CLI</a:t>
            </a:r>
            <a:r>
              <a:rPr lang="en-US" sz="34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3450" dirty="0" spc="3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từng</a:t>
            </a:r>
            <a:r>
              <a:rPr lang="en-US" sz="34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coding</a:t>
            </a:r>
            <a:r>
              <a:rPr lang="en-US" sz="345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34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theo</a:t>
            </a:r>
            <a:r>
              <a:rPr lang="en-US" sz="345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tài</a:t>
            </a:r>
            <a:r>
              <a:rPr lang="en-US" sz="34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</a:t>
            </a:r>
            <a:r>
              <a:rPr lang="en-US" sz="345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hướng</a:t>
            </a:r>
            <a:r>
              <a:rPr lang="en-US" sz="34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dẫn</a:t>
            </a:r>
            <a:endParaRPr lang="en-US" sz="3450" dirty="0"/>
          </a:p>
        </p:txBody>
      </p:sp>
      <p:sp>
        <p:nvSpPr>
          <p:cNvPr id="36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8caa4bc7-12cc-4102-a52d-02e68dd37b5d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1635186-893191308"/>
          <p:cNvSpPr/>
          <p:nvPr/>
        </p:nvSpPr>
        <p:spPr>
          <a:xfrm>
            <a:off x="1143000" y="9620250"/>
            <a:ext cx="1554480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00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14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29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43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57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72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01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15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29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44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058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973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887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01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71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630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990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905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819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733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5816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Text 25"/>
          <p:cNvSpPr/>
          <p:nvPr/>
        </p:nvSpPr>
        <p:spPr>
          <a:xfrm>
            <a:off x="16916400" y="9467850"/>
            <a:ext cx="99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06/18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agent-orchestrator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143000" y="99060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Chuẩn</a:t>
            </a:r>
            <a:r>
              <a:rPr lang="en-US" sz="6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6300" dirty="0" spc="-6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bắt</a:t>
            </a:r>
            <a:r>
              <a:rPr lang="en-US" sz="63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endParaRPr lang="en-US" sz="6300" dirty="0"/>
          </a:p>
        </p:txBody>
      </p:sp>
      <p:sp>
        <p:nvSpPr>
          <p:cNvPr id="31" name="Text 29"/>
          <p:cNvSpPr/>
          <p:nvPr/>
        </p:nvSpPr>
        <p:spPr>
          <a:xfrm>
            <a:off x="1143000" y="2038350"/>
            <a:ext cx="1143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i="1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</a:t>
            </a:r>
            <a:r>
              <a:rPr lang="en-US" sz="2550" i="1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550" i="1" dirty="0" spc="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i="1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550" i="1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i="1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i="1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i="1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đủ.</a:t>
            </a:r>
            <a:endParaRPr lang="en-US" sz="2550" dirty="0"/>
          </a:p>
        </p:txBody>
      </p:sp>
      <p:sp>
        <p:nvSpPr>
          <p:cNvPr id="32" name="Shape 30"/>
          <p:cNvSpPr/>
          <p:nvPr/>
        </p:nvSpPr>
        <p:spPr>
          <a:xfrm>
            <a:off x="1143000" y="2762250"/>
            <a:ext cx="16002000" cy="3238500"/>
          </a:xfrm>
          <a:prstGeom prst="roundRect">
            <a:avLst>
              <a:gd name="adj" fmla="val 9412"/>
            </a:avLst>
          </a:prstGeom>
          <a:solidFill>
            <a:srgbClr val="E8E0CF"/>
          </a:solidFill>
          <a:ln/>
        </p:spPr>
      </p:sp>
      <p:sp>
        <p:nvSpPr>
          <p:cNvPr id="33" name="Shape 31"/>
          <p:cNvSpPr/>
          <p:nvPr/>
        </p:nvSpPr>
        <p:spPr>
          <a:xfrm>
            <a:off x="1619250" y="3238500"/>
            <a:ext cx="685800" cy="685800"/>
          </a:xfrm>
          <a:prstGeom prst="roundRect">
            <a:avLst>
              <a:gd name="adj" fmla="val 22222"/>
            </a:avLst>
          </a:prstGeom>
          <a:solidFill>
            <a:srgbClr val="F3EEE3"/>
          </a:solidFill>
          <a:ln w="57150">
            <a:solidFill>
              <a:srgbClr val="0F76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62250" y="3143250"/>
            <a:ext cx="13906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b="1" dirty="0" spc="-1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Hệ</a:t>
            </a:r>
            <a:r>
              <a:rPr lang="en-US" sz="3750" b="1" dirty="0" spc="10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điều</a:t>
            </a:r>
            <a:r>
              <a:rPr lang="en-US" sz="3750" b="1" dirty="0" spc="-1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hành</a:t>
            </a:r>
            <a:r>
              <a:rPr lang="en-US" sz="3750" b="1" dirty="0" spc="-33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tương</a:t>
            </a:r>
            <a:r>
              <a:rPr lang="en-US" sz="3750" b="1" dirty="0" spc="0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thích</a:t>
            </a:r>
            <a:endParaRPr lang="en-US" sz="3750" dirty="0"/>
          </a:p>
        </p:txBody>
      </p:sp>
      <p:sp>
        <p:nvSpPr>
          <p:cNvPr id="35" name="Text 33"/>
          <p:cNvSpPr/>
          <p:nvPr/>
        </p:nvSpPr>
        <p:spPr>
          <a:xfrm>
            <a:off x="2762250" y="3810000"/>
            <a:ext cx="13906500" cy="12382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macOS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(Apple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silicon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Intel),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Windows,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Linux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(AppImage,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deb,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rpm)</a:t>
            </a:r>
            <a:endParaRPr lang="en-US" sz="2850" dirty="0"/>
          </a:p>
        </p:txBody>
      </p:sp>
      <p:sp>
        <p:nvSpPr>
          <p:cNvPr id="36" name="Shape 34"/>
          <p:cNvSpPr/>
          <p:nvPr/>
        </p:nvSpPr>
        <p:spPr>
          <a:xfrm>
            <a:off x="1143000" y="6286500"/>
            <a:ext cx="16002000" cy="2381250"/>
          </a:xfrm>
          <a:prstGeom prst="roundRect">
            <a:avLst>
              <a:gd name="adj" fmla="val 12800"/>
            </a:avLst>
          </a:prstGeom>
          <a:solidFill>
            <a:srgbClr val="E8E0CF"/>
          </a:solidFill>
          <a:ln/>
        </p:spPr>
      </p:sp>
      <p:sp>
        <p:nvSpPr>
          <p:cNvPr id="37" name="Shape 35"/>
          <p:cNvSpPr/>
          <p:nvPr/>
        </p:nvSpPr>
        <p:spPr>
          <a:xfrm>
            <a:off x="1619250" y="6762750"/>
            <a:ext cx="685800" cy="685800"/>
          </a:xfrm>
          <a:prstGeom prst="roundRect">
            <a:avLst>
              <a:gd name="adj" fmla="val 22222"/>
            </a:avLst>
          </a:prstGeom>
          <a:solidFill>
            <a:srgbClr val="F3EEE3"/>
          </a:solidFill>
          <a:ln w="57150">
            <a:solidFill>
              <a:srgbClr val="0F76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62250" y="6667500"/>
            <a:ext cx="13906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b="1" dirty="0" spc="0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Kho</a:t>
            </a:r>
            <a:r>
              <a:rPr lang="en-US" sz="3750" b="1" dirty="0" spc="-1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lưu</a:t>
            </a:r>
            <a:r>
              <a:rPr lang="en-US" sz="3750" b="1" dirty="0" spc="3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trữ</a:t>
            </a:r>
            <a:r>
              <a:rPr lang="en-US" sz="3750" b="1" dirty="0" spc="1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Git</a:t>
            </a:r>
            <a:endParaRPr lang="en-US" sz="3750" dirty="0"/>
          </a:p>
        </p:txBody>
      </p:sp>
      <p:sp>
        <p:nvSpPr>
          <p:cNvPr id="39" name="Text 37"/>
          <p:cNvSpPr/>
          <p:nvPr/>
        </p:nvSpPr>
        <p:spPr>
          <a:xfrm>
            <a:off x="2762250" y="7334250"/>
            <a:ext cx="13906500" cy="10477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 mã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 cục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worktree</a:t>
            </a:r>
            <a:endParaRPr lang="en-US" sz="2850" dirty="0"/>
          </a:p>
        </p:txBody>
      </p:sp>
      <p:sp>
        <p:nvSpPr>
          <p:cNvPr id="40" name="Text 38"/>
          <p:cNvSpPr/>
          <p:nvPr/>
        </p:nvSpPr>
        <p:spPr>
          <a:xfrm>
            <a:off x="2762250" y="5143500"/>
            <a:ext cx="1390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Liên</a:t>
            </a:r>
            <a:r>
              <a:rPr lang="en-US" sz="240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README: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buNone/>
            </a:pPr>
            <a:r>
              <a:rPr lang="en-US" sz="2400" u="sng" dirty="0" spc="-1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docs.orchestrator.inc/installation</a:t>
            </a:r>
            <a:endParaRPr lang="en-US" sz="240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d9267f5b-578d-4bd3-9934-a844e56d0b7d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1729933-737579837"/>
          <p:cNvSpPr/>
          <p:nvPr/>
        </p:nvSpPr>
        <p:spPr>
          <a:xfrm>
            <a:off x="1143000" y="9620250"/>
            <a:ext cx="1554480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00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14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29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43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57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72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01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15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29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44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058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973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887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01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71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630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990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905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819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733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648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4960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Text 26"/>
          <p:cNvSpPr/>
          <p:nvPr/>
        </p:nvSpPr>
        <p:spPr>
          <a:xfrm>
            <a:off x="16916400" y="9467850"/>
            <a:ext cx="99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07/18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agent-orchestrator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 ĐI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143000" y="99060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Lộ</a:t>
            </a:r>
            <a:r>
              <a:rPr lang="en-US" sz="63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endParaRPr lang="en-US" sz="6300" dirty="0"/>
          </a:p>
        </p:txBody>
      </p:sp>
      <p:sp>
        <p:nvSpPr>
          <p:cNvPr id="32" name="Connector line-1792231730011-439076690"/>
          <p:cNvSpPr/>
          <p:nvPr/>
        </p:nvSpPr>
        <p:spPr>
          <a:xfrm>
            <a:off x="2381250" y="3524250"/>
            <a:ext cx="0" cy="4381500"/>
          </a:xfrm>
          <a:prstGeom prst="line">
            <a:avLst/>
          </a:prstGeom>
          <a:noFill/>
          <a:ln w="7620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3238500" y="2571750"/>
            <a:ext cx="13906500" cy="1905000"/>
          </a:xfrm>
          <a:prstGeom prst="roundRect">
            <a:avLst>
              <a:gd name="adj" fmla="val 14000"/>
            </a:avLst>
          </a:prstGeom>
          <a:solidFill>
            <a:srgbClr val="E8E0CF"/>
          </a:solidFill>
          <a:ln/>
        </p:spPr>
      </p:sp>
      <p:sp>
        <p:nvSpPr>
          <p:cNvPr id="34" name="Text 32"/>
          <p:cNvSpPr/>
          <p:nvPr/>
        </p:nvSpPr>
        <p:spPr>
          <a:xfrm>
            <a:off x="2000250" y="314325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3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3300" dirty="0"/>
          </a:p>
        </p:txBody>
      </p:sp>
      <p:sp>
        <p:nvSpPr>
          <p:cNvPr id="35" name="Text 33"/>
          <p:cNvSpPr/>
          <p:nvPr/>
        </p:nvSpPr>
        <p:spPr>
          <a:xfrm>
            <a:off x="3714750" y="2800350"/>
            <a:ext cx="1295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8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Tải</a:t>
            </a:r>
            <a:r>
              <a:rPr lang="en-US" sz="36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6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khởi</a:t>
            </a:r>
            <a:r>
              <a:rPr lang="en-US" sz="36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36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36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desktop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3714750" y="3448050"/>
            <a:ext cx="12954000" cy="9144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Cài đặt</a:t>
            </a:r>
            <a:r>
              <a:rPr lang="en-US" sz="25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desktop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 daemon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nguồn mà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CLI.</a:t>
            </a:r>
            <a:endParaRPr lang="en-US" sz="2550" dirty="0"/>
          </a:p>
        </p:txBody>
      </p:sp>
      <p:sp>
        <p:nvSpPr>
          <p:cNvPr id="37" name="Shape 35"/>
          <p:cNvSpPr/>
          <p:nvPr/>
        </p:nvSpPr>
        <p:spPr>
          <a:xfrm>
            <a:off x="3238500" y="4762500"/>
            <a:ext cx="13906500" cy="1905000"/>
          </a:xfrm>
          <a:prstGeom prst="roundRect">
            <a:avLst>
              <a:gd name="adj" fmla="val 14000"/>
            </a:avLst>
          </a:prstGeom>
          <a:solidFill>
            <a:srgbClr val="E8E0CF"/>
          </a:solidFill>
          <a:ln/>
        </p:spPr>
      </p:sp>
      <p:sp>
        <p:nvSpPr>
          <p:cNvPr id="38" name="Text 36"/>
          <p:cNvSpPr/>
          <p:nvPr/>
        </p:nvSpPr>
        <p:spPr>
          <a:xfrm>
            <a:off x="2000250" y="533400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5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3300" dirty="0"/>
          </a:p>
        </p:txBody>
      </p:sp>
      <p:sp>
        <p:nvSpPr>
          <p:cNvPr id="39" name="Text 37"/>
          <p:cNvSpPr/>
          <p:nvPr/>
        </p:nvSpPr>
        <p:spPr>
          <a:xfrm>
            <a:off x="3714750" y="4991100"/>
            <a:ext cx="1295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Thêm</a:t>
            </a:r>
            <a:r>
              <a:rPr lang="en-US" sz="36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repository</a:t>
            </a:r>
            <a:r>
              <a:rPr lang="en-US" sz="36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6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khởi</a:t>
            </a:r>
            <a:r>
              <a:rPr lang="en-US" sz="3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tạo</a:t>
            </a:r>
            <a:r>
              <a:rPr lang="en-US" sz="36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worker</a:t>
            </a:r>
            <a:r>
              <a:rPr lang="en-US" sz="3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session</a:t>
            </a:r>
            <a:endParaRPr lang="en-US" sz="3600" dirty="0"/>
          </a:p>
        </p:txBody>
      </p:sp>
      <p:sp>
        <p:nvSpPr>
          <p:cNvPr id="40" name="Text 38"/>
          <p:cNvSpPr/>
          <p:nvPr/>
        </p:nvSpPr>
        <p:spPr>
          <a:xfrm>
            <a:off x="3714750" y="5638800"/>
            <a:ext cx="12954000" cy="9144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Gắn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coding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vụ.</a:t>
            </a:r>
            <a:endParaRPr lang="en-US" sz="2550" dirty="0"/>
          </a:p>
        </p:txBody>
      </p:sp>
      <p:sp>
        <p:nvSpPr>
          <p:cNvPr id="41" name="Shape 39"/>
          <p:cNvSpPr/>
          <p:nvPr/>
        </p:nvSpPr>
        <p:spPr>
          <a:xfrm>
            <a:off x="3238500" y="6953250"/>
            <a:ext cx="13906500" cy="1905000"/>
          </a:xfrm>
          <a:prstGeom prst="roundRect">
            <a:avLst>
              <a:gd name="adj" fmla="val 14000"/>
            </a:avLst>
          </a:prstGeom>
          <a:solidFill>
            <a:srgbClr val="D5EBDD"/>
          </a:solidFill>
          <a:ln/>
        </p:spPr>
      </p:sp>
      <p:sp>
        <p:nvSpPr>
          <p:cNvPr id="42" name="Shape 40"/>
          <p:cNvSpPr/>
          <p:nvPr/>
        </p:nvSpPr>
        <p:spPr>
          <a:xfrm>
            <a:off x="2000250" y="752475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1E7A4F"/>
          </a:solidFill>
          <a:ln/>
        </p:spPr>
      </p:sp>
      <p:pic>
        <p:nvPicPr>
          <p:cNvPr id="43" name="Moda flattened rect-1792231730066-70676284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3600" y="7658100"/>
            <a:ext cx="495300" cy="495300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3714750" y="7181850"/>
            <a:ext cx="1295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Kết</a:t>
            </a:r>
            <a:r>
              <a:rPr lang="en-US" sz="36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endParaRPr lang="en-US" sz="3600" dirty="0"/>
          </a:p>
        </p:txBody>
      </p:sp>
      <p:sp>
        <p:nvSpPr>
          <p:cNvPr id="45" name="Text 42"/>
          <p:cNvSpPr/>
          <p:nvPr/>
        </p:nvSpPr>
        <p:spPr>
          <a:xfrm>
            <a:off x="3714750" y="7829550"/>
            <a:ext cx="12954000" cy="9144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Cài đặt thành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desktop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tính,</a:t>
            </a:r>
            <a:r>
              <a:rPr lang="en-US" sz="25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 mã nguồn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5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worker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session</a:t>
            </a:r>
            <a:r>
              <a:rPr lang="en-US" sz="25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coding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agent.</a:t>
            </a:r>
            <a:endParaRPr lang="en-US" sz="2550" dirty="0"/>
          </a:p>
        </p:txBody>
      </p:sp>
      <p:sp>
        <p:nvSpPr>
          <p:cNvPr id="46" name="Shape 4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7" name="Moda image moda-export-watermark-cf4c2faa-19d0-4489-b414-423c456352ac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1730964-694497045"/>
          <p:cNvSpPr/>
          <p:nvPr/>
        </p:nvSpPr>
        <p:spPr>
          <a:xfrm>
            <a:off x="1143000" y="9620250"/>
            <a:ext cx="1554480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00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14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29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43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57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72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01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15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29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44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058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973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887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01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71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630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990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905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819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733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648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562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4104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Text 27"/>
          <p:cNvSpPr/>
          <p:nvPr/>
        </p:nvSpPr>
        <p:spPr>
          <a:xfrm>
            <a:off x="16916400" y="9467850"/>
            <a:ext cx="99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08/18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agent-orchestrator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143000" y="990600"/>
            <a:ext cx="16002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dirty="0" spc="-1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Tải</a:t>
            </a:r>
            <a:r>
              <a:rPr lang="en-US" sz="5100" dirty="0" spc="-5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1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khởi</a:t>
            </a:r>
            <a:r>
              <a:rPr lang="en-US" sz="51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51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51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51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desktop</a:t>
            </a:r>
            <a:endParaRPr lang="en-US" sz="5100" dirty="0"/>
          </a:p>
        </p:txBody>
      </p:sp>
      <p:sp>
        <p:nvSpPr>
          <p:cNvPr id="33" name="Text 31"/>
          <p:cNvSpPr/>
          <p:nvPr/>
        </p:nvSpPr>
        <p:spPr>
          <a:xfrm>
            <a:off x="1143000" y="1905000"/>
            <a:ext cx="160020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đích: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5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desktop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 daemon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nguồn mà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 CLI.</a:t>
            </a:r>
            <a:endParaRPr lang="en-US" sz="2550" dirty="0"/>
          </a:p>
        </p:txBody>
      </p:sp>
      <p:sp>
        <p:nvSpPr>
          <p:cNvPr id="34" name="Shape 32"/>
          <p:cNvSpPr/>
          <p:nvPr/>
        </p:nvSpPr>
        <p:spPr>
          <a:xfrm>
            <a:off x="1143000" y="3048000"/>
            <a:ext cx="8572500" cy="2857500"/>
          </a:xfrm>
          <a:prstGeom prst="roundRect">
            <a:avLst>
              <a:gd name="adj" fmla="val 9333"/>
            </a:avLst>
          </a:prstGeom>
          <a:solidFill>
            <a:srgbClr val="E8E0CF"/>
          </a:solidFill>
          <a:ln/>
        </p:spPr>
      </p:sp>
      <p:sp>
        <p:nvSpPr>
          <p:cNvPr id="35" name="Text 33"/>
          <p:cNvSpPr/>
          <p:nvPr/>
        </p:nvSpPr>
        <p:spPr>
          <a:xfrm>
            <a:off x="1524000" y="4191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700" dirty="0"/>
          </a:p>
        </p:txBody>
      </p:sp>
      <p:sp>
        <p:nvSpPr>
          <p:cNvPr id="36" name="Text 34"/>
          <p:cNvSpPr/>
          <p:nvPr/>
        </p:nvSpPr>
        <p:spPr>
          <a:xfrm>
            <a:off x="2476500" y="3238500"/>
            <a:ext cx="6858000" cy="24765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ctr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9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Tải</a:t>
            </a:r>
            <a:r>
              <a:rPr lang="en-US" sz="31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 đặt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phù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31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31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 từ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31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31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31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thức.</a:t>
            </a:r>
            <a:endParaRPr lang="en-US" sz="3150" dirty="0"/>
          </a:p>
        </p:txBody>
      </p:sp>
      <p:sp>
        <p:nvSpPr>
          <p:cNvPr id="37" name="Shape 35"/>
          <p:cNvSpPr/>
          <p:nvPr/>
        </p:nvSpPr>
        <p:spPr>
          <a:xfrm>
            <a:off x="1143000" y="6096000"/>
            <a:ext cx="8572500" cy="2419350"/>
          </a:xfrm>
          <a:prstGeom prst="roundRect">
            <a:avLst>
              <a:gd name="adj" fmla="val 11024"/>
            </a:avLst>
          </a:prstGeom>
          <a:solidFill>
            <a:srgbClr val="E8E0CF"/>
          </a:solidFill>
          <a:ln/>
        </p:spPr>
      </p:sp>
      <p:sp>
        <p:nvSpPr>
          <p:cNvPr id="38" name="Text 36"/>
          <p:cNvSpPr/>
          <p:nvPr/>
        </p:nvSpPr>
        <p:spPr>
          <a:xfrm>
            <a:off x="1524000" y="700087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700" dirty="0"/>
          </a:p>
        </p:txBody>
      </p:sp>
      <p:sp>
        <p:nvSpPr>
          <p:cNvPr id="39" name="Text 37"/>
          <p:cNvSpPr/>
          <p:nvPr/>
        </p:nvSpPr>
        <p:spPr>
          <a:xfrm>
            <a:off x="2476500" y="6191250"/>
            <a:ext cx="6858000" cy="22288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ctr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31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31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31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31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31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3150" dirty="0" spc="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31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31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tính.</a:t>
            </a:r>
            <a:endParaRPr lang="en-US" sz="3150" dirty="0"/>
          </a:p>
        </p:txBody>
      </p:sp>
      <p:sp>
        <p:nvSpPr>
          <p:cNvPr id="40" name="Shape 38"/>
          <p:cNvSpPr/>
          <p:nvPr/>
        </p:nvSpPr>
        <p:spPr>
          <a:xfrm>
            <a:off x="10287000" y="3048000"/>
            <a:ext cx="6858000" cy="2095500"/>
          </a:xfrm>
          <a:prstGeom prst="roundRect">
            <a:avLst>
              <a:gd name="adj" fmla="val 12727"/>
            </a:avLst>
          </a:prstGeom>
          <a:solidFill>
            <a:srgbClr val="D5EBDD"/>
          </a:solidFill>
          <a:ln/>
        </p:spPr>
      </p:sp>
      <p:sp>
        <p:nvSpPr>
          <p:cNvPr id="41" name="Text 39"/>
          <p:cNvSpPr/>
          <p:nvPr/>
        </p:nvSpPr>
        <p:spPr>
          <a:xfrm>
            <a:off x="10668000" y="3276600"/>
            <a:ext cx="609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7" kern="0" dirty="0">
                <a:solidFill>
                  <a:srgbClr val="1E7A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r>
              <a:rPr lang="en-US" sz="1950" b="1" spc="223" kern="0" dirty="0">
                <a:solidFill>
                  <a:srgbClr val="1E7A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1950" b="1" spc="187" kern="0" dirty="0">
                <a:solidFill>
                  <a:srgbClr val="1E7A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10668000" y="3733800"/>
            <a:ext cx="6096000" cy="12382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3000" dirty="0" spc="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hiển thị</a:t>
            </a: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0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màn hình.</a:t>
            </a:r>
            <a:endParaRPr lang="en-US" sz="3000" dirty="0"/>
          </a:p>
        </p:txBody>
      </p:sp>
      <p:sp>
        <p:nvSpPr>
          <p:cNvPr id="43" name="Shape 41"/>
          <p:cNvSpPr/>
          <p:nvPr/>
        </p:nvSpPr>
        <p:spPr>
          <a:xfrm>
            <a:off x="10287000" y="5372100"/>
            <a:ext cx="6858000" cy="3143250"/>
          </a:xfrm>
          <a:prstGeom prst="roundRect">
            <a:avLst>
              <a:gd name="adj" fmla="val 8485"/>
            </a:avLst>
          </a:prstGeom>
          <a:solidFill>
            <a:srgbClr val="F3DFB8"/>
          </a:solidFill>
          <a:ln/>
        </p:spPr>
      </p:sp>
      <p:sp>
        <p:nvSpPr>
          <p:cNvPr id="44" name="Text 42"/>
          <p:cNvSpPr/>
          <p:nvPr/>
        </p:nvSpPr>
        <p:spPr>
          <a:xfrm>
            <a:off x="10668000" y="5600700"/>
            <a:ext cx="609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NẾU</a:t>
            </a:r>
            <a:r>
              <a:rPr lang="en-US" sz="19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950" dirty="0"/>
          </a:p>
        </p:txBody>
      </p:sp>
      <p:sp>
        <p:nvSpPr>
          <p:cNvPr id="45" name="Text 43"/>
          <p:cNvSpPr/>
          <p:nvPr/>
        </p:nvSpPr>
        <p:spPr>
          <a:xfrm>
            <a:off x="10668000" y="6057900"/>
            <a:ext cx="6096000" cy="2381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7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Trên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macOS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nhấp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5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Open,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nữa.</a:t>
            </a:r>
            <a:endParaRPr lang="en-US" sz="2550" dirty="0"/>
          </a:p>
        </p:txBody>
      </p:sp>
      <p:sp>
        <p:nvSpPr>
          <p:cNvPr id="46" name="Text 44"/>
          <p:cNvSpPr/>
          <p:nvPr/>
        </p:nvSpPr>
        <p:spPr>
          <a:xfrm>
            <a:off x="1143000" y="8801100"/>
            <a:ext cx="1600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Liên</a:t>
            </a:r>
            <a:r>
              <a:rPr lang="en-US" sz="240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README: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buNone/>
            </a:pPr>
            <a:r>
              <a:rPr lang="en-US" sz="2400" u="sng" dirty="0" spc="-1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github.com/OrchestratorInc/agent-orchestrator/releases/latest</a:t>
            </a:r>
            <a:endParaRPr lang="en-US" sz="2400" dirty="0"/>
          </a:p>
        </p:txBody>
      </p:sp>
      <p:sp>
        <p:nvSpPr>
          <p:cNvPr id="47" name="Shape 4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8" name="Moda image moda-export-watermark-1b09699c-8c51-42b9-ba04-809ba693ea34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1732564-668851817"/>
          <p:cNvSpPr/>
          <p:nvPr/>
        </p:nvSpPr>
        <p:spPr>
          <a:xfrm>
            <a:off x="1143000" y="9620250"/>
            <a:ext cx="1554480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00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14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29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43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57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72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01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15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29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44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058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973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887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01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71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630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990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905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819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733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648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562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477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3248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0" name="Text 28"/>
          <p:cNvSpPr/>
          <p:nvPr/>
        </p:nvSpPr>
        <p:spPr>
          <a:xfrm>
            <a:off x="16916400" y="9467850"/>
            <a:ext cx="99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09/18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agent-orchestrator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143000" y="990600"/>
            <a:ext cx="16002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Thêm</a:t>
            </a:r>
            <a:r>
              <a:rPr lang="en-US" sz="51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repository</a:t>
            </a:r>
            <a:r>
              <a:rPr lang="en-US" sz="5100" dirty="0" spc="-5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1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khởi</a:t>
            </a:r>
            <a:r>
              <a:rPr lang="en-US" sz="51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tạo</a:t>
            </a:r>
            <a:r>
              <a:rPr lang="en-US" sz="51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worker</a:t>
            </a:r>
            <a:r>
              <a:rPr lang="en-US" sz="51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session</a:t>
            </a:r>
            <a:endParaRPr lang="en-US" sz="5100" dirty="0"/>
          </a:p>
        </p:txBody>
      </p:sp>
      <p:sp>
        <p:nvSpPr>
          <p:cNvPr id="34" name="Text 32"/>
          <p:cNvSpPr/>
          <p:nvPr/>
        </p:nvSpPr>
        <p:spPr>
          <a:xfrm>
            <a:off x="1143000" y="1905000"/>
            <a:ext cx="160020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đích: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coding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vụ.</a:t>
            </a:r>
            <a:endParaRPr lang="en-US" sz="2550" dirty="0"/>
          </a:p>
        </p:txBody>
      </p:sp>
      <p:sp>
        <p:nvSpPr>
          <p:cNvPr id="35" name="Shape 33"/>
          <p:cNvSpPr/>
          <p:nvPr/>
        </p:nvSpPr>
        <p:spPr>
          <a:xfrm>
            <a:off x="1143000" y="3048000"/>
            <a:ext cx="8572500" cy="1905000"/>
          </a:xfrm>
          <a:prstGeom prst="roundRect">
            <a:avLst>
              <a:gd name="adj" fmla="val 14000"/>
            </a:avLst>
          </a:prstGeom>
          <a:solidFill>
            <a:srgbClr val="E8E0CF"/>
          </a:solidFill>
          <a:ln/>
        </p:spPr>
      </p:sp>
      <p:sp>
        <p:nvSpPr>
          <p:cNvPr id="36" name="Text 34"/>
          <p:cNvSpPr/>
          <p:nvPr/>
        </p:nvSpPr>
        <p:spPr>
          <a:xfrm>
            <a:off x="1524000" y="36957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700" dirty="0"/>
          </a:p>
        </p:txBody>
      </p:sp>
      <p:sp>
        <p:nvSpPr>
          <p:cNvPr id="37" name="Text 35"/>
          <p:cNvSpPr/>
          <p:nvPr/>
        </p:nvSpPr>
        <p:spPr>
          <a:xfrm>
            <a:off x="2476500" y="3143250"/>
            <a:ext cx="6858000" cy="17145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ctr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1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Trỏ</a:t>
            </a:r>
            <a:r>
              <a:rPr lang="en-US" sz="3150" dirty="0" spc="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31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31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repository</a:t>
            </a:r>
            <a:r>
              <a:rPr lang="en-US" sz="31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lý.</a:t>
            </a:r>
            <a:endParaRPr lang="en-US" sz="3150" dirty="0"/>
          </a:p>
        </p:txBody>
      </p:sp>
      <p:sp>
        <p:nvSpPr>
          <p:cNvPr id="38" name="Shape 36"/>
          <p:cNvSpPr/>
          <p:nvPr/>
        </p:nvSpPr>
        <p:spPr>
          <a:xfrm>
            <a:off x="1143000" y="5181600"/>
            <a:ext cx="8572500" cy="3333750"/>
          </a:xfrm>
          <a:prstGeom prst="roundRect">
            <a:avLst>
              <a:gd name="adj" fmla="val 8000"/>
            </a:avLst>
          </a:prstGeom>
          <a:solidFill>
            <a:srgbClr val="E8E0CF"/>
          </a:solidFill>
          <a:ln/>
        </p:spPr>
      </p:sp>
      <p:sp>
        <p:nvSpPr>
          <p:cNvPr id="39" name="Text 37"/>
          <p:cNvSpPr/>
          <p:nvPr/>
        </p:nvSpPr>
        <p:spPr>
          <a:xfrm>
            <a:off x="1524000" y="654367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700" dirty="0"/>
          </a:p>
        </p:txBody>
      </p:sp>
      <p:sp>
        <p:nvSpPr>
          <p:cNvPr id="40" name="Text 38"/>
          <p:cNvSpPr/>
          <p:nvPr/>
        </p:nvSpPr>
        <p:spPr>
          <a:xfrm>
            <a:off x="2476500" y="5276850"/>
            <a:ext cx="6858000" cy="314325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ctr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Bấm</a:t>
            </a:r>
            <a:r>
              <a:rPr lang="en-US" sz="31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New task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1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3150" dirty="0" spc="-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31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ràng,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31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3150" dirty="0" spc="-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mong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muốn, chọn</a:t>
            </a:r>
            <a:r>
              <a:rPr lang="en-US" sz="31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31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model,</a:t>
            </a:r>
            <a:r>
              <a:rPr lang="en-US" sz="31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31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3150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đính</a:t>
            </a:r>
            <a:r>
              <a:rPr lang="en-US" sz="315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31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quan.</a:t>
            </a:r>
            <a:endParaRPr lang="en-US" sz="3150" dirty="0"/>
          </a:p>
        </p:txBody>
      </p:sp>
      <p:sp>
        <p:nvSpPr>
          <p:cNvPr id="41" name="Shape 39"/>
          <p:cNvSpPr/>
          <p:nvPr/>
        </p:nvSpPr>
        <p:spPr>
          <a:xfrm>
            <a:off x="10287000" y="3048000"/>
            <a:ext cx="6858000" cy="5467350"/>
          </a:xfrm>
          <a:prstGeom prst="roundRect">
            <a:avLst>
              <a:gd name="adj" fmla="val 4878"/>
            </a:avLst>
          </a:prstGeom>
          <a:solidFill>
            <a:srgbClr val="D5EBDD"/>
          </a:solidFill>
          <a:ln/>
        </p:spPr>
      </p:sp>
      <p:pic>
        <p:nvPicPr>
          <p:cNvPr id="42" name="Moda flattened rect-1792231732644-258908702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3486150"/>
            <a:ext cx="952500" cy="952500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10763250" y="4743450"/>
            <a:ext cx="5905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7" kern="0" dirty="0">
                <a:solidFill>
                  <a:srgbClr val="1E7A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r>
              <a:rPr lang="en-US" sz="1950" b="1" spc="223" kern="0" dirty="0">
                <a:solidFill>
                  <a:srgbClr val="1E7A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1950" b="1" spc="187" kern="0" dirty="0">
                <a:solidFill>
                  <a:srgbClr val="1E7A4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endParaRPr lang="en-US" sz="1950" dirty="0"/>
          </a:p>
        </p:txBody>
      </p:sp>
      <p:sp>
        <p:nvSpPr>
          <p:cNvPr id="44" name="Text 41"/>
          <p:cNvSpPr/>
          <p:nvPr/>
        </p:nvSpPr>
        <p:spPr>
          <a:xfrm>
            <a:off x="10763250" y="5219700"/>
            <a:ext cx="5905500" cy="3048000"/>
          </a:xfrm>
          <a:prstGeom prst="rect">
            <a:avLst/>
          </a:prstGeom>
          <a:noFill/>
          <a:ln/>
        </p:spPr>
        <p:txBody>
          <a:bodyPr wrap="square" lIns="0" tIns="17812" rIns="0" bIns="-17812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3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worker</a:t>
            </a:r>
            <a:r>
              <a:rPr lang="en-US" sz="33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session</a:t>
            </a:r>
            <a:r>
              <a:rPr lang="en-US" sz="33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3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33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3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branch,</a:t>
            </a:r>
            <a:r>
              <a:rPr lang="en-US" sz="33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worktree</a:t>
            </a:r>
            <a:r>
              <a:rPr lang="en-US" sz="33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33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3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33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33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</a:t>
            </a:r>
            <a:r>
              <a:rPr lang="en-US" sz="33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33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terminal</a:t>
            </a:r>
            <a:r>
              <a:rPr lang="en-US" sz="33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UI</a:t>
            </a:r>
            <a:r>
              <a:rPr lang="en-US" sz="33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3300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ứng.</a:t>
            </a:r>
            <a:endParaRPr lang="en-US" sz="3300" dirty="0"/>
          </a:p>
        </p:txBody>
      </p:sp>
      <p:sp>
        <p:nvSpPr>
          <p:cNvPr id="45" name="Text 42"/>
          <p:cNvSpPr/>
          <p:nvPr/>
        </p:nvSpPr>
        <p:spPr>
          <a:xfrm>
            <a:off x="1143000" y="8801100"/>
            <a:ext cx="1600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Liên</a:t>
            </a:r>
            <a:r>
              <a:rPr lang="en-US" sz="240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README: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buNone/>
            </a:pPr>
            <a:r>
              <a:rPr lang="en-US" sz="2400" u="sng" dirty="0" spc="-1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docs.orchestrator.inc/installation</a:t>
            </a:r>
            <a:endParaRPr lang="en-US" sz="2400" dirty="0"/>
          </a:p>
        </p:txBody>
      </p:sp>
      <p:sp>
        <p:nvSpPr>
          <p:cNvPr id="46" name="Shape 4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7" name="Moda image moda-export-watermark-f2feabc2-7ce6-43ae-81fb-e9b705f2e73d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1768612-699306852"/>
          <p:cNvSpPr/>
          <p:nvPr/>
        </p:nvSpPr>
        <p:spPr>
          <a:xfrm>
            <a:off x="1143000" y="9620250"/>
            <a:ext cx="1554480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00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14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29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43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57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72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01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15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29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44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058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973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887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01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71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630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990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905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819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733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648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562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477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391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92392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Text 29"/>
          <p:cNvSpPr/>
          <p:nvPr/>
        </p:nvSpPr>
        <p:spPr>
          <a:xfrm>
            <a:off x="16916400" y="9467850"/>
            <a:ext cx="99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10/18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agent-orchestrator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XÁC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1143000" y="99060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Kiểm</a:t>
            </a:r>
            <a:r>
              <a:rPr lang="en-US" sz="63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63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endParaRPr lang="en-US" sz="6300" dirty="0"/>
          </a:p>
        </p:txBody>
      </p:sp>
      <p:sp>
        <p:nvSpPr>
          <p:cNvPr id="35" name="Shape 33"/>
          <p:cNvSpPr/>
          <p:nvPr/>
        </p:nvSpPr>
        <p:spPr>
          <a:xfrm>
            <a:off x="1143000" y="2571750"/>
            <a:ext cx="16002000" cy="6191250"/>
          </a:xfrm>
          <a:prstGeom prst="roundRect">
            <a:avLst>
              <a:gd name="adj" fmla="val 5538"/>
            </a:avLst>
          </a:prstGeom>
          <a:solidFill>
            <a:srgbClr val="D5EBDD"/>
          </a:solidFill>
          <a:ln/>
        </p:spPr>
      </p:sp>
      <p:sp>
        <p:nvSpPr>
          <p:cNvPr id="36" name="Shape 34"/>
          <p:cNvSpPr/>
          <p:nvPr/>
        </p:nvSpPr>
        <p:spPr>
          <a:xfrm>
            <a:off x="1809750" y="3238500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1E7A4F"/>
          </a:solidFill>
          <a:ln/>
        </p:spPr>
      </p:sp>
      <p:pic>
        <p:nvPicPr>
          <p:cNvPr id="37" name="Moda flattened rect-1792231768703-576934534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9300" y="3448050"/>
            <a:ext cx="723900" cy="72390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1809750" y="4762500"/>
            <a:ext cx="14478000" cy="3619500"/>
          </a:xfrm>
          <a:prstGeom prst="rect">
            <a:avLst/>
          </a:prstGeom>
          <a:noFill/>
          <a:ln/>
        </p:spPr>
        <p:txBody>
          <a:bodyPr wrap="square" lIns="0" tIns="21860" rIns="0" bIns="-21860" rtlCol="0" anchor="t"/>
          <a:lstStyle/>
          <a:p>
            <a:pPr algn="l" indent="0" marL="0">
              <a:lnSpc>
                <a:spcPts val="5265"/>
              </a:lnSpc>
              <a:buNone/>
            </a:pPr>
            <a:r>
              <a:rPr lang="en-US" sz="4050" dirty="0" spc="-12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Tài</a:t>
            </a:r>
            <a:r>
              <a:rPr lang="en-US" sz="40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</a:t>
            </a:r>
            <a:r>
              <a:rPr lang="en-US" sz="40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40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cung cấp</a:t>
            </a:r>
            <a:r>
              <a:rPr lang="en-US" sz="405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dòng</a:t>
            </a:r>
            <a:r>
              <a:rPr lang="en-US" sz="40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lệnh CLI</a:t>
            </a:r>
            <a:r>
              <a:rPr lang="en-US" sz="4050" dirty="0" spc="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để</a:t>
            </a:r>
            <a:r>
              <a:rPr lang="en-US" sz="4050" dirty="0" spc="-3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xác</a:t>
            </a:r>
            <a:r>
              <a:rPr lang="en-US" sz="4050" dirty="0" spc="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thực;</a:t>
            </a:r>
            <a:r>
              <a:rPr lang="en-US" sz="40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kiểm</a:t>
            </a:r>
            <a:r>
              <a:rPr lang="en-US" sz="4050" dirty="0" spc="-3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tra</a:t>
            </a:r>
            <a:r>
              <a:rPr lang="en-US" sz="4050" dirty="0" spc="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trực</a:t>
            </a:r>
            <a:r>
              <a:rPr lang="en-US" sz="40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quan</a:t>
            </a:r>
            <a:r>
              <a:rPr lang="en-US" sz="4050" dirty="0" spc="-3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trên</a:t>
            </a:r>
            <a:r>
              <a:rPr lang="en-US" sz="40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màn</a:t>
            </a:r>
            <a:r>
              <a:rPr lang="en-US" sz="40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hình</a:t>
            </a:r>
            <a:r>
              <a:rPr lang="en-US" sz="40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thấy</a:t>
            </a:r>
            <a:r>
              <a:rPr lang="en-US" sz="4050" dirty="0" spc="-4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worker</a:t>
            </a:r>
            <a:r>
              <a:rPr lang="en-US" sz="40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session</a:t>
            </a:r>
            <a:r>
              <a:rPr lang="en-US" sz="4050" dirty="0" spc="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đã</a:t>
            </a:r>
            <a:r>
              <a:rPr lang="en-US" sz="405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gắn</a:t>
            </a:r>
            <a:r>
              <a:rPr lang="en-US" sz="40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liền</a:t>
            </a:r>
            <a:r>
              <a:rPr lang="en-US" sz="4050" dirty="0" spc="-2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với</a:t>
            </a:r>
            <a:r>
              <a:rPr lang="en-US" sz="405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branch</a:t>
            </a:r>
            <a:r>
              <a:rPr lang="en-US" sz="4050" dirty="0" spc="-3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40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hiển thị</a:t>
            </a:r>
            <a:r>
              <a:rPr lang="en-US" sz="4050" dirty="0" spc="-2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trạng</a:t>
            </a:r>
            <a:r>
              <a:rPr lang="en-US" sz="40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thái</a:t>
            </a:r>
            <a:r>
              <a:rPr lang="en-US" sz="4050" dirty="0" spc="-3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trên</a:t>
            </a:r>
            <a:r>
              <a:rPr lang="en-US" sz="4050" dirty="0" spc="-2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Kanban.</a:t>
            </a:r>
            <a:endParaRPr lang="en-US" sz="4050" dirty="0"/>
          </a:p>
        </p:txBody>
      </p:sp>
      <p:sp>
        <p:nvSpPr>
          <p:cNvPr id="39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600f85c8-63ae-43a0-8ee4-1323544b15b5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1770096-874012567"/>
          <p:cNvSpPr/>
          <p:nvPr/>
        </p:nvSpPr>
        <p:spPr>
          <a:xfrm>
            <a:off x="1143000" y="9620250"/>
            <a:ext cx="1554480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00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14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29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43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57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72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01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15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29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44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058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973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887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01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71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630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990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905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819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733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648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562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477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391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9305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1536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Text 30"/>
          <p:cNvSpPr/>
          <p:nvPr/>
        </p:nvSpPr>
        <p:spPr>
          <a:xfrm>
            <a:off x="16916400" y="9467850"/>
            <a:ext cx="99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11/18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agent-orchestrator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1950" b="1" spc="1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143000" y="99060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Lỗi</a:t>
            </a:r>
            <a:r>
              <a:rPr lang="en-US" sz="6300" dirty="0" spc="-5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thường</a:t>
            </a:r>
            <a:r>
              <a:rPr lang="en-US" sz="63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gặp</a:t>
            </a:r>
            <a:endParaRPr lang="en-US" sz="6300" dirty="0"/>
          </a:p>
        </p:txBody>
      </p:sp>
      <p:sp>
        <p:nvSpPr>
          <p:cNvPr id="36" name="Shape 34"/>
          <p:cNvSpPr/>
          <p:nvPr/>
        </p:nvSpPr>
        <p:spPr>
          <a:xfrm>
            <a:off x="1143000" y="2571750"/>
            <a:ext cx="7715250" cy="6191250"/>
          </a:xfrm>
          <a:prstGeom prst="roundRect">
            <a:avLst>
              <a:gd name="adj" fmla="val 4923"/>
            </a:avLst>
          </a:prstGeom>
          <a:solidFill>
            <a:srgbClr val="F6D5CB"/>
          </a:solidFill>
          <a:ln/>
        </p:spPr>
      </p:sp>
      <p:sp>
        <p:nvSpPr>
          <p:cNvPr id="37" name="Text 35"/>
          <p:cNvSpPr/>
          <p:nvPr/>
        </p:nvSpPr>
        <p:spPr>
          <a:xfrm>
            <a:off x="1714500" y="4381500"/>
            <a:ext cx="6572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B02D1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HIỆN</a:t>
            </a:r>
            <a:r>
              <a:rPr lang="en-US" sz="1950" b="1" spc="226" kern="0" dirty="0">
                <a:solidFill>
                  <a:srgbClr val="B02D1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714500" y="4857750"/>
            <a:ext cx="6572250" cy="3619500"/>
          </a:xfrm>
          <a:prstGeom prst="rect">
            <a:avLst/>
          </a:prstGeom>
          <a:noFill/>
          <a:ln/>
        </p:spPr>
        <p:txBody>
          <a:bodyPr wrap="square" lIns="0" tIns="17812" rIns="0" bIns="-17812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dirty="0" spc="-9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Trên</a:t>
            </a:r>
            <a:r>
              <a:rPr lang="en-US" sz="33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macOS</a:t>
            </a:r>
            <a:r>
              <a:rPr lang="en-US" sz="3300" dirty="0" spc="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33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33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3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33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3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 không</a:t>
            </a:r>
            <a:r>
              <a:rPr lang="en-US" sz="33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330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33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33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</a:t>
            </a:r>
            <a:r>
              <a:rPr lang="en-US" sz="33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33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endParaRPr lang="en-US" sz="3300" dirty="0"/>
          </a:p>
        </p:txBody>
      </p:sp>
      <p:sp>
        <p:nvSpPr>
          <p:cNvPr id="39" name="Shape 37"/>
          <p:cNvSpPr/>
          <p:nvPr/>
        </p:nvSpPr>
        <p:spPr>
          <a:xfrm>
            <a:off x="9429750" y="2571750"/>
            <a:ext cx="7715250" cy="6191250"/>
          </a:xfrm>
          <a:prstGeom prst="roundRect">
            <a:avLst>
              <a:gd name="adj" fmla="val 4923"/>
            </a:avLst>
          </a:prstGeom>
          <a:solidFill>
            <a:srgbClr val="CFE6E2"/>
          </a:solidFill>
          <a:ln/>
        </p:spPr>
      </p:sp>
      <p:pic>
        <p:nvPicPr>
          <p:cNvPr id="40" name="Moda flattened rect-1792231770173-234378560, rect-1792231954923-698559677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5450" y="3124200"/>
            <a:ext cx="9239250" cy="95250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10001250" y="4381500"/>
            <a:ext cx="6572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8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9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1950" b="1" spc="1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1950" dirty="0"/>
          </a:p>
        </p:txBody>
      </p:sp>
      <p:sp>
        <p:nvSpPr>
          <p:cNvPr id="42" name="Text 39"/>
          <p:cNvSpPr/>
          <p:nvPr/>
        </p:nvSpPr>
        <p:spPr>
          <a:xfrm>
            <a:off x="10001250" y="4857750"/>
            <a:ext cx="6572250" cy="3619500"/>
          </a:xfrm>
          <a:prstGeom prst="rect">
            <a:avLst/>
          </a:prstGeom>
          <a:noFill/>
          <a:ln/>
        </p:spPr>
        <p:txBody>
          <a:bodyPr wrap="square" lIns="0" tIns="17812" rIns="0" bIns="-17812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Nhấp</a:t>
            </a:r>
            <a:r>
              <a:rPr lang="en-US" sz="33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chuột</a:t>
            </a:r>
            <a:r>
              <a:rPr lang="en-US" sz="33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33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3300" dirty="0" spc="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33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33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3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33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Open,</a:t>
            </a:r>
            <a:r>
              <a:rPr lang="en-US" sz="33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33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33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33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</a:t>
            </a:r>
            <a:r>
              <a:rPr lang="en-US" sz="33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33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nữa;</a:t>
            </a:r>
            <a:r>
              <a:rPr lang="en-US" sz="33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33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33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 thì</a:t>
            </a:r>
            <a:r>
              <a:rPr lang="en-US" sz="33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33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issue</a:t>
            </a:r>
            <a:r>
              <a:rPr lang="en-US" sz="3300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33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chẩn</a:t>
            </a:r>
            <a:r>
              <a:rPr lang="en-US" sz="33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330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Gatekeeper.</a:t>
            </a:r>
            <a:endParaRPr lang="en-US" sz="3300" dirty="0"/>
          </a:p>
        </p:txBody>
      </p:sp>
      <p:sp>
        <p:nvSpPr>
          <p:cNvPr id="43" name="Shape 4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6cbcda71-6c5b-4481-ac80-7759bd8cccec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1771079-787185804"/>
          <p:cNvSpPr/>
          <p:nvPr/>
        </p:nvSpPr>
        <p:spPr>
          <a:xfrm>
            <a:off x="1143000" y="9620250"/>
            <a:ext cx="1554480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00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14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29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43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57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72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01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15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29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44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058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973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887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01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71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630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990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905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819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733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648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562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477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391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9305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220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0680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3" name="Text 31"/>
          <p:cNvSpPr/>
          <p:nvPr/>
        </p:nvSpPr>
        <p:spPr>
          <a:xfrm>
            <a:off x="16916400" y="9467850"/>
            <a:ext cx="99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12/18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agent-orchestrator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TIẾP</a:t>
            </a:r>
            <a:r>
              <a:rPr lang="en-US" sz="195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1143000" y="99060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Làm tiếp</a:t>
            </a:r>
            <a:endParaRPr lang="en-US" sz="6300" dirty="0"/>
          </a:p>
        </p:txBody>
      </p:sp>
      <p:sp>
        <p:nvSpPr>
          <p:cNvPr id="37" name="Shape 35"/>
          <p:cNvSpPr/>
          <p:nvPr/>
        </p:nvSpPr>
        <p:spPr>
          <a:xfrm>
            <a:off x="1143000" y="2571750"/>
            <a:ext cx="16002000" cy="2857500"/>
          </a:xfrm>
          <a:prstGeom prst="roundRect">
            <a:avLst>
              <a:gd name="adj" fmla="val 10667"/>
            </a:avLst>
          </a:prstGeom>
          <a:solidFill>
            <a:srgbClr val="E8E0CF"/>
          </a:solidFill>
          <a:ln/>
        </p:spPr>
      </p:sp>
      <p:sp>
        <p:nvSpPr>
          <p:cNvPr id="38" name="Text 36"/>
          <p:cNvSpPr/>
          <p:nvPr/>
        </p:nvSpPr>
        <p:spPr>
          <a:xfrm>
            <a:off x="1714500" y="3429000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 spc="3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39" name="Text 37"/>
          <p:cNvSpPr/>
          <p:nvPr/>
        </p:nvSpPr>
        <p:spPr>
          <a:xfrm>
            <a:off x="3429000" y="2762250"/>
            <a:ext cx="13144500" cy="2476500"/>
          </a:xfrm>
          <a:prstGeom prst="rect">
            <a:avLst/>
          </a:prstGeom>
          <a:noFill/>
          <a:ln/>
        </p:spPr>
        <p:txBody>
          <a:bodyPr wrap="square" lIns="0" tIns="21050" rIns="0" bIns="-21050" rtlCol="0" anchor="ctr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dirty="0" spc="-5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39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39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39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39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3900" dirty="0" spc="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390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39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</a:t>
            </a:r>
            <a:r>
              <a:rPr lang="en-US" sz="39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39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Claude</a:t>
            </a:r>
            <a:r>
              <a:rPr lang="en-US" sz="39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Code,</a:t>
            </a:r>
            <a:r>
              <a:rPr lang="en-US" sz="39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Codex,</a:t>
            </a:r>
            <a:r>
              <a:rPr lang="en-US" sz="39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Cursor</a:t>
            </a:r>
            <a:r>
              <a:rPr lang="en-US" sz="390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9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39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3900" dirty="0"/>
          </a:p>
        </p:txBody>
      </p:sp>
      <p:sp>
        <p:nvSpPr>
          <p:cNvPr id="40" name="Shape 38"/>
          <p:cNvSpPr/>
          <p:nvPr/>
        </p:nvSpPr>
        <p:spPr>
          <a:xfrm>
            <a:off x="1143000" y="5810250"/>
            <a:ext cx="16002000" cy="2857500"/>
          </a:xfrm>
          <a:prstGeom prst="roundRect">
            <a:avLst>
              <a:gd name="adj" fmla="val 10667"/>
            </a:avLst>
          </a:prstGeom>
          <a:solidFill>
            <a:srgbClr val="E8E0CF"/>
          </a:solidFill>
          <a:ln/>
        </p:spPr>
      </p:sp>
      <p:sp>
        <p:nvSpPr>
          <p:cNvPr id="41" name="Text 39"/>
          <p:cNvSpPr/>
          <p:nvPr/>
        </p:nvSpPr>
        <p:spPr>
          <a:xfrm>
            <a:off x="1714500" y="6667500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 spc="-1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42" name="Text 40"/>
          <p:cNvSpPr/>
          <p:nvPr/>
        </p:nvSpPr>
        <p:spPr>
          <a:xfrm>
            <a:off x="3429000" y="6000750"/>
            <a:ext cx="13144500" cy="2476500"/>
          </a:xfrm>
          <a:prstGeom prst="rect">
            <a:avLst/>
          </a:prstGeom>
          <a:noFill/>
          <a:ln/>
        </p:spPr>
        <p:txBody>
          <a:bodyPr wrap="square" lIns="0" tIns="21050" rIns="0" bIns="-21050" rtlCol="0" anchor="ctr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39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39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390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39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pull</a:t>
            </a:r>
            <a:r>
              <a:rPr lang="en-US" sz="390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r>
              <a:rPr lang="en-US" sz="39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9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</a:t>
            </a:r>
            <a:r>
              <a:rPr lang="en-US" sz="39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9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390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worker</a:t>
            </a:r>
            <a:r>
              <a:rPr lang="en-US" sz="39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390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39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39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Kanban</a:t>
            </a:r>
            <a:endParaRPr lang="en-US" sz="390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75ed8279-21fd-4db5-a862-270c6eda13b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1813610-401053178"/>
          <p:cNvSpPr/>
          <p:nvPr/>
        </p:nvSpPr>
        <p:spPr>
          <a:xfrm>
            <a:off x="1143000" y="9620250"/>
            <a:ext cx="1554480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00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14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29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43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57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72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01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15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29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44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058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973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887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01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71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630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990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905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819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733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648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562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477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391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9305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220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134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9824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4" name="Text 32"/>
          <p:cNvSpPr/>
          <p:nvPr/>
        </p:nvSpPr>
        <p:spPr>
          <a:xfrm>
            <a:off x="16916400" y="9467850"/>
            <a:ext cx="99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13/18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agent-orchestrator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</a:t>
            </a:r>
            <a:r>
              <a:rPr lang="en-US" sz="1950" b="1" spc="29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1143000" y="99060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Bên</a:t>
            </a:r>
            <a:r>
              <a:rPr lang="en-US" sz="63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</a:t>
            </a:r>
            <a:r>
              <a:rPr lang="en-US" sz="63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hoạt</a:t>
            </a:r>
            <a:r>
              <a:rPr lang="en-US" sz="63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630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6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endParaRPr lang="en-US" sz="6300" dirty="0"/>
          </a:p>
        </p:txBody>
      </p:sp>
      <p:sp>
        <p:nvSpPr>
          <p:cNvPr id="38" name="Shape 36"/>
          <p:cNvSpPr/>
          <p:nvPr/>
        </p:nvSpPr>
        <p:spPr>
          <a:xfrm>
            <a:off x="1143000" y="2381250"/>
            <a:ext cx="4762500" cy="4762500"/>
          </a:xfrm>
          <a:prstGeom prst="roundRect">
            <a:avLst>
              <a:gd name="adj" fmla="val 6400"/>
            </a:avLst>
          </a:prstGeom>
          <a:solidFill>
            <a:srgbClr val="E8E0CF"/>
          </a:solidFill>
          <a:ln/>
        </p:spPr>
      </p:sp>
      <p:sp>
        <p:nvSpPr>
          <p:cNvPr id="39" name="Shape 37"/>
          <p:cNvSpPr/>
          <p:nvPr/>
        </p:nvSpPr>
        <p:spPr>
          <a:xfrm>
            <a:off x="2952750" y="2762250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pic>
        <p:nvPicPr>
          <p:cNvPr id="40" name="Moda flattened rect-1792231813689-740199102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3009900"/>
            <a:ext cx="647700" cy="64770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1428750" y="4152900"/>
            <a:ext cx="419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5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Desktop</a:t>
            </a:r>
            <a:r>
              <a:rPr lang="en-US" sz="31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App</a:t>
            </a:r>
            <a:endParaRPr lang="en-US" sz="3150" dirty="0"/>
          </a:p>
        </p:txBody>
      </p:sp>
      <p:sp>
        <p:nvSpPr>
          <p:cNvPr id="42" name="Text 39"/>
          <p:cNvSpPr/>
          <p:nvPr/>
        </p:nvSpPr>
        <p:spPr>
          <a:xfrm>
            <a:off x="1428750" y="4819650"/>
            <a:ext cx="4191000" cy="2190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 bảng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Kanban,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</a:t>
            </a: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terminal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UI</a:t>
            </a:r>
            <a:endParaRPr lang="en-US" sz="2400" dirty="0"/>
          </a:p>
        </p:txBody>
      </p:sp>
      <p:sp>
        <p:nvSpPr>
          <p:cNvPr id="43" name="Shape 40"/>
          <p:cNvSpPr/>
          <p:nvPr/>
        </p:nvSpPr>
        <p:spPr>
          <a:xfrm>
            <a:off x="6762750" y="2381250"/>
            <a:ext cx="4762500" cy="4762500"/>
          </a:xfrm>
          <a:prstGeom prst="roundRect">
            <a:avLst>
              <a:gd name="adj" fmla="val 6400"/>
            </a:avLst>
          </a:prstGeom>
          <a:solidFill>
            <a:srgbClr val="E8E0CF"/>
          </a:solidFill>
          <a:ln/>
        </p:spPr>
      </p:sp>
      <p:sp>
        <p:nvSpPr>
          <p:cNvPr id="44" name="Shape 41"/>
          <p:cNvSpPr/>
          <p:nvPr/>
        </p:nvSpPr>
        <p:spPr>
          <a:xfrm>
            <a:off x="8572500" y="2762250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pic>
        <p:nvPicPr>
          <p:cNvPr id="45" name="Moda flattened rect-1792231813727-82923919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0" y="3009900"/>
            <a:ext cx="647700" cy="647700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7048500" y="4152900"/>
            <a:ext cx="419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5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Local</a:t>
            </a:r>
            <a:r>
              <a:rPr lang="en-US" sz="315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Daemon</a:t>
            </a:r>
            <a:endParaRPr lang="en-US" sz="3150" dirty="0"/>
          </a:p>
        </p:txBody>
      </p:sp>
      <p:sp>
        <p:nvSpPr>
          <p:cNvPr id="47" name="Text 43"/>
          <p:cNvSpPr/>
          <p:nvPr/>
        </p:nvSpPr>
        <p:spPr>
          <a:xfrm>
            <a:off x="7048500" y="4819650"/>
            <a:ext cx="4191000" cy="2190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Tiến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400" dirty="0"/>
          </a:p>
        </p:txBody>
      </p:sp>
      <p:sp>
        <p:nvSpPr>
          <p:cNvPr id="48" name="Shape 44"/>
          <p:cNvSpPr/>
          <p:nvPr/>
        </p:nvSpPr>
        <p:spPr>
          <a:xfrm>
            <a:off x="12382500" y="2381250"/>
            <a:ext cx="4762500" cy="4762500"/>
          </a:xfrm>
          <a:prstGeom prst="roundRect">
            <a:avLst>
              <a:gd name="adj" fmla="val 6400"/>
            </a:avLst>
          </a:prstGeom>
          <a:solidFill>
            <a:srgbClr val="E8E0CF"/>
          </a:solidFill>
          <a:ln/>
        </p:spPr>
      </p:sp>
      <p:sp>
        <p:nvSpPr>
          <p:cNvPr id="49" name="Shape 45"/>
          <p:cNvSpPr/>
          <p:nvPr/>
        </p:nvSpPr>
        <p:spPr>
          <a:xfrm>
            <a:off x="14192250" y="2762250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0" name="Text 46"/>
          <p:cNvSpPr/>
          <p:nvPr/>
        </p:nvSpPr>
        <p:spPr>
          <a:xfrm>
            <a:off x="12668250" y="4152900"/>
            <a:ext cx="419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Coding</a:t>
            </a:r>
            <a:r>
              <a:rPr lang="en-US" sz="315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r>
              <a:rPr lang="en-US" sz="315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Workers</a:t>
            </a:r>
            <a:endParaRPr lang="en-US" sz="3150" dirty="0"/>
          </a:p>
        </p:txBody>
      </p:sp>
      <p:sp>
        <p:nvSpPr>
          <p:cNvPr id="51" name="Text 47"/>
          <p:cNvSpPr/>
          <p:nvPr/>
        </p:nvSpPr>
        <p:spPr>
          <a:xfrm>
            <a:off x="12668250" y="4819650"/>
            <a:ext cx="4191000" cy="2190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worktree và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 Git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endParaRPr lang="en-US" sz="2400" dirty="0"/>
          </a:p>
        </p:txBody>
      </p:sp>
      <p:sp>
        <p:nvSpPr>
          <p:cNvPr id="52" name="Connector line-1792231813797-951139542"/>
          <p:cNvSpPr/>
          <p:nvPr/>
        </p:nvSpPr>
        <p:spPr>
          <a:xfrm>
            <a:off x="6057900" y="4762500"/>
            <a:ext cx="55245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53" name="Connector line-1792231813797-645454017"/>
          <p:cNvSpPr/>
          <p:nvPr/>
        </p:nvSpPr>
        <p:spPr>
          <a:xfrm>
            <a:off x="11677650" y="4762500"/>
            <a:ext cx="55245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54" name="Connector line-1792231813797-964417174"/>
          <p:cNvSpPr/>
          <p:nvPr/>
        </p:nvSpPr>
        <p:spPr>
          <a:xfrm>
            <a:off x="14763750" y="7143750"/>
            <a:ext cx="0" cy="104775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55" name="Connector line-1792231813797-587394925"/>
          <p:cNvSpPr/>
          <p:nvPr/>
        </p:nvSpPr>
        <p:spPr>
          <a:xfrm flipH="1">
            <a:off x="3524250" y="8191500"/>
            <a:ext cx="112395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56" name="Connector line-1792231813797-186760224"/>
          <p:cNvSpPr/>
          <p:nvPr/>
        </p:nvSpPr>
        <p:spPr>
          <a:xfrm flipV="1">
            <a:off x="3524250" y="7334250"/>
            <a:ext cx="0" cy="85725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57" name="Text 53"/>
          <p:cNvSpPr/>
          <p:nvPr/>
        </p:nvSpPr>
        <p:spPr>
          <a:xfrm>
            <a:off x="4381500" y="8420100"/>
            <a:ext cx="952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Coding Agent Workers → Desktop App</a:t>
            </a:r>
            <a:endParaRPr lang="en-US" sz="2400" dirty="0"/>
          </a:p>
        </p:txBody>
      </p:sp>
      <p:pic>
        <p:nvPicPr>
          <p:cNvPr id="58" name="Moda flattened rect-1792231955974-208671438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9900" y="3009900"/>
            <a:ext cx="647700" cy="647700"/>
          </a:xfrm>
          <a:prstGeom prst="rect">
            <a:avLst/>
          </a:prstGeom>
        </p:spPr>
      </p:pic>
      <p:sp>
        <p:nvSpPr>
          <p:cNvPr id="59" name="Shape 5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0" name="Moda image moda-export-watermark-2d602be9-685f-4fc1-ae92-e13715b06ebf" descr="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1815110-298380684"/>
          <p:cNvSpPr/>
          <p:nvPr/>
        </p:nvSpPr>
        <p:spPr>
          <a:xfrm>
            <a:off x="1143000" y="9620250"/>
            <a:ext cx="15544800" cy="0"/>
          </a:xfrm>
          <a:prstGeom prst="line">
            <a:avLst/>
          </a:prstGeom>
          <a:noFill/>
          <a:ln w="19050">
            <a:solidFill>
              <a:srgbClr val="F3EEE3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002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146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290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434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578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722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010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154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298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442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0586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9730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8874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018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7162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6306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9907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9051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8195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7339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6483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5627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4771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3915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93059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2203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1347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20491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2896850" y="9486900"/>
            <a:ext cx="266700" cy="266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5" name="Text 33"/>
          <p:cNvSpPr/>
          <p:nvPr/>
        </p:nvSpPr>
        <p:spPr>
          <a:xfrm>
            <a:off x="16916400" y="9467850"/>
            <a:ext cx="99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14/18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agent-orchestrator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TỪNG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143000" y="99060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Bên</a:t>
            </a:r>
            <a:r>
              <a:rPr lang="en-US" sz="63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</a:t>
            </a:r>
            <a:r>
              <a:rPr lang="en-US" sz="63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hoạt</a:t>
            </a:r>
            <a:r>
              <a:rPr lang="en-US" sz="63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630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endParaRPr lang="en-US" sz="6300" dirty="0"/>
          </a:p>
        </p:txBody>
      </p:sp>
      <p:sp>
        <p:nvSpPr>
          <p:cNvPr id="39" name="Connector line-1792231815170-211756183"/>
          <p:cNvSpPr/>
          <p:nvPr/>
        </p:nvSpPr>
        <p:spPr>
          <a:xfrm>
            <a:off x="1143000" y="2762250"/>
            <a:ext cx="3714750" cy="0"/>
          </a:xfrm>
          <a:prstGeom prst="line">
            <a:avLst/>
          </a:prstGeom>
          <a:noFill/>
          <a:ln w="5715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1009650" y="2628900"/>
            <a:ext cx="266700" cy="266700"/>
          </a:xfrm>
          <a:prstGeom prst="ellipse">
            <a:avLst/>
          </a:prstGeom>
          <a:solidFill>
            <a:srgbClr val="12141B"/>
          </a:solidFill>
          <a:ln w="57150">
            <a:solidFill>
              <a:srgbClr val="7C93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43000" y="3048000"/>
            <a:ext cx="37147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738" dirty="0" spc="-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738" dirty="0"/>
          </a:p>
        </p:txBody>
      </p:sp>
      <p:sp>
        <p:nvSpPr>
          <p:cNvPr id="42" name="Text 40"/>
          <p:cNvSpPr/>
          <p:nvPr/>
        </p:nvSpPr>
        <p:spPr>
          <a:xfrm>
            <a:off x="1143000" y="4476750"/>
            <a:ext cx="3714750" cy="1047750"/>
          </a:xfrm>
          <a:prstGeom prst="rect">
            <a:avLst/>
          </a:prstGeom>
          <a:noFill/>
          <a:ln/>
        </p:spPr>
        <p:txBody>
          <a:bodyPr wrap="square" lIns="0" tIns="10033" rIns="0" bIns="-10033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en-US" sz="3150" dirty="0" spc="-7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Tạo</a:t>
            </a:r>
            <a:r>
              <a:rPr lang="en-US" sz="315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worker</a:t>
            </a:r>
            <a:r>
              <a:rPr lang="en-US" sz="31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session</a:t>
            </a:r>
            <a:endParaRPr lang="en-US" sz="3150" dirty="0"/>
          </a:p>
        </p:txBody>
      </p:sp>
      <p:sp>
        <p:nvSpPr>
          <p:cNvPr id="43" name="Text 41"/>
          <p:cNvSpPr/>
          <p:nvPr/>
        </p:nvSpPr>
        <p:spPr>
          <a:xfrm>
            <a:off x="1143000" y="5619750"/>
            <a:ext cx="3714750" cy="3429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40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4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2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worker</a:t>
            </a:r>
            <a:r>
              <a:rPr lang="en-US" sz="24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4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coding</a:t>
            </a:r>
            <a:r>
              <a:rPr lang="en-US" sz="240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agent,</a:t>
            </a:r>
            <a:r>
              <a:rPr lang="en-US" sz="24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phù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40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gian</a:t>
            </a:r>
            <a:r>
              <a:rPr lang="en-US" sz="24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lập.</a:t>
            </a:r>
            <a:endParaRPr lang="en-US" sz="2400" dirty="0"/>
          </a:p>
        </p:txBody>
      </p:sp>
      <p:sp>
        <p:nvSpPr>
          <p:cNvPr id="44" name="Connector line-1792231815215-541522464"/>
          <p:cNvSpPr/>
          <p:nvPr/>
        </p:nvSpPr>
        <p:spPr>
          <a:xfrm>
            <a:off x="5238750" y="2762250"/>
            <a:ext cx="3714750" cy="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5105400" y="2628900"/>
            <a:ext cx="266700" cy="266700"/>
          </a:xfrm>
          <a:prstGeom prst="ellipse">
            <a:avLst/>
          </a:prstGeom>
          <a:solidFill>
            <a:srgbClr val="12141B"/>
          </a:solidFill>
          <a:ln w="57150">
            <a:solidFill>
              <a:srgbClr val="3DD6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38750" y="3048000"/>
            <a:ext cx="37147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738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738" dirty="0"/>
          </a:p>
        </p:txBody>
      </p:sp>
      <p:sp>
        <p:nvSpPr>
          <p:cNvPr id="47" name="Text 45"/>
          <p:cNvSpPr/>
          <p:nvPr/>
        </p:nvSpPr>
        <p:spPr>
          <a:xfrm>
            <a:off x="5238750" y="4476750"/>
            <a:ext cx="3714750" cy="1047750"/>
          </a:xfrm>
          <a:prstGeom prst="rect">
            <a:avLst/>
          </a:prstGeom>
          <a:noFill/>
          <a:ln/>
        </p:spPr>
        <p:txBody>
          <a:bodyPr wrap="square" lIns="0" tIns="10033" rIns="0" bIns="-10033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en-US" sz="31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Cô lập</a:t>
            </a:r>
            <a:r>
              <a:rPr lang="en-US" sz="31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 gian</a:t>
            </a:r>
            <a:r>
              <a:rPr lang="en-US" sz="31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Git</a:t>
            </a:r>
            <a:endParaRPr lang="en-US" sz="3150" dirty="0"/>
          </a:p>
        </p:txBody>
      </p:sp>
      <p:sp>
        <p:nvSpPr>
          <p:cNvPr id="48" name="Text 46"/>
          <p:cNvSpPr/>
          <p:nvPr/>
        </p:nvSpPr>
        <p:spPr>
          <a:xfrm>
            <a:off x="5238750" y="5619750"/>
            <a:ext cx="3714750" cy="3429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400" dirty="0" spc="-2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worker</a:t>
            </a:r>
            <a:r>
              <a:rPr lang="en-US" sz="24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r>
              <a:rPr lang="en-US" sz="240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</a:t>
            </a:r>
            <a:r>
              <a:rPr lang="en-US" sz="240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worktree</a:t>
            </a:r>
            <a:r>
              <a:rPr lang="en-US" sz="2400" dirty="0" spc="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4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biệt,</a:t>
            </a: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00" dirty="0" spc="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repo.</a:t>
            </a:r>
            <a:endParaRPr lang="en-US" sz="2400" dirty="0"/>
          </a:p>
        </p:txBody>
      </p:sp>
      <p:sp>
        <p:nvSpPr>
          <p:cNvPr id="49" name="Connector line-1792231815257-115022751"/>
          <p:cNvSpPr/>
          <p:nvPr/>
        </p:nvSpPr>
        <p:spPr>
          <a:xfrm>
            <a:off x="9334500" y="2762250"/>
            <a:ext cx="3714750" cy="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9201150" y="2628900"/>
            <a:ext cx="266700" cy="266700"/>
          </a:xfrm>
          <a:prstGeom prst="ellipse">
            <a:avLst/>
          </a:prstGeom>
          <a:solidFill>
            <a:srgbClr val="12141B"/>
          </a:solidFill>
          <a:ln w="57150">
            <a:solidFill>
              <a:srgbClr val="FFB45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334500" y="3048000"/>
            <a:ext cx="37147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738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738" dirty="0"/>
          </a:p>
        </p:txBody>
      </p:sp>
      <p:sp>
        <p:nvSpPr>
          <p:cNvPr id="52" name="Text 50"/>
          <p:cNvSpPr/>
          <p:nvPr/>
        </p:nvSpPr>
        <p:spPr>
          <a:xfrm>
            <a:off x="9334500" y="4476750"/>
            <a:ext cx="3714750" cy="1047750"/>
          </a:xfrm>
          <a:prstGeom prst="rect">
            <a:avLst/>
          </a:prstGeom>
          <a:noFill/>
          <a:ln/>
        </p:spPr>
        <p:txBody>
          <a:bodyPr wrap="square" lIns="0" tIns="10033" rIns="0" bIns="-10033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en-US" sz="31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Giám</a:t>
            </a:r>
            <a:r>
              <a:rPr lang="en-US" sz="31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sát qua daemon</a:t>
            </a:r>
            <a:endParaRPr lang="en-US" sz="3150" dirty="0"/>
          </a:p>
        </p:txBody>
      </p:sp>
      <p:sp>
        <p:nvSpPr>
          <p:cNvPr id="53" name="Text 51"/>
          <p:cNvSpPr/>
          <p:nvPr/>
        </p:nvSpPr>
        <p:spPr>
          <a:xfrm>
            <a:off x="9334500" y="5619750"/>
            <a:ext cx="3714750" cy="3429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Daemon</a:t>
            </a:r>
            <a:r>
              <a:rPr lang="en-US" sz="24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4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240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400" dirty="0" spc="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agent,</a:t>
            </a:r>
            <a:r>
              <a:rPr lang="en-US" sz="24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pull</a:t>
            </a:r>
            <a:r>
              <a:rPr lang="en-US" sz="240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r>
              <a:rPr lang="en-US" sz="240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3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4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CI.</a:t>
            </a:r>
            <a:endParaRPr lang="en-US" sz="2400" dirty="0"/>
          </a:p>
        </p:txBody>
      </p:sp>
      <p:sp>
        <p:nvSpPr>
          <p:cNvPr id="54" name="Connector line-1792231815300-854335727"/>
          <p:cNvSpPr/>
          <p:nvPr/>
        </p:nvSpPr>
        <p:spPr>
          <a:xfrm>
            <a:off x="13430250" y="2762250"/>
            <a:ext cx="3714750" cy="0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13296900" y="2628900"/>
            <a:ext cx="266700" cy="266700"/>
          </a:xfrm>
          <a:prstGeom prst="ellipse">
            <a:avLst/>
          </a:prstGeom>
          <a:solidFill>
            <a:srgbClr val="12141B"/>
          </a:solidFill>
          <a:ln w="57150">
            <a:solidFill>
              <a:srgbClr val="FF6A4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3430250" y="3048000"/>
            <a:ext cx="37147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738" dirty="0" spc="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8738" dirty="0"/>
          </a:p>
        </p:txBody>
      </p:sp>
      <p:sp>
        <p:nvSpPr>
          <p:cNvPr id="57" name="Text 55"/>
          <p:cNvSpPr/>
          <p:nvPr/>
        </p:nvSpPr>
        <p:spPr>
          <a:xfrm>
            <a:off x="13430250" y="4476750"/>
            <a:ext cx="3714750" cy="1047750"/>
          </a:xfrm>
          <a:prstGeom prst="rect">
            <a:avLst/>
          </a:prstGeom>
          <a:noFill/>
          <a:ln/>
        </p:spPr>
        <p:txBody>
          <a:bodyPr wrap="square" lIns="0" tIns="10033" rIns="0" bIns="-10033" rtlCol="0" anchor="t"/>
          <a:lstStyle/>
          <a:p>
            <a:pPr algn="l" indent="0" marL="0">
              <a:lnSpc>
                <a:spcPts val="3622"/>
              </a:lnSpc>
              <a:buNone/>
            </a:pPr>
            <a:r>
              <a:rPr lang="en-US" sz="31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Phản</a:t>
            </a:r>
            <a:r>
              <a:rPr lang="en-US" sz="31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hồi hai</a:t>
            </a:r>
            <a:r>
              <a:rPr lang="en-US" sz="31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chiều</a:t>
            </a:r>
            <a:endParaRPr lang="en-US" sz="3150" dirty="0"/>
          </a:p>
        </p:txBody>
      </p:sp>
      <p:sp>
        <p:nvSpPr>
          <p:cNvPr id="58" name="Text 56"/>
          <p:cNvSpPr/>
          <p:nvPr/>
        </p:nvSpPr>
        <p:spPr>
          <a:xfrm>
            <a:off x="13430250" y="5619750"/>
            <a:ext cx="3714750" cy="3429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4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4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400" dirty="0" spc="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4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góp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400" dirty="0" spc="-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40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4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</a:t>
            </a:r>
            <a:r>
              <a:rPr lang="en-US" sz="240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40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4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400" dirty="0" spc="1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hữu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4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2400" dirty="0"/>
          </a:p>
        </p:txBody>
      </p:sp>
      <p:sp>
        <p:nvSpPr>
          <p:cNvPr id="59" name="Shape 5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0" name="Moda image moda-export-watermark-41812b79-cc13-44d7-b570-e6cebe65e41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1816586-575406492"/>
          <p:cNvSpPr/>
          <p:nvPr/>
        </p:nvSpPr>
        <p:spPr>
          <a:xfrm>
            <a:off x="1143000" y="9620250"/>
            <a:ext cx="1554480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00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14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29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43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57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72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01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15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29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44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058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973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887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01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71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630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990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905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819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733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648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562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477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391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9305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220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134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2049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2963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38112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6" name="Text 34"/>
          <p:cNvSpPr/>
          <p:nvPr/>
        </p:nvSpPr>
        <p:spPr>
          <a:xfrm>
            <a:off x="16916400" y="9467850"/>
            <a:ext cx="99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15/18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agent-orchestrator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THÀNH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1143000" y="99060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</a:t>
            </a:r>
            <a:r>
              <a:rPr lang="en-US" sz="63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mảnh</a:t>
            </a:r>
            <a:r>
              <a:rPr lang="en-US" sz="6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ghép</a:t>
            </a:r>
            <a:endParaRPr lang="en-US" sz="6300" dirty="0"/>
          </a:p>
        </p:txBody>
      </p:sp>
      <p:sp>
        <p:nvSpPr>
          <p:cNvPr id="40" name="Connector line-1792231816652-19966191"/>
          <p:cNvSpPr/>
          <p:nvPr/>
        </p:nvSpPr>
        <p:spPr>
          <a:xfrm>
            <a:off x="1143000" y="2571750"/>
            <a:ext cx="16002000" cy="0"/>
          </a:xfrm>
          <a:prstGeom prst="line">
            <a:avLst/>
          </a:prstGeom>
          <a:noFill/>
          <a:ln w="19050">
            <a:solidFill>
              <a:srgbClr val="14161C">
                <a:alpha val="2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1143000" y="30861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pic>
        <p:nvPicPr>
          <p:cNvPr id="42" name="Moda flattened rect-1792231816653-564246485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2550" y="3295650"/>
            <a:ext cx="495300" cy="495300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2381250" y="2762250"/>
            <a:ext cx="51435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1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Desktop</a:t>
            </a:r>
            <a:r>
              <a:rPr lang="en-US" sz="39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App</a:t>
            </a:r>
            <a:endParaRPr lang="en-US" sz="3900" dirty="0"/>
          </a:p>
        </p:txBody>
      </p:sp>
      <p:sp>
        <p:nvSpPr>
          <p:cNvPr id="44" name="Text 41"/>
          <p:cNvSpPr/>
          <p:nvPr/>
        </p:nvSpPr>
        <p:spPr>
          <a:xfrm>
            <a:off x="7905750" y="2762250"/>
            <a:ext cx="9239250" cy="15621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30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30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Kanban,</a:t>
            </a:r>
            <a:r>
              <a:rPr lang="en-US" sz="30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</a:t>
            </a:r>
            <a:r>
              <a:rPr lang="en-US" sz="30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terminal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UI</a:t>
            </a:r>
            <a:endParaRPr lang="en-US" sz="3000" dirty="0"/>
          </a:p>
        </p:txBody>
      </p:sp>
      <p:sp>
        <p:nvSpPr>
          <p:cNvPr id="45" name="Connector line-1792231816683-187305044"/>
          <p:cNvSpPr/>
          <p:nvPr/>
        </p:nvSpPr>
        <p:spPr>
          <a:xfrm>
            <a:off x="1143000" y="4667250"/>
            <a:ext cx="16002000" cy="0"/>
          </a:xfrm>
          <a:prstGeom prst="line">
            <a:avLst/>
          </a:prstGeom>
          <a:noFill/>
          <a:ln w="19050">
            <a:solidFill>
              <a:srgbClr val="14161C">
                <a:alpha val="2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6" name="Shape 43"/>
          <p:cNvSpPr/>
          <p:nvPr/>
        </p:nvSpPr>
        <p:spPr>
          <a:xfrm>
            <a:off x="1143000" y="51816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pic>
        <p:nvPicPr>
          <p:cNvPr id="47" name="Moda flattened rect-1792231816684-503003100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" y="5391150"/>
            <a:ext cx="495300" cy="495300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2381250" y="4857750"/>
            <a:ext cx="51435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Local</a:t>
            </a:r>
            <a:r>
              <a:rPr lang="en-US" sz="3900" dirty="0" spc="-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Daemon</a:t>
            </a:r>
            <a:endParaRPr lang="en-US" sz="3900" dirty="0"/>
          </a:p>
        </p:txBody>
      </p:sp>
      <p:sp>
        <p:nvSpPr>
          <p:cNvPr id="49" name="Text 45"/>
          <p:cNvSpPr/>
          <p:nvPr/>
        </p:nvSpPr>
        <p:spPr>
          <a:xfrm>
            <a:off x="7905750" y="4857750"/>
            <a:ext cx="9239250" cy="15621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Tiến</a:t>
            </a:r>
            <a:r>
              <a:rPr lang="en-US" sz="30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30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0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30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30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30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30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30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30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3000" dirty="0"/>
          </a:p>
        </p:txBody>
      </p:sp>
      <p:sp>
        <p:nvSpPr>
          <p:cNvPr id="50" name="Connector line-1792231816714-282115084"/>
          <p:cNvSpPr/>
          <p:nvPr/>
        </p:nvSpPr>
        <p:spPr>
          <a:xfrm>
            <a:off x="1143000" y="6762750"/>
            <a:ext cx="16002000" cy="0"/>
          </a:xfrm>
          <a:prstGeom prst="line">
            <a:avLst/>
          </a:prstGeom>
          <a:noFill/>
          <a:ln w="19050">
            <a:solidFill>
              <a:srgbClr val="14161C">
                <a:alpha val="2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1" name="Shape 47"/>
          <p:cNvSpPr/>
          <p:nvPr/>
        </p:nvSpPr>
        <p:spPr>
          <a:xfrm>
            <a:off x="1143000" y="72771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2" name="Text 48"/>
          <p:cNvSpPr/>
          <p:nvPr/>
        </p:nvSpPr>
        <p:spPr>
          <a:xfrm>
            <a:off x="2381250" y="6953250"/>
            <a:ext cx="51435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Coding</a:t>
            </a:r>
            <a:r>
              <a:rPr lang="en-US" sz="3900" dirty="0" spc="-1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Agent</a:t>
            </a:r>
            <a:r>
              <a:rPr lang="en-US" sz="3900" dirty="0" spc="-3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Workers</a:t>
            </a:r>
            <a:endParaRPr lang="en-US" sz="3900" dirty="0"/>
          </a:p>
        </p:txBody>
      </p:sp>
      <p:sp>
        <p:nvSpPr>
          <p:cNvPr id="53" name="Text 49"/>
          <p:cNvSpPr/>
          <p:nvPr/>
        </p:nvSpPr>
        <p:spPr>
          <a:xfrm>
            <a:off x="7905750" y="6953250"/>
            <a:ext cx="9239250" cy="15621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30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30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</a:t>
            </a:r>
            <a:r>
              <a:rPr lang="en-US" sz="30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30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30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worktree</a:t>
            </a:r>
            <a:r>
              <a:rPr lang="en-US" sz="30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</a:t>
            </a:r>
            <a:r>
              <a:rPr lang="en-US" sz="30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30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endParaRPr lang="en-US" sz="3000" dirty="0"/>
          </a:p>
        </p:txBody>
      </p:sp>
      <p:sp>
        <p:nvSpPr>
          <p:cNvPr id="54" name="Connector line-1792231816746-377821872"/>
          <p:cNvSpPr/>
          <p:nvPr/>
        </p:nvSpPr>
        <p:spPr>
          <a:xfrm>
            <a:off x="1143000" y="8858250"/>
            <a:ext cx="16002000" cy="0"/>
          </a:xfrm>
          <a:prstGeom prst="line">
            <a:avLst/>
          </a:prstGeom>
          <a:noFill/>
          <a:ln w="19050">
            <a:solidFill>
              <a:srgbClr val="14161C">
                <a:alpha val="25000"/>
              </a:srgbClr>
            </a:solidFill>
            <a:prstDash val="solid"/>
            <a:headEnd type="none"/>
            <a:tailEnd type="none"/>
          </a:ln>
        </p:spPr>
      </p:sp>
      <p:pic>
        <p:nvPicPr>
          <p:cNvPr id="55" name="Moda flattened rect-1792231956960-478641031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50" y="7486650"/>
            <a:ext cx="495300" cy="495300"/>
          </a:xfrm>
          <a:prstGeom prst="rect">
            <a:avLst/>
          </a:prstGeom>
        </p:spPr>
      </p:pic>
      <p:sp>
        <p:nvSpPr>
          <p:cNvPr id="56" name="Shape 5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7" name="Moda image moda-export-watermark-4224bc80-6325-43f9-bedd-35a258bf8fe3" descr="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3F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1993528-744719498"/>
          <p:cNvSpPr/>
          <p:nvPr/>
        </p:nvSpPr>
        <p:spPr>
          <a:xfrm>
            <a:off x="1143000" y="9620250"/>
            <a:ext cx="15544800" cy="0"/>
          </a:xfrm>
          <a:prstGeom prst="line">
            <a:avLst/>
          </a:prstGeom>
          <a:noFill/>
          <a:ln w="19050">
            <a:solidFill>
              <a:srgbClr val="F3EEE3">
                <a:alpha val="3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1F3FD1">
              <a:alpha val="60000"/>
            </a:srgbClr>
          </a:solidFill>
          <a:ln w="19050">
            <a:solidFill>
              <a:srgbClr val="F3EEE3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00250" y="9563100"/>
            <a:ext cx="114300" cy="114300"/>
          </a:xfrm>
          <a:prstGeom prst="ellipse">
            <a:avLst/>
          </a:prstGeom>
          <a:solidFill>
            <a:srgbClr val="1F3FD1">
              <a:alpha val="60000"/>
            </a:srgbClr>
          </a:solidFill>
          <a:ln w="19050">
            <a:solidFill>
              <a:srgbClr val="F3EEE3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14650" y="9563100"/>
            <a:ext cx="114300" cy="114300"/>
          </a:xfrm>
          <a:prstGeom prst="ellipse">
            <a:avLst/>
          </a:prstGeom>
          <a:solidFill>
            <a:srgbClr val="1F3FD1">
              <a:alpha val="60000"/>
            </a:srgbClr>
          </a:solidFill>
          <a:ln w="19050">
            <a:solidFill>
              <a:srgbClr val="F3EEE3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29050" y="9563100"/>
            <a:ext cx="114300" cy="114300"/>
          </a:xfrm>
          <a:prstGeom prst="ellipse">
            <a:avLst/>
          </a:prstGeom>
          <a:solidFill>
            <a:srgbClr val="1F3FD1">
              <a:alpha val="60000"/>
            </a:srgbClr>
          </a:solidFill>
          <a:ln w="19050">
            <a:solidFill>
              <a:srgbClr val="F3EEE3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43450" y="9563100"/>
            <a:ext cx="114300" cy="114300"/>
          </a:xfrm>
          <a:prstGeom prst="ellipse">
            <a:avLst/>
          </a:prstGeom>
          <a:solidFill>
            <a:srgbClr val="1F3FD1">
              <a:alpha val="60000"/>
            </a:srgbClr>
          </a:solidFill>
          <a:ln w="19050">
            <a:solidFill>
              <a:srgbClr val="F3EEE3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57850" y="9563100"/>
            <a:ext cx="114300" cy="114300"/>
          </a:xfrm>
          <a:prstGeom prst="ellipse">
            <a:avLst/>
          </a:prstGeom>
          <a:solidFill>
            <a:srgbClr val="1F3FD1">
              <a:alpha val="60000"/>
            </a:srgbClr>
          </a:solidFill>
          <a:ln w="19050">
            <a:solidFill>
              <a:srgbClr val="F3EEE3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72250" y="9563100"/>
            <a:ext cx="114300" cy="114300"/>
          </a:xfrm>
          <a:prstGeom prst="ellipse">
            <a:avLst/>
          </a:prstGeom>
          <a:solidFill>
            <a:srgbClr val="1F3FD1">
              <a:alpha val="60000"/>
            </a:srgbClr>
          </a:solidFill>
          <a:ln w="19050">
            <a:solidFill>
              <a:srgbClr val="F3EEE3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1F3FD1">
              <a:alpha val="60000"/>
            </a:srgbClr>
          </a:solidFill>
          <a:ln w="19050">
            <a:solidFill>
              <a:srgbClr val="F3EEE3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01050" y="9563100"/>
            <a:ext cx="114300" cy="114300"/>
          </a:xfrm>
          <a:prstGeom prst="ellipse">
            <a:avLst/>
          </a:prstGeom>
          <a:solidFill>
            <a:srgbClr val="1F3FD1">
              <a:alpha val="60000"/>
            </a:srgbClr>
          </a:solidFill>
          <a:ln w="19050">
            <a:solidFill>
              <a:srgbClr val="F3EEE3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15450" y="9563100"/>
            <a:ext cx="114300" cy="114300"/>
          </a:xfrm>
          <a:prstGeom prst="ellipse">
            <a:avLst/>
          </a:prstGeom>
          <a:solidFill>
            <a:srgbClr val="1F3FD1">
              <a:alpha val="60000"/>
            </a:srgbClr>
          </a:solidFill>
          <a:ln w="19050">
            <a:solidFill>
              <a:srgbClr val="F3EEE3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29850" y="9563100"/>
            <a:ext cx="114300" cy="114300"/>
          </a:xfrm>
          <a:prstGeom prst="ellipse">
            <a:avLst/>
          </a:prstGeom>
          <a:solidFill>
            <a:srgbClr val="1F3FD1">
              <a:alpha val="60000"/>
            </a:srgbClr>
          </a:solidFill>
          <a:ln w="19050">
            <a:solidFill>
              <a:srgbClr val="F3EEE3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44250" y="9563100"/>
            <a:ext cx="114300" cy="114300"/>
          </a:xfrm>
          <a:prstGeom prst="ellipse">
            <a:avLst/>
          </a:prstGeom>
          <a:solidFill>
            <a:srgbClr val="1F3FD1">
              <a:alpha val="60000"/>
            </a:srgbClr>
          </a:solidFill>
          <a:ln w="19050">
            <a:solidFill>
              <a:srgbClr val="F3EEE3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058650" y="9563100"/>
            <a:ext cx="114300" cy="114300"/>
          </a:xfrm>
          <a:prstGeom prst="ellipse">
            <a:avLst/>
          </a:prstGeom>
          <a:solidFill>
            <a:srgbClr val="1F3FD1">
              <a:alpha val="60000"/>
            </a:srgbClr>
          </a:solidFill>
          <a:ln w="19050">
            <a:solidFill>
              <a:srgbClr val="F3EEE3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973050" y="9563100"/>
            <a:ext cx="114300" cy="114300"/>
          </a:xfrm>
          <a:prstGeom prst="ellipse">
            <a:avLst/>
          </a:prstGeom>
          <a:solidFill>
            <a:srgbClr val="1F3FD1">
              <a:alpha val="60000"/>
            </a:srgbClr>
          </a:solidFill>
          <a:ln w="19050">
            <a:solidFill>
              <a:srgbClr val="F3EEE3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887450" y="9563100"/>
            <a:ext cx="114300" cy="114300"/>
          </a:xfrm>
          <a:prstGeom prst="ellipse">
            <a:avLst/>
          </a:prstGeom>
          <a:solidFill>
            <a:srgbClr val="1F3FD1">
              <a:alpha val="60000"/>
            </a:srgbClr>
          </a:solidFill>
          <a:ln w="19050">
            <a:solidFill>
              <a:srgbClr val="F3EEE3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01850" y="9563100"/>
            <a:ext cx="114300" cy="114300"/>
          </a:xfrm>
          <a:prstGeom prst="ellipse">
            <a:avLst/>
          </a:prstGeom>
          <a:solidFill>
            <a:srgbClr val="1F3FD1">
              <a:alpha val="60000"/>
            </a:srgbClr>
          </a:solidFill>
          <a:ln w="19050">
            <a:solidFill>
              <a:srgbClr val="F3EEE3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716250" y="9563100"/>
            <a:ext cx="114300" cy="114300"/>
          </a:xfrm>
          <a:prstGeom prst="ellipse">
            <a:avLst/>
          </a:prstGeom>
          <a:solidFill>
            <a:srgbClr val="1F3FD1">
              <a:alpha val="60000"/>
            </a:srgbClr>
          </a:solidFill>
          <a:ln w="19050">
            <a:solidFill>
              <a:srgbClr val="F3EEE3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630650" y="9563100"/>
            <a:ext cx="114300" cy="114300"/>
          </a:xfrm>
          <a:prstGeom prst="ellipse">
            <a:avLst/>
          </a:prstGeom>
          <a:solidFill>
            <a:srgbClr val="1F3FD1">
              <a:alpha val="60000"/>
            </a:srgbClr>
          </a:solidFill>
          <a:ln w="19050">
            <a:solidFill>
              <a:srgbClr val="F3EEE3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9907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9051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8195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7339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6483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5627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4771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3915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93059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2203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1347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20491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29635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3877925" y="9553575"/>
            <a:ext cx="133350" cy="133350"/>
          </a:xfrm>
          <a:prstGeom prst="ellipse">
            <a:avLst/>
          </a:prstGeom>
          <a:solidFill>
            <a:srgbClr val="F3EEE3">
              <a:alpha val="8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4725650" y="9486900"/>
            <a:ext cx="266700" cy="266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7" name="Text 35"/>
          <p:cNvSpPr/>
          <p:nvPr/>
        </p:nvSpPr>
        <p:spPr>
          <a:xfrm>
            <a:off x="16916400" y="9467850"/>
            <a:ext cx="99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16/18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BFCB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BFCB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BFCB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5" kern="0">
                <a:solidFill>
                  <a:srgbClr val="BFCB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agent-orchestrator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3" kern="0" dirty="0">
                <a:solidFill>
                  <a:srgbClr val="FF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950" b="1" spc="300" kern="0" dirty="0">
                <a:solidFill>
                  <a:srgbClr val="FF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1143000" y="99060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Học</a:t>
            </a:r>
            <a:r>
              <a:rPr lang="en-US" sz="6300" dirty="0" spc="-7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63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3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thiết</a:t>
            </a:r>
            <a:r>
              <a:rPr lang="en-US" sz="6300" dirty="0" spc="-4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endParaRPr lang="en-US" sz="6300" dirty="0"/>
          </a:p>
        </p:txBody>
      </p:sp>
      <p:sp>
        <p:nvSpPr>
          <p:cNvPr id="41" name="Connector line-1792231993626-708099609"/>
          <p:cNvSpPr/>
          <p:nvPr/>
        </p:nvSpPr>
        <p:spPr>
          <a:xfrm>
            <a:off x="1143000" y="2571750"/>
            <a:ext cx="16002000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2" name="Text 40"/>
          <p:cNvSpPr/>
          <p:nvPr/>
        </p:nvSpPr>
        <p:spPr>
          <a:xfrm>
            <a:off x="1143000" y="2714625"/>
            <a:ext cx="1619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0" dirty="0" spc="5" kern="0">
                <a:solidFill>
                  <a:srgbClr val="FFC4B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10500" dirty="0"/>
          </a:p>
        </p:txBody>
      </p:sp>
      <p:sp>
        <p:nvSpPr>
          <p:cNvPr id="43" name="Text 41"/>
          <p:cNvSpPr/>
          <p:nvPr/>
        </p:nvSpPr>
        <p:spPr>
          <a:xfrm>
            <a:off x="3143250" y="2714625"/>
            <a:ext cx="14001750" cy="1905000"/>
          </a:xfrm>
          <a:prstGeom prst="rect">
            <a:avLst/>
          </a:prstGeom>
          <a:noFill/>
          <a:ln/>
        </p:spPr>
        <p:txBody>
          <a:bodyPr wrap="square" lIns="0" tIns="18621" rIns="0" bIns="-18621" rtlCol="0" anchor="ctr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4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 Git</a:t>
            </a:r>
            <a:r>
              <a:rPr lang="en-US" sz="3450" dirty="0" spc="-2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worktree</a:t>
            </a:r>
            <a:r>
              <a:rPr lang="en-US" sz="3450" dirty="0" spc="2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450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 lập</a:t>
            </a:r>
            <a:r>
              <a:rPr lang="en-US" sz="34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3450" dirty="0" spc="-1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34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3450" dirty="0" spc="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3450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4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450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450" dirty="0" spc="3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3450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3450" dirty="0" spc="-2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endParaRPr lang="en-US" sz="3450" dirty="0"/>
          </a:p>
        </p:txBody>
      </p:sp>
      <p:sp>
        <p:nvSpPr>
          <p:cNvPr id="44" name="Connector line-1792231993664-261736921"/>
          <p:cNvSpPr/>
          <p:nvPr/>
        </p:nvSpPr>
        <p:spPr>
          <a:xfrm>
            <a:off x="1143000" y="4810125"/>
            <a:ext cx="16002000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5" name="Text 43"/>
          <p:cNvSpPr/>
          <p:nvPr/>
        </p:nvSpPr>
        <p:spPr>
          <a:xfrm>
            <a:off x="1143000" y="4953000"/>
            <a:ext cx="1619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0" dirty="0" spc="-2" kern="0">
                <a:solidFill>
                  <a:srgbClr val="BFF2D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10500" dirty="0"/>
          </a:p>
        </p:txBody>
      </p:sp>
      <p:sp>
        <p:nvSpPr>
          <p:cNvPr id="46" name="Text 44"/>
          <p:cNvSpPr/>
          <p:nvPr/>
        </p:nvSpPr>
        <p:spPr>
          <a:xfrm>
            <a:off x="3143250" y="4953000"/>
            <a:ext cx="14001750" cy="1905000"/>
          </a:xfrm>
          <a:prstGeom prst="rect">
            <a:avLst/>
          </a:prstGeom>
          <a:noFill/>
          <a:ln/>
        </p:spPr>
        <p:txBody>
          <a:bodyPr wrap="square" lIns="0" tIns="18621" rIns="0" bIns="-18621" rtlCol="0" anchor="ctr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4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 hình</a:t>
            </a:r>
            <a:r>
              <a:rPr lang="en-US" sz="34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3450" dirty="0" spc="1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3450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daemon nền</a:t>
            </a:r>
            <a:r>
              <a:rPr lang="en-US" sz="34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3450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3450" dirty="0" spc="1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345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34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4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4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3450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450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3450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34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450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3450" dirty="0" spc="-2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gõ</a:t>
            </a:r>
            <a:r>
              <a:rPr lang="en-US" sz="3450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34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thủ</a:t>
            </a:r>
            <a:r>
              <a:rPr lang="en-US" sz="3450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endParaRPr lang="en-US" sz="3450" dirty="0"/>
          </a:p>
        </p:txBody>
      </p:sp>
      <p:sp>
        <p:nvSpPr>
          <p:cNvPr id="47" name="Connector line-1792231993702-519609888"/>
          <p:cNvSpPr/>
          <p:nvPr/>
        </p:nvSpPr>
        <p:spPr>
          <a:xfrm>
            <a:off x="1143000" y="7048500"/>
            <a:ext cx="16002000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8" name="Text 46"/>
          <p:cNvSpPr/>
          <p:nvPr/>
        </p:nvSpPr>
        <p:spPr>
          <a:xfrm>
            <a:off x="1143000" y="7191375"/>
            <a:ext cx="1619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0" dirty="0" spc="-5" kern="0">
                <a:solidFill>
                  <a:srgbClr val="FFE0A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10500" dirty="0"/>
          </a:p>
        </p:txBody>
      </p:sp>
      <p:sp>
        <p:nvSpPr>
          <p:cNvPr id="49" name="Text 47"/>
          <p:cNvSpPr/>
          <p:nvPr/>
        </p:nvSpPr>
        <p:spPr>
          <a:xfrm>
            <a:off x="3143250" y="7191375"/>
            <a:ext cx="14001750" cy="1905000"/>
          </a:xfrm>
          <a:prstGeom prst="rect">
            <a:avLst/>
          </a:prstGeom>
          <a:noFill/>
          <a:ln/>
        </p:spPr>
        <p:txBody>
          <a:bodyPr wrap="square" lIns="0" tIns="18621" rIns="0" bIns="-18621" rtlCol="0" anchor="ctr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4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Quản</a:t>
            </a:r>
            <a:r>
              <a:rPr lang="en-US" sz="3450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3450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3450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34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34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34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khép</a:t>
            </a:r>
            <a:r>
              <a:rPr lang="en-US" sz="3450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kín</a:t>
            </a:r>
            <a:r>
              <a:rPr lang="en-US" sz="34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3450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3450" dirty="0" spc="-3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3450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r>
              <a:rPr lang="en-US" sz="34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3450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</a:t>
            </a:r>
            <a:r>
              <a:rPr lang="en-US" sz="3450" dirty="0" spc="-1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34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3450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4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450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450" dirty="0" spc="-1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endParaRPr lang="en-US" sz="3450" dirty="0"/>
          </a:p>
        </p:txBody>
      </p:sp>
      <p:sp>
        <p:nvSpPr>
          <p:cNvPr id="50" name="Shape 4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1" name="Moda image moda-export-watermark-e14ec177-77fc-4fe3-9fe2-63cba93254c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1994798-10636857"/>
          <p:cNvSpPr/>
          <p:nvPr/>
        </p:nvSpPr>
        <p:spPr>
          <a:xfrm>
            <a:off x="1143000" y="9620250"/>
            <a:ext cx="15544800" cy="0"/>
          </a:xfrm>
          <a:prstGeom prst="line">
            <a:avLst/>
          </a:prstGeom>
          <a:noFill/>
          <a:ln w="19050">
            <a:solidFill>
              <a:srgbClr val="14161C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00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14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29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43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57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72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01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15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29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44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058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9730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8874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018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7162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630650" y="9563100"/>
            <a:ext cx="114300" cy="114300"/>
          </a:xfrm>
          <a:prstGeom prst="ellipse">
            <a:avLst/>
          </a:prstGeom>
          <a:solidFill>
            <a:srgbClr val="F3EEE3">
              <a:alpha val="45000"/>
            </a:srgbClr>
          </a:solidFill>
          <a:ln w="19050">
            <a:solidFill>
              <a:srgbClr val="14161C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990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905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819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733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648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562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477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391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9305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220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1347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20491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29635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38779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4792325" y="9553575"/>
            <a:ext cx="133350" cy="133350"/>
          </a:xfrm>
          <a:prstGeom prst="ellipse">
            <a:avLst/>
          </a:prstGeom>
          <a:solidFill>
            <a:srgbClr val="14161C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5640050" y="9486900"/>
            <a:ext cx="266700" cy="266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8" name="Text 36"/>
          <p:cNvSpPr/>
          <p:nvPr/>
        </p:nvSpPr>
        <p:spPr>
          <a:xfrm>
            <a:off x="16916400" y="9467850"/>
            <a:ext cx="99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17/18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agent-orchestrator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1143000" y="99060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4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3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6300" dirty="0"/>
          </a:p>
        </p:txBody>
      </p:sp>
      <p:sp>
        <p:nvSpPr>
          <p:cNvPr id="42" name="Shape 40"/>
          <p:cNvSpPr/>
          <p:nvPr/>
        </p:nvSpPr>
        <p:spPr>
          <a:xfrm>
            <a:off x="1143000" y="2571750"/>
            <a:ext cx="5143500" cy="6096000"/>
          </a:xfrm>
          <a:prstGeom prst="roundRect">
            <a:avLst>
              <a:gd name="adj" fmla="val 5926"/>
            </a:avLst>
          </a:prstGeom>
          <a:solidFill>
            <a:srgbClr val="E8E0CF"/>
          </a:solidFill>
          <a:ln/>
        </p:spPr>
      </p:sp>
      <p:sp>
        <p:nvSpPr>
          <p:cNvPr id="43" name="Connector line-1792231994874-221440246"/>
          <p:cNvSpPr/>
          <p:nvPr/>
        </p:nvSpPr>
        <p:spPr>
          <a:xfrm>
            <a:off x="1619250" y="3238500"/>
            <a:ext cx="4191000" cy="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1485900" y="3105150"/>
            <a:ext cx="266700" cy="266700"/>
          </a:xfrm>
          <a:prstGeom prst="ellipse">
            <a:avLst/>
          </a:prstGeom>
          <a:solidFill>
            <a:srgbClr val="E8E0CF"/>
          </a:solidFill>
          <a:ln w="57150">
            <a:solidFill>
              <a:srgbClr val="1F3FD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619250" y="3619500"/>
            <a:ext cx="4381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3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Worktree</a:t>
            </a:r>
            <a:endParaRPr lang="en-US" sz="4800" dirty="0"/>
          </a:p>
        </p:txBody>
      </p:sp>
      <p:sp>
        <p:nvSpPr>
          <p:cNvPr id="46" name="Text 44"/>
          <p:cNvSpPr/>
          <p:nvPr/>
        </p:nvSpPr>
        <p:spPr>
          <a:xfrm>
            <a:off x="1619250" y="4762500"/>
            <a:ext cx="4381500" cy="36195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repository</a:t>
            </a:r>
            <a:endParaRPr lang="en-US" sz="2850" dirty="0"/>
          </a:p>
        </p:txBody>
      </p:sp>
      <p:sp>
        <p:nvSpPr>
          <p:cNvPr id="47" name="Shape 45"/>
          <p:cNvSpPr/>
          <p:nvPr/>
        </p:nvSpPr>
        <p:spPr>
          <a:xfrm>
            <a:off x="6572250" y="2571750"/>
            <a:ext cx="5143500" cy="6096000"/>
          </a:xfrm>
          <a:prstGeom prst="roundRect">
            <a:avLst>
              <a:gd name="adj" fmla="val 5926"/>
            </a:avLst>
          </a:prstGeom>
          <a:solidFill>
            <a:srgbClr val="E8E0CF"/>
          </a:solidFill>
          <a:ln/>
        </p:spPr>
      </p:sp>
      <p:sp>
        <p:nvSpPr>
          <p:cNvPr id="48" name="Connector line-1792231994909-592014333"/>
          <p:cNvSpPr/>
          <p:nvPr/>
        </p:nvSpPr>
        <p:spPr>
          <a:xfrm>
            <a:off x="7048500" y="3238500"/>
            <a:ext cx="4191000" cy="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6915150" y="3105150"/>
            <a:ext cx="266700" cy="266700"/>
          </a:xfrm>
          <a:prstGeom prst="ellipse">
            <a:avLst/>
          </a:prstGeom>
          <a:solidFill>
            <a:srgbClr val="E8E0CF"/>
          </a:solidFill>
          <a:ln w="57150">
            <a:solidFill>
              <a:srgbClr val="0F766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48500" y="3619500"/>
            <a:ext cx="4381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48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Worker</a:t>
            </a:r>
            <a:endParaRPr lang="en-US" sz="4800" dirty="0"/>
          </a:p>
        </p:txBody>
      </p:sp>
      <p:sp>
        <p:nvSpPr>
          <p:cNvPr id="51" name="Text 49"/>
          <p:cNvSpPr/>
          <p:nvPr/>
        </p:nvSpPr>
        <p:spPr>
          <a:xfrm>
            <a:off x="7048500" y="4762500"/>
            <a:ext cx="4381500" cy="36195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vụ,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coding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endParaRPr lang="en-US" sz="2850" dirty="0"/>
          </a:p>
        </p:txBody>
      </p:sp>
      <p:sp>
        <p:nvSpPr>
          <p:cNvPr id="52" name="Shape 50"/>
          <p:cNvSpPr/>
          <p:nvPr/>
        </p:nvSpPr>
        <p:spPr>
          <a:xfrm>
            <a:off x="12001500" y="2571750"/>
            <a:ext cx="5143500" cy="6096000"/>
          </a:xfrm>
          <a:prstGeom prst="roundRect">
            <a:avLst>
              <a:gd name="adj" fmla="val 5926"/>
            </a:avLst>
          </a:prstGeom>
          <a:solidFill>
            <a:srgbClr val="E8E0CF"/>
          </a:solidFill>
          <a:ln/>
        </p:spPr>
      </p:sp>
      <p:sp>
        <p:nvSpPr>
          <p:cNvPr id="53" name="Connector line-1792231994941-819820816"/>
          <p:cNvSpPr/>
          <p:nvPr/>
        </p:nvSpPr>
        <p:spPr>
          <a:xfrm>
            <a:off x="12477750" y="3238500"/>
            <a:ext cx="41910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12344400" y="3105150"/>
            <a:ext cx="266700" cy="266700"/>
          </a:xfrm>
          <a:prstGeom prst="ellipse">
            <a:avLst/>
          </a:prstGeom>
          <a:solidFill>
            <a:srgbClr val="E8E0CF"/>
          </a:solidFill>
          <a:ln w="57150">
            <a:solidFill>
              <a:srgbClr val="B4530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2477750" y="3619500"/>
            <a:ext cx="4381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Daemon</a:t>
            </a:r>
            <a:endParaRPr lang="en-US" sz="4800" dirty="0"/>
          </a:p>
        </p:txBody>
      </p:sp>
      <p:sp>
        <p:nvSpPr>
          <p:cNvPr id="56" name="Text 54"/>
          <p:cNvSpPr/>
          <p:nvPr/>
        </p:nvSpPr>
        <p:spPr>
          <a:xfrm>
            <a:off x="12477750" y="4762500"/>
            <a:ext cx="4381500" cy="36195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Tiến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giám</a:t>
            </a:r>
            <a:r>
              <a:rPr lang="en-US" sz="28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 hệ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endParaRPr lang="en-US" sz="2850" dirty="0"/>
          </a:p>
        </p:txBody>
      </p:sp>
      <p:sp>
        <p:nvSpPr>
          <p:cNvPr id="57" name="Shape 5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8" name="Moda image moda-export-watermark-e889ce86-173e-4984-a87c-d12cc3545f2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231996068-80096869"/>
          <p:cNvSpPr/>
          <p:nvPr/>
        </p:nvSpPr>
        <p:spPr>
          <a:xfrm>
            <a:off x="1143000" y="9620250"/>
            <a:ext cx="15544800" cy="0"/>
          </a:xfrm>
          <a:prstGeom prst="line">
            <a:avLst/>
          </a:prstGeom>
          <a:noFill/>
          <a:ln w="19050">
            <a:solidFill>
              <a:srgbClr val="F3EEE3">
                <a:alpha val="2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858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002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146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290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434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578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722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866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010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154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298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442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0586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9730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8874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018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7162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630650" y="9563100"/>
            <a:ext cx="114300" cy="114300"/>
          </a:xfrm>
          <a:prstGeom prst="ellipse">
            <a:avLst/>
          </a:prstGeom>
          <a:solidFill>
            <a:srgbClr val="12141B">
              <a:alpha val="50000"/>
            </a:srgbClr>
          </a:solidFill>
          <a:ln w="19050">
            <a:solidFill>
              <a:srgbClr val="F3EEE3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63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9907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9051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8195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7339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6483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5627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4771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3915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93059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2203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1347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20491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29635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38779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47923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5706725" y="9553575"/>
            <a:ext cx="133350" cy="133350"/>
          </a:xfrm>
          <a:prstGeom prst="ellipse">
            <a:avLst/>
          </a:prstGeom>
          <a:solidFill>
            <a:srgbClr val="F3EEE3">
              <a:alpha val="8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6554450" y="9486900"/>
            <a:ext cx="266700" cy="266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9" name="Text 37"/>
          <p:cNvSpPr/>
          <p:nvPr/>
        </p:nvSpPr>
        <p:spPr>
          <a:xfrm>
            <a:off x="16916400" y="9467850"/>
            <a:ext cx="99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18/18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143000" y="98488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Radar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2026-10-17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9525000" y="6667500"/>
            <a:ext cx="7239000" cy="1143000"/>
          </a:xfrm>
          <a:custGeom>
            <a:avLst/>
            <a:gdLst/>
            <a:ahLst/>
            <a:cxnLst/>
            <a:rect l="l" t="t" r="r" b="b"/>
            <a:pathLst>
              <a:path w="7239000" h="1143000">
                <a:moveTo>
                  <a:pt x="0" y="0"/>
                </a:moveTo>
                <a:cubicBezTo>
                  <a:pt x="2857500" y="0"/>
                  <a:pt x="4762500" y="1143000"/>
                  <a:pt x="7239000" y="1143000"/>
                </a:cubicBezTo>
              </a:path>
            </a:pathLst>
          </a:custGeom>
          <a:ln w="76200">
            <a:solidFill>
              <a:srgbClr val="7C93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525000" y="7810500"/>
            <a:ext cx="7239000" cy="9144"/>
          </a:xfrm>
          <a:custGeom>
            <a:avLst/>
            <a:gdLst/>
            <a:ahLst/>
            <a:cxnLst/>
            <a:rect l="l" t="t" r="r" b="b"/>
            <a:pathLst>
              <a:path w="7239000" h="9144">
                <a:moveTo>
                  <a:pt x="0" y="0"/>
                </a:moveTo>
                <a:lnTo>
                  <a:pt x="7239000" y="0"/>
                </a:lnTo>
              </a:path>
            </a:pathLst>
          </a:custGeom>
          <a:ln w="76200">
            <a:solidFill>
              <a:srgbClr val="FF6A4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525000" y="7810500"/>
            <a:ext cx="7239000" cy="1143000"/>
          </a:xfrm>
          <a:custGeom>
            <a:avLst/>
            <a:gdLst/>
            <a:ahLst/>
            <a:cxnLst/>
            <a:rect l="l" t="t" r="r" b="b"/>
            <a:pathLst>
              <a:path w="7239000" h="1143000">
                <a:moveTo>
                  <a:pt x="0" y="1143000"/>
                </a:moveTo>
                <a:cubicBezTo>
                  <a:pt x="2857500" y="1143000"/>
                  <a:pt x="4762500" y="0"/>
                  <a:pt x="7239000" y="0"/>
                </a:cubicBezTo>
              </a:path>
            </a:pathLst>
          </a:custGeom>
          <a:ln w="76200">
            <a:solidFill>
              <a:srgbClr val="3DD6A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391650" y="6534150"/>
            <a:ext cx="266700" cy="266700"/>
          </a:xfrm>
          <a:prstGeom prst="ellipse">
            <a:avLst/>
          </a:prstGeom>
          <a:solidFill>
            <a:srgbClr val="12141B"/>
          </a:solidFill>
          <a:ln w="57150">
            <a:solidFill>
              <a:srgbClr val="7C93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391650" y="7677150"/>
            <a:ext cx="266700" cy="266700"/>
          </a:xfrm>
          <a:prstGeom prst="ellipse">
            <a:avLst/>
          </a:prstGeom>
          <a:solidFill>
            <a:srgbClr val="12141B"/>
          </a:solidFill>
          <a:ln w="57150">
            <a:solidFill>
              <a:srgbClr val="FF6A4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391650" y="8820150"/>
            <a:ext cx="266700" cy="266700"/>
          </a:xfrm>
          <a:prstGeom prst="ellipse">
            <a:avLst/>
          </a:prstGeom>
          <a:solidFill>
            <a:srgbClr val="12141B"/>
          </a:solidFill>
          <a:ln w="57150">
            <a:solidFill>
              <a:srgbClr val="3DD6A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6497300" y="7543800"/>
            <a:ext cx="533400" cy="5334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8" name="Text 46"/>
          <p:cNvSpPr/>
          <p:nvPr/>
        </p:nvSpPr>
        <p:spPr>
          <a:xfrm>
            <a:off x="1143000" y="6096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endParaRPr lang="en-US" sz="1950" dirty="0"/>
          </a:p>
        </p:txBody>
      </p:sp>
      <p:sp>
        <p:nvSpPr>
          <p:cNvPr id="49" name="Text 47"/>
          <p:cNvSpPr/>
          <p:nvPr/>
        </p:nvSpPr>
        <p:spPr>
          <a:xfrm>
            <a:off x="1143000" y="99060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</a:t>
            </a:r>
            <a:endParaRPr lang="en-US" sz="6300" dirty="0"/>
          </a:p>
        </p:txBody>
      </p:sp>
      <p:sp>
        <p:nvSpPr>
          <p:cNvPr id="50" name="Text 48"/>
          <p:cNvSpPr/>
          <p:nvPr/>
        </p:nvSpPr>
        <p:spPr>
          <a:xfrm>
            <a:off x="1143000" y="2571750"/>
            <a:ext cx="1600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u="sng" dirty="0" spc="-35" kern="0">
                <a:solidFill>
                  <a:srgbClr val="AFC0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OrchestratorInc/agent-orchestrator</a:t>
            </a:r>
            <a:endParaRPr lang="en-US" sz="5400" dirty="0"/>
          </a:p>
        </p:txBody>
      </p:sp>
      <p:sp>
        <p:nvSpPr>
          <p:cNvPr id="51" name="Text 49"/>
          <p:cNvSpPr/>
          <p:nvPr/>
        </p:nvSpPr>
        <p:spPr>
          <a:xfrm>
            <a:off x="1143000" y="3810000"/>
            <a:ext cx="1600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Giấy</a:t>
            </a:r>
            <a:r>
              <a:rPr lang="en-US" sz="30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phép:</a:t>
            </a:r>
            <a:r>
              <a:rPr lang="en-US" sz="30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Apache-2.0</a:t>
            </a:r>
            <a:r>
              <a:rPr lang="en-US" sz="30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13.260</a:t>
            </a:r>
            <a:r>
              <a:rPr lang="en-US" sz="300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30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30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1.819</a:t>
            </a:r>
            <a:r>
              <a:rPr lang="en-US" sz="300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fork</a:t>
            </a:r>
            <a:r>
              <a:rPr lang="en-US" sz="30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30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Quét</a:t>
            </a:r>
            <a:r>
              <a:rPr lang="en-US" sz="3000" dirty="0" spc="-2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30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2026-10-17</a:t>
            </a:r>
            <a:endParaRPr lang="en-US" sz="3000" dirty="0"/>
          </a:p>
        </p:txBody>
      </p:sp>
      <p:sp>
        <p:nvSpPr>
          <p:cNvPr id="52" name="Text 50"/>
          <p:cNvSpPr/>
          <p:nvPr/>
        </p:nvSpPr>
        <p:spPr>
          <a:xfrm>
            <a:off x="1143000" y="4953000"/>
            <a:ext cx="10477500" cy="13335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i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</a:t>
            </a:r>
            <a:r>
              <a:rPr lang="en-US" sz="2850" i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850" i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850" i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850" i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2850" i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850" i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i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r>
              <a:rPr lang="en-US" sz="2850" i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i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850" i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850" i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repo;</a:t>
            </a:r>
            <a:r>
              <a:rPr lang="en-US" sz="2850" i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hãy</a:t>
            </a:r>
            <a:r>
              <a:rPr lang="en-US" sz="2850" i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i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2850" i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850" i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i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i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dùng.</a:t>
            </a:r>
            <a:endParaRPr lang="en-US" sz="2850" dirty="0"/>
          </a:p>
        </p:txBody>
      </p:sp>
      <p:sp>
        <p:nvSpPr>
          <p:cNvPr id="53" name="Shape 5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4" name="Moda image moda-export-watermark-c6db16e9-73b3-4b09-a301-0e2d8ec15124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2026-10-17T10:13:49Z</dcterms:created>
  <dcterms:modified xsi:type="dcterms:W3CDTF">2026-10-17T10:13:49Z</dcterms:modified>
</cp:coreProperties>
</file>