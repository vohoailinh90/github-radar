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iới thiệu" id="{3c76622a-abd4-723c-d377-ba3a078ec048}">
          <p14:sldIdLst>
            <p14:sldId id="256"/>
            <p14:sldId id="257"/>
            <p14:sldId id="258"/>
            <p14:sldId id="259"/>
            <p14:sldId id="260"/>
            <p14:sldId id="261"/>
          </p14:sldIdLst>
        </p14:section>
        <p14:section name="Làm theo từng bước" id="{a1ade60f-9b46-f240-8b86-7dd75c3c9102}">
          <p14:sldIdLst>
            <p14:sldId id="262"/>
            <p14:sldId id="263"/>
            <p14:sldId id="264"/>
            <p14:sldId id="265"/>
            <p14:sldId id="266"/>
            <p14:sldId id="267"/>
          </p14:sldIdLst>
        </p14:section>
        <p14:section name="Bên trong" id="{5aa20e41-8fef-254c-9698-3e22fc25f196}">
          <p14:sldIdLst>
            <p14:sldId id="268"/>
            <p14:sldId id="269"/>
            <p14:sldId id="270"/>
            <p14:sldId id="271"/>
            <p14:sldId id="272"/>
          </p14:sldIdLst>
        </p14:section>
        <p14:section name="Nguồn" id="{3a606479-eca0-1e5b-467e-8ada3fb2bd70}">
          <p14:sldIdLst>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Nguồn dữ kiện: https://github.com/OrchestratorInc/agent-orchestrator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Căn cứ: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Căn cứ: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Căn cứ: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1783080"/>
            <a:ext cx="10543032" cy="1920240"/>
          </a:xfrm>
          <a:prstGeom prst="rect">
            <a:avLst/>
          </a:prstGeom>
          <a:noFill/>
          <a:ln/>
        </p:spPr>
        <p:txBody>
          <a:bodyPr wrap="square" rtlCol="0"/>
          <a:lstStyle>
            <a:lvl1pPr algn="l" indent="0" marL="0">
              <a:buNone/>
              <a:defRPr lang="en-US" sz="5200" b="1" dirty="0">
                <a:solidFill>
                  <a:schemeClr val="bg1"/>
                </a:solidFill>
              </a:defRPr>
            </a:lvl1pPr>
          </a:lstStyle>
          <a:p>
            <a:pPr algn="l" indent="0" marL="0">
              <a:buNone/>
            </a:pPr>
            <a:endParaRPr lang="en-US" sz="5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554480" y="365760"/>
            <a:ext cx="10085832" cy="100584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Chân trang"/>
          <p:cNvSpPr/>
          <p:nvPr/>
        </p:nvSpPr>
        <p:spPr>
          <a:xfrm>
            <a:off x="548640" y="6382512"/>
            <a:ext cx="7315200" cy="310896"/>
          </a:xfrm>
          <a:prstGeom prst="rect">
            <a:avLst/>
          </a:prstGeom>
          <a:noFill/>
          <a:ln/>
        </p:spPr>
        <p:txBody>
          <a:bodyPr wrap="square" lIns="0" tIns="0" rIns="0" bIns="0" rtlCol="0" anchor="ctr"/>
          <a:lstStyle/>
          <a:p>
            <a:pPr indent="0" marL="0">
              <a:buNone/>
            </a:pPr>
            <a:r>
              <a:rPr lang="en-US" sz="1300" dirty="0">
                <a:solidFill>
                  <a:schemeClr val="tx2"/>
                </a:solidFill>
              </a:rPr>
              <a:t>GitHub Radar · agent-orchestrator</a:t>
            </a:r>
            <a:endParaRPr lang="en-US" sz="1300" dirty="0"/>
          </a:p>
        </p:txBody>
      </p:sp>
      <p:sp>
        <p:nvSpPr>
          <p:cNvPr id="25" name="Slide Number Placeholder 0"/>
          <p:cNvSpPr>
            <a:spLocks noGrp="1"/>
          </p:cNvSpPr>
          <p:nvPr>
            <p:ph type="sldNum" sz="quarter" idx="4294967295"/>
          </p:nvPr>
        </p:nvSpPr>
        <p:spPr>
          <a:xfrm>
            <a:off x="10725912" y="6382512"/>
            <a:ext cx="914400" cy="310896"/>
          </a:xfrm>
          <a:prstGeom prst="rect">
            <a:avLst/>
          </a:prstGeom>
          <a:extLst>
            <a:ext uri="{C572A759-6A51-4108-AA02-DFA0A04FC94B}">
              <ma14:wrappingTextBoxFlag xmlns:ma14="http://schemas.microsoft.com/office/mac/drawingml/2011/main" val="0"/>
            </a:ext>
          </a:extLst>
        </p:spPr>
        <p:txBody>
          <a:bodyPr/>
          <a:lstStyle>
            <a:lvl1pPr>
              <a:defRPr sz="13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822960"/>
            <a:ext cx="10543032" cy="9144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5912" y="6382512"/>
            <a:ext cx="914400" cy="310896"/>
          </a:xfrm>
          <a:prstGeom prst="rect">
            <a:avLst/>
          </a:prstGeom>
          <a:extLst>
            <a:ext uri="{C572A759-6A51-4108-AA02-DFA0A04FC94B}">
              <ma14:wrappingTextBoxFlag xmlns:ma14="http://schemas.microsoft.com/office/mac/drawingml/2011/main" val="0"/>
            </a:ext>
          </a:extLst>
        </p:spPr>
        <p:txBody>
          <a:bodyPr/>
          <a:lstStyle>
            <a:lvl1pPr>
              <a:defRPr sz="13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docs.orchestrator.inc/installation" TargetMode="External"/><Relationship Id="rId1" Type="http://schemas.openxmlformats.org/officeDocument/2006/relationships/image" Target="../media/image-6-1.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hyperlink" Target="https://github.com/OrchestratorInc/agent-orchestrator/releases/latest" TargetMode="External"/><Relationship Id="rId1" Type="http://schemas.openxmlformats.org/officeDocument/2006/relationships/image" Target="../media/image-8-1.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hyperlink" Target="https://docs.orchestrator.inc/installation" TargetMode="External"/><Relationship Id="rId1" Type="http://schemas.openxmlformats.org/officeDocument/2006/relationships/image" Target="../media/image-9-1.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github.com/OrchestratorInc/agent-orchestrator" TargetMode="External"/><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Nhóm"/>
          <p:cNvSpPr txBox="1"/>
          <p:nvPr/>
        </p:nvSpPr>
        <p:spPr>
          <a:xfrm>
            <a:off x="822960" y="868680"/>
            <a:ext cx="2194560" cy="548640"/>
          </a:xfrm>
          <a:prstGeom prst="roundRect">
            <a:avLst>
              <a:gd name="adj" fmla="val 50000"/>
            </a:avLst>
          </a:prstGeom>
          <a:solidFill>
            <a:schemeClr val="accent1"/>
          </a:solidFill>
          <a:ln/>
        </p:spPr>
        <p:txBody>
          <a:bodyPr wrap="square" rtlCol="0" anchor="ctr"/>
          <a:lstStyle/>
          <a:p>
            <a:pPr algn="ctr" indent="0" marL="0">
              <a:buNone/>
            </a:pPr>
            <a:r>
              <a:rPr lang="en-US" sz="2200" b="1" dirty="0">
                <a:solidFill>
                  <a:schemeClr val="bg1"/>
                </a:solidFill>
              </a:rPr>
              <a:t>Phần mềm</a:t>
            </a:r>
            <a:endParaRPr lang="en-US" sz="2200" dirty="0"/>
          </a:p>
        </p:txBody>
      </p:sp>
      <p:sp>
        <p:nvSpPr>
          <p:cNvPr id="3" name="Text 0"/>
          <p:cNvSpPr/>
          <p:nvPr>
            <p:ph idx="100" type="title" hasCustomPrompt="1"/>
          </p:nvPr>
        </p:nvSpPr>
        <p:spPr>
          <a:xfrm>
            <a:off x="822960" y="1783080"/>
            <a:ext cx="10543032" cy="1920240"/>
          </a:xfrm>
          <a:prstGeom prst="rect">
            <a:avLst/>
          </a:prstGeom>
          <a:noFill/>
          <a:ln/>
        </p:spPr>
        <p:txBody>
          <a:bodyPr wrap="square" lIns="0" tIns="0" rIns="0" bIns="0" rtlCol="0" anchor="t"/>
          <a:lstStyle/>
          <a:p>
            <a:pPr algn="l" indent="0" marL="0">
              <a:buNone/>
            </a:pPr>
            <a:r>
              <a:rPr lang="en-US" sz="5200" b="1" dirty="0">
                <a:solidFill>
                  <a:schemeClr val="bg1"/>
                </a:solidFill>
              </a:rPr>
              <a:t>Điều phối đội ngũ AI coding agent đa nhiệm</a:t>
            </a:r>
            <a:endParaRPr lang="en-US" sz="5200" dirty="0"/>
          </a:p>
        </p:txBody>
      </p:sp>
      <p:sp>
        <p:nvSpPr>
          <p:cNvPr id="4" name="Text 2"/>
          <p:cNvSpPr txBox="1"/>
          <p:nvPr/>
        </p:nvSpPr>
        <p:spPr>
          <a:xfrm>
            <a:off x="822960" y="3703320"/>
            <a:ext cx="10543032" cy="1097280"/>
          </a:xfrm>
          <a:prstGeom prst="rect">
            <a:avLst/>
          </a:prstGeom>
          <a:noFill/>
          <a:ln/>
        </p:spPr>
        <p:txBody>
          <a:bodyPr wrap="square" lIns="0" tIns="0" rIns="0" bIns="0" rtlCol="0" anchor="t"/>
          <a:lstStyle/>
          <a:p>
            <a:pPr indent="0" marL="0">
              <a:buNone/>
            </a:pPr>
            <a:r>
              <a:rPr lang="en-US" sz="2800" dirty="0">
                <a:solidFill>
                  <a:schemeClr val="bg2"/>
                </a:solidFill>
              </a:rPr>
              <a:t>Quản lý nhiều coding agent cùng lúc trên từng branch và worktree riêng biệt mà không lo xung đột.</a:t>
            </a:r>
            <a:endParaRPr lang="en-US" sz="2800" dirty="0"/>
          </a:p>
        </p:txBody>
      </p:sp>
      <p:sp>
        <p:nvSpPr>
          <p:cNvPr id="5" name="Chỉ số 1"/>
          <p:cNvSpPr txBox="1"/>
          <p:nvPr/>
        </p:nvSpPr>
        <p:spPr>
          <a:xfrm>
            <a:off x="822960" y="4983480"/>
            <a:ext cx="2377440" cy="640080"/>
          </a:xfrm>
          <a:prstGeom prst="roundRect">
            <a:avLst>
              <a:gd name="adj" fmla="val 21429"/>
            </a:avLst>
          </a:prstGeom>
          <a:solidFill>
            <a:schemeClr val="tx2"/>
          </a:solidFill>
          <a:ln/>
        </p:spPr>
        <p:txBody>
          <a:bodyPr wrap="square" rtlCol="0" anchor="ctr"/>
          <a:lstStyle/>
          <a:p>
            <a:pPr algn="ctr" indent="0" marL="0">
              <a:buNone/>
            </a:pPr>
            <a:r>
              <a:rPr lang="en-US" sz="2200" b="1" dirty="0">
                <a:solidFill>
                  <a:schemeClr val="bg1"/>
                </a:solidFill>
              </a:rPr>
              <a:t>13.260 sao</a:t>
            </a:r>
            <a:endParaRPr lang="en-US" sz="2200" dirty="0"/>
          </a:p>
        </p:txBody>
      </p:sp>
      <p:sp>
        <p:nvSpPr>
          <p:cNvPr id="6" name="Chỉ số 2"/>
          <p:cNvSpPr txBox="1"/>
          <p:nvPr/>
        </p:nvSpPr>
        <p:spPr>
          <a:xfrm>
            <a:off x="3383280" y="4983480"/>
            <a:ext cx="2194560" cy="640080"/>
          </a:xfrm>
          <a:prstGeom prst="roundRect">
            <a:avLst>
              <a:gd name="adj" fmla="val 21429"/>
            </a:avLst>
          </a:prstGeom>
          <a:solidFill>
            <a:schemeClr val="tx2"/>
          </a:solidFill>
          <a:ln/>
        </p:spPr>
        <p:txBody>
          <a:bodyPr wrap="square" rtlCol="0" anchor="ctr"/>
          <a:lstStyle/>
          <a:p>
            <a:pPr algn="ctr" indent="0" marL="0">
              <a:buNone/>
            </a:pPr>
            <a:r>
              <a:rPr lang="en-US" sz="2200" b="1" dirty="0">
                <a:solidFill>
                  <a:schemeClr val="bg1"/>
                </a:solidFill>
              </a:rPr>
              <a:t>1.819 fork</a:t>
            </a:r>
            <a:endParaRPr lang="en-US" sz="2200" dirty="0"/>
          </a:p>
        </p:txBody>
      </p:sp>
      <p:sp>
        <p:nvSpPr>
          <p:cNvPr id="7" name="Chỉ số 3"/>
          <p:cNvSpPr txBox="1"/>
          <p:nvPr/>
        </p:nvSpPr>
        <p:spPr>
          <a:xfrm>
            <a:off x="5760720" y="4983480"/>
            <a:ext cx="3291840" cy="640080"/>
          </a:xfrm>
          <a:prstGeom prst="roundRect">
            <a:avLst>
              <a:gd name="adj" fmla="val 21429"/>
            </a:avLst>
          </a:prstGeom>
          <a:solidFill>
            <a:schemeClr val="tx2"/>
          </a:solidFill>
          <a:ln/>
        </p:spPr>
        <p:txBody>
          <a:bodyPr wrap="square" rtlCol="0" anchor="ctr"/>
          <a:lstStyle/>
          <a:p>
            <a:pPr algn="ctr" indent="0" marL="0">
              <a:buNone/>
            </a:pPr>
            <a:r>
              <a:rPr lang="en-US" sz="2200" b="1" dirty="0">
                <a:solidFill>
                  <a:schemeClr val="bg1"/>
                </a:solidFill>
              </a:rPr>
              <a:t>Giấy phép: Apache-2.0</a:t>
            </a:r>
            <a:endParaRPr lang="en-US" sz="2200" dirty="0"/>
          </a:p>
        </p:txBody>
      </p:sp>
      <p:sp>
        <p:nvSpPr>
          <p:cNvPr id="8" name="Chỉ số 4"/>
          <p:cNvSpPr txBox="1"/>
          <p:nvPr/>
        </p:nvSpPr>
        <p:spPr>
          <a:xfrm>
            <a:off x="9235440" y="4983480"/>
            <a:ext cx="2560320" cy="640080"/>
          </a:xfrm>
          <a:prstGeom prst="roundRect">
            <a:avLst>
              <a:gd name="adj" fmla="val 21429"/>
            </a:avLst>
          </a:prstGeom>
          <a:solidFill>
            <a:schemeClr val="tx2"/>
          </a:solidFill>
          <a:ln/>
        </p:spPr>
        <p:txBody>
          <a:bodyPr wrap="square" rtlCol="0" anchor="ctr"/>
          <a:lstStyle/>
          <a:p>
            <a:pPr algn="ctr" indent="0" marL="0">
              <a:buNone/>
            </a:pPr>
            <a:r>
              <a:rPr lang="en-US" sz="2200" b="1" dirty="0">
                <a:solidFill>
                  <a:schemeClr val="bg1"/>
                </a:solidFill>
              </a:rPr>
              <a:t>Ngôn ngữ: Go</a:t>
            </a:r>
            <a:endParaRPr lang="en-US" sz="2200" dirty="0"/>
          </a:p>
        </p:txBody>
      </p:sp>
      <p:sp>
        <p:nvSpPr>
          <p:cNvPr id="9" name="Text 7"/>
          <p:cNvSpPr txBox="1"/>
          <p:nvPr/>
        </p:nvSpPr>
        <p:spPr>
          <a:xfrm>
            <a:off x="822960" y="5943600"/>
            <a:ext cx="10543032" cy="411480"/>
          </a:xfrm>
          <a:prstGeom prst="rect">
            <a:avLst/>
          </a:prstGeom>
          <a:noFill/>
          <a:ln/>
        </p:spPr>
        <p:txBody>
          <a:bodyPr wrap="square" lIns="0" tIns="0" rIns="0" bIns="0" rtlCol="0" anchor="t"/>
          <a:lstStyle/>
          <a:p>
            <a:pPr indent="0" marL="0">
              <a:buNone/>
            </a:pPr>
            <a:r>
              <a:rPr lang="en-US" sz="2000" dirty="0">
                <a:solidFill>
                  <a:schemeClr val="bg2"/>
                </a:solidFill>
              </a:rPr>
              <a:t>OrchestratorInc/agent-orchestrator · Quét ngày 2026-10-17</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Biểu tượng mục tiêu (vòng tròn)"/>
          <p:cNvSpPr/>
          <p:nvPr/>
        </p:nvSpPr>
        <p:spPr>
          <a:xfrm>
            <a:off x="548640" y="411480"/>
            <a:ext cx="868680" cy="868680"/>
          </a:xfrm>
          <a:prstGeom prst="ellipse">
            <a:avLst/>
          </a:prstGeom>
          <a:solidFill>
            <a:schemeClr val="accent1"/>
          </a:solidFill>
          <a:ln w="12700">
            <a:solidFill>
              <a:schemeClr val="accent1"/>
            </a:solidFill>
            <a:prstDash val="solid"/>
          </a:ln>
        </p:spPr>
      </p:sp>
      <p:pic>
        <p:nvPicPr>
          <p:cNvPr id="3" name="Biểu tượng mục tiêu" descr="Biểu tượng mục tiêu">    </p:cNvPr>
          <p:cNvPicPr>
            <a:picLocks noChangeAspect="1"/>
          </p:cNvPicPr>
          <p:nvPr/>
        </p:nvPicPr>
        <p:blipFill>
          <a:blip r:embed="rId1"/>
          <a:stretch>
            <a:fillRect/>
          </a:stretch>
        </p:blipFill>
        <p:spPr>
          <a:xfrm>
            <a:off x="765810" y="628650"/>
            <a:ext cx="434340" cy="434340"/>
          </a:xfrm>
          <a:prstGeom prst="rect">
            <a:avLst/>
          </a:prstGeom>
        </p:spPr>
      </p:pic>
      <p:sp>
        <p:nvSpPr>
          <p:cNvPr id="4" name="Text 0"/>
          <p:cNvSpPr/>
          <p:nvPr>
            <p:ph idx="100" type="title" hasCustomPrompt="1"/>
          </p:nvPr>
        </p:nvSpPr>
        <p:spPr>
          <a:xfrm>
            <a:off x="1554480" y="365760"/>
            <a:ext cx="10085832" cy="1005840"/>
          </a:xfrm>
          <a:prstGeom prst="rect">
            <a:avLst/>
          </a:prstGeom>
          <a:noFill/>
          <a:ln/>
        </p:spPr>
        <p:txBody>
          <a:bodyPr wrap="square" lIns="0" tIns="0" rIns="0" bIns="0" rtlCol="0" anchor="ctr"/>
          <a:lstStyle/>
          <a:p>
            <a:pPr algn="l" indent="0" marL="0">
              <a:buNone/>
            </a:pPr>
            <a:r>
              <a:rPr lang="en-US" sz="3600" b="1" dirty="0">
                <a:solidFill>
                  <a:schemeClr val="tx2"/>
                </a:solidFill>
              </a:rPr>
              <a:t>Bạn sẽ làm ra được gì</a:t>
            </a:r>
            <a:endParaRPr lang="en-US" sz="3600" dirty="0"/>
          </a:p>
        </p:txBody>
      </p:sp>
      <p:sp>
        <p:nvSpPr>
          <p:cNvPr id="5" name="Text 2"/>
          <p:cNvSpPr txBox="1"/>
          <p:nvPr/>
        </p:nvSpPr>
        <p:spPr>
          <a:xfrm>
            <a:off x="548640" y="1645920"/>
            <a:ext cx="11091672" cy="1371600"/>
          </a:xfrm>
          <a:prstGeom prst="rect">
            <a:avLst/>
          </a:prstGeom>
          <a:noFill/>
          <a:ln/>
        </p:spPr>
        <p:txBody>
          <a:bodyPr wrap="square" lIns="0" tIns="0" rIns="0" bIns="0" rtlCol="0" anchor="t"/>
          <a:lstStyle/>
          <a:p>
            <a:pPr indent="0" marL="0">
              <a:buNone/>
            </a:pPr>
            <a:r>
              <a:rPr lang="en-US" sz="3000" b="1" dirty="0">
                <a:solidFill>
                  <a:schemeClr val="tx2"/>
                </a:solidFill>
              </a:rPr>
              <a:t>Ứng dụng desktop điều phối và giám sát các coding agent từ khâu lập kế hoạch đến hợp nhất mã nguồn.</a:t>
            </a:r>
            <a:endParaRPr lang="en-US" sz="3000" dirty="0"/>
          </a:p>
        </p:txBody>
      </p:sp>
      <p:sp>
        <p:nvSpPr>
          <p:cNvPr id="6" name="Thẻ kết quả"/>
          <p:cNvSpPr/>
          <p:nvPr/>
        </p:nvSpPr>
        <p:spPr>
          <a:xfrm>
            <a:off x="548640" y="3246120"/>
            <a:ext cx="11091672" cy="2651760"/>
          </a:xfrm>
          <a:prstGeom prst="roundRect">
            <a:avLst>
              <a:gd name="adj" fmla="val 4138"/>
            </a:avLst>
          </a:prstGeom>
          <a:solidFill>
            <a:schemeClr val="accent1">
              <a:alpha val="12000"/>
            </a:schemeClr>
          </a:solidFill>
          <a:ln w="12700">
            <a:solidFill>
              <a:schemeClr val="accent1"/>
            </a:solidFill>
            <a:prstDash val="solid"/>
          </a:ln>
          <a:effectLst>
            <a:outerShdw sx="100000" sy="100000" kx="0" ky="0" algn="bl" rotWithShape="0" blurRad="76200" dist="25400" dir="5400000">
              <a:srgbClr val="0F172A">
                <a:alpha val="10000"/>
              </a:srgbClr>
            </a:outerShdw>
          </a:effectLst>
        </p:spPr>
      </p:sp>
      <p:sp>
        <p:nvSpPr>
          <p:cNvPr id="7" name="Text 4"/>
          <p:cNvSpPr txBox="1"/>
          <p:nvPr/>
        </p:nvSpPr>
        <p:spPr>
          <a:xfrm>
            <a:off x="1005840" y="3520440"/>
            <a:ext cx="10177272" cy="2103120"/>
          </a:xfrm>
          <a:prstGeom prst="rect">
            <a:avLst/>
          </a:prstGeom>
          <a:noFill/>
          <a:ln/>
        </p:spPr>
        <p:txBody>
          <a:bodyPr wrap="square" lIns="0" tIns="0" rIns="0" bIns="0" rtlCol="0" anchor="ctr"/>
          <a:lstStyle/>
          <a:p>
            <a:pPr indent="0" marL="0">
              <a:buNone/>
            </a:pPr>
            <a:r>
              <a:rPr lang="en-US" sz="3000" dirty="0">
                <a:solidFill>
                  <a:schemeClr val="tx1"/>
                </a:solidFill>
              </a:rPr>
              <a:t>Cài đặt thành công ứng dụng desktop trên máy tính, kết nối với kho mã nguồn Git và khởi tạo worker session đầu tiên cho coding agent.</a:t>
            </a:r>
            <a:endParaRPr lang="en-US" sz="3000" dirty="0"/>
          </a:p>
        </p:txBody>
      </p:sp>
      <p:sp>
        <p:nvSpPr>
          <p:cNvPr id="25" name="Slide Number Placeholder 0"/>
          <p:cNvSpPr>
            <a:spLocks noGrp="1"/>
          </p:cNvSpPr>
          <p:nvPr>
            <p:ph type="sldNum" sz="quarter" idx="4294967295"/>
          </p:nvPr>
        </p:nvSpPr>
        <p:spPr>
          <a:xfrm>
            <a:off x="10725912" y="6382512"/>
            <a:ext cx="914400" cy="310896"/>
          </a:xfrm>
          <a:prstGeom prst="rect">
            <a:avLst/>
          </a:prstGeom>
          <a:extLst>
            <a:ext uri="{C572A759-6A51-4108-AA02-DFA0A04FC94B}">
              <ma14:wrappingTextBoxFlag xmlns:ma14="http://schemas.microsoft.com/office/mac/drawingml/2011/main" val="0"/>
            </a:ext>
          </a:extLst>
        </p:spPr>
        <p:txBody>
          <a:bodyPr/>
          <a:lstStyle>
            <a:lvl1pPr>
              <a:defRPr sz="13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Biểu tượng vấn đề (vòng tròn)"/>
          <p:cNvSpPr/>
          <p:nvPr/>
        </p:nvSpPr>
        <p:spPr>
          <a:xfrm>
            <a:off x="548640" y="411480"/>
            <a:ext cx="868680" cy="868680"/>
          </a:xfrm>
          <a:prstGeom prst="ellipse">
            <a:avLst/>
          </a:prstGeom>
          <a:solidFill>
            <a:schemeClr val="accent2"/>
          </a:solidFill>
          <a:ln w="12700">
            <a:solidFill>
              <a:schemeClr val="accent2"/>
            </a:solidFill>
            <a:prstDash val="solid"/>
          </a:ln>
        </p:spPr>
      </p:sp>
      <p:pic>
        <p:nvPicPr>
          <p:cNvPr id="3" name="Biểu tượng vấn đề" descr="Biểu tượng vấn đề">    </p:cNvPr>
          <p:cNvPicPr>
            <a:picLocks noChangeAspect="1"/>
          </p:cNvPicPr>
          <p:nvPr/>
        </p:nvPicPr>
        <p:blipFill>
          <a:blip r:embed="rId1"/>
          <a:stretch>
            <a:fillRect/>
          </a:stretch>
        </p:blipFill>
        <p:spPr>
          <a:xfrm>
            <a:off x="765810" y="628650"/>
            <a:ext cx="434340" cy="434340"/>
          </a:xfrm>
          <a:prstGeom prst="rect">
            <a:avLst/>
          </a:prstGeom>
        </p:spPr>
      </p:pic>
      <p:sp>
        <p:nvSpPr>
          <p:cNvPr id="4" name="Text 0"/>
          <p:cNvSpPr/>
          <p:nvPr>
            <p:ph idx="100" type="title" hasCustomPrompt="1"/>
          </p:nvPr>
        </p:nvSpPr>
        <p:spPr>
          <a:xfrm>
            <a:off x="1554480" y="365760"/>
            <a:ext cx="10085832" cy="1005840"/>
          </a:xfrm>
          <a:prstGeom prst="rect">
            <a:avLst/>
          </a:prstGeom>
          <a:noFill/>
          <a:ln/>
        </p:spPr>
        <p:txBody>
          <a:bodyPr wrap="square" lIns="0" tIns="0" rIns="0" bIns="0" rtlCol="0" anchor="ctr"/>
          <a:lstStyle/>
          <a:p>
            <a:pPr algn="l" indent="0" marL="0">
              <a:buNone/>
            </a:pPr>
            <a:r>
              <a:rPr lang="en-US" sz="3600" b="1" dirty="0">
                <a:solidFill>
                  <a:schemeClr val="tx2"/>
                </a:solidFill>
              </a:rPr>
              <a:t>Vấn đề nó giải quyết</a:t>
            </a:r>
            <a:endParaRPr lang="en-US" sz="3600" dirty="0"/>
          </a:p>
        </p:txBody>
      </p:sp>
      <p:sp>
        <p:nvSpPr>
          <p:cNvPr id="5" name="Text 2"/>
          <p:cNvSpPr txBox="1"/>
          <p:nvPr/>
        </p:nvSpPr>
        <p:spPr>
          <a:xfrm>
            <a:off x="548640" y="1600200"/>
            <a:ext cx="11091672" cy="2377440"/>
          </a:xfrm>
          <a:prstGeom prst="rect">
            <a:avLst/>
          </a:prstGeom>
          <a:noFill/>
          <a:ln/>
        </p:spPr>
        <p:txBody>
          <a:bodyPr wrap="square" lIns="0" tIns="0" rIns="0" bIns="0" rtlCol="0" anchor="t"/>
          <a:lstStyle/>
          <a:p>
            <a:pPr indent="0" marL="0">
              <a:buNone/>
            </a:pPr>
            <a:r>
              <a:rPr lang="en-US" sz="2600" dirty="0">
                <a:solidFill>
                  <a:schemeClr val="tx1"/>
                </a:solidFill>
              </a:rPr>
              <a:t>Khi chạy nhiều AI coding agent trên cùng một dự án, lập trình viên gặp khó khăn trong việc phân chia công việc và cấp ngữ cảnh phù hợp. Việc nhiều tác vụ chạy song song dễ gây xung đột nhánh Git và mất dấu trạng thái kiểm thử.</a:t>
            </a:r>
            <a:endParaRPr lang="en-US" sz="2600" dirty="0"/>
          </a:p>
        </p:txBody>
      </p:sp>
      <p:sp>
        <p:nvSpPr>
          <p:cNvPr id="6" name="Thẻ hình dung đời thường"/>
          <p:cNvSpPr/>
          <p:nvPr/>
        </p:nvSpPr>
        <p:spPr>
          <a:xfrm>
            <a:off x="548640" y="4069080"/>
            <a:ext cx="11091672" cy="2011680"/>
          </a:xfrm>
          <a:prstGeom prst="roundRect">
            <a:avLst>
              <a:gd name="adj" fmla="val 5455"/>
            </a:avLst>
          </a:prstGeom>
          <a:solidFill>
            <a:schemeClr val="accent3">
              <a:alpha val="12000"/>
            </a:schemeClr>
          </a:solidFill>
          <a:ln w="12700">
            <a:solidFill>
              <a:schemeClr val="accent3"/>
            </a:solidFill>
            <a:prstDash val="solid"/>
          </a:ln>
          <a:effectLst>
            <a:outerShdw sx="100000" sy="100000" kx="0" ky="0" algn="bl" rotWithShape="0" blurRad="76200" dist="25400" dir="5400000">
              <a:srgbClr val="0F172A">
                <a:alpha val="10000"/>
              </a:srgbClr>
            </a:outerShdw>
          </a:effectLst>
        </p:spPr>
      </p:sp>
      <p:sp>
        <p:nvSpPr>
          <p:cNvPr id="7" name="Text 4"/>
          <p:cNvSpPr txBox="1"/>
          <p:nvPr/>
        </p:nvSpPr>
        <p:spPr>
          <a:xfrm>
            <a:off x="960120" y="4251960"/>
            <a:ext cx="10268712" cy="1645920"/>
          </a:xfrm>
          <a:prstGeom prst="rect">
            <a:avLst/>
          </a:prstGeom>
          <a:noFill/>
          <a:ln/>
        </p:spPr>
        <p:txBody>
          <a:bodyPr wrap="square" lIns="0" tIns="0" rIns="0" bIns="0" rtlCol="0" anchor="ctr"/>
          <a:lstStyle/>
          <a:p>
            <a:pPr indent="0" marL="0">
              <a:buNone/>
            </a:pPr>
            <a:r>
              <a:rPr lang="en-US" sz="2600" b="1" dirty="0">
                <a:solidFill>
                  <a:schemeClr val="accent3"/>
                </a:solidFill>
              </a:rPr>
              <a:t>Hình dung đời thường: </a:t>
            </a:r>
            <a:pPr indent="0" marL="0">
              <a:buNone/>
            </a:pPr>
            <a:r>
              <a:rPr lang="en-US" sz="2600" dirty="0">
                <a:solidFill>
                  <a:schemeClr val="tx1"/>
                </a:solidFill>
              </a:rPr>
              <a:t>Giống như người quản đốc công trường chia mỗi nhóm thợ vào một phòng riêng biệt để thi công mà không cản trở nhau.</a:t>
            </a:r>
            <a:endParaRPr lang="en-US" sz="2600" dirty="0"/>
          </a:p>
        </p:txBody>
      </p:sp>
      <p:sp>
        <p:nvSpPr>
          <p:cNvPr id="25" name="Slide Number Placeholder 0"/>
          <p:cNvSpPr>
            <a:spLocks noGrp="1"/>
          </p:cNvSpPr>
          <p:nvPr>
            <p:ph type="sldNum" sz="quarter" idx="4294967295"/>
          </p:nvPr>
        </p:nvSpPr>
        <p:spPr>
          <a:xfrm>
            <a:off x="10725912" y="6382512"/>
            <a:ext cx="914400" cy="310896"/>
          </a:xfrm>
          <a:prstGeom prst="rect">
            <a:avLst/>
          </a:prstGeom>
          <a:extLst>
            <a:ext uri="{C572A759-6A51-4108-AA02-DFA0A04FC94B}">
              <ma14:wrappingTextBoxFlag xmlns:ma14="http://schemas.microsoft.com/office/mac/drawingml/2011/main" val="0"/>
            </a:ext>
          </a:extLst>
        </p:spPr>
        <p:txBody>
          <a:bodyPr/>
          <a:lstStyle>
            <a:lvl1pPr>
              <a:defRPr sz="13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Biểu tượng người dùng (vòng tròn)"/>
          <p:cNvSpPr/>
          <p:nvPr/>
        </p:nvSpPr>
        <p:spPr>
          <a:xfrm>
            <a:off x="548640" y="411480"/>
            <a:ext cx="868680" cy="868680"/>
          </a:xfrm>
          <a:prstGeom prst="ellipse">
            <a:avLst/>
          </a:prstGeom>
          <a:solidFill>
            <a:schemeClr val="accent4"/>
          </a:solidFill>
          <a:ln w="12700">
            <a:solidFill>
              <a:schemeClr val="accent4"/>
            </a:solidFill>
            <a:prstDash val="solid"/>
          </a:ln>
        </p:spPr>
      </p:sp>
      <p:pic>
        <p:nvPicPr>
          <p:cNvPr id="3" name="Biểu tượng người dùng" descr="Biểu tượng người dùng">    </p:cNvPr>
          <p:cNvPicPr>
            <a:picLocks noChangeAspect="1"/>
          </p:cNvPicPr>
          <p:nvPr/>
        </p:nvPicPr>
        <p:blipFill>
          <a:blip r:embed="rId1"/>
          <a:stretch>
            <a:fillRect/>
          </a:stretch>
        </p:blipFill>
        <p:spPr>
          <a:xfrm>
            <a:off x="765810" y="628650"/>
            <a:ext cx="434340" cy="434340"/>
          </a:xfrm>
          <a:prstGeom prst="rect">
            <a:avLst/>
          </a:prstGeom>
        </p:spPr>
      </p:pic>
      <p:sp>
        <p:nvSpPr>
          <p:cNvPr id="4" name="Text 0"/>
          <p:cNvSpPr/>
          <p:nvPr>
            <p:ph idx="100" type="title" hasCustomPrompt="1"/>
          </p:nvPr>
        </p:nvSpPr>
        <p:spPr>
          <a:xfrm>
            <a:off x="1554480" y="365760"/>
            <a:ext cx="10085832" cy="1005840"/>
          </a:xfrm>
          <a:prstGeom prst="rect">
            <a:avLst/>
          </a:prstGeom>
          <a:noFill/>
          <a:ln/>
        </p:spPr>
        <p:txBody>
          <a:bodyPr wrap="square" lIns="0" tIns="0" rIns="0" bIns="0" rtlCol="0" anchor="ctr"/>
          <a:lstStyle/>
          <a:p>
            <a:pPr algn="l" indent="0" marL="0">
              <a:buNone/>
            </a:pPr>
            <a:r>
              <a:rPr lang="en-US" sz="3600" b="1" dirty="0">
                <a:solidFill>
                  <a:schemeClr val="tx2"/>
                </a:solidFill>
              </a:rPr>
              <a:t>Ai nên xem</a:t>
            </a:r>
            <a:endParaRPr lang="en-US" sz="3600" dirty="0"/>
          </a:p>
        </p:txBody>
      </p:sp>
      <p:sp>
        <p:nvSpPr>
          <p:cNvPr id="5" name="Thẻ đối tượng 1"/>
          <p:cNvSpPr/>
          <p:nvPr/>
        </p:nvSpPr>
        <p:spPr>
          <a:xfrm>
            <a:off x="548640" y="1600200"/>
            <a:ext cx="11091672" cy="1371600"/>
          </a:xfrm>
          <a:prstGeom prst="roundRect">
            <a:avLst>
              <a:gd name="adj" fmla="val 8000"/>
            </a:avLst>
          </a:prstGeom>
          <a:solidFill>
            <a:schemeClr val="bg2"/>
          </a:solidFill>
          <a:ln w="12700">
            <a:solidFill>
              <a:schemeClr val="bg2"/>
            </a:solidFill>
            <a:prstDash val="solid"/>
          </a:ln>
          <a:effectLst>
            <a:outerShdw sx="100000" sy="100000" kx="0" ky="0" algn="bl" rotWithShape="0" blurRad="76200" dist="25400" dir="5400000">
              <a:srgbClr val="0F172A">
                <a:alpha val="10000"/>
              </a:srgbClr>
            </a:outerShdw>
          </a:effectLst>
        </p:spPr>
      </p:sp>
      <p:sp>
        <p:nvSpPr>
          <p:cNvPr id="6" name="Số 1 (vòng tròn)"/>
          <p:cNvSpPr/>
          <p:nvPr/>
        </p:nvSpPr>
        <p:spPr>
          <a:xfrm>
            <a:off x="868680" y="1943100"/>
            <a:ext cx="685800" cy="685800"/>
          </a:xfrm>
          <a:prstGeom prst="ellipse">
            <a:avLst/>
          </a:prstGeom>
          <a:solidFill>
            <a:schemeClr val="accent1"/>
          </a:solidFill>
          <a:ln w="12700">
            <a:solidFill>
              <a:schemeClr val="accent1"/>
            </a:solidFill>
            <a:prstDash val="solid"/>
          </a:ln>
        </p:spPr>
      </p:sp>
      <p:sp>
        <p:nvSpPr>
          <p:cNvPr id="7" name="Số 1"/>
          <p:cNvSpPr txBox="1"/>
          <p:nvPr/>
        </p:nvSpPr>
        <p:spPr>
          <a:xfrm>
            <a:off x="868680" y="1943100"/>
            <a:ext cx="685800" cy="685800"/>
          </a:xfrm>
          <a:prstGeom prst="rect">
            <a:avLst/>
          </a:prstGeom>
          <a:noFill/>
          <a:ln/>
        </p:spPr>
        <p:txBody>
          <a:bodyPr wrap="square" lIns="0" tIns="0" rIns="0" bIns="0" rtlCol="0" anchor="ctr"/>
          <a:lstStyle/>
          <a:p>
            <a:pPr algn="ctr" indent="0" marL="0">
              <a:buNone/>
            </a:pPr>
            <a:r>
              <a:rPr lang="en-US" sz="2800" b="1" dirty="0">
                <a:solidFill>
                  <a:schemeClr val="bg1"/>
                </a:solidFill>
              </a:rPr>
              <a:t>1</a:t>
            </a:r>
            <a:endParaRPr lang="en-US" sz="2800" dirty="0"/>
          </a:p>
        </p:txBody>
      </p:sp>
      <p:sp>
        <p:nvSpPr>
          <p:cNvPr id="8" name="Text 5"/>
          <p:cNvSpPr txBox="1"/>
          <p:nvPr/>
        </p:nvSpPr>
        <p:spPr>
          <a:xfrm>
            <a:off x="1828800" y="1691640"/>
            <a:ext cx="9445752" cy="1188720"/>
          </a:xfrm>
          <a:prstGeom prst="rect">
            <a:avLst/>
          </a:prstGeom>
          <a:noFill/>
          <a:ln/>
        </p:spPr>
        <p:txBody>
          <a:bodyPr wrap="square" lIns="0" tIns="0" rIns="0" bIns="0" rtlCol="0" anchor="ctr"/>
          <a:lstStyle/>
          <a:p>
            <a:pPr indent="0" marL="0">
              <a:buNone/>
            </a:pPr>
            <a:r>
              <a:rPr lang="en-US" sz="2600" dirty="0">
                <a:solidFill>
                  <a:schemeClr val="tx1"/>
                </a:solidFill>
              </a:rPr>
              <a:t>Lập trình viên muốn chạy song song nhiều AI coding agent mà không sợ xung đột mã nguồn</a:t>
            </a:r>
            <a:endParaRPr lang="en-US" sz="2600" dirty="0"/>
          </a:p>
        </p:txBody>
      </p:sp>
      <p:sp>
        <p:nvSpPr>
          <p:cNvPr id="9" name="Thẻ đối tượng 2"/>
          <p:cNvSpPr/>
          <p:nvPr/>
        </p:nvSpPr>
        <p:spPr>
          <a:xfrm>
            <a:off x="548640" y="3108960"/>
            <a:ext cx="11091672" cy="1371600"/>
          </a:xfrm>
          <a:prstGeom prst="roundRect">
            <a:avLst>
              <a:gd name="adj" fmla="val 8000"/>
            </a:avLst>
          </a:prstGeom>
          <a:solidFill>
            <a:schemeClr val="bg2"/>
          </a:solidFill>
          <a:ln w="12700">
            <a:solidFill>
              <a:schemeClr val="bg2"/>
            </a:solidFill>
            <a:prstDash val="solid"/>
          </a:ln>
          <a:effectLst>
            <a:outerShdw sx="100000" sy="100000" kx="0" ky="0" algn="bl" rotWithShape="0" blurRad="76200" dist="25400" dir="5400000">
              <a:srgbClr val="0F172A">
                <a:alpha val="10000"/>
              </a:srgbClr>
            </a:outerShdw>
          </a:effectLst>
        </p:spPr>
      </p:sp>
      <p:sp>
        <p:nvSpPr>
          <p:cNvPr id="10" name="Số 2 (vòng tròn)"/>
          <p:cNvSpPr/>
          <p:nvPr/>
        </p:nvSpPr>
        <p:spPr>
          <a:xfrm>
            <a:off x="868680" y="3451860"/>
            <a:ext cx="685800" cy="685800"/>
          </a:xfrm>
          <a:prstGeom prst="ellipse">
            <a:avLst/>
          </a:prstGeom>
          <a:solidFill>
            <a:schemeClr val="accent2"/>
          </a:solidFill>
          <a:ln w="12700">
            <a:solidFill>
              <a:schemeClr val="accent2"/>
            </a:solidFill>
            <a:prstDash val="solid"/>
          </a:ln>
        </p:spPr>
      </p:sp>
      <p:sp>
        <p:nvSpPr>
          <p:cNvPr id="11" name="Số 2"/>
          <p:cNvSpPr txBox="1"/>
          <p:nvPr/>
        </p:nvSpPr>
        <p:spPr>
          <a:xfrm>
            <a:off x="868680" y="3451860"/>
            <a:ext cx="685800" cy="685800"/>
          </a:xfrm>
          <a:prstGeom prst="rect">
            <a:avLst/>
          </a:prstGeom>
          <a:noFill/>
          <a:ln/>
        </p:spPr>
        <p:txBody>
          <a:bodyPr wrap="square" lIns="0" tIns="0" rIns="0" bIns="0" rtlCol="0" anchor="ctr"/>
          <a:lstStyle/>
          <a:p>
            <a:pPr algn="ctr" indent="0" marL="0">
              <a:buNone/>
            </a:pPr>
            <a:r>
              <a:rPr lang="en-US" sz="2800" b="1" dirty="0">
                <a:solidFill>
                  <a:schemeClr val="bg1"/>
                </a:solidFill>
              </a:rPr>
              <a:t>2</a:t>
            </a:r>
            <a:endParaRPr lang="en-US" sz="2800" dirty="0"/>
          </a:p>
        </p:txBody>
      </p:sp>
      <p:sp>
        <p:nvSpPr>
          <p:cNvPr id="12" name="Text 9"/>
          <p:cNvSpPr txBox="1"/>
          <p:nvPr/>
        </p:nvSpPr>
        <p:spPr>
          <a:xfrm>
            <a:off x="1828800" y="3200400"/>
            <a:ext cx="9445752" cy="1188720"/>
          </a:xfrm>
          <a:prstGeom prst="rect">
            <a:avLst/>
          </a:prstGeom>
          <a:noFill/>
          <a:ln/>
        </p:spPr>
        <p:txBody>
          <a:bodyPr wrap="square" lIns="0" tIns="0" rIns="0" bIns="0" rtlCol="0" anchor="ctr"/>
          <a:lstStyle/>
          <a:p>
            <a:pPr indent="0" marL="0">
              <a:buNone/>
            </a:pPr>
            <a:r>
              <a:rPr lang="en-US" sz="2600" dirty="0">
                <a:solidFill>
                  <a:schemeClr val="tx1"/>
                </a:solidFill>
              </a:rPr>
              <a:t>Trưởng nhóm kỹ thuật cần giám sát trạng thái kéo mã, CI và tiến độ sửa đổi từ nhiều agent</a:t>
            </a:r>
            <a:endParaRPr lang="en-US" sz="2600" dirty="0"/>
          </a:p>
        </p:txBody>
      </p:sp>
      <p:sp>
        <p:nvSpPr>
          <p:cNvPr id="13" name="Thẻ đối tượng 3"/>
          <p:cNvSpPr/>
          <p:nvPr/>
        </p:nvSpPr>
        <p:spPr>
          <a:xfrm>
            <a:off x="548640" y="4617720"/>
            <a:ext cx="11091672" cy="1371600"/>
          </a:xfrm>
          <a:prstGeom prst="roundRect">
            <a:avLst>
              <a:gd name="adj" fmla="val 8000"/>
            </a:avLst>
          </a:prstGeom>
          <a:solidFill>
            <a:schemeClr val="bg2"/>
          </a:solidFill>
          <a:ln w="12700">
            <a:solidFill>
              <a:schemeClr val="bg2"/>
            </a:solidFill>
            <a:prstDash val="solid"/>
          </a:ln>
          <a:effectLst>
            <a:outerShdw sx="100000" sy="100000" kx="0" ky="0" algn="bl" rotWithShape="0" blurRad="76200" dist="25400" dir="5400000">
              <a:srgbClr val="0F172A">
                <a:alpha val="10000"/>
              </a:srgbClr>
            </a:outerShdw>
          </a:effectLst>
        </p:spPr>
      </p:sp>
      <p:sp>
        <p:nvSpPr>
          <p:cNvPr id="14" name="Số 3 (vòng tròn)"/>
          <p:cNvSpPr/>
          <p:nvPr/>
        </p:nvSpPr>
        <p:spPr>
          <a:xfrm>
            <a:off x="868680" y="4960620"/>
            <a:ext cx="685800" cy="685800"/>
          </a:xfrm>
          <a:prstGeom prst="ellipse">
            <a:avLst/>
          </a:prstGeom>
          <a:solidFill>
            <a:schemeClr val="accent3"/>
          </a:solidFill>
          <a:ln w="12700">
            <a:solidFill>
              <a:schemeClr val="accent3"/>
            </a:solidFill>
            <a:prstDash val="solid"/>
          </a:ln>
        </p:spPr>
      </p:sp>
      <p:sp>
        <p:nvSpPr>
          <p:cNvPr id="15" name="Số 3"/>
          <p:cNvSpPr txBox="1"/>
          <p:nvPr/>
        </p:nvSpPr>
        <p:spPr>
          <a:xfrm>
            <a:off x="868680" y="4960620"/>
            <a:ext cx="685800" cy="685800"/>
          </a:xfrm>
          <a:prstGeom prst="rect">
            <a:avLst/>
          </a:prstGeom>
          <a:noFill/>
          <a:ln/>
        </p:spPr>
        <p:txBody>
          <a:bodyPr wrap="square" lIns="0" tIns="0" rIns="0" bIns="0" rtlCol="0" anchor="ctr"/>
          <a:lstStyle/>
          <a:p>
            <a:pPr algn="ctr" indent="0" marL="0">
              <a:buNone/>
            </a:pPr>
            <a:r>
              <a:rPr lang="en-US" sz="2800" b="1" dirty="0">
                <a:solidFill>
                  <a:schemeClr val="bg1"/>
                </a:solidFill>
              </a:rPr>
              <a:t>3</a:t>
            </a:r>
            <a:endParaRPr lang="en-US" sz="2800" dirty="0"/>
          </a:p>
        </p:txBody>
      </p:sp>
      <p:sp>
        <p:nvSpPr>
          <p:cNvPr id="16" name="Text 13"/>
          <p:cNvSpPr txBox="1"/>
          <p:nvPr/>
        </p:nvSpPr>
        <p:spPr>
          <a:xfrm>
            <a:off x="1828800" y="4709160"/>
            <a:ext cx="9445752" cy="1188720"/>
          </a:xfrm>
          <a:prstGeom prst="rect">
            <a:avLst/>
          </a:prstGeom>
          <a:noFill/>
          <a:ln/>
        </p:spPr>
        <p:txBody>
          <a:bodyPr wrap="square" lIns="0" tIns="0" rIns="0" bIns="0" rtlCol="0" anchor="ctr"/>
          <a:lstStyle/>
          <a:p>
            <a:pPr indent="0" marL="0">
              <a:buNone/>
            </a:pPr>
            <a:r>
              <a:rPr lang="en-US" sz="2600" dirty="0">
                <a:solidFill>
                  <a:schemeClr val="tx1"/>
                </a:solidFill>
              </a:rPr>
              <a:t>Người dùng các công cụ như Claude Code, Codex, Cursor muốn có giao diện quản lý tập trung</a:t>
            </a:r>
            <a:endParaRPr lang="en-US" sz="2600" dirty="0"/>
          </a:p>
        </p:txBody>
      </p:sp>
      <p:sp>
        <p:nvSpPr>
          <p:cNvPr id="25" name="Slide Number Placeholder 0"/>
          <p:cNvSpPr>
            <a:spLocks noGrp="1"/>
          </p:cNvSpPr>
          <p:nvPr>
            <p:ph type="sldNum" sz="quarter" idx="4294967295"/>
          </p:nvPr>
        </p:nvSpPr>
        <p:spPr>
          <a:xfrm>
            <a:off x="10725912" y="6382512"/>
            <a:ext cx="914400" cy="310896"/>
          </a:xfrm>
          <a:prstGeom prst="rect">
            <a:avLst/>
          </a:prstGeom>
          <a:extLst>
            <a:ext uri="{C572A759-6A51-4108-AA02-DFA0A04FC94B}">
              <ma14:wrappingTextBoxFlag xmlns:ma14="http://schemas.microsoft.com/office/mac/drawingml/2011/main" val="0"/>
            </a:ext>
          </a:extLst>
        </p:spPr>
        <p:txBody>
          <a:bodyPr/>
          <a:lstStyle>
            <a:lvl1pPr>
              <a:defRPr sz="13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Biểu tượng lưu ý (vòng tròn)"/>
          <p:cNvSpPr/>
          <p:nvPr/>
        </p:nvSpPr>
        <p:spPr>
          <a:xfrm>
            <a:off x="548640" y="411480"/>
            <a:ext cx="868680" cy="868680"/>
          </a:xfrm>
          <a:prstGeom prst="ellipse">
            <a:avLst/>
          </a:prstGeom>
          <a:solidFill>
            <a:schemeClr val="accent3"/>
          </a:solidFill>
          <a:ln w="12700">
            <a:solidFill>
              <a:schemeClr val="accent3"/>
            </a:solidFill>
            <a:prstDash val="solid"/>
          </a:ln>
        </p:spPr>
      </p:sp>
      <p:pic>
        <p:nvPicPr>
          <p:cNvPr id="3" name="Biểu tượng lưu ý" descr="Biểu tượng lưu ý">    </p:cNvPr>
          <p:cNvPicPr>
            <a:picLocks noChangeAspect="1"/>
          </p:cNvPicPr>
          <p:nvPr/>
        </p:nvPicPr>
        <p:blipFill>
          <a:blip r:embed="rId1"/>
          <a:stretch>
            <a:fillRect/>
          </a:stretch>
        </p:blipFill>
        <p:spPr>
          <a:xfrm>
            <a:off x="765810" y="628650"/>
            <a:ext cx="434340" cy="434340"/>
          </a:xfrm>
          <a:prstGeom prst="rect">
            <a:avLst/>
          </a:prstGeom>
        </p:spPr>
      </p:pic>
      <p:sp>
        <p:nvSpPr>
          <p:cNvPr id="4" name="Text 0"/>
          <p:cNvSpPr/>
          <p:nvPr>
            <p:ph idx="100" type="title" hasCustomPrompt="1"/>
          </p:nvPr>
        </p:nvSpPr>
        <p:spPr>
          <a:xfrm>
            <a:off x="1554480" y="365760"/>
            <a:ext cx="10085832" cy="1005840"/>
          </a:xfrm>
          <a:prstGeom prst="rect">
            <a:avLst/>
          </a:prstGeom>
          <a:noFill/>
          <a:ln/>
        </p:spPr>
        <p:txBody>
          <a:bodyPr wrap="square" lIns="0" tIns="0" rIns="0" bIns="0" rtlCol="0" anchor="ctr"/>
          <a:lstStyle/>
          <a:p>
            <a:pPr algn="l" indent="0" marL="0">
              <a:buNone/>
            </a:pPr>
            <a:r>
              <a:rPr lang="en-US" sz="3600" b="1" dirty="0">
                <a:solidFill>
                  <a:schemeClr val="tx2"/>
                </a:solidFill>
              </a:rPr>
              <a:t>Lưu ý trước khi dùng</a:t>
            </a:r>
            <a:endParaRPr lang="en-US" sz="3600" dirty="0"/>
          </a:p>
        </p:txBody>
      </p:sp>
      <p:sp>
        <p:nvSpPr>
          <p:cNvPr id="5" name="Thẻ lưu ý 1"/>
          <p:cNvSpPr/>
          <p:nvPr/>
        </p:nvSpPr>
        <p:spPr>
          <a:xfrm>
            <a:off x="548640" y="1645920"/>
            <a:ext cx="11091672" cy="2148840"/>
          </a:xfrm>
          <a:prstGeom prst="roundRect">
            <a:avLst>
              <a:gd name="adj" fmla="val 5106"/>
            </a:avLst>
          </a:prstGeom>
          <a:solidFill>
            <a:schemeClr val="accent3">
              <a:alpha val="12000"/>
            </a:schemeClr>
          </a:solidFill>
          <a:ln w="12700">
            <a:solidFill>
              <a:schemeClr val="accent3"/>
            </a:solidFill>
            <a:prstDash val="solid"/>
          </a:ln>
          <a:effectLst>
            <a:outerShdw sx="100000" sy="100000" kx="0" ky="0" algn="bl" rotWithShape="0" blurRad="76200" dist="25400" dir="5400000">
              <a:srgbClr val="0F172A">
                <a:alpha val="10000"/>
              </a:srgbClr>
            </a:outerShdw>
          </a:effectLst>
        </p:spPr>
      </p:sp>
      <p:sp>
        <p:nvSpPr>
          <p:cNvPr id="6" name="Text 3"/>
          <p:cNvSpPr txBox="1"/>
          <p:nvPr/>
        </p:nvSpPr>
        <p:spPr>
          <a:xfrm>
            <a:off x="1005840" y="1828800"/>
            <a:ext cx="10177272" cy="1783080"/>
          </a:xfrm>
          <a:prstGeom prst="rect">
            <a:avLst/>
          </a:prstGeom>
          <a:noFill/>
          <a:ln/>
        </p:spPr>
        <p:txBody>
          <a:bodyPr wrap="square" lIns="0" tIns="0" rIns="0" bIns="0" rtlCol="0" anchor="ctr"/>
          <a:lstStyle/>
          <a:p>
            <a:pPr indent="0" marL="0">
              <a:buNone/>
            </a:pPr>
            <a:r>
              <a:rPr lang="en-US" sz="3000" dirty="0">
                <a:solidFill>
                  <a:schemeClr val="tx1"/>
                </a:solidFill>
              </a:rPr>
              <a:t>Mỗi agent harness (Claude Code, Codex, v.v.) có mức độ hỗ trợ Worker, Chat và reviewer khác nhau</a:t>
            </a:r>
            <a:endParaRPr lang="en-US" sz="3000" dirty="0"/>
          </a:p>
        </p:txBody>
      </p:sp>
      <p:sp>
        <p:nvSpPr>
          <p:cNvPr id="7" name="Thẻ lưu ý 2"/>
          <p:cNvSpPr/>
          <p:nvPr/>
        </p:nvSpPr>
        <p:spPr>
          <a:xfrm>
            <a:off x="548640" y="3977640"/>
            <a:ext cx="11091672" cy="2148840"/>
          </a:xfrm>
          <a:prstGeom prst="roundRect">
            <a:avLst>
              <a:gd name="adj" fmla="val 5106"/>
            </a:avLst>
          </a:prstGeom>
          <a:solidFill>
            <a:schemeClr val="accent3">
              <a:alpha val="12000"/>
            </a:schemeClr>
          </a:solidFill>
          <a:ln w="12700">
            <a:solidFill>
              <a:schemeClr val="accent3"/>
            </a:solidFill>
            <a:prstDash val="solid"/>
          </a:ln>
          <a:effectLst>
            <a:outerShdw sx="100000" sy="100000" kx="0" ky="0" algn="bl" rotWithShape="0" blurRad="76200" dist="25400" dir="5400000">
              <a:srgbClr val="0F172A">
                <a:alpha val="10000"/>
              </a:srgbClr>
            </a:outerShdw>
          </a:effectLst>
        </p:spPr>
      </p:sp>
      <p:sp>
        <p:nvSpPr>
          <p:cNvPr id="8" name="Text 5"/>
          <p:cNvSpPr txBox="1"/>
          <p:nvPr/>
        </p:nvSpPr>
        <p:spPr>
          <a:xfrm>
            <a:off x="1005840" y="4160520"/>
            <a:ext cx="10177272" cy="1783080"/>
          </a:xfrm>
          <a:prstGeom prst="rect">
            <a:avLst/>
          </a:prstGeom>
          <a:noFill/>
          <a:ln/>
        </p:spPr>
        <p:txBody>
          <a:bodyPr wrap="square" lIns="0" tIns="0" rIns="0" bIns="0" rtlCol="0" anchor="ctr"/>
          <a:lstStyle/>
          <a:p>
            <a:pPr indent="0" marL="0">
              <a:buNone/>
            </a:pPr>
            <a:r>
              <a:rPr lang="en-US" sz="3000" dirty="0">
                <a:solidFill>
                  <a:schemeClr val="tx1"/>
                </a:solidFill>
              </a:rPr>
              <a:t>Cần cài đặt riêng CLI cho từng coding agent theo tài liệu hướng dẫn</a:t>
            </a:r>
            <a:endParaRPr lang="en-US" sz="3000" dirty="0"/>
          </a:p>
        </p:txBody>
      </p:sp>
      <p:sp>
        <p:nvSpPr>
          <p:cNvPr id="25" name="Slide Number Placeholder 0"/>
          <p:cNvSpPr>
            <a:spLocks noGrp="1"/>
          </p:cNvSpPr>
          <p:nvPr>
            <p:ph type="sldNum" sz="quarter" idx="4294967295"/>
          </p:nvPr>
        </p:nvSpPr>
        <p:spPr>
          <a:xfrm>
            <a:off x="10725912" y="6382512"/>
            <a:ext cx="914400" cy="310896"/>
          </a:xfrm>
          <a:prstGeom prst="rect">
            <a:avLst/>
          </a:prstGeom>
          <a:extLst>
            <a:ext uri="{C572A759-6A51-4108-AA02-DFA0A04FC94B}">
              <ma14:wrappingTextBoxFlag xmlns:ma14="http://schemas.microsoft.com/office/mac/drawingml/2011/main" val="0"/>
            </a:ext>
          </a:extLst>
        </p:spPr>
        <p:txBody>
          <a:bodyPr/>
          <a:lstStyle>
            <a:lvl1pPr>
              <a:defRPr sz="13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Biểu tượng chuẩn bị (vòng tròn)"/>
          <p:cNvSpPr/>
          <p:nvPr/>
        </p:nvSpPr>
        <p:spPr>
          <a:xfrm>
            <a:off x="548640" y="411480"/>
            <a:ext cx="868680" cy="868680"/>
          </a:xfrm>
          <a:prstGeom prst="ellipse">
            <a:avLst/>
          </a:prstGeom>
          <a:solidFill>
            <a:schemeClr val="accent2"/>
          </a:solidFill>
          <a:ln w="12700">
            <a:solidFill>
              <a:schemeClr val="accent2"/>
            </a:solidFill>
            <a:prstDash val="solid"/>
          </a:ln>
        </p:spPr>
      </p:sp>
      <p:pic>
        <p:nvPicPr>
          <p:cNvPr id="3" name="Biểu tượng chuẩn bị" descr="Biểu tượng chuẩn bị">    </p:cNvPr>
          <p:cNvPicPr>
            <a:picLocks noChangeAspect="1"/>
          </p:cNvPicPr>
          <p:nvPr/>
        </p:nvPicPr>
        <p:blipFill>
          <a:blip r:embed="rId1"/>
          <a:stretch>
            <a:fillRect/>
          </a:stretch>
        </p:blipFill>
        <p:spPr>
          <a:xfrm>
            <a:off x="765810" y="628650"/>
            <a:ext cx="434340" cy="434340"/>
          </a:xfrm>
          <a:prstGeom prst="rect">
            <a:avLst/>
          </a:prstGeom>
        </p:spPr>
      </p:pic>
      <p:sp>
        <p:nvSpPr>
          <p:cNvPr id="4" name="Text 0"/>
          <p:cNvSpPr/>
          <p:nvPr>
            <p:ph idx="100" type="title" hasCustomPrompt="1"/>
          </p:nvPr>
        </p:nvSpPr>
        <p:spPr>
          <a:xfrm>
            <a:off x="1554480" y="365760"/>
            <a:ext cx="10085832" cy="1005840"/>
          </a:xfrm>
          <a:prstGeom prst="rect">
            <a:avLst/>
          </a:prstGeom>
          <a:noFill/>
          <a:ln/>
        </p:spPr>
        <p:txBody>
          <a:bodyPr wrap="square" lIns="0" tIns="0" rIns="0" bIns="0" rtlCol="0" anchor="ctr"/>
          <a:lstStyle/>
          <a:p>
            <a:pPr algn="l" indent="0" marL="0">
              <a:buNone/>
            </a:pPr>
            <a:r>
              <a:rPr lang="en-US" sz="3600" b="1" dirty="0">
                <a:solidFill>
                  <a:schemeClr val="tx2"/>
                </a:solidFill>
              </a:rPr>
              <a:t>Chuẩn bị trước khi bắt đầu</a:t>
            </a:r>
            <a:endParaRPr lang="en-US" sz="3600" dirty="0"/>
          </a:p>
        </p:txBody>
      </p:sp>
      <p:sp>
        <p:nvSpPr>
          <p:cNvPr id="5" name="Text 2"/>
          <p:cNvSpPr txBox="1"/>
          <p:nvPr/>
        </p:nvSpPr>
        <p:spPr>
          <a:xfrm>
            <a:off x="548640" y="1463040"/>
            <a:ext cx="11091672" cy="411480"/>
          </a:xfrm>
          <a:prstGeom prst="rect">
            <a:avLst/>
          </a:prstGeom>
          <a:noFill/>
          <a:ln/>
        </p:spPr>
        <p:txBody>
          <a:bodyPr wrap="square" lIns="0" tIns="0" rIns="0" bIns="0" rtlCol="0" anchor="t"/>
          <a:lstStyle/>
          <a:p>
            <a:pPr indent="0" marL="0">
              <a:buNone/>
            </a:pPr>
            <a:r>
              <a:rPr lang="en-US" sz="2000" i="1" dirty="0">
                <a:solidFill>
                  <a:schemeClr val="tx2"/>
                </a:solidFill>
              </a:rPr>
              <a:t>Đánh dấu từng mục khi đã có đủ.</a:t>
            </a:r>
            <a:endParaRPr lang="en-US" sz="2000" dirty="0"/>
          </a:p>
        </p:txBody>
      </p:sp>
      <p:sp>
        <p:nvSpPr>
          <p:cNvPr id="6" name="Thẻ chuẩn bị 1"/>
          <p:cNvSpPr/>
          <p:nvPr/>
        </p:nvSpPr>
        <p:spPr>
          <a:xfrm>
            <a:off x="548640" y="2011680"/>
            <a:ext cx="11091672" cy="1920240"/>
          </a:xfrm>
          <a:prstGeom prst="roundRect">
            <a:avLst>
              <a:gd name="adj" fmla="val 5714"/>
            </a:avLst>
          </a:prstGeom>
          <a:solidFill>
            <a:schemeClr val="bg2"/>
          </a:solidFill>
          <a:ln w="12700">
            <a:solidFill>
              <a:schemeClr val="bg2"/>
            </a:solidFill>
            <a:prstDash val="solid"/>
          </a:ln>
          <a:effectLst>
            <a:outerShdw sx="100000" sy="100000" kx="0" ky="0" algn="bl" rotWithShape="0" blurRad="76200" dist="25400" dir="5400000">
              <a:srgbClr val="0F172A">
                <a:alpha val="10000"/>
              </a:srgbClr>
            </a:outerShdw>
          </a:effectLst>
        </p:spPr>
      </p:sp>
      <p:sp>
        <p:nvSpPr>
          <p:cNvPr id="7" name="Ô đánh dấu 1"/>
          <p:cNvSpPr/>
          <p:nvPr/>
        </p:nvSpPr>
        <p:spPr>
          <a:xfrm>
            <a:off x="914400" y="2743200"/>
            <a:ext cx="457200" cy="457200"/>
          </a:xfrm>
          <a:prstGeom prst="roundRect">
            <a:avLst>
              <a:gd name="adj" fmla="val 16000"/>
            </a:avLst>
          </a:prstGeom>
          <a:solidFill>
            <a:schemeClr val="bg1"/>
          </a:solidFill>
          <a:ln w="38100">
            <a:solidFill>
              <a:schemeClr val="accent2"/>
            </a:solidFill>
            <a:prstDash val="solid"/>
          </a:ln>
        </p:spPr>
      </p:sp>
      <p:sp>
        <p:nvSpPr>
          <p:cNvPr id="8" name="Text 5"/>
          <p:cNvSpPr txBox="1"/>
          <p:nvPr/>
        </p:nvSpPr>
        <p:spPr>
          <a:xfrm>
            <a:off x="1645920" y="2194560"/>
            <a:ext cx="9628632" cy="1554480"/>
          </a:xfrm>
          <a:prstGeom prst="rect">
            <a:avLst/>
          </a:prstGeom>
          <a:noFill/>
          <a:ln/>
        </p:spPr>
        <p:txBody>
          <a:bodyPr wrap="square" lIns="0" tIns="0" rIns="0" bIns="0" rtlCol="0" anchor="ctr"/>
          <a:lstStyle/>
          <a:p>
            <a:pPr indent="0" marL="0">
              <a:spcAft>
                <a:spcPts val="400"/>
              </a:spcAft>
              <a:buNone/>
            </a:pPr>
            <a:r>
              <a:rPr lang="en-US" sz="2800" b="1" dirty="0">
                <a:solidFill>
                  <a:schemeClr val="tx1"/>
                </a:solidFill>
              </a:rPr>
              <a:t>Hệ điều hành tương thích</a:t>
            </a:r>
            <a:endParaRPr lang="en-US" sz="2400" dirty="0"/>
          </a:p>
          <a:p>
            <a:pPr indent="0" marL="0">
              <a:spcAft>
                <a:spcPts val="400"/>
              </a:spcAft>
              <a:buNone/>
            </a:pPr>
            <a:r>
              <a:rPr lang="en-US" sz="2400" dirty="0">
                <a:solidFill>
                  <a:schemeClr val="tx1"/>
                </a:solidFill>
              </a:rPr>
              <a:t>macOS (Apple silicon hoặc Intel), Windows, hoặc Linux (AppImage, deb, rpm)</a:t>
            </a:r>
            <a:endParaRPr lang="en-US" sz="2400" dirty="0"/>
          </a:p>
          <a:p>
            <a:pPr indent="0" marL="0">
              <a:spcAft>
                <a:spcPts val="400"/>
              </a:spcAft>
              <a:buNone/>
            </a:pPr>
            <a:r>
              <a:rPr lang="en-US" sz="2000" dirty="0">
                <a:solidFill>
                  <a:schemeClr val="tx2"/>
                </a:solidFill>
              </a:rPr>
              <a:t>Liên kết trong README: </a:t>
            </a:r>
            <a:pPr indent="0" marL="0">
              <a:spcAft>
                <a:spcPts val="400"/>
              </a:spcAft>
              <a:buNone/>
            </a:pPr>
            <a:r>
              <a:rPr lang="en-US" sz="2000" u="sng" dirty="0">
                <a:solidFill>
                  <a:schemeClr val="tx1"/>
                </a:solidFill>
                <a:hlinkClick r:id="rId2" invalidUrl="" action="" tgtFrame="" tooltip="installation guide" history="1" highlightClick="0" endSnd="0">
                  <a:extLst>
                    <a:ext uri="{A12FA001-AC4F-418D-AE19-62706E023703}">
                      <ahyp:hlinkClr xmlns:ahyp="http://schemas.microsoft.com/office/drawing/2018/hyperlinkcolor" val="tx"/>
                    </a:ext>
                  </a:extLst>
                </a:hlinkClick>
              </a:rPr>
              <a:t>docs.orchestrator.inc/installation</a:t>
            </a:r>
            <a:endParaRPr lang="en-US" sz="2400" dirty="0"/>
          </a:p>
        </p:txBody>
      </p:sp>
      <p:sp>
        <p:nvSpPr>
          <p:cNvPr id="9" name="Thẻ chuẩn bị 2"/>
          <p:cNvSpPr/>
          <p:nvPr/>
        </p:nvSpPr>
        <p:spPr>
          <a:xfrm>
            <a:off x="548640" y="4114800"/>
            <a:ext cx="11091672" cy="1920240"/>
          </a:xfrm>
          <a:prstGeom prst="roundRect">
            <a:avLst>
              <a:gd name="adj" fmla="val 5714"/>
            </a:avLst>
          </a:prstGeom>
          <a:solidFill>
            <a:schemeClr val="bg2"/>
          </a:solidFill>
          <a:ln w="12700">
            <a:solidFill>
              <a:schemeClr val="bg2"/>
            </a:solidFill>
            <a:prstDash val="solid"/>
          </a:ln>
          <a:effectLst>
            <a:outerShdw sx="100000" sy="100000" kx="0" ky="0" algn="bl" rotWithShape="0" blurRad="76200" dist="25400" dir="5400000">
              <a:srgbClr val="0F172A">
                <a:alpha val="10000"/>
              </a:srgbClr>
            </a:outerShdw>
          </a:effectLst>
        </p:spPr>
      </p:sp>
      <p:sp>
        <p:nvSpPr>
          <p:cNvPr id="10" name="Ô đánh dấu 2"/>
          <p:cNvSpPr/>
          <p:nvPr/>
        </p:nvSpPr>
        <p:spPr>
          <a:xfrm>
            <a:off x="914400" y="4846320"/>
            <a:ext cx="457200" cy="457200"/>
          </a:xfrm>
          <a:prstGeom prst="roundRect">
            <a:avLst>
              <a:gd name="adj" fmla="val 16000"/>
            </a:avLst>
          </a:prstGeom>
          <a:solidFill>
            <a:schemeClr val="bg1"/>
          </a:solidFill>
          <a:ln w="38100">
            <a:solidFill>
              <a:schemeClr val="accent2"/>
            </a:solidFill>
            <a:prstDash val="solid"/>
          </a:ln>
        </p:spPr>
      </p:sp>
      <p:sp>
        <p:nvSpPr>
          <p:cNvPr id="11" name="Text 8"/>
          <p:cNvSpPr txBox="1"/>
          <p:nvPr/>
        </p:nvSpPr>
        <p:spPr>
          <a:xfrm>
            <a:off x="1645920" y="4297680"/>
            <a:ext cx="9628632" cy="1554480"/>
          </a:xfrm>
          <a:prstGeom prst="rect">
            <a:avLst/>
          </a:prstGeom>
          <a:noFill/>
          <a:ln/>
        </p:spPr>
        <p:txBody>
          <a:bodyPr wrap="square" lIns="0" tIns="0" rIns="0" bIns="0" rtlCol="0" anchor="ctr"/>
          <a:lstStyle/>
          <a:p>
            <a:pPr indent="0" marL="0">
              <a:spcAft>
                <a:spcPts val="400"/>
              </a:spcAft>
              <a:buNone/>
            </a:pPr>
            <a:r>
              <a:rPr lang="en-US" sz="2800" b="1" dirty="0">
                <a:solidFill>
                  <a:schemeClr val="tx1"/>
                </a:solidFill>
              </a:rPr>
              <a:t>Kho lưu trữ Git</a:t>
            </a:r>
            <a:endParaRPr lang="en-US" sz="2400" dirty="0"/>
          </a:p>
          <a:p>
            <a:pPr indent="0" marL="0">
              <a:spcAft>
                <a:spcPts val="400"/>
              </a:spcAft>
              <a:buNone/>
            </a:pPr>
            <a:r>
              <a:rPr lang="en-US" sz="2400" dirty="0">
                <a:solidFill>
                  <a:schemeClr val="tx1"/>
                </a:solidFill>
              </a:rPr>
              <a:t>Dự án mã nguồn Git cục bộ để ứng dụng quản lý nhánh và worktree</a:t>
            </a:r>
            <a:endParaRPr lang="en-US" sz="2400" dirty="0"/>
          </a:p>
        </p:txBody>
      </p:sp>
      <p:sp>
        <p:nvSpPr>
          <p:cNvPr id="25" name="Slide Number Placeholder 0"/>
          <p:cNvSpPr>
            <a:spLocks noGrp="1"/>
          </p:cNvSpPr>
          <p:nvPr>
            <p:ph type="sldNum" sz="quarter" idx="4294967295"/>
          </p:nvPr>
        </p:nvSpPr>
        <p:spPr>
          <a:xfrm>
            <a:off x="10725912" y="6382512"/>
            <a:ext cx="914400" cy="310896"/>
          </a:xfrm>
          <a:prstGeom prst="rect">
            <a:avLst/>
          </a:prstGeom>
          <a:extLst>
            <a:ext uri="{C572A759-6A51-4108-AA02-DFA0A04FC94B}">
              <ma14:wrappingTextBoxFlag xmlns:ma14="http://schemas.microsoft.com/office/mac/drawingml/2011/main" val="0"/>
            </a:ext>
          </a:extLst>
        </p:spPr>
        <p:txBody>
          <a:bodyPr/>
          <a:lstStyle>
            <a:lvl1pPr>
              <a:defRPr sz="13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Biểu tượng lộ trình (vòng tròn)"/>
          <p:cNvSpPr/>
          <p:nvPr/>
        </p:nvSpPr>
        <p:spPr>
          <a:xfrm>
            <a:off x="548640" y="411480"/>
            <a:ext cx="868680" cy="868680"/>
          </a:xfrm>
          <a:prstGeom prst="ellipse">
            <a:avLst/>
          </a:prstGeom>
          <a:solidFill>
            <a:schemeClr val="accent1"/>
          </a:solidFill>
          <a:ln w="12700">
            <a:solidFill>
              <a:schemeClr val="accent1"/>
            </a:solidFill>
            <a:prstDash val="solid"/>
          </a:ln>
        </p:spPr>
      </p:sp>
      <p:pic>
        <p:nvPicPr>
          <p:cNvPr id="3" name="Biểu tượng lộ trình" descr="Biểu tượng lộ trình">    </p:cNvPr>
          <p:cNvPicPr>
            <a:picLocks noChangeAspect="1"/>
          </p:cNvPicPr>
          <p:nvPr/>
        </p:nvPicPr>
        <p:blipFill>
          <a:blip r:embed="rId1"/>
          <a:stretch>
            <a:fillRect/>
          </a:stretch>
        </p:blipFill>
        <p:spPr>
          <a:xfrm>
            <a:off x="765810" y="628650"/>
            <a:ext cx="434340" cy="434340"/>
          </a:xfrm>
          <a:prstGeom prst="rect">
            <a:avLst/>
          </a:prstGeom>
        </p:spPr>
      </p:pic>
      <p:sp>
        <p:nvSpPr>
          <p:cNvPr id="4" name="Text 0"/>
          <p:cNvSpPr/>
          <p:nvPr>
            <p:ph idx="100" type="title" hasCustomPrompt="1"/>
          </p:nvPr>
        </p:nvSpPr>
        <p:spPr>
          <a:xfrm>
            <a:off x="1554480" y="365760"/>
            <a:ext cx="10085832" cy="1005840"/>
          </a:xfrm>
          <a:prstGeom prst="rect">
            <a:avLst/>
          </a:prstGeom>
          <a:noFill/>
          <a:ln/>
        </p:spPr>
        <p:txBody>
          <a:bodyPr wrap="square" lIns="0" tIns="0" rIns="0" bIns="0" rtlCol="0" anchor="ctr"/>
          <a:lstStyle/>
          <a:p>
            <a:pPr algn="l" indent="0" marL="0">
              <a:buNone/>
            </a:pPr>
            <a:r>
              <a:rPr lang="en-US" sz="3600" b="1" dirty="0">
                <a:solidFill>
                  <a:schemeClr val="tx2"/>
                </a:solidFill>
              </a:rPr>
              <a:t>Lộ trình</a:t>
            </a:r>
            <a:endParaRPr lang="en-US" sz="3600" dirty="0"/>
          </a:p>
        </p:txBody>
      </p:sp>
      <p:sp>
        <p:nvSpPr>
          <p:cNvPr id="5" name="Thẻ lộ trình 1"/>
          <p:cNvSpPr/>
          <p:nvPr/>
        </p:nvSpPr>
        <p:spPr>
          <a:xfrm>
            <a:off x="548640" y="1554480"/>
            <a:ext cx="11091672" cy="1417320"/>
          </a:xfrm>
          <a:prstGeom prst="roundRect">
            <a:avLst>
              <a:gd name="adj" fmla="val 7742"/>
            </a:avLst>
          </a:prstGeom>
          <a:solidFill>
            <a:schemeClr val="bg2"/>
          </a:solidFill>
          <a:ln w="12700">
            <a:solidFill>
              <a:schemeClr val="bg2"/>
            </a:solidFill>
            <a:prstDash val="solid"/>
          </a:ln>
          <a:effectLst>
            <a:outerShdw sx="100000" sy="100000" kx="0" ky="0" algn="bl" rotWithShape="0" blurRad="76200" dist="25400" dir="5400000">
              <a:srgbClr val="0F172A">
                <a:alpha val="10000"/>
              </a:srgbClr>
            </a:outerShdw>
          </a:effectLst>
        </p:spPr>
      </p:sp>
      <p:sp>
        <p:nvSpPr>
          <p:cNvPr id="6" name="Số 1 (vòng tròn)"/>
          <p:cNvSpPr/>
          <p:nvPr/>
        </p:nvSpPr>
        <p:spPr>
          <a:xfrm>
            <a:off x="868680" y="1897380"/>
            <a:ext cx="731520" cy="731520"/>
          </a:xfrm>
          <a:prstGeom prst="ellipse">
            <a:avLst/>
          </a:prstGeom>
          <a:solidFill>
            <a:schemeClr val="accent1"/>
          </a:solidFill>
          <a:ln w="12700">
            <a:solidFill>
              <a:schemeClr val="accent1"/>
            </a:solidFill>
            <a:prstDash val="solid"/>
          </a:ln>
        </p:spPr>
      </p:sp>
      <p:sp>
        <p:nvSpPr>
          <p:cNvPr id="7" name="Số 1"/>
          <p:cNvSpPr txBox="1"/>
          <p:nvPr/>
        </p:nvSpPr>
        <p:spPr>
          <a:xfrm>
            <a:off x="868680" y="1897380"/>
            <a:ext cx="731520" cy="731520"/>
          </a:xfrm>
          <a:prstGeom prst="rect">
            <a:avLst/>
          </a:prstGeom>
          <a:noFill/>
          <a:ln/>
        </p:spPr>
        <p:txBody>
          <a:bodyPr wrap="square" lIns="0" tIns="0" rIns="0" bIns="0" rtlCol="0" anchor="ctr"/>
          <a:lstStyle/>
          <a:p>
            <a:pPr algn="ctr" indent="0" marL="0">
              <a:buNone/>
            </a:pPr>
            <a:r>
              <a:rPr lang="en-US" sz="3000" b="1" dirty="0">
                <a:solidFill>
                  <a:schemeClr val="bg1"/>
                </a:solidFill>
              </a:rPr>
              <a:t>1</a:t>
            </a:r>
            <a:endParaRPr lang="en-US" sz="3000" dirty="0"/>
          </a:p>
        </p:txBody>
      </p:sp>
      <p:sp>
        <p:nvSpPr>
          <p:cNvPr id="8" name="Text 5"/>
          <p:cNvSpPr txBox="1"/>
          <p:nvPr/>
        </p:nvSpPr>
        <p:spPr>
          <a:xfrm>
            <a:off x="1920240" y="1627632"/>
            <a:ext cx="9354312" cy="1271016"/>
          </a:xfrm>
          <a:prstGeom prst="rect">
            <a:avLst/>
          </a:prstGeom>
          <a:noFill/>
          <a:ln/>
        </p:spPr>
        <p:txBody>
          <a:bodyPr wrap="square" lIns="0" tIns="0" rIns="0" bIns="0" rtlCol="0" anchor="ctr"/>
          <a:lstStyle/>
          <a:p>
            <a:pPr indent="0" marL="0">
              <a:spcAft>
                <a:spcPts val="300"/>
              </a:spcAft>
              <a:buNone/>
            </a:pPr>
            <a:r>
              <a:rPr lang="en-US" sz="2800" b="1" dirty="0">
                <a:solidFill>
                  <a:schemeClr val="tx1"/>
                </a:solidFill>
              </a:rPr>
              <a:t>Tải và khởi chạy ứng dụng desktop</a:t>
            </a:r>
            <a:endParaRPr lang="en-US" sz="2400" dirty="0"/>
          </a:p>
          <a:p>
            <a:pPr indent="0" marL="0">
              <a:spcAft>
                <a:spcPts val="300"/>
              </a:spcAft>
              <a:buNone/>
            </a:pPr>
            <a:r>
              <a:rPr lang="en-US" sz="2000" dirty="0">
                <a:solidFill>
                  <a:schemeClr val="tx1"/>
                </a:solidFill>
              </a:rPr>
              <a:t>Cài đặt ứng dụng desktop để tự động chạy tiến trình nền daemon quản lý mã nguồn mà không cần CLI.</a:t>
            </a:r>
            <a:endParaRPr lang="en-US" sz="2400" dirty="0"/>
          </a:p>
        </p:txBody>
      </p:sp>
      <p:sp>
        <p:nvSpPr>
          <p:cNvPr id="9" name="Thẻ lộ trình 2"/>
          <p:cNvSpPr/>
          <p:nvPr/>
        </p:nvSpPr>
        <p:spPr>
          <a:xfrm>
            <a:off x="548640" y="3081528"/>
            <a:ext cx="11091672" cy="1417320"/>
          </a:xfrm>
          <a:prstGeom prst="roundRect">
            <a:avLst>
              <a:gd name="adj" fmla="val 7742"/>
            </a:avLst>
          </a:prstGeom>
          <a:solidFill>
            <a:schemeClr val="bg2"/>
          </a:solidFill>
          <a:ln w="12700">
            <a:solidFill>
              <a:schemeClr val="bg2"/>
            </a:solidFill>
            <a:prstDash val="solid"/>
          </a:ln>
          <a:effectLst>
            <a:outerShdw sx="100000" sy="100000" kx="0" ky="0" algn="bl" rotWithShape="0" blurRad="76200" dist="25400" dir="5400000">
              <a:srgbClr val="0F172A">
                <a:alpha val="10000"/>
              </a:srgbClr>
            </a:outerShdw>
          </a:effectLst>
        </p:spPr>
      </p:sp>
      <p:sp>
        <p:nvSpPr>
          <p:cNvPr id="10" name="Số 2 (vòng tròn)"/>
          <p:cNvSpPr/>
          <p:nvPr/>
        </p:nvSpPr>
        <p:spPr>
          <a:xfrm>
            <a:off x="868680" y="3424428"/>
            <a:ext cx="731520" cy="731520"/>
          </a:xfrm>
          <a:prstGeom prst="ellipse">
            <a:avLst/>
          </a:prstGeom>
          <a:solidFill>
            <a:schemeClr val="accent2"/>
          </a:solidFill>
          <a:ln w="12700">
            <a:solidFill>
              <a:schemeClr val="accent2"/>
            </a:solidFill>
            <a:prstDash val="solid"/>
          </a:ln>
        </p:spPr>
      </p:sp>
      <p:sp>
        <p:nvSpPr>
          <p:cNvPr id="11" name="Số 2"/>
          <p:cNvSpPr txBox="1"/>
          <p:nvPr/>
        </p:nvSpPr>
        <p:spPr>
          <a:xfrm>
            <a:off x="868680" y="3424428"/>
            <a:ext cx="731520" cy="731520"/>
          </a:xfrm>
          <a:prstGeom prst="rect">
            <a:avLst/>
          </a:prstGeom>
          <a:noFill/>
          <a:ln/>
        </p:spPr>
        <p:txBody>
          <a:bodyPr wrap="square" lIns="0" tIns="0" rIns="0" bIns="0" rtlCol="0" anchor="ctr"/>
          <a:lstStyle/>
          <a:p>
            <a:pPr algn="ctr" indent="0" marL="0">
              <a:buNone/>
            </a:pPr>
            <a:r>
              <a:rPr lang="en-US" sz="3000" b="1" dirty="0">
                <a:solidFill>
                  <a:schemeClr val="bg1"/>
                </a:solidFill>
              </a:rPr>
              <a:t>2</a:t>
            </a:r>
            <a:endParaRPr lang="en-US" sz="3000" dirty="0"/>
          </a:p>
        </p:txBody>
      </p:sp>
      <p:sp>
        <p:nvSpPr>
          <p:cNvPr id="12" name="Text 9"/>
          <p:cNvSpPr txBox="1"/>
          <p:nvPr/>
        </p:nvSpPr>
        <p:spPr>
          <a:xfrm>
            <a:off x="1920240" y="3154680"/>
            <a:ext cx="9354312" cy="1271016"/>
          </a:xfrm>
          <a:prstGeom prst="rect">
            <a:avLst/>
          </a:prstGeom>
          <a:noFill/>
          <a:ln/>
        </p:spPr>
        <p:txBody>
          <a:bodyPr wrap="square" lIns="0" tIns="0" rIns="0" bIns="0" rtlCol="0" anchor="ctr"/>
          <a:lstStyle/>
          <a:p>
            <a:pPr indent="0" marL="0">
              <a:spcAft>
                <a:spcPts val="300"/>
              </a:spcAft>
              <a:buNone/>
            </a:pPr>
            <a:r>
              <a:rPr lang="en-US" sz="2800" b="1" dirty="0">
                <a:solidFill>
                  <a:schemeClr val="tx1"/>
                </a:solidFill>
              </a:rPr>
              <a:t>Thêm repository và khởi tạo worker session</a:t>
            </a:r>
            <a:endParaRPr lang="en-US" sz="2400" dirty="0"/>
          </a:p>
          <a:p>
            <a:pPr indent="0" marL="0">
              <a:spcAft>
                <a:spcPts val="300"/>
              </a:spcAft>
              <a:buNone/>
            </a:pPr>
            <a:r>
              <a:rPr lang="en-US" sz="2000" dirty="0">
                <a:solidFill>
                  <a:schemeClr val="tx1"/>
                </a:solidFill>
              </a:rPr>
              <a:t>Gắn dự án vào ứng dụng và tạo không gian làm việc cô lập cho coding agent thực hiện tác vụ.</a:t>
            </a:r>
            <a:endParaRPr lang="en-US" sz="2400" dirty="0"/>
          </a:p>
        </p:txBody>
      </p:sp>
      <p:sp>
        <p:nvSpPr>
          <p:cNvPr id="13" name="Thẻ kết quả cuối"/>
          <p:cNvSpPr/>
          <p:nvPr/>
        </p:nvSpPr>
        <p:spPr>
          <a:xfrm>
            <a:off x="548640" y="4608576"/>
            <a:ext cx="11091672" cy="1417320"/>
          </a:xfrm>
          <a:prstGeom prst="roundRect">
            <a:avLst>
              <a:gd name="adj" fmla="val 7742"/>
            </a:avLst>
          </a:prstGeom>
          <a:solidFill>
            <a:schemeClr val="accent5">
              <a:alpha val="12000"/>
            </a:schemeClr>
          </a:solidFill>
          <a:ln w="12700">
            <a:solidFill>
              <a:schemeClr val="accent5"/>
            </a:solidFill>
            <a:prstDash val="solid"/>
          </a:ln>
          <a:effectLst>
            <a:outerShdw sx="100000" sy="100000" kx="0" ky="0" algn="bl" rotWithShape="0" blurRad="76200" dist="25400" dir="5400000">
              <a:srgbClr val="0F172A">
                <a:alpha val="10000"/>
              </a:srgbClr>
            </a:outerShdw>
          </a:effectLst>
        </p:spPr>
      </p:sp>
      <p:sp>
        <p:nvSpPr>
          <p:cNvPr id="14" name="Biểu tượng hoàn thành (vòng tròn)"/>
          <p:cNvSpPr/>
          <p:nvPr/>
        </p:nvSpPr>
        <p:spPr>
          <a:xfrm>
            <a:off x="868680" y="4951476"/>
            <a:ext cx="731520" cy="731520"/>
          </a:xfrm>
          <a:prstGeom prst="ellipse">
            <a:avLst/>
          </a:prstGeom>
          <a:solidFill>
            <a:schemeClr val="accent5"/>
          </a:solidFill>
          <a:ln w="12700">
            <a:solidFill>
              <a:schemeClr val="accent5"/>
            </a:solidFill>
            <a:prstDash val="solid"/>
          </a:ln>
        </p:spPr>
      </p:sp>
      <p:pic>
        <p:nvPicPr>
          <p:cNvPr id="15" name="Biểu tượng hoàn thành" descr="Biểu tượng hoàn thành">    </p:cNvPr>
          <p:cNvPicPr>
            <a:picLocks noChangeAspect="1"/>
          </p:cNvPicPr>
          <p:nvPr/>
        </p:nvPicPr>
        <p:blipFill>
          <a:blip r:embed="rId2"/>
          <a:stretch>
            <a:fillRect/>
          </a:stretch>
        </p:blipFill>
        <p:spPr>
          <a:xfrm>
            <a:off x="1051560" y="5134356"/>
            <a:ext cx="365760" cy="365760"/>
          </a:xfrm>
          <a:prstGeom prst="rect">
            <a:avLst/>
          </a:prstGeom>
        </p:spPr>
      </p:pic>
      <p:sp>
        <p:nvSpPr>
          <p:cNvPr id="16" name="Text 12"/>
          <p:cNvSpPr txBox="1"/>
          <p:nvPr/>
        </p:nvSpPr>
        <p:spPr>
          <a:xfrm>
            <a:off x="1920240" y="4681728"/>
            <a:ext cx="9354312" cy="1271016"/>
          </a:xfrm>
          <a:prstGeom prst="rect">
            <a:avLst/>
          </a:prstGeom>
          <a:noFill/>
          <a:ln/>
        </p:spPr>
        <p:txBody>
          <a:bodyPr wrap="square" lIns="0" tIns="0" rIns="0" bIns="0" rtlCol="0" anchor="ctr"/>
          <a:lstStyle/>
          <a:p>
            <a:pPr indent="0" marL="0">
              <a:spcAft>
                <a:spcPts val="300"/>
              </a:spcAft>
              <a:buNone/>
            </a:pPr>
            <a:r>
              <a:rPr lang="en-US" sz="2800" b="1" dirty="0">
                <a:solidFill>
                  <a:schemeClr val="tx1"/>
                </a:solidFill>
              </a:rPr>
              <a:t>Kết quả</a:t>
            </a:r>
            <a:endParaRPr lang="en-US" sz="2400" dirty="0"/>
          </a:p>
          <a:p>
            <a:pPr indent="0" marL="0">
              <a:spcAft>
                <a:spcPts val="300"/>
              </a:spcAft>
              <a:buNone/>
            </a:pPr>
            <a:r>
              <a:rPr lang="en-US" sz="2000" dirty="0">
                <a:solidFill>
                  <a:schemeClr val="tx1"/>
                </a:solidFill>
              </a:rPr>
              <a:t>Cài đặt thành công ứng dụng desktop trên máy tính, kết nối với kho mã nguồn Git và khởi tạo worker session đầu tiên cho coding agent.</a:t>
            </a:r>
            <a:endParaRPr lang="en-US" sz="2400" dirty="0"/>
          </a:p>
        </p:txBody>
      </p:sp>
      <p:sp>
        <p:nvSpPr>
          <p:cNvPr id="25" name="Slide Number Placeholder 0"/>
          <p:cNvSpPr>
            <a:spLocks noGrp="1"/>
          </p:cNvSpPr>
          <p:nvPr>
            <p:ph type="sldNum" sz="quarter" idx="4294967295"/>
          </p:nvPr>
        </p:nvSpPr>
        <p:spPr>
          <a:xfrm>
            <a:off x="10725912" y="6382512"/>
            <a:ext cx="914400" cy="310896"/>
          </a:xfrm>
          <a:prstGeom prst="rect">
            <a:avLst/>
          </a:prstGeom>
          <a:extLst>
            <a:ext uri="{C572A759-6A51-4108-AA02-DFA0A04FC94B}">
              <ma14:wrappingTextBoxFlag xmlns:ma14="http://schemas.microsoft.com/office/mac/drawingml/2011/main" val="0"/>
            </a:ext>
          </a:extLst>
        </p:spPr>
        <p:txBody>
          <a:bodyPr/>
          <a:lstStyle>
            <a:lvl1pPr>
              <a:defRPr sz="13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Biểu tượng bước 1 (vòng tròn)"/>
          <p:cNvSpPr/>
          <p:nvPr/>
        </p:nvSpPr>
        <p:spPr>
          <a:xfrm>
            <a:off x="548640" y="411480"/>
            <a:ext cx="868680" cy="868680"/>
          </a:xfrm>
          <a:prstGeom prst="ellipse">
            <a:avLst/>
          </a:prstGeom>
          <a:solidFill>
            <a:schemeClr val="accent1"/>
          </a:solidFill>
          <a:ln w="12700">
            <a:solidFill>
              <a:schemeClr val="accent1"/>
            </a:solidFill>
            <a:prstDash val="solid"/>
          </a:ln>
        </p:spPr>
      </p:sp>
      <p:pic>
        <p:nvPicPr>
          <p:cNvPr id="3" name="Biểu tượng bước 1" descr="Biểu tượng bước 1">    </p:cNvPr>
          <p:cNvPicPr>
            <a:picLocks noChangeAspect="1"/>
          </p:cNvPicPr>
          <p:nvPr/>
        </p:nvPicPr>
        <p:blipFill>
          <a:blip r:embed="rId1"/>
          <a:stretch>
            <a:fillRect/>
          </a:stretch>
        </p:blipFill>
        <p:spPr>
          <a:xfrm>
            <a:off x="765810" y="628650"/>
            <a:ext cx="434340" cy="434340"/>
          </a:xfrm>
          <a:prstGeom prst="rect">
            <a:avLst/>
          </a:prstGeom>
        </p:spPr>
      </p:pic>
      <p:sp>
        <p:nvSpPr>
          <p:cNvPr id="4" name="Text 0"/>
          <p:cNvSpPr/>
          <p:nvPr>
            <p:ph idx="100" type="title" hasCustomPrompt="1"/>
          </p:nvPr>
        </p:nvSpPr>
        <p:spPr>
          <a:xfrm>
            <a:off x="1554480" y="365760"/>
            <a:ext cx="10085832" cy="1005840"/>
          </a:xfrm>
          <a:prstGeom prst="rect">
            <a:avLst/>
          </a:prstGeom>
          <a:noFill/>
          <a:ln/>
        </p:spPr>
        <p:txBody>
          <a:bodyPr wrap="square" lIns="0" tIns="0" rIns="0" bIns="0" rtlCol="0" anchor="ctr"/>
          <a:lstStyle/>
          <a:p>
            <a:pPr algn="l" indent="0" marL="0">
              <a:buNone/>
            </a:pPr>
            <a:r>
              <a:rPr lang="en-US" sz="3600" b="1" dirty="0">
                <a:solidFill>
                  <a:schemeClr val="tx2"/>
                </a:solidFill>
              </a:rPr>
              <a:t>Bước 1 · Tải và khởi chạy ứng dụng desktop</a:t>
            </a:r>
            <a:endParaRPr lang="en-US" sz="3600" dirty="0"/>
          </a:p>
        </p:txBody>
      </p:sp>
      <p:sp>
        <p:nvSpPr>
          <p:cNvPr id="5" name="Text 2"/>
          <p:cNvSpPr txBox="1"/>
          <p:nvPr/>
        </p:nvSpPr>
        <p:spPr>
          <a:xfrm>
            <a:off x="548640" y="1463040"/>
            <a:ext cx="11091672" cy="868680"/>
          </a:xfrm>
          <a:prstGeom prst="rect">
            <a:avLst/>
          </a:prstGeom>
          <a:noFill/>
          <a:ln/>
        </p:spPr>
        <p:txBody>
          <a:bodyPr wrap="square" lIns="0" tIns="0" rIns="0" bIns="0" rtlCol="0" anchor="t"/>
          <a:lstStyle/>
          <a:p>
            <a:pPr indent="0" marL="0">
              <a:buNone/>
            </a:pPr>
            <a:r>
              <a:rPr lang="en-US" sz="2200" b="1" dirty="0">
                <a:solidFill>
                  <a:schemeClr val="tx2"/>
                </a:solidFill>
              </a:rPr>
              <a:t>Mục đích: </a:t>
            </a:r>
            <a:pPr indent="0" marL="0">
              <a:buNone/>
            </a:pPr>
            <a:r>
              <a:rPr lang="en-US" sz="2200" dirty="0">
                <a:solidFill>
                  <a:schemeClr val="tx1"/>
                </a:solidFill>
              </a:rPr>
              <a:t>Cài đặt ứng dụng desktop để tự động chạy tiến trình nền daemon quản lý mã nguồn mà không cần CLI.</a:t>
            </a:r>
            <a:endParaRPr lang="en-US" sz="2200" dirty="0"/>
          </a:p>
        </p:txBody>
      </p:sp>
      <p:sp>
        <p:nvSpPr>
          <p:cNvPr id="6" name="Thẻ việc cần làm 1"/>
          <p:cNvSpPr/>
          <p:nvPr/>
        </p:nvSpPr>
        <p:spPr>
          <a:xfrm>
            <a:off x="548640" y="2377440"/>
            <a:ext cx="5212080" cy="1880616"/>
          </a:xfrm>
          <a:prstGeom prst="roundRect">
            <a:avLst>
              <a:gd name="adj" fmla="val 5835"/>
            </a:avLst>
          </a:prstGeom>
          <a:solidFill>
            <a:schemeClr val="bg2"/>
          </a:solidFill>
          <a:ln w="12700">
            <a:solidFill>
              <a:schemeClr val="bg2"/>
            </a:solidFill>
            <a:prstDash val="solid"/>
          </a:ln>
        </p:spPr>
      </p:sp>
      <p:sp>
        <p:nvSpPr>
          <p:cNvPr id="7" name="Số 1 (vòng tròn)"/>
          <p:cNvSpPr/>
          <p:nvPr/>
        </p:nvSpPr>
        <p:spPr>
          <a:xfrm>
            <a:off x="777240" y="3043428"/>
            <a:ext cx="548640" cy="548640"/>
          </a:xfrm>
          <a:prstGeom prst="ellipse">
            <a:avLst/>
          </a:prstGeom>
          <a:solidFill>
            <a:schemeClr val="accent1"/>
          </a:solidFill>
          <a:ln w="12700">
            <a:solidFill>
              <a:schemeClr val="accent1"/>
            </a:solidFill>
            <a:prstDash val="solid"/>
          </a:ln>
        </p:spPr>
      </p:sp>
      <p:sp>
        <p:nvSpPr>
          <p:cNvPr id="8" name="Số 1"/>
          <p:cNvSpPr txBox="1"/>
          <p:nvPr/>
        </p:nvSpPr>
        <p:spPr>
          <a:xfrm>
            <a:off x="777240" y="3043428"/>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9" name="Text 6"/>
          <p:cNvSpPr txBox="1"/>
          <p:nvPr/>
        </p:nvSpPr>
        <p:spPr>
          <a:xfrm>
            <a:off x="1508760" y="2450592"/>
            <a:ext cx="4023360" cy="1734312"/>
          </a:xfrm>
          <a:prstGeom prst="rect">
            <a:avLst/>
          </a:prstGeom>
          <a:noFill/>
          <a:ln/>
        </p:spPr>
        <p:txBody>
          <a:bodyPr wrap="square" lIns="0" tIns="0" rIns="0" bIns="0" rtlCol="0" anchor="ctr"/>
          <a:lstStyle/>
          <a:p>
            <a:pPr indent="0" marL="0">
              <a:buNone/>
            </a:pPr>
            <a:r>
              <a:rPr lang="en-US" sz="2400" dirty="0">
                <a:solidFill>
                  <a:schemeClr val="tx1"/>
                </a:solidFill>
              </a:rPr>
              <a:t>Tải tệp cài đặt phù hợp với hệ điều hành từ danh sách phát hành chính thức.</a:t>
            </a:r>
            <a:endParaRPr lang="en-US" sz="2400" dirty="0"/>
          </a:p>
        </p:txBody>
      </p:sp>
      <p:sp>
        <p:nvSpPr>
          <p:cNvPr id="10" name="Thẻ việc cần làm 2"/>
          <p:cNvSpPr/>
          <p:nvPr/>
        </p:nvSpPr>
        <p:spPr>
          <a:xfrm>
            <a:off x="548640" y="4395216"/>
            <a:ext cx="5212080" cy="1490472"/>
          </a:xfrm>
          <a:prstGeom prst="roundRect">
            <a:avLst>
              <a:gd name="adj" fmla="val 7362"/>
            </a:avLst>
          </a:prstGeom>
          <a:solidFill>
            <a:schemeClr val="bg2"/>
          </a:solidFill>
          <a:ln w="12700">
            <a:solidFill>
              <a:schemeClr val="bg2"/>
            </a:solidFill>
            <a:prstDash val="solid"/>
          </a:ln>
        </p:spPr>
      </p:sp>
      <p:sp>
        <p:nvSpPr>
          <p:cNvPr id="11" name="Số 2 (vòng tròn)"/>
          <p:cNvSpPr/>
          <p:nvPr/>
        </p:nvSpPr>
        <p:spPr>
          <a:xfrm>
            <a:off x="777240" y="4866132"/>
            <a:ext cx="548640" cy="548640"/>
          </a:xfrm>
          <a:prstGeom prst="ellipse">
            <a:avLst/>
          </a:prstGeom>
          <a:solidFill>
            <a:schemeClr val="accent1"/>
          </a:solidFill>
          <a:ln w="12700">
            <a:solidFill>
              <a:schemeClr val="accent1"/>
            </a:solidFill>
            <a:prstDash val="solid"/>
          </a:ln>
        </p:spPr>
      </p:sp>
      <p:sp>
        <p:nvSpPr>
          <p:cNvPr id="12" name="Số 2"/>
          <p:cNvSpPr txBox="1"/>
          <p:nvPr/>
        </p:nvSpPr>
        <p:spPr>
          <a:xfrm>
            <a:off x="777240" y="4866132"/>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13" name="Text 10"/>
          <p:cNvSpPr txBox="1"/>
          <p:nvPr/>
        </p:nvSpPr>
        <p:spPr>
          <a:xfrm>
            <a:off x="1508760" y="4468368"/>
            <a:ext cx="4023360" cy="1344168"/>
          </a:xfrm>
          <a:prstGeom prst="rect">
            <a:avLst/>
          </a:prstGeom>
          <a:noFill/>
          <a:ln/>
        </p:spPr>
        <p:txBody>
          <a:bodyPr wrap="square" lIns="0" tIns="0" rIns="0" bIns="0" rtlCol="0" anchor="ctr"/>
          <a:lstStyle/>
          <a:p>
            <a:pPr indent="0" marL="0">
              <a:buNone/>
            </a:pPr>
            <a:r>
              <a:rPr lang="en-US" sz="2400" dirty="0">
                <a:solidFill>
                  <a:schemeClr val="tx1"/>
                </a:solidFill>
              </a:rPr>
              <a:t>Mở tệp đã tải để khởi động ứng dụng trên máy tính.</a:t>
            </a:r>
            <a:endParaRPr lang="en-US" sz="2400" dirty="0"/>
          </a:p>
        </p:txBody>
      </p:sp>
      <p:sp>
        <p:nvSpPr>
          <p:cNvPr id="14" name="Thẻ bạn sẽ thấy"/>
          <p:cNvSpPr/>
          <p:nvPr/>
        </p:nvSpPr>
        <p:spPr>
          <a:xfrm>
            <a:off x="6080760" y="2377440"/>
            <a:ext cx="5559552" cy="1355344"/>
          </a:xfrm>
          <a:prstGeom prst="roundRect">
            <a:avLst>
              <a:gd name="adj" fmla="val 8096"/>
            </a:avLst>
          </a:prstGeom>
          <a:solidFill>
            <a:schemeClr val="accent5">
              <a:alpha val="12000"/>
            </a:schemeClr>
          </a:solidFill>
          <a:ln w="12700">
            <a:solidFill>
              <a:schemeClr val="accent5"/>
            </a:solidFill>
            <a:prstDash val="solid"/>
          </a:ln>
          <a:effectLst>
            <a:outerShdw sx="100000" sy="100000" kx="0" ky="0" algn="bl" rotWithShape="0" blurRad="76200" dist="25400" dir="5400000">
              <a:srgbClr val="0F172A">
                <a:alpha val="10000"/>
              </a:srgbClr>
            </a:outerShdw>
          </a:effectLst>
        </p:spPr>
      </p:sp>
      <p:sp>
        <p:nvSpPr>
          <p:cNvPr id="15" name="Text 12"/>
          <p:cNvSpPr txBox="1"/>
          <p:nvPr/>
        </p:nvSpPr>
        <p:spPr>
          <a:xfrm>
            <a:off x="6355080" y="2487168"/>
            <a:ext cx="5010912" cy="1135888"/>
          </a:xfrm>
          <a:prstGeom prst="rect">
            <a:avLst/>
          </a:prstGeom>
          <a:noFill/>
          <a:ln/>
        </p:spPr>
        <p:txBody>
          <a:bodyPr wrap="square" lIns="0" tIns="0" rIns="0" bIns="0" rtlCol="0" anchor="ctr"/>
          <a:lstStyle/>
          <a:p>
            <a:pPr indent="0" marL="0">
              <a:spcAft>
                <a:spcPts val="400"/>
              </a:spcAft>
              <a:buNone/>
            </a:pPr>
            <a:r>
              <a:rPr lang="en-US" sz="2200" b="1" dirty="0">
                <a:solidFill>
                  <a:schemeClr val="accent5"/>
                </a:solidFill>
              </a:rPr>
              <a:t>Bạn sẽ thấy</a:t>
            </a:r>
            <a:endParaRPr lang="en-US" sz="2400" dirty="0"/>
          </a:p>
          <a:p>
            <a:pPr indent="0" marL="0">
              <a:spcAft>
                <a:spcPts val="400"/>
              </a:spcAft>
              <a:buNone/>
            </a:pPr>
            <a:r>
              <a:rPr lang="en-US" sz="2200" dirty="0">
                <a:solidFill>
                  <a:schemeClr val="tx1"/>
                </a:solidFill>
              </a:rPr>
              <a:t>Giao diện ứng dụng hiển thị thành công trên màn hình.</a:t>
            </a:r>
            <a:endParaRPr lang="en-US" sz="2400" dirty="0"/>
          </a:p>
        </p:txBody>
      </p:sp>
      <p:sp>
        <p:nvSpPr>
          <p:cNvPr id="16" name="Thẻ nếu không được"/>
          <p:cNvSpPr/>
          <p:nvPr/>
        </p:nvSpPr>
        <p:spPr>
          <a:xfrm>
            <a:off x="6080760" y="3915664"/>
            <a:ext cx="5559552" cy="1662176"/>
          </a:xfrm>
          <a:prstGeom prst="roundRect">
            <a:avLst>
              <a:gd name="adj" fmla="val 6601"/>
            </a:avLst>
          </a:prstGeom>
          <a:solidFill>
            <a:schemeClr val="accent3">
              <a:alpha val="12000"/>
            </a:schemeClr>
          </a:solidFill>
          <a:ln w="12700">
            <a:solidFill>
              <a:schemeClr val="accent3"/>
            </a:solidFill>
            <a:prstDash val="solid"/>
          </a:ln>
          <a:effectLst>
            <a:outerShdw sx="100000" sy="100000" kx="0" ky="0" algn="bl" rotWithShape="0" blurRad="76200" dist="25400" dir="5400000">
              <a:srgbClr val="0F172A">
                <a:alpha val="10000"/>
              </a:srgbClr>
            </a:outerShdw>
          </a:effectLst>
        </p:spPr>
      </p:sp>
      <p:sp>
        <p:nvSpPr>
          <p:cNvPr id="17" name="Text 14"/>
          <p:cNvSpPr txBox="1"/>
          <p:nvPr/>
        </p:nvSpPr>
        <p:spPr>
          <a:xfrm>
            <a:off x="6355080" y="4007104"/>
            <a:ext cx="5010912" cy="1479296"/>
          </a:xfrm>
          <a:prstGeom prst="rect">
            <a:avLst/>
          </a:prstGeom>
          <a:noFill/>
          <a:ln/>
        </p:spPr>
        <p:txBody>
          <a:bodyPr wrap="square" lIns="0" tIns="0" rIns="0" bIns="0" rtlCol="0" anchor="ctr"/>
          <a:lstStyle/>
          <a:p>
            <a:pPr indent="0" marL="0">
              <a:spcAft>
                <a:spcPts val="400"/>
              </a:spcAft>
              <a:buNone/>
            </a:pPr>
            <a:r>
              <a:rPr lang="en-US" sz="2200" b="1" dirty="0">
                <a:solidFill>
                  <a:schemeClr val="accent3"/>
                </a:solidFill>
              </a:rPr>
              <a:t>Nếu không được</a:t>
            </a:r>
            <a:endParaRPr lang="en-US" sz="2400" dirty="0"/>
          </a:p>
          <a:p>
            <a:pPr indent="0" marL="0">
              <a:spcAft>
                <a:spcPts val="400"/>
              </a:spcAft>
              <a:buNone/>
            </a:pPr>
            <a:r>
              <a:rPr lang="en-US" sz="2000" dirty="0">
                <a:solidFill>
                  <a:schemeClr val="tx1"/>
                </a:solidFill>
              </a:rPr>
              <a:t>Trên macOS nếu hệ thống báo không thể xác minh nhà phát triển, nhấp chuột phải vào ứng dụng rồi chọn Open, sau đó chọn Open lần nữa.</a:t>
            </a:r>
            <a:endParaRPr lang="en-US" sz="2400" dirty="0"/>
          </a:p>
        </p:txBody>
      </p:sp>
      <p:sp>
        <p:nvSpPr>
          <p:cNvPr id="18" name="Text 15"/>
          <p:cNvSpPr txBox="1"/>
          <p:nvPr/>
        </p:nvSpPr>
        <p:spPr>
          <a:xfrm>
            <a:off x="548640" y="5760720"/>
            <a:ext cx="11091672" cy="457200"/>
          </a:xfrm>
          <a:prstGeom prst="rect">
            <a:avLst/>
          </a:prstGeom>
          <a:noFill/>
          <a:ln/>
        </p:spPr>
        <p:txBody>
          <a:bodyPr wrap="square" lIns="0" tIns="0" rIns="0" bIns="0" rtlCol="0" anchor="ctr"/>
          <a:lstStyle/>
          <a:p>
            <a:pPr indent="0" marL="0">
              <a:buNone/>
            </a:pPr>
            <a:r>
              <a:rPr lang="en-US" sz="1800" dirty="0">
                <a:solidFill>
                  <a:schemeClr val="tx2"/>
                </a:solidFill>
              </a:rPr>
              <a:t>Liên kết trong README: </a:t>
            </a:r>
            <a:pPr indent="0" marL="0">
              <a:buNone/>
            </a:pPr>
            <a:r>
              <a:rPr lang="en-US" sz="1800" u="sng" dirty="0">
                <a:solidFill>
                  <a:schemeClr val="tx1"/>
                </a:solidFill>
                <a:hlinkClick r:id="rId2" invalidUrl="" action="" tgtFrame="" tooltip="github.com" history="1" highlightClick="0" endSnd="0">
                  <a:extLst>
                    <a:ext uri="{A12FA001-AC4F-418D-AE19-62706E023703}">
                      <ahyp:hlinkClr xmlns:ahyp="http://schemas.microsoft.com/office/drawing/2018/hyperlinkcolor" val="tx"/>
                    </a:ext>
                  </a:extLst>
                </a:hlinkClick>
              </a:rPr>
              <a:t>github.com/OrchestratorInc/agent-orchestrator/releases/latest</a:t>
            </a:r>
            <a:endParaRPr lang="en-US" sz="1800" dirty="0"/>
          </a:p>
        </p:txBody>
      </p:sp>
      <p:sp>
        <p:nvSpPr>
          <p:cNvPr id="25" name="Slide Number Placeholder 0"/>
          <p:cNvSpPr>
            <a:spLocks noGrp="1"/>
          </p:cNvSpPr>
          <p:nvPr>
            <p:ph type="sldNum" sz="quarter" idx="4294967295"/>
          </p:nvPr>
        </p:nvSpPr>
        <p:spPr>
          <a:xfrm>
            <a:off x="10725912" y="6382512"/>
            <a:ext cx="914400" cy="310896"/>
          </a:xfrm>
          <a:prstGeom prst="rect">
            <a:avLst/>
          </a:prstGeom>
          <a:extLst>
            <a:ext uri="{C572A759-6A51-4108-AA02-DFA0A04FC94B}">
              <ma14:wrappingTextBoxFlag xmlns:ma14="http://schemas.microsoft.com/office/mac/drawingml/2011/main" val="0"/>
            </a:ext>
          </a:extLst>
        </p:spPr>
        <p:txBody>
          <a:bodyPr/>
          <a:lstStyle>
            <a:lvl1pPr>
              <a:defRPr sz="13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Biểu tượng bước 2 (vòng tròn)"/>
          <p:cNvSpPr/>
          <p:nvPr/>
        </p:nvSpPr>
        <p:spPr>
          <a:xfrm>
            <a:off x="548640" y="411480"/>
            <a:ext cx="868680" cy="868680"/>
          </a:xfrm>
          <a:prstGeom prst="ellipse">
            <a:avLst/>
          </a:prstGeom>
          <a:solidFill>
            <a:schemeClr val="accent2"/>
          </a:solidFill>
          <a:ln w="12700">
            <a:solidFill>
              <a:schemeClr val="accent2"/>
            </a:solidFill>
            <a:prstDash val="solid"/>
          </a:ln>
        </p:spPr>
      </p:sp>
      <p:pic>
        <p:nvPicPr>
          <p:cNvPr id="3" name="Biểu tượng bước 2" descr="Biểu tượng bước 2">    </p:cNvPr>
          <p:cNvPicPr>
            <a:picLocks noChangeAspect="1"/>
          </p:cNvPicPr>
          <p:nvPr/>
        </p:nvPicPr>
        <p:blipFill>
          <a:blip r:embed="rId1"/>
          <a:stretch>
            <a:fillRect/>
          </a:stretch>
        </p:blipFill>
        <p:spPr>
          <a:xfrm>
            <a:off x="765810" y="628650"/>
            <a:ext cx="434340" cy="434340"/>
          </a:xfrm>
          <a:prstGeom prst="rect">
            <a:avLst/>
          </a:prstGeom>
        </p:spPr>
      </p:pic>
      <p:sp>
        <p:nvSpPr>
          <p:cNvPr id="4" name="Text 0"/>
          <p:cNvSpPr/>
          <p:nvPr>
            <p:ph idx="100" type="title" hasCustomPrompt="1"/>
          </p:nvPr>
        </p:nvSpPr>
        <p:spPr>
          <a:xfrm>
            <a:off x="1554480" y="365760"/>
            <a:ext cx="10085832" cy="1005840"/>
          </a:xfrm>
          <a:prstGeom prst="rect">
            <a:avLst/>
          </a:prstGeom>
          <a:noFill/>
          <a:ln/>
        </p:spPr>
        <p:txBody>
          <a:bodyPr wrap="square" lIns="0" tIns="0" rIns="0" bIns="0" rtlCol="0" anchor="ctr"/>
          <a:lstStyle/>
          <a:p>
            <a:pPr algn="l" indent="0" marL="0">
              <a:buNone/>
            </a:pPr>
            <a:r>
              <a:rPr lang="en-US" sz="3600" b="1" dirty="0">
                <a:solidFill>
                  <a:schemeClr val="tx2"/>
                </a:solidFill>
              </a:rPr>
              <a:t>Bước 2 · Thêm repository và khởi tạo worker session</a:t>
            </a:r>
            <a:endParaRPr lang="en-US" sz="3600" dirty="0"/>
          </a:p>
        </p:txBody>
      </p:sp>
      <p:sp>
        <p:nvSpPr>
          <p:cNvPr id="5" name="Text 2"/>
          <p:cNvSpPr txBox="1"/>
          <p:nvPr/>
        </p:nvSpPr>
        <p:spPr>
          <a:xfrm>
            <a:off x="548640" y="1463040"/>
            <a:ext cx="11091672" cy="868680"/>
          </a:xfrm>
          <a:prstGeom prst="rect">
            <a:avLst/>
          </a:prstGeom>
          <a:noFill/>
          <a:ln/>
        </p:spPr>
        <p:txBody>
          <a:bodyPr wrap="square" lIns="0" tIns="0" rIns="0" bIns="0" rtlCol="0" anchor="t"/>
          <a:lstStyle/>
          <a:p>
            <a:pPr indent="0" marL="0">
              <a:buNone/>
            </a:pPr>
            <a:r>
              <a:rPr lang="en-US" sz="2200" b="1" dirty="0">
                <a:solidFill>
                  <a:schemeClr val="tx2"/>
                </a:solidFill>
              </a:rPr>
              <a:t>Mục đích: </a:t>
            </a:r>
            <a:pPr indent="0" marL="0">
              <a:buNone/>
            </a:pPr>
            <a:r>
              <a:rPr lang="en-US" sz="2200" dirty="0">
                <a:solidFill>
                  <a:schemeClr val="tx1"/>
                </a:solidFill>
              </a:rPr>
              <a:t>Gắn dự án vào ứng dụng và tạo không gian làm việc cô lập cho coding agent thực hiện tác vụ.</a:t>
            </a:r>
            <a:endParaRPr lang="en-US" sz="2200" dirty="0"/>
          </a:p>
        </p:txBody>
      </p:sp>
      <p:sp>
        <p:nvSpPr>
          <p:cNvPr id="6" name="Thẻ việc cần làm 1"/>
          <p:cNvSpPr/>
          <p:nvPr/>
        </p:nvSpPr>
        <p:spPr>
          <a:xfrm>
            <a:off x="548640" y="2377440"/>
            <a:ext cx="5212080" cy="1100328"/>
          </a:xfrm>
          <a:prstGeom prst="roundRect">
            <a:avLst>
              <a:gd name="adj" fmla="val 9972"/>
            </a:avLst>
          </a:prstGeom>
          <a:solidFill>
            <a:schemeClr val="bg2"/>
          </a:solidFill>
          <a:ln w="12700">
            <a:solidFill>
              <a:schemeClr val="bg2"/>
            </a:solidFill>
            <a:prstDash val="solid"/>
          </a:ln>
        </p:spPr>
      </p:sp>
      <p:sp>
        <p:nvSpPr>
          <p:cNvPr id="7" name="Số 1 (vòng tròn)"/>
          <p:cNvSpPr/>
          <p:nvPr/>
        </p:nvSpPr>
        <p:spPr>
          <a:xfrm>
            <a:off x="777240" y="2653284"/>
            <a:ext cx="548640" cy="548640"/>
          </a:xfrm>
          <a:prstGeom prst="ellipse">
            <a:avLst/>
          </a:prstGeom>
          <a:solidFill>
            <a:schemeClr val="accent2"/>
          </a:solidFill>
          <a:ln w="12700">
            <a:solidFill>
              <a:schemeClr val="accent2"/>
            </a:solidFill>
            <a:prstDash val="solid"/>
          </a:ln>
        </p:spPr>
      </p:sp>
      <p:sp>
        <p:nvSpPr>
          <p:cNvPr id="8" name="Số 1"/>
          <p:cNvSpPr txBox="1"/>
          <p:nvPr/>
        </p:nvSpPr>
        <p:spPr>
          <a:xfrm>
            <a:off x="777240" y="2653284"/>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9" name="Text 6"/>
          <p:cNvSpPr txBox="1"/>
          <p:nvPr/>
        </p:nvSpPr>
        <p:spPr>
          <a:xfrm>
            <a:off x="1508760" y="2450592"/>
            <a:ext cx="4023360" cy="954024"/>
          </a:xfrm>
          <a:prstGeom prst="rect">
            <a:avLst/>
          </a:prstGeom>
          <a:noFill/>
          <a:ln/>
        </p:spPr>
        <p:txBody>
          <a:bodyPr wrap="square" lIns="0" tIns="0" rIns="0" bIns="0" rtlCol="0" anchor="ctr"/>
          <a:lstStyle/>
          <a:p>
            <a:pPr indent="0" marL="0">
              <a:buNone/>
            </a:pPr>
            <a:r>
              <a:rPr lang="en-US" sz="2400" dirty="0">
                <a:solidFill>
                  <a:schemeClr val="tx1"/>
                </a:solidFill>
              </a:rPr>
              <a:t>Trỏ ứng dụng tới repository bạn muốn quản lý.</a:t>
            </a:r>
            <a:endParaRPr lang="en-US" sz="2400" dirty="0"/>
          </a:p>
        </p:txBody>
      </p:sp>
      <p:sp>
        <p:nvSpPr>
          <p:cNvPr id="10" name="Thẻ việc cần làm 2"/>
          <p:cNvSpPr/>
          <p:nvPr/>
        </p:nvSpPr>
        <p:spPr>
          <a:xfrm>
            <a:off x="548640" y="3614928"/>
            <a:ext cx="5212080" cy="2270760"/>
          </a:xfrm>
          <a:prstGeom prst="roundRect">
            <a:avLst>
              <a:gd name="adj" fmla="val 4832"/>
            </a:avLst>
          </a:prstGeom>
          <a:solidFill>
            <a:schemeClr val="bg2"/>
          </a:solidFill>
          <a:ln w="12700">
            <a:solidFill>
              <a:schemeClr val="bg2"/>
            </a:solidFill>
            <a:prstDash val="solid"/>
          </a:ln>
        </p:spPr>
      </p:sp>
      <p:sp>
        <p:nvSpPr>
          <p:cNvPr id="11" name="Số 2 (vòng tròn)"/>
          <p:cNvSpPr/>
          <p:nvPr/>
        </p:nvSpPr>
        <p:spPr>
          <a:xfrm>
            <a:off x="777240" y="4475988"/>
            <a:ext cx="548640" cy="548640"/>
          </a:xfrm>
          <a:prstGeom prst="ellipse">
            <a:avLst/>
          </a:prstGeom>
          <a:solidFill>
            <a:schemeClr val="accent2"/>
          </a:solidFill>
          <a:ln w="12700">
            <a:solidFill>
              <a:schemeClr val="accent2"/>
            </a:solidFill>
            <a:prstDash val="solid"/>
          </a:ln>
        </p:spPr>
      </p:sp>
      <p:sp>
        <p:nvSpPr>
          <p:cNvPr id="12" name="Số 2"/>
          <p:cNvSpPr txBox="1"/>
          <p:nvPr/>
        </p:nvSpPr>
        <p:spPr>
          <a:xfrm>
            <a:off x="777240" y="4475988"/>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13" name="Text 10"/>
          <p:cNvSpPr txBox="1"/>
          <p:nvPr/>
        </p:nvSpPr>
        <p:spPr>
          <a:xfrm>
            <a:off x="1508760" y="3688080"/>
            <a:ext cx="4023360" cy="2124456"/>
          </a:xfrm>
          <a:prstGeom prst="rect">
            <a:avLst/>
          </a:prstGeom>
          <a:noFill/>
          <a:ln/>
        </p:spPr>
        <p:txBody>
          <a:bodyPr wrap="square" lIns="0" tIns="0" rIns="0" bIns="0" rtlCol="0" anchor="ctr"/>
          <a:lstStyle/>
          <a:p>
            <a:pPr indent="0" marL="0">
              <a:buNone/>
            </a:pPr>
            <a:r>
              <a:rPr lang="en-US" sz="2400" dirty="0">
                <a:solidFill>
                  <a:schemeClr val="tx1"/>
                </a:solidFill>
              </a:rPr>
              <a:t>Bấm New task khi công việc đã rõ ràng, mô tả kết quả mong muốn, chọn agent và model, sau đó đính kèm tệp liên quan.</a:t>
            </a:r>
            <a:endParaRPr lang="en-US" sz="2400" dirty="0"/>
          </a:p>
        </p:txBody>
      </p:sp>
      <p:sp>
        <p:nvSpPr>
          <p:cNvPr id="14" name="Thẻ bạn sẽ thấy"/>
          <p:cNvSpPr/>
          <p:nvPr/>
        </p:nvSpPr>
        <p:spPr>
          <a:xfrm>
            <a:off x="6080760" y="2377440"/>
            <a:ext cx="5559552" cy="3200400"/>
          </a:xfrm>
          <a:prstGeom prst="roundRect">
            <a:avLst>
              <a:gd name="adj" fmla="val 3429"/>
            </a:avLst>
          </a:prstGeom>
          <a:solidFill>
            <a:schemeClr val="accent5">
              <a:alpha val="12000"/>
            </a:schemeClr>
          </a:solidFill>
          <a:ln w="12700">
            <a:solidFill>
              <a:schemeClr val="accent5"/>
            </a:solidFill>
            <a:prstDash val="solid"/>
          </a:ln>
          <a:effectLst>
            <a:outerShdw sx="100000" sy="100000" kx="0" ky="0" algn="bl" rotWithShape="0" blurRad="76200" dist="25400" dir="5400000">
              <a:srgbClr val="0F172A">
                <a:alpha val="10000"/>
              </a:srgbClr>
            </a:outerShdw>
          </a:effectLst>
        </p:spPr>
      </p:sp>
      <p:sp>
        <p:nvSpPr>
          <p:cNvPr id="15" name="Text 12"/>
          <p:cNvSpPr txBox="1"/>
          <p:nvPr/>
        </p:nvSpPr>
        <p:spPr>
          <a:xfrm>
            <a:off x="6355080" y="2487168"/>
            <a:ext cx="5010912" cy="2980944"/>
          </a:xfrm>
          <a:prstGeom prst="rect">
            <a:avLst/>
          </a:prstGeom>
          <a:noFill/>
          <a:ln/>
        </p:spPr>
        <p:txBody>
          <a:bodyPr wrap="square" lIns="0" tIns="0" rIns="0" bIns="0" rtlCol="0" anchor="ctr"/>
          <a:lstStyle/>
          <a:p>
            <a:pPr indent="0" marL="0">
              <a:spcAft>
                <a:spcPts val="400"/>
              </a:spcAft>
              <a:buNone/>
            </a:pPr>
            <a:r>
              <a:rPr lang="en-US" sz="2200" b="1" dirty="0">
                <a:solidFill>
                  <a:schemeClr val="accent5"/>
                </a:solidFill>
              </a:rPr>
              <a:t>Bạn sẽ thấy</a:t>
            </a:r>
            <a:endParaRPr lang="en-US" sz="2400" dirty="0"/>
          </a:p>
          <a:p>
            <a:pPr indent="0" marL="0">
              <a:spcAft>
                <a:spcPts val="400"/>
              </a:spcAft>
              <a:buNone/>
            </a:pPr>
            <a:r>
              <a:rPr lang="en-US" sz="2800" dirty="0">
                <a:solidFill>
                  <a:schemeClr val="tx1"/>
                </a:solidFill>
              </a:rPr>
              <a:t>Một worker session được tạo với branch, worktree riêng và giao diện Chat hoặc terminal UI tương ứng.</a:t>
            </a:r>
            <a:endParaRPr lang="en-US" sz="2400" dirty="0"/>
          </a:p>
        </p:txBody>
      </p:sp>
      <p:sp>
        <p:nvSpPr>
          <p:cNvPr id="16" name="Text 13"/>
          <p:cNvSpPr txBox="1"/>
          <p:nvPr/>
        </p:nvSpPr>
        <p:spPr>
          <a:xfrm>
            <a:off x="548640" y="5760720"/>
            <a:ext cx="11091672" cy="457200"/>
          </a:xfrm>
          <a:prstGeom prst="rect">
            <a:avLst/>
          </a:prstGeom>
          <a:noFill/>
          <a:ln/>
        </p:spPr>
        <p:txBody>
          <a:bodyPr wrap="square" lIns="0" tIns="0" rIns="0" bIns="0" rtlCol="0" anchor="ctr"/>
          <a:lstStyle/>
          <a:p>
            <a:pPr indent="0" marL="0">
              <a:buNone/>
            </a:pPr>
            <a:r>
              <a:rPr lang="en-US" sz="1800" dirty="0">
                <a:solidFill>
                  <a:schemeClr val="tx2"/>
                </a:solidFill>
              </a:rPr>
              <a:t>Liên kết trong README: </a:t>
            </a:r>
            <a:pPr indent="0" marL="0">
              <a:buNone/>
            </a:pPr>
            <a:r>
              <a:rPr lang="en-US" sz="1800" u="sng" dirty="0">
                <a:solidFill>
                  <a:schemeClr val="tx1"/>
                </a:solidFill>
                <a:hlinkClick r:id="rId2" invalidUrl="" action="" tgtFrame="" tooltip="installation guide" history="1" highlightClick="0" endSnd="0">
                  <a:extLst>
                    <a:ext uri="{A12FA001-AC4F-418D-AE19-62706E023703}">
                      <ahyp:hlinkClr xmlns:ahyp="http://schemas.microsoft.com/office/drawing/2018/hyperlinkcolor" val="tx"/>
                    </a:ext>
                  </a:extLst>
                </a:hlinkClick>
              </a:rPr>
              <a:t>docs.orchestrator.inc/installation</a:t>
            </a:r>
            <a:endParaRPr lang="en-US" sz="1800" dirty="0"/>
          </a:p>
        </p:txBody>
      </p:sp>
      <p:sp>
        <p:nvSpPr>
          <p:cNvPr id="25" name="Slide Number Placeholder 0"/>
          <p:cNvSpPr>
            <a:spLocks noGrp="1"/>
          </p:cNvSpPr>
          <p:nvPr>
            <p:ph type="sldNum" sz="quarter" idx="4294967295"/>
          </p:nvPr>
        </p:nvSpPr>
        <p:spPr>
          <a:xfrm>
            <a:off x="10725912" y="6382512"/>
            <a:ext cx="914400" cy="310896"/>
          </a:xfrm>
          <a:prstGeom prst="rect">
            <a:avLst/>
          </a:prstGeom>
          <a:extLst>
            <a:ext uri="{C572A759-6A51-4108-AA02-DFA0A04FC94B}">
              <ma14:wrappingTextBoxFlag xmlns:ma14="http://schemas.microsoft.com/office/mac/drawingml/2011/main" val="0"/>
            </a:ext>
          </a:extLst>
        </p:spPr>
        <p:txBody>
          <a:bodyPr/>
          <a:lstStyle>
            <a:lvl1pPr>
              <a:defRPr sz="13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Biểu tượng kiểm tra (vòng tròn)"/>
          <p:cNvSpPr/>
          <p:nvPr/>
        </p:nvSpPr>
        <p:spPr>
          <a:xfrm>
            <a:off x="548640" y="411480"/>
            <a:ext cx="868680" cy="868680"/>
          </a:xfrm>
          <a:prstGeom prst="ellipse">
            <a:avLst/>
          </a:prstGeom>
          <a:solidFill>
            <a:schemeClr val="accent5"/>
          </a:solidFill>
          <a:ln w="12700">
            <a:solidFill>
              <a:schemeClr val="accent5"/>
            </a:solidFill>
            <a:prstDash val="solid"/>
          </a:ln>
        </p:spPr>
      </p:sp>
      <p:pic>
        <p:nvPicPr>
          <p:cNvPr id="3" name="Biểu tượng kiểm tra" descr="Biểu tượng kiểm tra">    </p:cNvPr>
          <p:cNvPicPr>
            <a:picLocks noChangeAspect="1"/>
          </p:cNvPicPr>
          <p:nvPr/>
        </p:nvPicPr>
        <p:blipFill>
          <a:blip r:embed="rId1"/>
          <a:stretch>
            <a:fillRect/>
          </a:stretch>
        </p:blipFill>
        <p:spPr>
          <a:xfrm>
            <a:off x="765810" y="628650"/>
            <a:ext cx="434340" cy="434340"/>
          </a:xfrm>
          <a:prstGeom prst="rect">
            <a:avLst/>
          </a:prstGeom>
        </p:spPr>
      </p:pic>
      <p:sp>
        <p:nvSpPr>
          <p:cNvPr id="4" name="Text 0"/>
          <p:cNvSpPr/>
          <p:nvPr>
            <p:ph idx="100" type="title" hasCustomPrompt="1"/>
          </p:nvPr>
        </p:nvSpPr>
        <p:spPr>
          <a:xfrm>
            <a:off x="1554480" y="365760"/>
            <a:ext cx="10085832" cy="1005840"/>
          </a:xfrm>
          <a:prstGeom prst="rect">
            <a:avLst/>
          </a:prstGeom>
          <a:noFill/>
          <a:ln/>
        </p:spPr>
        <p:txBody>
          <a:bodyPr wrap="square" lIns="0" tIns="0" rIns="0" bIns="0" rtlCol="0" anchor="ctr"/>
          <a:lstStyle/>
          <a:p>
            <a:pPr algn="l" indent="0" marL="0">
              <a:buNone/>
            </a:pPr>
            <a:r>
              <a:rPr lang="en-US" sz="3600" b="1" dirty="0">
                <a:solidFill>
                  <a:schemeClr val="tx2"/>
                </a:solidFill>
              </a:rPr>
              <a:t>Kiểm tra kết quả</a:t>
            </a:r>
            <a:endParaRPr lang="en-US" sz="3600" dirty="0"/>
          </a:p>
        </p:txBody>
      </p:sp>
      <p:sp>
        <p:nvSpPr>
          <p:cNvPr id="5" name="Thẻ kiểm tra kết quả"/>
          <p:cNvSpPr/>
          <p:nvPr/>
        </p:nvSpPr>
        <p:spPr>
          <a:xfrm>
            <a:off x="548640" y="1737360"/>
            <a:ext cx="11091672" cy="3931920"/>
          </a:xfrm>
          <a:prstGeom prst="roundRect">
            <a:avLst>
              <a:gd name="adj" fmla="val 2791"/>
            </a:avLst>
          </a:prstGeom>
          <a:solidFill>
            <a:schemeClr val="accent5">
              <a:alpha val="12000"/>
            </a:schemeClr>
          </a:solidFill>
          <a:ln w="12700">
            <a:solidFill>
              <a:schemeClr val="accent5"/>
            </a:solidFill>
            <a:prstDash val="solid"/>
          </a:ln>
          <a:effectLst>
            <a:outerShdw sx="100000" sy="100000" kx="0" ky="0" algn="bl" rotWithShape="0" blurRad="76200" dist="25400" dir="5400000">
              <a:srgbClr val="0F172A">
                <a:alpha val="10000"/>
              </a:srgbClr>
            </a:outerShdw>
          </a:effectLst>
        </p:spPr>
      </p:sp>
      <p:sp>
        <p:nvSpPr>
          <p:cNvPr id="6" name="Text 3"/>
          <p:cNvSpPr txBox="1"/>
          <p:nvPr/>
        </p:nvSpPr>
        <p:spPr>
          <a:xfrm>
            <a:off x="1097280" y="2011680"/>
            <a:ext cx="9994392" cy="3383280"/>
          </a:xfrm>
          <a:prstGeom prst="rect">
            <a:avLst/>
          </a:prstGeom>
          <a:noFill/>
          <a:ln/>
        </p:spPr>
        <p:txBody>
          <a:bodyPr wrap="square" lIns="0" tIns="0" rIns="0" bIns="0" rtlCol="0" anchor="ctr"/>
          <a:lstStyle/>
          <a:p>
            <a:pPr indent="0" marL="0">
              <a:buNone/>
            </a:pPr>
            <a:r>
              <a:rPr lang="en-US" sz="3200" dirty="0">
                <a:solidFill>
                  <a:schemeClr val="tx1"/>
                </a:solidFill>
              </a:rPr>
              <a:t>Tài liệu không cung cấp dòng lệnh CLI để xác thực; kiểm tra trực quan trên màn hình thấy worker session đã gắn liền với branch và hiển thị trạng thái trên Kanban.</a:t>
            </a:r>
            <a:endParaRPr lang="en-US" sz="3200" dirty="0"/>
          </a:p>
        </p:txBody>
      </p:sp>
      <p:sp>
        <p:nvSpPr>
          <p:cNvPr id="25" name="Slide Number Placeholder 0"/>
          <p:cNvSpPr>
            <a:spLocks noGrp="1"/>
          </p:cNvSpPr>
          <p:nvPr>
            <p:ph type="sldNum" sz="quarter" idx="4294967295"/>
          </p:nvPr>
        </p:nvSpPr>
        <p:spPr>
          <a:xfrm>
            <a:off x="10725912" y="6382512"/>
            <a:ext cx="914400" cy="310896"/>
          </a:xfrm>
          <a:prstGeom prst="rect">
            <a:avLst/>
          </a:prstGeom>
          <a:extLst>
            <a:ext uri="{C572A759-6A51-4108-AA02-DFA0A04FC94B}">
              <ma14:wrappingTextBoxFlag xmlns:ma14="http://schemas.microsoft.com/office/mac/drawingml/2011/main" val="0"/>
            </a:ext>
          </a:extLst>
        </p:spPr>
        <p:txBody>
          <a:bodyPr/>
          <a:lstStyle>
            <a:lvl1pPr>
              <a:defRPr sz="13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Biểu tượng lỗi thường gặp (vòng tròn)"/>
          <p:cNvSpPr/>
          <p:nvPr/>
        </p:nvSpPr>
        <p:spPr>
          <a:xfrm>
            <a:off x="548640" y="411480"/>
            <a:ext cx="868680" cy="868680"/>
          </a:xfrm>
          <a:prstGeom prst="ellipse">
            <a:avLst/>
          </a:prstGeom>
          <a:solidFill>
            <a:schemeClr val="accent6"/>
          </a:solidFill>
          <a:ln w="12700">
            <a:solidFill>
              <a:schemeClr val="accent6"/>
            </a:solidFill>
            <a:prstDash val="solid"/>
          </a:ln>
        </p:spPr>
      </p:sp>
      <p:pic>
        <p:nvPicPr>
          <p:cNvPr id="3" name="Biểu tượng lỗi thường gặp" descr="Biểu tượng lỗi thường gặp">    </p:cNvPr>
          <p:cNvPicPr>
            <a:picLocks noChangeAspect="1"/>
          </p:cNvPicPr>
          <p:nvPr/>
        </p:nvPicPr>
        <p:blipFill>
          <a:blip r:embed="rId1"/>
          <a:stretch>
            <a:fillRect/>
          </a:stretch>
        </p:blipFill>
        <p:spPr>
          <a:xfrm>
            <a:off x="765810" y="628650"/>
            <a:ext cx="434340" cy="434340"/>
          </a:xfrm>
          <a:prstGeom prst="rect">
            <a:avLst/>
          </a:prstGeom>
        </p:spPr>
      </p:pic>
      <p:sp>
        <p:nvSpPr>
          <p:cNvPr id="4" name="Text 0"/>
          <p:cNvSpPr/>
          <p:nvPr>
            <p:ph idx="100" type="title" hasCustomPrompt="1"/>
          </p:nvPr>
        </p:nvSpPr>
        <p:spPr>
          <a:xfrm>
            <a:off x="1554480" y="365760"/>
            <a:ext cx="10085832" cy="1005840"/>
          </a:xfrm>
          <a:prstGeom prst="rect">
            <a:avLst/>
          </a:prstGeom>
          <a:noFill/>
          <a:ln/>
        </p:spPr>
        <p:txBody>
          <a:bodyPr wrap="square" lIns="0" tIns="0" rIns="0" bIns="0" rtlCol="0" anchor="ctr"/>
          <a:lstStyle/>
          <a:p>
            <a:pPr algn="l" indent="0" marL="0">
              <a:buNone/>
            </a:pPr>
            <a:r>
              <a:rPr lang="en-US" sz="3600" b="1" dirty="0">
                <a:solidFill>
                  <a:schemeClr val="tx2"/>
                </a:solidFill>
              </a:rPr>
              <a:t>Lỗi thường gặp</a:t>
            </a:r>
            <a:endParaRPr lang="en-US" sz="3600" dirty="0"/>
          </a:p>
        </p:txBody>
      </p:sp>
      <p:sp>
        <p:nvSpPr>
          <p:cNvPr id="5" name="Thẻ hiện tượng"/>
          <p:cNvSpPr/>
          <p:nvPr/>
        </p:nvSpPr>
        <p:spPr>
          <a:xfrm>
            <a:off x="548640" y="1645920"/>
            <a:ext cx="5408676" cy="4206240"/>
          </a:xfrm>
          <a:prstGeom prst="roundRect">
            <a:avLst>
              <a:gd name="adj" fmla="val 2609"/>
            </a:avLst>
          </a:prstGeom>
          <a:solidFill>
            <a:schemeClr val="accent6">
              <a:alpha val="12000"/>
            </a:schemeClr>
          </a:solidFill>
          <a:ln w="12700">
            <a:solidFill>
              <a:schemeClr val="accent6"/>
            </a:solidFill>
            <a:prstDash val="solid"/>
          </a:ln>
          <a:effectLst>
            <a:outerShdw sx="100000" sy="100000" kx="0" ky="0" algn="bl" rotWithShape="0" blurRad="76200" dist="25400" dir="5400000">
              <a:srgbClr val="0F172A">
                <a:alpha val="10000"/>
              </a:srgbClr>
            </a:outerShdw>
          </a:effectLst>
        </p:spPr>
      </p:sp>
      <p:sp>
        <p:nvSpPr>
          <p:cNvPr id="6" name="Text 3"/>
          <p:cNvSpPr txBox="1"/>
          <p:nvPr/>
        </p:nvSpPr>
        <p:spPr>
          <a:xfrm>
            <a:off x="914400" y="1828800"/>
            <a:ext cx="4677156" cy="3840480"/>
          </a:xfrm>
          <a:prstGeom prst="rect">
            <a:avLst/>
          </a:prstGeom>
          <a:noFill/>
          <a:ln/>
        </p:spPr>
        <p:txBody>
          <a:bodyPr wrap="square" lIns="0" tIns="0" rIns="0" bIns="0" rtlCol="0" anchor="ctr"/>
          <a:lstStyle/>
          <a:p>
            <a:pPr indent="0" marL="0">
              <a:spcAft>
                <a:spcPts val="800"/>
              </a:spcAft>
              <a:buNone/>
            </a:pPr>
            <a:r>
              <a:rPr lang="en-US" sz="2200" b="1" dirty="0">
                <a:solidFill>
                  <a:schemeClr val="accent6"/>
                </a:solidFill>
              </a:rPr>
              <a:t>Hiện tượng</a:t>
            </a:r>
            <a:endParaRPr lang="en-US" sz="2400" dirty="0"/>
          </a:p>
          <a:p>
            <a:pPr indent="0" marL="0">
              <a:spcAft>
                <a:spcPts val="800"/>
              </a:spcAft>
              <a:buNone/>
            </a:pPr>
            <a:r>
              <a:rPr lang="en-US" sz="2800" dirty="0">
                <a:solidFill>
                  <a:schemeClr val="tx1"/>
                </a:solidFill>
              </a:rPr>
              <a:t>Trên macOS ứng dụng không mở và báo không thể xác minh nhà phát triển</a:t>
            </a:r>
            <a:endParaRPr lang="en-US" sz="2400" dirty="0"/>
          </a:p>
        </p:txBody>
      </p:sp>
      <p:sp>
        <p:nvSpPr>
          <p:cNvPr id="7" name="Thẻ cách xử lý"/>
          <p:cNvSpPr/>
          <p:nvPr/>
        </p:nvSpPr>
        <p:spPr>
          <a:xfrm>
            <a:off x="6231636" y="1645920"/>
            <a:ext cx="5408676" cy="4206240"/>
          </a:xfrm>
          <a:prstGeom prst="roundRect">
            <a:avLst>
              <a:gd name="adj" fmla="val 2609"/>
            </a:avLst>
          </a:prstGeom>
          <a:solidFill>
            <a:schemeClr val="accent2">
              <a:alpha val="12000"/>
            </a:schemeClr>
          </a:solidFill>
          <a:ln w="12700">
            <a:solidFill>
              <a:schemeClr val="accent2"/>
            </a:solidFill>
            <a:prstDash val="solid"/>
          </a:ln>
          <a:effectLst>
            <a:outerShdw sx="100000" sy="100000" kx="0" ky="0" algn="bl" rotWithShape="0" blurRad="76200" dist="25400" dir="5400000">
              <a:srgbClr val="0F172A">
                <a:alpha val="10000"/>
              </a:srgbClr>
            </a:outerShdw>
          </a:effectLst>
        </p:spPr>
      </p:sp>
      <p:sp>
        <p:nvSpPr>
          <p:cNvPr id="8" name="Text 5"/>
          <p:cNvSpPr txBox="1"/>
          <p:nvPr/>
        </p:nvSpPr>
        <p:spPr>
          <a:xfrm>
            <a:off x="6597396" y="1828800"/>
            <a:ext cx="4677156" cy="3840480"/>
          </a:xfrm>
          <a:prstGeom prst="rect">
            <a:avLst/>
          </a:prstGeom>
          <a:noFill/>
          <a:ln/>
        </p:spPr>
        <p:txBody>
          <a:bodyPr wrap="square" lIns="0" tIns="0" rIns="0" bIns="0" rtlCol="0" anchor="ctr"/>
          <a:lstStyle/>
          <a:p>
            <a:pPr indent="0" marL="0">
              <a:spcAft>
                <a:spcPts val="800"/>
              </a:spcAft>
              <a:buNone/>
            </a:pPr>
            <a:r>
              <a:rPr lang="en-US" sz="2200" b="1" dirty="0">
                <a:solidFill>
                  <a:schemeClr val="accent2"/>
                </a:solidFill>
              </a:rPr>
              <a:t>Cách xử lý</a:t>
            </a:r>
            <a:endParaRPr lang="en-US" sz="2400" dirty="0"/>
          </a:p>
          <a:p>
            <a:pPr indent="0" marL="0">
              <a:spcAft>
                <a:spcPts val="800"/>
              </a:spcAft>
              <a:buNone/>
            </a:pPr>
            <a:r>
              <a:rPr lang="en-US" sz="2800" dirty="0">
                <a:solidFill>
                  <a:schemeClr val="tx1"/>
                </a:solidFill>
              </a:rPr>
              <a:t>Nhấp chuột phải vào ứng dụng và chọn Open, sau đó chọn Open lần nữa; nếu vẫn lỗi thì mở issue kèm chẩn đoán Gatekeeper.</a:t>
            </a:r>
            <a:endParaRPr lang="en-US" sz="2400" dirty="0"/>
          </a:p>
        </p:txBody>
      </p:sp>
      <p:sp>
        <p:nvSpPr>
          <p:cNvPr id="25" name="Slide Number Placeholder 0"/>
          <p:cNvSpPr>
            <a:spLocks noGrp="1"/>
          </p:cNvSpPr>
          <p:nvPr>
            <p:ph type="sldNum" sz="quarter" idx="4294967295"/>
          </p:nvPr>
        </p:nvSpPr>
        <p:spPr>
          <a:xfrm>
            <a:off x="10725912" y="6382512"/>
            <a:ext cx="914400" cy="310896"/>
          </a:xfrm>
          <a:prstGeom prst="rect">
            <a:avLst/>
          </a:prstGeom>
          <a:extLst>
            <a:ext uri="{C572A759-6A51-4108-AA02-DFA0A04FC94B}">
              <ma14:wrappingTextBoxFlag xmlns:ma14="http://schemas.microsoft.com/office/mac/drawingml/2011/main" val="0"/>
            </a:ext>
          </a:extLst>
        </p:spPr>
        <p:txBody>
          <a:bodyPr/>
          <a:lstStyle>
            <a:lvl1pPr>
              <a:defRPr sz="13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Biểu tượng làm tiếp (vòng tròn)"/>
          <p:cNvSpPr/>
          <p:nvPr/>
        </p:nvSpPr>
        <p:spPr>
          <a:xfrm>
            <a:off x="548640" y="411480"/>
            <a:ext cx="868680" cy="868680"/>
          </a:xfrm>
          <a:prstGeom prst="ellipse">
            <a:avLst/>
          </a:prstGeom>
          <a:solidFill>
            <a:schemeClr val="accent1"/>
          </a:solidFill>
          <a:ln w="12700">
            <a:solidFill>
              <a:schemeClr val="accent1"/>
            </a:solidFill>
            <a:prstDash val="solid"/>
          </a:ln>
        </p:spPr>
      </p:sp>
      <p:pic>
        <p:nvPicPr>
          <p:cNvPr id="3" name="Biểu tượng làm tiếp" descr="Biểu tượng làm tiếp">    </p:cNvPr>
          <p:cNvPicPr>
            <a:picLocks noChangeAspect="1"/>
          </p:cNvPicPr>
          <p:nvPr/>
        </p:nvPicPr>
        <p:blipFill>
          <a:blip r:embed="rId1"/>
          <a:stretch>
            <a:fillRect/>
          </a:stretch>
        </p:blipFill>
        <p:spPr>
          <a:xfrm>
            <a:off x="765810" y="628650"/>
            <a:ext cx="434340" cy="434340"/>
          </a:xfrm>
          <a:prstGeom prst="rect">
            <a:avLst/>
          </a:prstGeom>
        </p:spPr>
      </p:pic>
      <p:sp>
        <p:nvSpPr>
          <p:cNvPr id="4" name="Text 0"/>
          <p:cNvSpPr/>
          <p:nvPr>
            <p:ph idx="100" type="title" hasCustomPrompt="1"/>
          </p:nvPr>
        </p:nvSpPr>
        <p:spPr>
          <a:xfrm>
            <a:off x="1554480" y="365760"/>
            <a:ext cx="10085832" cy="1005840"/>
          </a:xfrm>
          <a:prstGeom prst="rect">
            <a:avLst/>
          </a:prstGeom>
          <a:noFill/>
          <a:ln/>
        </p:spPr>
        <p:txBody>
          <a:bodyPr wrap="square" lIns="0" tIns="0" rIns="0" bIns="0" rtlCol="0" anchor="ctr"/>
          <a:lstStyle/>
          <a:p>
            <a:pPr algn="l" indent="0" marL="0">
              <a:buNone/>
            </a:pPr>
            <a:r>
              <a:rPr lang="en-US" sz="3600" b="1" dirty="0">
                <a:solidFill>
                  <a:schemeClr val="tx2"/>
                </a:solidFill>
              </a:rPr>
              <a:t>Làm tiếp</a:t>
            </a:r>
            <a:endParaRPr lang="en-US" sz="3600" dirty="0"/>
          </a:p>
        </p:txBody>
      </p:sp>
      <p:sp>
        <p:nvSpPr>
          <p:cNvPr id="5" name="Thẻ làm tiếp 1"/>
          <p:cNvSpPr/>
          <p:nvPr/>
        </p:nvSpPr>
        <p:spPr>
          <a:xfrm>
            <a:off x="548640" y="1645920"/>
            <a:ext cx="11091672" cy="2011680"/>
          </a:xfrm>
          <a:prstGeom prst="roundRect">
            <a:avLst>
              <a:gd name="adj" fmla="val 5455"/>
            </a:avLst>
          </a:prstGeom>
          <a:solidFill>
            <a:schemeClr val="bg2"/>
          </a:solidFill>
          <a:ln w="12700">
            <a:solidFill>
              <a:schemeClr val="bg2"/>
            </a:solidFill>
            <a:prstDash val="solid"/>
          </a:ln>
          <a:effectLst>
            <a:outerShdw sx="100000" sy="100000" kx="0" ky="0" algn="bl" rotWithShape="0" blurRad="76200" dist="25400" dir="5400000">
              <a:srgbClr val="0F172A">
                <a:alpha val="10000"/>
              </a:srgbClr>
            </a:outerShdw>
          </a:effectLst>
        </p:spPr>
      </p:sp>
      <p:sp>
        <p:nvSpPr>
          <p:cNvPr id="6" name="Số 1 (vòng tròn)"/>
          <p:cNvSpPr/>
          <p:nvPr/>
        </p:nvSpPr>
        <p:spPr>
          <a:xfrm>
            <a:off x="914400" y="2263140"/>
            <a:ext cx="777240" cy="777240"/>
          </a:xfrm>
          <a:prstGeom prst="ellipse">
            <a:avLst/>
          </a:prstGeom>
          <a:solidFill>
            <a:schemeClr val="accent1"/>
          </a:solidFill>
          <a:ln w="12700">
            <a:solidFill>
              <a:schemeClr val="accent1"/>
            </a:solidFill>
            <a:prstDash val="solid"/>
          </a:ln>
        </p:spPr>
      </p:sp>
      <p:sp>
        <p:nvSpPr>
          <p:cNvPr id="7" name="Số 1"/>
          <p:cNvSpPr txBox="1"/>
          <p:nvPr/>
        </p:nvSpPr>
        <p:spPr>
          <a:xfrm>
            <a:off x="914400" y="2263140"/>
            <a:ext cx="777240" cy="777240"/>
          </a:xfrm>
          <a:prstGeom prst="rect">
            <a:avLst/>
          </a:prstGeom>
          <a:noFill/>
          <a:ln/>
        </p:spPr>
        <p:txBody>
          <a:bodyPr wrap="square" lIns="0" tIns="0" rIns="0" bIns="0" rtlCol="0" anchor="ctr"/>
          <a:lstStyle/>
          <a:p>
            <a:pPr algn="ctr" indent="0" marL="0">
              <a:buNone/>
            </a:pPr>
            <a:r>
              <a:rPr lang="en-US" sz="3200" b="1" dirty="0">
                <a:solidFill>
                  <a:schemeClr val="bg1"/>
                </a:solidFill>
              </a:rPr>
              <a:t>1</a:t>
            </a:r>
            <a:endParaRPr lang="en-US" sz="3200" dirty="0"/>
          </a:p>
        </p:txBody>
      </p:sp>
      <p:sp>
        <p:nvSpPr>
          <p:cNvPr id="8" name="Text 5"/>
          <p:cNvSpPr txBox="1"/>
          <p:nvPr/>
        </p:nvSpPr>
        <p:spPr>
          <a:xfrm>
            <a:off x="2011680" y="1783080"/>
            <a:ext cx="9262872" cy="1737360"/>
          </a:xfrm>
          <a:prstGeom prst="rect">
            <a:avLst/>
          </a:prstGeom>
          <a:noFill/>
          <a:ln/>
        </p:spPr>
        <p:txBody>
          <a:bodyPr wrap="square" lIns="0" tIns="0" rIns="0" bIns="0" rtlCol="0" anchor="ctr"/>
          <a:lstStyle/>
          <a:p>
            <a:pPr indent="0" marL="0">
              <a:buNone/>
            </a:pPr>
            <a:r>
              <a:rPr lang="en-US" sz="3000" dirty="0">
                <a:solidFill>
                  <a:schemeClr val="tx1"/>
                </a:solidFill>
              </a:rPr>
              <a:t>Xem hướng dẫn thiết lập từng agent CLI như Claude Code, Codex, Cursor trong tài liệu</a:t>
            </a:r>
            <a:endParaRPr lang="en-US" sz="3000" dirty="0"/>
          </a:p>
        </p:txBody>
      </p:sp>
      <p:sp>
        <p:nvSpPr>
          <p:cNvPr id="9" name="Thẻ làm tiếp 2"/>
          <p:cNvSpPr/>
          <p:nvPr/>
        </p:nvSpPr>
        <p:spPr>
          <a:xfrm>
            <a:off x="548640" y="3886200"/>
            <a:ext cx="11091672" cy="2011680"/>
          </a:xfrm>
          <a:prstGeom prst="roundRect">
            <a:avLst>
              <a:gd name="adj" fmla="val 5455"/>
            </a:avLst>
          </a:prstGeom>
          <a:solidFill>
            <a:schemeClr val="bg2"/>
          </a:solidFill>
          <a:ln w="12700">
            <a:solidFill>
              <a:schemeClr val="bg2"/>
            </a:solidFill>
            <a:prstDash val="solid"/>
          </a:ln>
          <a:effectLst>
            <a:outerShdw sx="100000" sy="100000" kx="0" ky="0" algn="bl" rotWithShape="0" blurRad="76200" dist="25400" dir="5400000">
              <a:srgbClr val="0F172A">
                <a:alpha val="10000"/>
              </a:srgbClr>
            </a:outerShdw>
          </a:effectLst>
        </p:spPr>
      </p:sp>
      <p:sp>
        <p:nvSpPr>
          <p:cNvPr id="10" name="Số 2 (vòng tròn)"/>
          <p:cNvSpPr/>
          <p:nvPr/>
        </p:nvSpPr>
        <p:spPr>
          <a:xfrm>
            <a:off x="914400" y="4503420"/>
            <a:ext cx="777240" cy="777240"/>
          </a:xfrm>
          <a:prstGeom prst="ellipse">
            <a:avLst/>
          </a:prstGeom>
          <a:solidFill>
            <a:schemeClr val="accent2"/>
          </a:solidFill>
          <a:ln w="12700">
            <a:solidFill>
              <a:schemeClr val="accent2"/>
            </a:solidFill>
            <a:prstDash val="solid"/>
          </a:ln>
        </p:spPr>
      </p:sp>
      <p:sp>
        <p:nvSpPr>
          <p:cNvPr id="11" name="Số 2"/>
          <p:cNvSpPr txBox="1"/>
          <p:nvPr/>
        </p:nvSpPr>
        <p:spPr>
          <a:xfrm>
            <a:off x="914400" y="4503420"/>
            <a:ext cx="777240" cy="777240"/>
          </a:xfrm>
          <a:prstGeom prst="rect">
            <a:avLst/>
          </a:prstGeom>
          <a:noFill/>
          <a:ln/>
        </p:spPr>
        <p:txBody>
          <a:bodyPr wrap="square" lIns="0" tIns="0" rIns="0" bIns="0" rtlCol="0" anchor="ctr"/>
          <a:lstStyle/>
          <a:p>
            <a:pPr algn="ctr" indent="0" marL="0">
              <a:buNone/>
            </a:pPr>
            <a:r>
              <a:rPr lang="en-US" sz="3200" b="1" dirty="0">
                <a:solidFill>
                  <a:schemeClr val="bg1"/>
                </a:solidFill>
              </a:rPr>
              <a:t>2</a:t>
            </a:r>
            <a:endParaRPr lang="en-US" sz="3200" dirty="0"/>
          </a:p>
        </p:txBody>
      </p:sp>
      <p:sp>
        <p:nvSpPr>
          <p:cNvPr id="12" name="Text 9"/>
          <p:cNvSpPr txBox="1"/>
          <p:nvPr/>
        </p:nvSpPr>
        <p:spPr>
          <a:xfrm>
            <a:off x="2011680" y="4023360"/>
            <a:ext cx="9262872" cy="1737360"/>
          </a:xfrm>
          <a:prstGeom prst="rect">
            <a:avLst/>
          </a:prstGeom>
          <a:noFill/>
          <a:ln/>
        </p:spPr>
        <p:txBody>
          <a:bodyPr wrap="square" lIns="0" tIns="0" rIns="0" bIns="0" rtlCol="0" anchor="ctr"/>
          <a:lstStyle/>
          <a:p>
            <a:pPr indent="0" marL="0">
              <a:buNone/>
            </a:pPr>
            <a:r>
              <a:rPr lang="en-US" sz="3000" dirty="0">
                <a:solidFill>
                  <a:schemeClr val="tx1"/>
                </a:solidFill>
              </a:rPr>
              <a:t>Theo dõi tiến độ pull request và CI của các worker ngay trên bảng Kanban</a:t>
            </a:r>
            <a:endParaRPr lang="en-US" sz="3000" dirty="0"/>
          </a:p>
        </p:txBody>
      </p:sp>
      <p:sp>
        <p:nvSpPr>
          <p:cNvPr id="25" name="Slide Number Placeholder 0"/>
          <p:cNvSpPr>
            <a:spLocks noGrp="1"/>
          </p:cNvSpPr>
          <p:nvPr>
            <p:ph type="sldNum" sz="quarter" idx="4294967295"/>
          </p:nvPr>
        </p:nvSpPr>
        <p:spPr>
          <a:xfrm>
            <a:off x="10725912" y="6382512"/>
            <a:ext cx="914400" cy="310896"/>
          </a:xfrm>
          <a:prstGeom prst="rect">
            <a:avLst/>
          </a:prstGeom>
          <a:extLst>
            <a:ext uri="{C572A759-6A51-4108-AA02-DFA0A04FC94B}">
              <ma14:wrappingTextBoxFlag xmlns:ma14="http://schemas.microsoft.com/office/mac/drawingml/2011/main" val="0"/>
            </a:ext>
          </a:extLst>
        </p:spPr>
        <p:txBody>
          <a:bodyPr/>
          <a:lstStyle>
            <a:lvl1pPr>
              <a:defRPr sz="13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Biểu tượng bên trong (vòng tròn)"/>
          <p:cNvSpPr/>
          <p:nvPr/>
        </p:nvSpPr>
        <p:spPr>
          <a:xfrm>
            <a:off x="548640" y="411480"/>
            <a:ext cx="868680" cy="868680"/>
          </a:xfrm>
          <a:prstGeom prst="ellipse">
            <a:avLst/>
          </a:prstGeom>
          <a:solidFill>
            <a:schemeClr val="accent4"/>
          </a:solidFill>
          <a:ln w="12700">
            <a:solidFill>
              <a:schemeClr val="accent4"/>
            </a:solidFill>
            <a:prstDash val="solid"/>
          </a:ln>
        </p:spPr>
      </p:sp>
      <p:pic>
        <p:nvPicPr>
          <p:cNvPr id="3" name="Biểu tượng bên trong" descr="Biểu tượng bên trong">    </p:cNvPr>
          <p:cNvPicPr>
            <a:picLocks noChangeAspect="1"/>
          </p:cNvPicPr>
          <p:nvPr/>
        </p:nvPicPr>
        <p:blipFill>
          <a:blip r:embed="rId1"/>
          <a:stretch>
            <a:fillRect/>
          </a:stretch>
        </p:blipFill>
        <p:spPr>
          <a:xfrm>
            <a:off x="765810" y="628650"/>
            <a:ext cx="434340" cy="434340"/>
          </a:xfrm>
          <a:prstGeom prst="rect">
            <a:avLst/>
          </a:prstGeom>
        </p:spPr>
      </p:pic>
      <p:sp>
        <p:nvSpPr>
          <p:cNvPr id="4" name="Text 0"/>
          <p:cNvSpPr/>
          <p:nvPr>
            <p:ph idx="100" type="title" hasCustomPrompt="1"/>
          </p:nvPr>
        </p:nvSpPr>
        <p:spPr>
          <a:xfrm>
            <a:off x="1554480" y="365760"/>
            <a:ext cx="10085832" cy="1005840"/>
          </a:xfrm>
          <a:prstGeom prst="rect">
            <a:avLst/>
          </a:prstGeom>
          <a:noFill/>
          <a:ln/>
        </p:spPr>
        <p:txBody>
          <a:bodyPr wrap="square" lIns="0" tIns="0" rIns="0" bIns="0" rtlCol="0" anchor="ctr"/>
          <a:lstStyle/>
          <a:p>
            <a:pPr algn="l" indent="0" marL="0">
              <a:buNone/>
            </a:pPr>
            <a:r>
              <a:rPr lang="en-US" sz="3600" b="1" dirty="0">
                <a:solidFill>
                  <a:schemeClr val="tx2"/>
                </a:solidFill>
              </a:rPr>
              <a:t>Bên trong nó hoạt động ra sao</a:t>
            </a:r>
            <a:endParaRPr lang="en-US" sz="3600" dirty="0"/>
          </a:p>
        </p:txBody>
      </p:sp>
      <p:sp>
        <p:nvSpPr>
          <p:cNvPr id="5" name="Thành phần Desktop App"/>
          <p:cNvSpPr/>
          <p:nvPr/>
        </p:nvSpPr>
        <p:spPr>
          <a:xfrm>
            <a:off x="548640" y="1691640"/>
            <a:ext cx="3148584" cy="3246120"/>
          </a:xfrm>
          <a:prstGeom prst="roundRect">
            <a:avLst>
              <a:gd name="adj" fmla="val 3485"/>
            </a:avLst>
          </a:prstGeom>
          <a:solidFill>
            <a:schemeClr val="bg2"/>
          </a:solidFill>
          <a:ln w="12700">
            <a:solidFill>
              <a:schemeClr val="bg2"/>
            </a:solidFill>
            <a:prstDash val="solid"/>
          </a:ln>
          <a:effectLst>
            <a:outerShdw sx="100000" sy="100000" kx="0" ky="0" algn="bl" rotWithShape="0" blurRad="76200" dist="25400" dir="5400000">
              <a:srgbClr val="0F172A">
                <a:alpha val="10000"/>
              </a:srgbClr>
            </a:outerShdw>
          </a:effectLst>
        </p:spPr>
      </p:sp>
      <p:sp>
        <p:nvSpPr>
          <p:cNvPr id="6" name="Biểu tượng Desktop App (vòng tròn)"/>
          <p:cNvSpPr/>
          <p:nvPr/>
        </p:nvSpPr>
        <p:spPr>
          <a:xfrm>
            <a:off x="1711452" y="1920240"/>
            <a:ext cx="822960" cy="822960"/>
          </a:xfrm>
          <a:prstGeom prst="ellipse">
            <a:avLst/>
          </a:prstGeom>
          <a:solidFill>
            <a:schemeClr val="accent1"/>
          </a:solidFill>
          <a:ln w="12700">
            <a:solidFill>
              <a:schemeClr val="accent1"/>
            </a:solidFill>
            <a:prstDash val="solid"/>
          </a:ln>
        </p:spPr>
      </p:sp>
      <p:pic>
        <p:nvPicPr>
          <p:cNvPr id="7" name="Biểu tượng Desktop App" descr="Biểu tượng Desktop App">    </p:cNvPr>
          <p:cNvPicPr>
            <a:picLocks noChangeAspect="1"/>
          </p:cNvPicPr>
          <p:nvPr/>
        </p:nvPicPr>
        <p:blipFill>
          <a:blip r:embed="rId2"/>
          <a:stretch>
            <a:fillRect/>
          </a:stretch>
        </p:blipFill>
        <p:spPr>
          <a:xfrm>
            <a:off x="1917192" y="2125980"/>
            <a:ext cx="411480" cy="411480"/>
          </a:xfrm>
          <a:prstGeom prst="rect">
            <a:avLst/>
          </a:prstGeom>
        </p:spPr>
      </p:pic>
      <p:sp>
        <p:nvSpPr>
          <p:cNvPr id="8" name="Text 4"/>
          <p:cNvSpPr txBox="1"/>
          <p:nvPr/>
        </p:nvSpPr>
        <p:spPr>
          <a:xfrm>
            <a:off x="731520" y="2834640"/>
            <a:ext cx="2782824" cy="1965960"/>
          </a:xfrm>
          <a:prstGeom prst="rect">
            <a:avLst/>
          </a:prstGeom>
          <a:noFill/>
          <a:ln/>
        </p:spPr>
        <p:txBody>
          <a:bodyPr wrap="square" lIns="0" tIns="0" rIns="0" bIns="0" rtlCol="0" anchor="t"/>
          <a:lstStyle/>
          <a:p>
            <a:pPr algn="ctr" indent="0" marL="0">
              <a:spcAft>
                <a:spcPts val="400"/>
              </a:spcAft>
              <a:buNone/>
            </a:pPr>
            <a:r>
              <a:rPr lang="en-US" sz="2500" b="1" dirty="0">
                <a:solidFill>
                  <a:schemeClr val="tx1"/>
                </a:solidFill>
              </a:rPr>
              <a:t>Desktop App</a:t>
            </a:r>
            <a:endParaRPr lang="en-US" sz="2400" dirty="0"/>
          </a:p>
          <a:p>
            <a:pPr algn="ctr" indent="0" marL="0">
              <a:spcAft>
                <a:spcPts val="400"/>
              </a:spcAft>
              <a:buNone/>
            </a:pPr>
            <a:r>
              <a:rPr lang="en-US" sz="2000" dirty="0">
                <a:solidFill>
                  <a:schemeClr val="tx1"/>
                </a:solidFill>
              </a:rPr>
              <a:t>Giao diện làm việc trung tâm cung cấp bảng Kanban, Chat và terminal UI</a:t>
            </a:r>
            <a:endParaRPr lang="en-US" sz="2400" dirty="0"/>
          </a:p>
        </p:txBody>
      </p:sp>
      <p:sp>
        <p:nvSpPr>
          <p:cNvPr id="9" name="Thành phần Local Daemon"/>
          <p:cNvSpPr/>
          <p:nvPr/>
        </p:nvSpPr>
        <p:spPr>
          <a:xfrm>
            <a:off x="4520184" y="1691640"/>
            <a:ext cx="3148584" cy="3246120"/>
          </a:xfrm>
          <a:prstGeom prst="roundRect">
            <a:avLst>
              <a:gd name="adj" fmla="val 3485"/>
            </a:avLst>
          </a:prstGeom>
          <a:solidFill>
            <a:schemeClr val="bg2"/>
          </a:solidFill>
          <a:ln w="12700">
            <a:solidFill>
              <a:schemeClr val="bg2"/>
            </a:solidFill>
            <a:prstDash val="solid"/>
          </a:ln>
          <a:effectLst>
            <a:outerShdw sx="100000" sy="100000" kx="0" ky="0" algn="bl" rotWithShape="0" blurRad="76200" dist="25400" dir="5400000">
              <a:srgbClr val="0F172A">
                <a:alpha val="10000"/>
              </a:srgbClr>
            </a:outerShdw>
          </a:effectLst>
        </p:spPr>
      </p:sp>
      <p:sp>
        <p:nvSpPr>
          <p:cNvPr id="10" name="Biểu tượng Local Daemon (vòng tròn)"/>
          <p:cNvSpPr/>
          <p:nvPr/>
        </p:nvSpPr>
        <p:spPr>
          <a:xfrm>
            <a:off x="5682996" y="1920240"/>
            <a:ext cx="822960" cy="822960"/>
          </a:xfrm>
          <a:prstGeom prst="ellipse">
            <a:avLst/>
          </a:prstGeom>
          <a:solidFill>
            <a:schemeClr val="accent2"/>
          </a:solidFill>
          <a:ln w="12700">
            <a:solidFill>
              <a:schemeClr val="accent2"/>
            </a:solidFill>
            <a:prstDash val="solid"/>
          </a:ln>
        </p:spPr>
      </p:sp>
      <p:pic>
        <p:nvPicPr>
          <p:cNvPr id="11" name="Biểu tượng Local Daemon" descr="Biểu tượng Local Daemon">    </p:cNvPr>
          <p:cNvPicPr>
            <a:picLocks noChangeAspect="1"/>
          </p:cNvPicPr>
          <p:nvPr/>
        </p:nvPicPr>
        <p:blipFill>
          <a:blip r:embed="rId3"/>
          <a:stretch>
            <a:fillRect/>
          </a:stretch>
        </p:blipFill>
        <p:spPr>
          <a:xfrm>
            <a:off x="5888736" y="2125980"/>
            <a:ext cx="411480" cy="411480"/>
          </a:xfrm>
          <a:prstGeom prst="rect">
            <a:avLst/>
          </a:prstGeom>
        </p:spPr>
      </p:pic>
      <p:sp>
        <p:nvSpPr>
          <p:cNvPr id="12" name="Text 7"/>
          <p:cNvSpPr txBox="1"/>
          <p:nvPr/>
        </p:nvSpPr>
        <p:spPr>
          <a:xfrm>
            <a:off x="4703064" y="2834640"/>
            <a:ext cx="2782824" cy="1965960"/>
          </a:xfrm>
          <a:prstGeom prst="rect">
            <a:avLst/>
          </a:prstGeom>
          <a:noFill/>
          <a:ln/>
        </p:spPr>
        <p:txBody>
          <a:bodyPr wrap="square" lIns="0" tIns="0" rIns="0" bIns="0" rtlCol="0" anchor="t"/>
          <a:lstStyle/>
          <a:p>
            <a:pPr algn="ctr" indent="0" marL="0">
              <a:spcAft>
                <a:spcPts val="400"/>
              </a:spcAft>
              <a:buNone/>
            </a:pPr>
            <a:r>
              <a:rPr lang="en-US" sz="2500" b="1" dirty="0">
                <a:solidFill>
                  <a:schemeClr val="tx1"/>
                </a:solidFill>
              </a:rPr>
              <a:t>Local Daemon</a:t>
            </a:r>
            <a:endParaRPr lang="en-US" sz="2400" dirty="0"/>
          </a:p>
          <a:p>
            <a:pPr algn="ctr" indent="0" marL="0">
              <a:spcAft>
                <a:spcPts val="400"/>
              </a:spcAft>
              <a:buNone/>
            </a:pPr>
            <a:r>
              <a:rPr lang="en-US" sz="2000" dirty="0">
                <a:solidFill>
                  <a:schemeClr val="tx1"/>
                </a:solidFill>
              </a:rPr>
              <a:t>Tiến trình nền theo dõi hoạt động agent và trạng thái kiểm soát phiên bản</a:t>
            </a:r>
            <a:endParaRPr lang="en-US" sz="2400" dirty="0"/>
          </a:p>
        </p:txBody>
      </p:sp>
      <p:sp>
        <p:nvSpPr>
          <p:cNvPr id="13" name="Thành phần Coding Agent Workers"/>
          <p:cNvSpPr/>
          <p:nvPr/>
        </p:nvSpPr>
        <p:spPr>
          <a:xfrm>
            <a:off x="8491728" y="1691640"/>
            <a:ext cx="3148584" cy="3246120"/>
          </a:xfrm>
          <a:prstGeom prst="roundRect">
            <a:avLst>
              <a:gd name="adj" fmla="val 3485"/>
            </a:avLst>
          </a:prstGeom>
          <a:solidFill>
            <a:schemeClr val="bg2"/>
          </a:solidFill>
          <a:ln w="12700">
            <a:solidFill>
              <a:schemeClr val="bg2"/>
            </a:solidFill>
            <a:prstDash val="solid"/>
          </a:ln>
          <a:effectLst>
            <a:outerShdw sx="100000" sy="100000" kx="0" ky="0" algn="bl" rotWithShape="0" blurRad="76200" dist="25400" dir="5400000">
              <a:srgbClr val="0F172A">
                <a:alpha val="10000"/>
              </a:srgbClr>
            </a:outerShdw>
          </a:effectLst>
        </p:spPr>
      </p:sp>
      <p:sp>
        <p:nvSpPr>
          <p:cNvPr id="14" name="Biểu tượng Coding Agent Workers (vòng tròn)"/>
          <p:cNvSpPr/>
          <p:nvPr/>
        </p:nvSpPr>
        <p:spPr>
          <a:xfrm>
            <a:off x="9654540" y="1920240"/>
            <a:ext cx="822960" cy="822960"/>
          </a:xfrm>
          <a:prstGeom prst="ellipse">
            <a:avLst/>
          </a:prstGeom>
          <a:solidFill>
            <a:schemeClr val="accent3"/>
          </a:solidFill>
          <a:ln w="12700">
            <a:solidFill>
              <a:schemeClr val="accent3"/>
            </a:solidFill>
            <a:prstDash val="solid"/>
          </a:ln>
        </p:spPr>
      </p:sp>
      <p:pic>
        <p:nvPicPr>
          <p:cNvPr id="15" name="Biểu tượng Coding Agent Workers" descr="Biểu tượng Coding Agent Workers">    </p:cNvPr>
          <p:cNvPicPr>
            <a:picLocks noChangeAspect="1"/>
          </p:cNvPicPr>
          <p:nvPr/>
        </p:nvPicPr>
        <p:blipFill>
          <a:blip r:embed="rId4"/>
          <a:stretch>
            <a:fillRect/>
          </a:stretch>
        </p:blipFill>
        <p:spPr>
          <a:xfrm>
            <a:off x="9860280" y="2125980"/>
            <a:ext cx="411480" cy="411480"/>
          </a:xfrm>
          <a:prstGeom prst="rect">
            <a:avLst/>
          </a:prstGeom>
        </p:spPr>
      </p:pic>
      <p:sp>
        <p:nvSpPr>
          <p:cNvPr id="16" name="Text 10"/>
          <p:cNvSpPr txBox="1"/>
          <p:nvPr/>
        </p:nvSpPr>
        <p:spPr>
          <a:xfrm>
            <a:off x="8674608" y="2834640"/>
            <a:ext cx="2782824" cy="1965960"/>
          </a:xfrm>
          <a:prstGeom prst="rect">
            <a:avLst/>
          </a:prstGeom>
          <a:noFill/>
          <a:ln/>
        </p:spPr>
        <p:txBody>
          <a:bodyPr wrap="square" lIns="0" tIns="0" rIns="0" bIns="0" rtlCol="0" anchor="t"/>
          <a:lstStyle/>
          <a:p>
            <a:pPr algn="ctr" indent="0" marL="0">
              <a:spcAft>
                <a:spcPts val="400"/>
              </a:spcAft>
              <a:buNone/>
            </a:pPr>
            <a:r>
              <a:rPr lang="en-US" sz="2500" b="1" dirty="0">
                <a:solidFill>
                  <a:schemeClr val="tx1"/>
                </a:solidFill>
              </a:rPr>
              <a:t>Coding Agent Workers</a:t>
            </a:r>
            <a:endParaRPr lang="en-US" sz="2400" dirty="0"/>
          </a:p>
          <a:p>
            <a:pPr algn="ctr" indent="0" marL="0">
              <a:spcAft>
                <a:spcPts val="400"/>
              </a:spcAft>
              <a:buNone/>
            </a:pPr>
            <a:r>
              <a:rPr lang="en-US" sz="2000" dirty="0">
                <a:solidFill>
                  <a:schemeClr val="tx1"/>
                </a:solidFill>
              </a:rPr>
              <a:t>Các agent thực thi tác vụ trên worktree và nhánh Git riêng biệt</a:t>
            </a:r>
            <a:endParaRPr lang="en-US" sz="2400" dirty="0"/>
          </a:p>
        </p:txBody>
      </p:sp>
      <p:sp>
        <p:nvSpPr>
          <p:cNvPr id="17" name="Mũi tên Desktop App tới Local Daemon"/>
          <p:cNvSpPr/>
          <p:nvPr/>
        </p:nvSpPr>
        <p:spPr>
          <a:xfrm>
            <a:off x="3770376" y="3314700"/>
            <a:ext cx="676656" cy="0"/>
          </a:xfrm>
          <a:prstGeom prst="line">
            <a:avLst/>
          </a:prstGeom>
          <a:noFill/>
          <a:ln w="50800">
            <a:solidFill>
              <a:srgbClr val="0C4A6E"/>
            </a:solidFill>
            <a:prstDash val="solid"/>
            <a:tailEnd type="triangle"/>
          </a:ln>
        </p:spPr>
      </p:sp>
      <p:sp>
        <p:nvSpPr>
          <p:cNvPr id="18" name="Mũi tên Local Daemon tới Coding Agent Workers"/>
          <p:cNvSpPr/>
          <p:nvPr/>
        </p:nvSpPr>
        <p:spPr>
          <a:xfrm>
            <a:off x="7741920" y="3314700"/>
            <a:ext cx="676656" cy="0"/>
          </a:xfrm>
          <a:prstGeom prst="line">
            <a:avLst/>
          </a:prstGeom>
          <a:noFill/>
          <a:ln w="50800">
            <a:solidFill>
              <a:srgbClr val="0C4A6E"/>
            </a:solidFill>
            <a:prstDash val="solid"/>
            <a:tailEnd type="triangle"/>
          </a:ln>
        </p:spPr>
      </p:sp>
      <p:sp>
        <p:nvSpPr>
          <p:cNvPr id="19" name="Đường quay lại 1"/>
          <p:cNvSpPr/>
          <p:nvPr/>
        </p:nvSpPr>
        <p:spPr>
          <a:xfrm>
            <a:off x="10066020" y="4937760"/>
            <a:ext cx="0" cy="502920"/>
          </a:xfrm>
          <a:prstGeom prst="line">
            <a:avLst/>
          </a:prstGeom>
          <a:noFill/>
          <a:ln w="50800">
            <a:solidFill>
              <a:srgbClr val="0C4A6E"/>
            </a:solidFill>
            <a:prstDash val="solid"/>
          </a:ln>
        </p:spPr>
      </p:sp>
      <p:sp>
        <p:nvSpPr>
          <p:cNvPr id="20" name="Đường quay lại 2"/>
          <p:cNvSpPr/>
          <p:nvPr/>
        </p:nvSpPr>
        <p:spPr>
          <a:xfrm>
            <a:off x="2122932" y="5440680"/>
            <a:ext cx="7943088" cy="0"/>
          </a:xfrm>
          <a:prstGeom prst="line">
            <a:avLst/>
          </a:prstGeom>
          <a:noFill/>
          <a:ln w="50800">
            <a:solidFill>
              <a:srgbClr val="0C4A6E"/>
            </a:solidFill>
            <a:prstDash val="solid"/>
          </a:ln>
        </p:spPr>
      </p:sp>
      <p:sp>
        <p:nvSpPr>
          <p:cNvPr id="21" name="Đường quay lại 3"/>
          <p:cNvSpPr/>
          <p:nvPr/>
        </p:nvSpPr>
        <p:spPr>
          <a:xfrm>
            <a:off x="2122932" y="4937760"/>
            <a:ext cx="0" cy="502920"/>
          </a:xfrm>
          <a:prstGeom prst="line">
            <a:avLst/>
          </a:prstGeom>
          <a:noFill/>
          <a:ln w="50800">
            <a:solidFill>
              <a:srgbClr val="0C4A6E"/>
            </a:solidFill>
            <a:prstDash val="solid"/>
            <a:headEnd type="triangle"/>
          </a:ln>
        </p:spPr>
      </p:sp>
      <p:sp>
        <p:nvSpPr>
          <p:cNvPr id="22" name="Text 16"/>
          <p:cNvSpPr txBox="1"/>
          <p:nvPr/>
        </p:nvSpPr>
        <p:spPr>
          <a:xfrm>
            <a:off x="548640" y="5577840"/>
            <a:ext cx="11091672" cy="457200"/>
          </a:xfrm>
          <a:prstGeom prst="rect">
            <a:avLst/>
          </a:prstGeom>
          <a:noFill/>
          <a:ln/>
        </p:spPr>
        <p:txBody>
          <a:bodyPr wrap="square" lIns="0" tIns="0" rIns="0" bIns="0" rtlCol="0" anchor="t"/>
          <a:lstStyle/>
          <a:p>
            <a:pPr algn="ctr" indent="0" marL="0">
              <a:buNone/>
            </a:pPr>
            <a:r>
              <a:rPr lang="en-US" sz="2000" i="1" dirty="0">
                <a:solidFill>
                  <a:schemeClr val="tx2"/>
                </a:solidFill>
              </a:rPr>
              <a:t>Coding Agent Workers → Desktop App</a:t>
            </a:r>
            <a:endParaRPr lang="en-US" sz="2000" dirty="0"/>
          </a:p>
        </p:txBody>
      </p:sp>
      <p:sp>
        <p:nvSpPr>
          <p:cNvPr id="25" name="Slide Number Placeholder 0"/>
          <p:cNvSpPr>
            <a:spLocks noGrp="1"/>
          </p:cNvSpPr>
          <p:nvPr>
            <p:ph type="sldNum" sz="quarter" idx="4294967295"/>
          </p:nvPr>
        </p:nvSpPr>
        <p:spPr>
          <a:xfrm>
            <a:off x="10725912" y="6382512"/>
            <a:ext cx="914400" cy="310896"/>
          </a:xfrm>
          <a:prstGeom prst="rect">
            <a:avLst/>
          </a:prstGeom>
          <a:extLst>
            <a:ext uri="{C572A759-6A51-4108-AA02-DFA0A04FC94B}">
              <ma14:wrappingTextBoxFlag xmlns:ma14="http://schemas.microsoft.com/office/mac/drawingml/2011/main" val="0"/>
            </a:ext>
          </a:extLst>
        </p:spPr>
        <p:txBody>
          <a:bodyPr/>
          <a:lstStyle>
            <a:lvl1pPr>
              <a:defRPr sz="13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Biểu tượng bên trong (vòng tròn)"/>
          <p:cNvSpPr/>
          <p:nvPr/>
        </p:nvSpPr>
        <p:spPr>
          <a:xfrm>
            <a:off x="548640" y="411480"/>
            <a:ext cx="868680" cy="868680"/>
          </a:xfrm>
          <a:prstGeom prst="ellipse">
            <a:avLst/>
          </a:prstGeom>
          <a:solidFill>
            <a:schemeClr val="accent4"/>
          </a:solidFill>
          <a:ln w="12700">
            <a:solidFill>
              <a:schemeClr val="accent4"/>
            </a:solidFill>
            <a:prstDash val="solid"/>
          </a:ln>
        </p:spPr>
      </p:sp>
      <p:pic>
        <p:nvPicPr>
          <p:cNvPr id="3" name="Biểu tượng bên trong" descr="Biểu tượng bên trong">    </p:cNvPr>
          <p:cNvPicPr>
            <a:picLocks noChangeAspect="1"/>
          </p:cNvPicPr>
          <p:nvPr/>
        </p:nvPicPr>
        <p:blipFill>
          <a:blip r:embed="rId1"/>
          <a:stretch>
            <a:fillRect/>
          </a:stretch>
        </p:blipFill>
        <p:spPr>
          <a:xfrm>
            <a:off x="765810" y="628650"/>
            <a:ext cx="434340" cy="434340"/>
          </a:xfrm>
          <a:prstGeom prst="rect">
            <a:avLst/>
          </a:prstGeom>
        </p:spPr>
      </p:pic>
      <p:sp>
        <p:nvSpPr>
          <p:cNvPr id="4" name="Text 0"/>
          <p:cNvSpPr/>
          <p:nvPr>
            <p:ph idx="100" type="title" hasCustomPrompt="1"/>
          </p:nvPr>
        </p:nvSpPr>
        <p:spPr>
          <a:xfrm>
            <a:off x="1554480" y="365760"/>
            <a:ext cx="10085832" cy="1005840"/>
          </a:xfrm>
          <a:prstGeom prst="rect">
            <a:avLst/>
          </a:prstGeom>
          <a:noFill/>
          <a:ln/>
        </p:spPr>
        <p:txBody>
          <a:bodyPr wrap="square" lIns="0" tIns="0" rIns="0" bIns="0" rtlCol="0" anchor="ctr"/>
          <a:lstStyle/>
          <a:p>
            <a:pPr algn="l" indent="0" marL="0">
              <a:buNone/>
            </a:pPr>
            <a:r>
              <a:rPr lang="en-US" sz="3600" b="1" dirty="0">
                <a:solidFill>
                  <a:schemeClr val="tx2"/>
                </a:solidFill>
              </a:rPr>
              <a:t>Bên trong nó hoạt động ra sao</a:t>
            </a:r>
            <a:endParaRPr lang="en-US" sz="3600" dirty="0"/>
          </a:p>
        </p:txBody>
      </p:sp>
      <p:sp>
        <p:nvSpPr>
          <p:cNvPr id="5" name="Thẻ bên trong 1"/>
          <p:cNvSpPr/>
          <p:nvPr/>
        </p:nvSpPr>
        <p:spPr>
          <a:xfrm>
            <a:off x="548640" y="1600200"/>
            <a:ext cx="5408676" cy="2148840"/>
          </a:xfrm>
          <a:prstGeom prst="roundRect">
            <a:avLst>
              <a:gd name="adj" fmla="val 5106"/>
            </a:avLst>
          </a:prstGeom>
          <a:solidFill>
            <a:schemeClr val="bg2"/>
          </a:solidFill>
          <a:ln w="12700">
            <a:solidFill>
              <a:schemeClr val="bg2"/>
            </a:solidFill>
            <a:prstDash val="solid"/>
          </a:ln>
          <a:effectLst>
            <a:outerShdw sx="100000" sy="100000" kx="0" ky="0" algn="bl" rotWithShape="0" blurRad="76200" dist="25400" dir="5400000">
              <a:srgbClr val="0F172A">
                <a:alpha val="10000"/>
              </a:srgbClr>
            </a:outerShdw>
          </a:effectLst>
        </p:spPr>
      </p:sp>
      <p:sp>
        <p:nvSpPr>
          <p:cNvPr id="6" name="Số 1 (vòng tròn)"/>
          <p:cNvSpPr/>
          <p:nvPr/>
        </p:nvSpPr>
        <p:spPr>
          <a:xfrm>
            <a:off x="822960" y="1874520"/>
            <a:ext cx="640080" cy="640080"/>
          </a:xfrm>
          <a:prstGeom prst="ellipse">
            <a:avLst/>
          </a:prstGeom>
          <a:solidFill>
            <a:schemeClr val="accent1"/>
          </a:solidFill>
          <a:ln w="12700">
            <a:solidFill>
              <a:schemeClr val="accent1"/>
            </a:solidFill>
            <a:prstDash val="solid"/>
          </a:ln>
        </p:spPr>
      </p:sp>
      <p:sp>
        <p:nvSpPr>
          <p:cNvPr id="7" name="Số 1"/>
          <p:cNvSpPr txBox="1"/>
          <p:nvPr/>
        </p:nvSpPr>
        <p:spPr>
          <a:xfrm>
            <a:off x="822960" y="1874520"/>
            <a:ext cx="640080" cy="640080"/>
          </a:xfrm>
          <a:prstGeom prst="rect">
            <a:avLst/>
          </a:prstGeom>
          <a:noFill/>
          <a:ln/>
        </p:spPr>
        <p:txBody>
          <a:bodyPr wrap="square" lIns="0" tIns="0" rIns="0" bIns="0" rtlCol="0" anchor="ctr"/>
          <a:lstStyle/>
          <a:p>
            <a:pPr algn="ctr" indent="0" marL="0">
              <a:buNone/>
            </a:pPr>
            <a:r>
              <a:rPr lang="en-US" sz="2600" b="1" dirty="0">
                <a:solidFill>
                  <a:schemeClr val="bg1"/>
                </a:solidFill>
              </a:rPr>
              <a:t>1</a:t>
            </a:r>
            <a:endParaRPr lang="en-US" sz="2600" dirty="0"/>
          </a:p>
        </p:txBody>
      </p:sp>
      <p:sp>
        <p:nvSpPr>
          <p:cNvPr id="8" name="Text 5"/>
          <p:cNvSpPr txBox="1"/>
          <p:nvPr/>
        </p:nvSpPr>
        <p:spPr>
          <a:xfrm>
            <a:off x="1645920" y="1783080"/>
            <a:ext cx="4037076" cy="1783080"/>
          </a:xfrm>
          <a:prstGeom prst="rect">
            <a:avLst/>
          </a:prstGeom>
          <a:noFill/>
          <a:ln/>
        </p:spPr>
        <p:txBody>
          <a:bodyPr wrap="square" lIns="0" tIns="0" rIns="0" bIns="0" rtlCol="0" anchor="ctr"/>
          <a:lstStyle/>
          <a:p>
            <a:pPr indent="0" marL="0">
              <a:spcAft>
                <a:spcPts val="400"/>
              </a:spcAft>
              <a:buNone/>
            </a:pPr>
            <a:r>
              <a:rPr lang="en-US" sz="2600" b="1" dirty="0">
                <a:solidFill>
                  <a:schemeClr val="tx1"/>
                </a:solidFill>
              </a:rPr>
              <a:t>Tạo worker session</a:t>
            </a:r>
            <a:endParaRPr lang="en-US" sz="2400" dirty="0"/>
          </a:p>
          <a:p>
            <a:pPr indent="0" marL="0">
              <a:spcAft>
                <a:spcPts val="400"/>
              </a:spcAft>
              <a:buNone/>
            </a:pPr>
            <a:r>
              <a:rPr lang="en-US" sz="2000" dirty="0">
                <a:solidFill>
                  <a:schemeClr val="tx1"/>
                </a:solidFill>
              </a:rPr>
              <a:t>Mỗi tác vụ được gán cho một worker gồm một coding agent, mô hình phù hợp và một không gian làm việc cô lập.</a:t>
            </a:r>
            <a:endParaRPr lang="en-US" sz="2400" dirty="0"/>
          </a:p>
        </p:txBody>
      </p:sp>
      <p:sp>
        <p:nvSpPr>
          <p:cNvPr id="9" name="Thẻ bên trong 2"/>
          <p:cNvSpPr/>
          <p:nvPr/>
        </p:nvSpPr>
        <p:spPr>
          <a:xfrm>
            <a:off x="6231636" y="1600200"/>
            <a:ext cx="5408676" cy="2148840"/>
          </a:xfrm>
          <a:prstGeom prst="roundRect">
            <a:avLst>
              <a:gd name="adj" fmla="val 5106"/>
            </a:avLst>
          </a:prstGeom>
          <a:solidFill>
            <a:schemeClr val="bg2"/>
          </a:solidFill>
          <a:ln w="12700">
            <a:solidFill>
              <a:schemeClr val="bg2"/>
            </a:solidFill>
            <a:prstDash val="solid"/>
          </a:ln>
          <a:effectLst>
            <a:outerShdw sx="100000" sy="100000" kx="0" ky="0" algn="bl" rotWithShape="0" blurRad="76200" dist="25400" dir="5400000">
              <a:srgbClr val="0F172A">
                <a:alpha val="10000"/>
              </a:srgbClr>
            </a:outerShdw>
          </a:effectLst>
        </p:spPr>
      </p:sp>
      <p:sp>
        <p:nvSpPr>
          <p:cNvPr id="10" name="Số 2 (vòng tròn)"/>
          <p:cNvSpPr/>
          <p:nvPr/>
        </p:nvSpPr>
        <p:spPr>
          <a:xfrm>
            <a:off x="6505956" y="1874520"/>
            <a:ext cx="640080" cy="640080"/>
          </a:xfrm>
          <a:prstGeom prst="ellipse">
            <a:avLst/>
          </a:prstGeom>
          <a:solidFill>
            <a:schemeClr val="accent2"/>
          </a:solidFill>
          <a:ln w="12700">
            <a:solidFill>
              <a:schemeClr val="accent2"/>
            </a:solidFill>
            <a:prstDash val="solid"/>
          </a:ln>
        </p:spPr>
      </p:sp>
      <p:sp>
        <p:nvSpPr>
          <p:cNvPr id="11" name="Số 2"/>
          <p:cNvSpPr txBox="1"/>
          <p:nvPr/>
        </p:nvSpPr>
        <p:spPr>
          <a:xfrm>
            <a:off x="6505956" y="1874520"/>
            <a:ext cx="640080" cy="640080"/>
          </a:xfrm>
          <a:prstGeom prst="rect">
            <a:avLst/>
          </a:prstGeom>
          <a:noFill/>
          <a:ln/>
        </p:spPr>
        <p:txBody>
          <a:bodyPr wrap="square" lIns="0" tIns="0" rIns="0" bIns="0" rtlCol="0" anchor="ctr"/>
          <a:lstStyle/>
          <a:p>
            <a:pPr algn="ctr" indent="0" marL="0">
              <a:buNone/>
            </a:pPr>
            <a:r>
              <a:rPr lang="en-US" sz="2600" b="1" dirty="0">
                <a:solidFill>
                  <a:schemeClr val="bg1"/>
                </a:solidFill>
              </a:rPr>
              <a:t>2</a:t>
            </a:r>
            <a:endParaRPr lang="en-US" sz="2600" dirty="0"/>
          </a:p>
        </p:txBody>
      </p:sp>
      <p:sp>
        <p:nvSpPr>
          <p:cNvPr id="12" name="Text 9"/>
          <p:cNvSpPr txBox="1"/>
          <p:nvPr/>
        </p:nvSpPr>
        <p:spPr>
          <a:xfrm>
            <a:off x="7328916" y="1783080"/>
            <a:ext cx="4037076" cy="1783080"/>
          </a:xfrm>
          <a:prstGeom prst="rect">
            <a:avLst/>
          </a:prstGeom>
          <a:noFill/>
          <a:ln/>
        </p:spPr>
        <p:txBody>
          <a:bodyPr wrap="square" lIns="0" tIns="0" rIns="0" bIns="0" rtlCol="0" anchor="ctr"/>
          <a:lstStyle/>
          <a:p>
            <a:pPr indent="0" marL="0">
              <a:spcAft>
                <a:spcPts val="400"/>
              </a:spcAft>
              <a:buNone/>
            </a:pPr>
            <a:r>
              <a:rPr lang="en-US" sz="2600" b="1" dirty="0">
                <a:solidFill>
                  <a:schemeClr val="tx1"/>
                </a:solidFill>
              </a:rPr>
              <a:t>Cô lập không gian Git</a:t>
            </a:r>
            <a:endParaRPr lang="en-US" sz="2400" dirty="0"/>
          </a:p>
          <a:p>
            <a:pPr indent="0" marL="0">
              <a:spcAft>
                <a:spcPts val="400"/>
              </a:spcAft>
              <a:buNone/>
            </a:pPr>
            <a:r>
              <a:rPr lang="en-US" sz="2000" dirty="0">
                <a:solidFill>
                  <a:schemeClr val="tx1"/>
                </a:solidFill>
              </a:rPr>
              <a:t>Mỗi worker chạy trên một nhánh và Git worktree riêng biệt, hoặc thư mục độc lập không cần repo.</a:t>
            </a:r>
            <a:endParaRPr lang="en-US" sz="2400" dirty="0"/>
          </a:p>
        </p:txBody>
      </p:sp>
      <p:sp>
        <p:nvSpPr>
          <p:cNvPr id="13" name="Thẻ bên trong 3"/>
          <p:cNvSpPr/>
          <p:nvPr/>
        </p:nvSpPr>
        <p:spPr>
          <a:xfrm>
            <a:off x="548640" y="3977640"/>
            <a:ext cx="5408676" cy="2148840"/>
          </a:xfrm>
          <a:prstGeom prst="roundRect">
            <a:avLst>
              <a:gd name="adj" fmla="val 5106"/>
            </a:avLst>
          </a:prstGeom>
          <a:solidFill>
            <a:schemeClr val="bg2"/>
          </a:solidFill>
          <a:ln w="12700">
            <a:solidFill>
              <a:schemeClr val="bg2"/>
            </a:solidFill>
            <a:prstDash val="solid"/>
          </a:ln>
          <a:effectLst>
            <a:outerShdw sx="100000" sy="100000" kx="0" ky="0" algn="bl" rotWithShape="0" blurRad="76200" dist="25400" dir="5400000">
              <a:srgbClr val="0F172A">
                <a:alpha val="10000"/>
              </a:srgbClr>
            </a:outerShdw>
          </a:effectLst>
        </p:spPr>
      </p:sp>
      <p:sp>
        <p:nvSpPr>
          <p:cNvPr id="14" name="Số 3 (vòng tròn)"/>
          <p:cNvSpPr/>
          <p:nvPr/>
        </p:nvSpPr>
        <p:spPr>
          <a:xfrm>
            <a:off x="822960" y="4251960"/>
            <a:ext cx="640080" cy="640080"/>
          </a:xfrm>
          <a:prstGeom prst="ellipse">
            <a:avLst/>
          </a:prstGeom>
          <a:solidFill>
            <a:schemeClr val="accent3"/>
          </a:solidFill>
          <a:ln w="12700">
            <a:solidFill>
              <a:schemeClr val="accent3"/>
            </a:solidFill>
            <a:prstDash val="solid"/>
          </a:ln>
        </p:spPr>
      </p:sp>
      <p:sp>
        <p:nvSpPr>
          <p:cNvPr id="15" name="Số 3"/>
          <p:cNvSpPr txBox="1"/>
          <p:nvPr/>
        </p:nvSpPr>
        <p:spPr>
          <a:xfrm>
            <a:off x="822960" y="4251960"/>
            <a:ext cx="640080" cy="640080"/>
          </a:xfrm>
          <a:prstGeom prst="rect">
            <a:avLst/>
          </a:prstGeom>
          <a:noFill/>
          <a:ln/>
        </p:spPr>
        <p:txBody>
          <a:bodyPr wrap="square" lIns="0" tIns="0" rIns="0" bIns="0" rtlCol="0" anchor="ctr"/>
          <a:lstStyle/>
          <a:p>
            <a:pPr algn="ctr" indent="0" marL="0">
              <a:buNone/>
            </a:pPr>
            <a:r>
              <a:rPr lang="en-US" sz="2600" b="1" dirty="0">
                <a:solidFill>
                  <a:schemeClr val="bg1"/>
                </a:solidFill>
              </a:rPr>
              <a:t>3</a:t>
            </a:r>
            <a:endParaRPr lang="en-US" sz="2600" dirty="0"/>
          </a:p>
        </p:txBody>
      </p:sp>
      <p:sp>
        <p:nvSpPr>
          <p:cNvPr id="16" name="Text 13"/>
          <p:cNvSpPr txBox="1"/>
          <p:nvPr/>
        </p:nvSpPr>
        <p:spPr>
          <a:xfrm>
            <a:off x="1645920" y="4160520"/>
            <a:ext cx="4037076" cy="1783080"/>
          </a:xfrm>
          <a:prstGeom prst="rect">
            <a:avLst/>
          </a:prstGeom>
          <a:noFill/>
          <a:ln/>
        </p:spPr>
        <p:txBody>
          <a:bodyPr wrap="square" lIns="0" tIns="0" rIns="0" bIns="0" rtlCol="0" anchor="ctr"/>
          <a:lstStyle/>
          <a:p>
            <a:pPr indent="0" marL="0">
              <a:spcAft>
                <a:spcPts val="400"/>
              </a:spcAft>
              <a:buNone/>
            </a:pPr>
            <a:r>
              <a:rPr lang="en-US" sz="2600" b="1" dirty="0">
                <a:solidFill>
                  <a:schemeClr val="tx1"/>
                </a:solidFill>
              </a:rPr>
              <a:t>Giám sát qua daemon</a:t>
            </a:r>
            <a:endParaRPr lang="en-US" sz="2400" dirty="0"/>
          </a:p>
          <a:p>
            <a:pPr indent="0" marL="0">
              <a:spcAft>
                <a:spcPts val="400"/>
              </a:spcAft>
              <a:buNone/>
            </a:pPr>
            <a:r>
              <a:rPr lang="en-US" sz="2000" dirty="0">
                <a:solidFill>
                  <a:schemeClr val="tx1"/>
                </a:solidFill>
              </a:rPr>
              <a:t>Daemon chạy nền tự động theo dõi hoạt động của agent, thay đổi mã nguồn, pull request và kết quả CI.</a:t>
            </a:r>
            <a:endParaRPr lang="en-US" sz="2400" dirty="0"/>
          </a:p>
        </p:txBody>
      </p:sp>
      <p:sp>
        <p:nvSpPr>
          <p:cNvPr id="17" name="Thẻ bên trong 4"/>
          <p:cNvSpPr/>
          <p:nvPr/>
        </p:nvSpPr>
        <p:spPr>
          <a:xfrm>
            <a:off x="6231636" y="3977640"/>
            <a:ext cx="5408676" cy="2148840"/>
          </a:xfrm>
          <a:prstGeom prst="roundRect">
            <a:avLst>
              <a:gd name="adj" fmla="val 5106"/>
            </a:avLst>
          </a:prstGeom>
          <a:solidFill>
            <a:schemeClr val="bg2"/>
          </a:solidFill>
          <a:ln w="12700">
            <a:solidFill>
              <a:schemeClr val="bg2"/>
            </a:solidFill>
            <a:prstDash val="solid"/>
          </a:ln>
          <a:effectLst>
            <a:outerShdw sx="100000" sy="100000" kx="0" ky="0" algn="bl" rotWithShape="0" blurRad="76200" dist="25400" dir="5400000">
              <a:srgbClr val="0F172A">
                <a:alpha val="10000"/>
              </a:srgbClr>
            </a:outerShdw>
          </a:effectLst>
        </p:spPr>
      </p:sp>
      <p:sp>
        <p:nvSpPr>
          <p:cNvPr id="18" name="Số 4 (vòng tròn)"/>
          <p:cNvSpPr/>
          <p:nvPr/>
        </p:nvSpPr>
        <p:spPr>
          <a:xfrm>
            <a:off x="6505956" y="4251960"/>
            <a:ext cx="640080" cy="640080"/>
          </a:xfrm>
          <a:prstGeom prst="ellipse">
            <a:avLst/>
          </a:prstGeom>
          <a:solidFill>
            <a:schemeClr val="accent4"/>
          </a:solidFill>
          <a:ln w="12700">
            <a:solidFill>
              <a:schemeClr val="accent4"/>
            </a:solidFill>
            <a:prstDash val="solid"/>
          </a:ln>
        </p:spPr>
      </p:sp>
      <p:sp>
        <p:nvSpPr>
          <p:cNvPr id="19" name="Số 4"/>
          <p:cNvSpPr txBox="1"/>
          <p:nvPr/>
        </p:nvSpPr>
        <p:spPr>
          <a:xfrm>
            <a:off x="6505956" y="4251960"/>
            <a:ext cx="640080" cy="640080"/>
          </a:xfrm>
          <a:prstGeom prst="rect">
            <a:avLst/>
          </a:prstGeom>
          <a:noFill/>
          <a:ln/>
        </p:spPr>
        <p:txBody>
          <a:bodyPr wrap="square" lIns="0" tIns="0" rIns="0" bIns="0" rtlCol="0" anchor="ctr"/>
          <a:lstStyle/>
          <a:p>
            <a:pPr algn="ctr" indent="0" marL="0">
              <a:buNone/>
            </a:pPr>
            <a:r>
              <a:rPr lang="en-US" sz="2600" b="1" dirty="0">
                <a:solidFill>
                  <a:schemeClr val="bg1"/>
                </a:solidFill>
              </a:rPr>
              <a:t>4</a:t>
            </a:r>
            <a:endParaRPr lang="en-US" sz="2600" dirty="0"/>
          </a:p>
        </p:txBody>
      </p:sp>
      <p:sp>
        <p:nvSpPr>
          <p:cNvPr id="20" name="Text 17"/>
          <p:cNvSpPr txBox="1"/>
          <p:nvPr/>
        </p:nvSpPr>
        <p:spPr>
          <a:xfrm>
            <a:off x="7328916" y="4160520"/>
            <a:ext cx="4037076" cy="1783080"/>
          </a:xfrm>
          <a:prstGeom prst="rect">
            <a:avLst/>
          </a:prstGeom>
          <a:noFill/>
          <a:ln/>
        </p:spPr>
        <p:txBody>
          <a:bodyPr wrap="square" lIns="0" tIns="0" rIns="0" bIns="0" rtlCol="0" anchor="ctr"/>
          <a:lstStyle/>
          <a:p>
            <a:pPr indent="0" marL="0">
              <a:spcAft>
                <a:spcPts val="400"/>
              </a:spcAft>
              <a:buNone/>
            </a:pPr>
            <a:r>
              <a:rPr lang="en-US" sz="2600" b="1" dirty="0">
                <a:solidFill>
                  <a:schemeClr val="tx1"/>
                </a:solidFill>
              </a:rPr>
              <a:t>Phản hồi hai chiều</a:t>
            </a:r>
            <a:endParaRPr lang="en-US" sz="2400" dirty="0"/>
          </a:p>
          <a:p>
            <a:pPr indent="0" marL="0">
              <a:spcAft>
                <a:spcPts val="400"/>
              </a:spcAft>
              <a:buNone/>
            </a:pPr>
            <a:r>
              <a:rPr lang="en-US" sz="2000" dirty="0">
                <a:solidFill>
                  <a:schemeClr val="tx1"/>
                </a:solidFill>
              </a:rPr>
              <a:t>Người dùng gửi trực tiếp góp ý duyệt mã hoặc lỗi từ CI về đúng agent sở hữu phần việc đó.</a:t>
            </a:r>
            <a:endParaRPr lang="en-US" sz="2400" dirty="0"/>
          </a:p>
        </p:txBody>
      </p:sp>
      <p:sp>
        <p:nvSpPr>
          <p:cNvPr id="25" name="Slide Number Placeholder 0"/>
          <p:cNvSpPr>
            <a:spLocks noGrp="1"/>
          </p:cNvSpPr>
          <p:nvPr>
            <p:ph type="sldNum" sz="quarter" idx="4294967295"/>
          </p:nvPr>
        </p:nvSpPr>
        <p:spPr>
          <a:xfrm>
            <a:off x="10725912" y="6382512"/>
            <a:ext cx="914400" cy="310896"/>
          </a:xfrm>
          <a:prstGeom prst="rect">
            <a:avLst/>
          </a:prstGeom>
          <a:extLst>
            <a:ext uri="{C572A759-6A51-4108-AA02-DFA0A04FC94B}">
              <ma14:wrappingTextBoxFlag xmlns:ma14="http://schemas.microsoft.com/office/mac/drawingml/2011/main" val="0"/>
            </a:ext>
          </a:extLst>
        </p:spPr>
        <p:txBody>
          <a:bodyPr/>
          <a:lstStyle>
            <a:lvl1pPr>
              <a:defRPr sz="13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Biểu tượng mảnh ghép (vòng tròn)"/>
          <p:cNvSpPr/>
          <p:nvPr/>
        </p:nvSpPr>
        <p:spPr>
          <a:xfrm>
            <a:off x="548640" y="411480"/>
            <a:ext cx="868680" cy="868680"/>
          </a:xfrm>
          <a:prstGeom prst="ellipse">
            <a:avLst/>
          </a:prstGeom>
          <a:solidFill>
            <a:schemeClr val="accent2"/>
          </a:solidFill>
          <a:ln w="12700">
            <a:solidFill>
              <a:schemeClr val="accent2"/>
            </a:solidFill>
            <a:prstDash val="solid"/>
          </a:ln>
        </p:spPr>
      </p:sp>
      <p:pic>
        <p:nvPicPr>
          <p:cNvPr id="3" name="Biểu tượng mảnh ghép" descr="Biểu tượng mảnh ghép">    </p:cNvPr>
          <p:cNvPicPr>
            <a:picLocks noChangeAspect="1"/>
          </p:cNvPicPr>
          <p:nvPr/>
        </p:nvPicPr>
        <p:blipFill>
          <a:blip r:embed="rId1"/>
          <a:stretch>
            <a:fillRect/>
          </a:stretch>
        </p:blipFill>
        <p:spPr>
          <a:xfrm>
            <a:off x="765810" y="628650"/>
            <a:ext cx="434340" cy="434340"/>
          </a:xfrm>
          <a:prstGeom prst="rect">
            <a:avLst/>
          </a:prstGeom>
        </p:spPr>
      </p:pic>
      <p:sp>
        <p:nvSpPr>
          <p:cNvPr id="4" name="Text 0"/>
          <p:cNvSpPr/>
          <p:nvPr>
            <p:ph idx="100" type="title" hasCustomPrompt="1"/>
          </p:nvPr>
        </p:nvSpPr>
        <p:spPr>
          <a:xfrm>
            <a:off x="1554480" y="365760"/>
            <a:ext cx="10085832" cy="1005840"/>
          </a:xfrm>
          <a:prstGeom prst="rect">
            <a:avLst/>
          </a:prstGeom>
          <a:noFill/>
          <a:ln/>
        </p:spPr>
        <p:txBody>
          <a:bodyPr wrap="square" lIns="0" tIns="0" rIns="0" bIns="0" rtlCol="0" anchor="ctr"/>
          <a:lstStyle/>
          <a:p>
            <a:pPr algn="l" indent="0" marL="0">
              <a:buNone/>
            </a:pPr>
            <a:r>
              <a:rPr lang="en-US" sz="3600" b="1" dirty="0">
                <a:solidFill>
                  <a:schemeClr val="tx2"/>
                </a:solidFill>
              </a:rPr>
              <a:t>Các mảnh ghép</a:t>
            </a:r>
            <a:endParaRPr lang="en-US" sz="3600" dirty="0"/>
          </a:p>
        </p:txBody>
      </p:sp>
      <p:sp>
        <p:nvSpPr>
          <p:cNvPr id="5" name="Thẻ mảnh ghép Desktop App"/>
          <p:cNvSpPr/>
          <p:nvPr/>
        </p:nvSpPr>
        <p:spPr>
          <a:xfrm>
            <a:off x="548640" y="1600200"/>
            <a:ext cx="11091672" cy="1417320"/>
          </a:xfrm>
          <a:prstGeom prst="roundRect">
            <a:avLst>
              <a:gd name="adj" fmla="val 7742"/>
            </a:avLst>
          </a:prstGeom>
          <a:solidFill>
            <a:schemeClr val="bg2"/>
          </a:solidFill>
          <a:ln w="12700">
            <a:solidFill>
              <a:schemeClr val="bg2"/>
            </a:solidFill>
            <a:prstDash val="solid"/>
          </a:ln>
          <a:effectLst>
            <a:outerShdw sx="100000" sy="100000" kx="0" ky="0" algn="bl" rotWithShape="0" blurRad="76200" dist="25400" dir="5400000">
              <a:srgbClr val="0F172A">
                <a:alpha val="10000"/>
              </a:srgbClr>
            </a:outerShdw>
          </a:effectLst>
        </p:spPr>
      </p:sp>
      <p:sp>
        <p:nvSpPr>
          <p:cNvPr id="6" name="Text 3"/>
          <p:cNvSpPr txBox="1"/>
          <p:nvPr/>
        </p:nvSpPr>
        <p:spPr>
          <a:xfrm>
            <a:off x="914400" y="1691640"/>
            <a:ext cx="3931920" cy="1234440"/>
          </a:xfrm>
          <a:prstGeom prst="rect">
            <a:avLst/>
          </a:prstGeom>
          <a:noFill/>
          <a:ln/>
        </p:spPr>
        <p:txBody>
          <a:bodyPr wrap="square" lIns="0" tIns="0" rIns="0" bIns="0" rtlCol="0" anchor="ctr"/>
          <a:lstStyle/>
          <a:p>
            <a:pPr indent="0" marL="0">
              <a:buNone/>
            </a:pPr>
            <a:r>
              <a:rPr lang="en-US" sz="2600" b="1" dirty="0">
                <a:solidFill>
                  <a:schemeClr val="accent1"/>
                </a:solidFill>
              </a:rPr>
              <a:t>Desktop App</a:t>
            </a:r>
            <a:endParaRPr lang="en-US" sz="2600" dirty="0"/>
          </a:p>
        </p:txBody>
      </p:sp>
      <p:sp>
        <p:nvSpPr>
          <p:cNvPr id="7" name="Text 4"/>
          <p:cNvSpPr txBox="1"/>
          <p:nvPr/>
        </p:nvSpPr>
        <p:spPr>
          <a:xfrm>
            <a:off x="5029200" y="1691640"/>
            <a:ext cx="6245352" cy="1234440"/>
          </a:xfrm>
          <a:prstGeom prst="rect">
            <a:avLst/>
          </a:prstGeom>
          <a:noFill/>
          <a:ln/>
        </p:spPr>
        <p:txBody>
          <a:bodyPr wrap="square" lIns="0" tIns="0" rIns="0" bIns="0" rtlCol="0" anchor="ctr"/>
          <a:lstStyle/>
          <a:p>
            <a:pPr indent="0" marL="0">
              <a:buNone/>
            </a:pPr>
            <a:r>
              <a:rPr lang="en-US" sz="2400" dirty="0">
                <a:solidFill>
                  <a:schemeClr val="tx1"/>
                </a:solidFill>
              </a:rPr>
              <a:t>Giao diện làm việc trung tâm cung cấp bảng Kanban, Chat và terminal UI</a:t>
            </a:r>
            <a:endParaRPr lang="en-US" sz="2400" dirty="0"/>
          </a:p>
        </p:txBody>
      </p:sp>
      <p:sp>
        <p:nvSpPr>
          <p:cNvPr id="8" name="Thẻ mảnh ghép Local Daemon"/>
          <p:cNvSpPr/>
          <p:nvPr/>
        </p:nvSpPr>
        <p:spPr>
          <a:xfrm>
            <a:off x="548640" y="3200400"/>
            <a:ext cx="11091672" cy="1417320"/>
          </a:xfrm>
          <a:prstGeom prst="roundRect">
            <a:avLst>
              <a:gd name="adj" fmla="val 7742"/>
            </a:avLst>
          </a:prstGeom>
          <a:solidFill>
            <a:schemeClr val="bg2"/>
          </a:solidFill>
          <a:ln w="12700">
            <a:solidFill>
              <a:schemeClr val="bg2"/>
            </a:solidFill>
            <a:prstDash val="solid"/>
          </a:ln>
          <a:effectLst>
            <a:outerShdw sx="100000" sy="100000" kx="0" ky="0" algn="bl" rotWithShape="0" blurRad="76200" dist="25400" dir="5400000">
              <a:srgbClr val="0F172A">
                <a:alpha val="10000"/>
              </a:srgbClr>
            </a:outerShdw>
          </a:effectLst>
        </p:spPr>
      </p:sp>
      <p:sp>
        <p:nvSpPr>
          <p:cNvPr id="9" name="Text 6"/>
          <p:cNvSpPr txBox="1"/>
          <p:nvPr/>
        </p:nvSpPr>
        <p:spPr>
          <a:xfrm>
            <a:off x="914400" y="3291840"/>
            <a:ext cx="3931920" cy="1234440"/>
          </a:xfrm>
          <a:prstGeom prst="rect">
            <a:avLst/>
          </a:prstGeom>
          <a:noFill/>
          <a:ln/>
        </p:spPr>
        <p:txBody>
          <a:bodyPr wrap="square" lIns="0" tIns="0" rIns="0" bIns="0" rtlCol="0" anchor="ctr"/>
          <a:lstStyle/>
          <a:p>
            <a:pPr indent="0" marL="0">
              <a:buNone/>
            </a:pPr>
            <a:r>
              <a:rPr lang="en-US" sz="2600" b="1" dirty="0">
                <a:solidFill>
                  <a:schemeClr val="accent1"/>
                </a:solidFill>
              </a:rPr>
              <a:t>Local Daemon</a:t>
            </a:r>
            <a:endParaRPr lang="en-US" sz="2600" dirty="0"/>
          </a:p>
        </p:txBody>
      </p:sp>
      <p:sp>
        <p:nvSpPr>
          <p:cNvPr id="10" name="Text 7"/>
          <p:cNvSpPr txBox="1"/>
          <p:nvPr/>
        </p:nvSpPr>
        <p:spPr>
          <a:xfrm>
            <a:off x="5029200" y="3291840"/>
            <a:ext cx="6245352" cy="1234440"/>
          </a:xfrm>
          <a:prstGeom prst="rect">
            <a:avLst/>
          </a:prstGeom>
          <a:noFill/>
          <a:ln/>
        </p:spPr>
        <p:txBody>
          <a:bodyPr wrap="square" lIns="0" tIns="0" rIns="0" bIns="0" rtlCol="0" anchor="ctr"/>
          <a:lstStyle/>
          <a:p>
            <a:pPr indent="0" marL="0">
              <a:buNone/>
            </a:pPr>
            <a:r>
              <a:rPr lang="en-US" sz="2400" dirty="0">
                <a:solidFill>
                  <a:schemeClr val="tx1"/>
                </a:solidFill>
              </a:rPr>
              <a:t>Tiến trình nền theo dõi hoạt động agent và trạng thái kiểm soát phiên bản</a:t>
            </a:r>
            <a:endParaRPr lang="en-US" sz="2400" dirty="0"/>
          </a:p>
        </p:txBody>
      </p:sp>
      <p:sp>
        <p:nvSpPr>
          <p:cNvPr id="11" name="Thẻ mảnh ghép Coding Agent Workers"/>
          <p:cNvSpPr/>
          <p:nvPr/>
        </p:nvSpPr>
        <p:spPr>
          <a:xfrm>
            <a:off x="548640" y="4800600"/>
            <a:ext cx="11091672" cy="1417320"/>
          </a:xfrm>
          <a:prstGeom prst="roundRect">
            <a:avLst>
              <a:gd name="adj" fmla="val 7742"/>
            </a:avLst>
          </a:prstGeom>
          <a:solidFill>
            <a:schemeClr val="bg2"/>
          </a:solidFill>
          <a:ln w="12700">
            <a:solidFill>
              <a:schemeClr val="bg2"/>
            </a:solidFill>
            <a:prstDash val="solid"/>
          </a:ln>
          <a:effectLst>
            <a:outerShdw sx="100000" sy="100000" kx="0" ky="0" algn="bl" rotWithShape="0" blurRad="76200" dist="25400" dir="5400000">
              <a:srgbClr val="0F172A">
                <a:alpha val="10000"/>
              </a:srgbClr>
            </a:outerShdw>
          </a:effectLst>
        </p:spPr>
      </p:sp>
      <p:sp>
        <p:nvSpPr>
          <p:cNvPr id="12" name="Text 9"/>
          <p:cNvSpPr txBox="1"/>
          <p:nvPr/>
        </p:nvSpPr>
        <p:spPr>
          <a:xfrm>
            <a:off x="914400" y="4892040"/>
            <a:ext cx="3931920" cy="1234440"/>
          </a:xfrm>
          <a:prstGeom prst="rect">
            <a:avLst/>
          </a:prstGeom>
          <a:noFill/>
          <a:ln/>
        </p:spPr>
        <p:txBody>
          <a:bodyPr wrap="square" lIns="0" tIns="0" rIns="0" bIns="0" rtlCol="0" anchor="ctr"/>
          <a:lstStyle/>
          <a:p>
            <a:pPr indent="0" marL="0">
              <a:buNone/>
            </a:pPr>
            <a:r>
              <a:rPr lang="en-US" sz="2600" b="1" dirty="0">
                <a:solidFill>
                  <a:schemeClr val="accent1"/>
                </a:solidFill>
              </a:rPr>
              <a:t>Coding Agent Workers</a:t>
            </a:r>
            <a:endParaRPr lang="en-US" sz="2600" dirty="0"/>
          </a:p>
        </p:txBody>
      </p:sp>
      <p:sp>
        <p:nvSpPr>
          <p:cNvPr id="13" name="Text 10"/>
          <p:cNvSpPr txBox="1"/>
          <p:nvPr/>
        </p:nvSpPr>
        <p:spPr>
          <a:xfrm>
            <a:off x="5029200" y="4892040"/>
            <a:ext cx="6245352" cy="1234440"/>
          </a:xfrm>
          <a:prstGeom prst="rect">
            <a:avLst/>
          </a:prstGeom>
          <a:noFill/>
          <a:ln/>
        </p:spPr>
        <p:txBody>
          <a:bodyPr wrap="square" lIns="0" tIns="0" rIns="0" bIns="0" rtlCol="0" anchor="ctr"/>
          <a:lstStyle/>
          <a:p>
            <a:pPr indent="0" marL="0">
              <a:buNone/>
            </a:pPr>
            <a:r>
              <a:rPr lang="en-US" sz="2400" dirty="0">
                <a:solidFill>
                  <a:schemeClr val="tx1"/>
                </a:solidFill>
              </a:rPr>
              <a:t>Các agent thực thi tác vụ trên worktree và nhánh Git riêng biệt</a:t>
            </a:r>
            <a:endParaRPr lang="en-US" sz="2400" dirty="0"/>
          </a:p>
        </p:txBody>
      </p:sp>
      <p:sp>
        <p:nvSpPr>
          <p:cNvPr id="25" name="Slide Number Placeholder 0"/>
          <p:cNvSpPr>
            <a:spLocks noGrp="1"/>
          </p:cNvSpPr>
          <p:nvPr>
            <p:ph type="sldNum" sz="quarter" idx="4294967295"/>
          </p:nvPr>
        </p:nvSpPr>
        <p:spPr>
          <a:xfrm>
            <a:off x="10725912" y="6382512"/>
            <a:ext cx="914400" cy="310896"/>
          </a:xfrm>
          <a:prstGeom prst="rect">
            <a:avLst/>
          </a:prstGeom>
          <a:extLst>
            <a:ext uri="{C572A759-6A51-4108-AA02-DFA0A04FC94B}">
              <ma14:wrappingTextBoxFlag xmlns:ma14="http://schemas.microsoft.com/office/mac/drawingml/2011/main" val="0"/>
            </a:ext>
          </a:extLst>
        </p:spPr>
        <p:txBody>
          <a:bodyPr/>
          <a:lstStyle>
            <a:lvl1pPr>
              <a:defRPr sz="13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Biểu tượng bài học (vòng tròn)"/>
          <p:cNvSpPr/>
          <p:nvPr/>
        </p:nvSpPr>
        <p:spPr>
          <a:xfrm>
            <a:off x="548640" y="411480"/>
            <a:ext cx="868680" cy="868680"/>
          </a:xfrm>
          <a:prstGeom prst="ellipse">
            <a:avLst/>
          </a:prstGeom>
          <a:solidFill>
            <a:schemeClr val="accent3"/>
          </a:solidFill>
          <a:ln w="12700">
            <a:solidFill>
              <a:schemeClr val="accent3"/>
            </a:solidFill>
            <a:prstDash val="solid"/>
          </a:ln>
        </p:spPr>
      </p:sp>
      <p:pic>
        <p:nvPicPr>
          <p:cNvPr id="3" name="Biểu tượng bài học" descr="Biểu tượng bài học">    </p:cNvPr>
          <p:cNvPicPr>
            <a:picLocks noChangeAspect="1"/>
          </p:cNvPicPr>
          <p:nvPr/>
        </p:nvPicPr>
        <p:blipFill>
          <a:blip r:embed="rId1"/>
          <a:stretch>
            <a:fillRect/>
          </a:stretch>
        </p:blipFill>
        <p:spPr>
          <a:xfrm>
            <a:off x="765810" y="628650"/>
            <a:ext cx="434340" cy="434340"/>
          </a:xfrm>
          <a:prstGeom prst="rect">
            <a:avLst/>
          </a:prstGeom>
        </p:spPr>
      </p:pic>
      <p:sp>
        <p:nvSpPr>
          <p:cNvPr id="4" name="Text 0"/>
          <p:cNvSpPr/>
          <p:nvPr>
            <p:ph idx="100" type="title" hasCustomPrompt="1"/>
          </p:nvPr>
        </p:nvSpPr>
        <p:spPr>
          <a:xfrm>
            <a:off x="1554480" y="365760"/>
            <a:ext cx="10085832" cy="1005840"/>
          </a:xfrm>
          <a:prstGeom prst="rect">
            <a:avLst/>
          </a:prstGeom>
          <a:noFill/>
          <a:ln/>
        </p:spPr>
        <p:txBody>
          <a:bodyPr wrap="square" lIns="0" tIns="0" rIns="0" bIns="0" rtlCol="0" anchor="ctr"/>
          <a:lstStyle/>
          <a:p>
            <a:pPr algn="l" indent="0" marL="0">
              <a:buNone/>
            </a:pPr>
            <a:r>
              <a:rPr lang="en-US" sz="3600" b="1" dirty="0">
                <a:solidFill>
                  <a:schemeClr val="tx2"/>
                </a:solidFill>
              </a:rPr>
              <a:t>Học được gì từ thiết kế này</a:t>
            </a:r>
            <a:endParaRPr lang="en-US" sz="3600" dirty="0"/>
          </a:p>
        </p:txBody>
      </p:sp>
      <p:sp>
        <p:nvSpPr>
          <p:cNvPr id="5" name="Thẻ bài học 1"/>
          <p:cNvSpPr/>
          <p:nvPr/>
        </p:nvSpPr>
        <p:spPr>
          <a:xfrm>
            <a:off x="548640" y="1600200"/>
            <a:ext cx="11091672" cy="1371600"/>
          </a:xfrm>
          <a:prstGeom prst="roundRect">
            <a:avLst>
              <a:gd name="adj" fmla="val 8000"/>
            </a:avLst>
          </a:prstGeom>
          <a:solidFill>
            <a:schemeClr val="bg2"/>
          </a:solidFill>
          <a:ln w="12700">
            <a:solidFill>
              <a:schemeClr val="bg2"/>
            </a:solidFill>
            <a:prstDash val="solid"/>
          </a:ln>
          <a:effectLst>
            <a:outerShdw sx="100000" sy="100000" kx="0" ky="0" algn="bl" rotWithShape="0" blurRad="76200" dist="25400" dir="5400000">
              <a:srgbClr val="0F172A">
                <a:alpha val="10000"/>
              </a:srgbClr>
            </a:outerShdw>
          </a:effectLst>
        </p:spPr>
      </p:sp>
      <p:sp>
        <p:nvSpPr>
          <p:cNvPr id="6" name="Số 1 (vòng tròn)"/>
          <p:cNvSpPr/>
          <p:nvPr/>
        </p:nvSpPr>
        <p:spPr>
          <a:xfrm>
            <a:off x="868680" y="1943100"/>
            <a:ext cx="685800" cy="685800"/>
          </a:xfrm>
          <a:prstGeom prst="ellipse">
            <a:avLst/>
          </a:prstGeom>
          <a:solidFill>
            <a:schemeClr val="accent1"/>
          </a:solidFill>
          <a:ln w="12700">
            <a:solidFill>
              <a:schemeClr val="accent1"/>
            </a:solidFill>
            <a:prstDash val="solid"/>
          </a:ln>
        </p:spPr>
      </p:sp>
      <p:sp>
        <p:nvSpPr>
          <p:cNvPr id="7" name="Số 1"/>
          <p:cNvSpPr txBox="1"/>
          <p:nvPr/>
        </p:nvSpPr>
        <p:spPr>
          <a:xfrm>
            <a:off x="868680" y="1943100"/>
            <a:ext cx="685800" cy="685800"/>
          </a:xfrm>
          <a:prstGeom prst="rect">
            <a:avLst/>
          </a:prstGeom>
          <a:noFill/>
          <a:ln/>
        </p:spPr>
        <p:txBody>
          <a:bodyPr wrap="square" lIns="0" tIns="0" rIns="0" bIns="0" rtlCol="0" anchor="ctr"/>
          <a:lstStyle/>
          <a:p>
            <a:pPr algn="ctr" indent="0" marL="0">
              <a:buNone/>
            </a:pPr>
            <a:r>
              <a:rPr lang="en-US" sz="2800" b="1" dirty="0">
                <a:solidFill>
                  <a:schemeClr val="bg1"/>
                </a:solidFill>
              </a:rPr>
              <a:t>1</a:t>
            </a:r>
            <a:endParaRPr lang="en-US" sz="2800" dirty="0"/>
          </a:p>
        </p:txBody>
      </p:sp>
      <p:sp>
        <p:nvSpPr>
          <p:cNvPr id="8" name="Text 5"/>
          <p:cNvSpPr txBox="1"/>
          <p:nvPr/>
        </p:nvSpPr>
        <p:spPr>
          <a:xfrm>
            <a:off x="1828800" y="1673352"/>
            <a:ext cx="9445752" cy="1225296"/>
          </a:xfrm>
          <a:prstGeom prst="rect">
            <a:avLst/>
          </a:prstGeom>
          <a:noFill/>
          <a:ln/>
        </p:spPr>
        <p:txBody>
          <a:bodyPr wrap="square" lIns="0" tIns="0" rIns="0" bIns="0" rtlCol="0" anchor="ctr"/>
          <a:lstStyle/>
          <a:p>
            <a:pPr indent="0" marL="0">
              <a:buNone/>
            </a:pPr>
            <a:r>
              <a:rPr lang="en-US" sz="2600" dirty="0">
                <a:solidFill>
                  <a:schemeClr val="tx1"/>
                </a:solidFill>
              </a:rPr>
              <a:t>Dùng Git worktree để cô lập hoàn toàn môi trường làm việc của từng AI agent</a:t>
            </a:r>
            <a:endParaRPr lang="en-US" sz="2600" dirty="0"/>
          </a:p>
        </p:txBody>
      </p:sp>
      <p:sp>
        <p:nvSpPr>
          <p:cNvPr id="9" name="Thẻ bài học 2"/>
          <p:cNvSpPr/>
          <p:nvPr/>
        </p:nvSpPr>
        <p:spPr>
          <a:xfrm>
            <a:off x="548640" y="3154680"/>
            <a:ext cx="11091672" cy="1371600"/>
          </a:xfrm>
          <a:prstGeom prst="roundRect">
            <a:avLst>
              <a:gd name="adj" fmla="val 8000"/>
            </a:avLst>
          </a:prstGeom>
          <a:solidFill>
            <a:schemeClr val="bg2"/>
          </a:solidFill>
          <a:ln w="12700">
            <a:solidFill>
              <a:schemeClr val="bg2"/>
            </a:solidFill>
            <a:prstDash val="solid"/>
          </a:ln>
          <a:effectLst>
            <a:outerShdw sx="100000" sy="100000" kx="0" ky="0" algn="bl" rotWithShape="0" blurRad="76200" dist="25400" dir="5400000">
              <a:srgbClr val="0F172A">
                <a:alpha val="10000"/>
              </a:srgbClr>
            </a:outerShdw>
          </a:effectLst>
        </p:spPr>
      </p:sp>
      <p:sp>
        <p:nvSpPr>
          <p:cNvPr id="10" name="Số 2 (vòng tròn)"/>
          <p:cNvSpPr/>
          <p:nvPr/>
        </p:nvSpPr>
        <p:spPr>
          <a:xfrm>
            <a:off x="868680" y="3497580"/>
            <a:ext cx="685800" cy="685800"/>
          </a:xfrm>
          <a:prstGeom prst="ellipse">
            <a:avLst/>
          </a:prstGeom>
          <a:solidFill>
            <a:schemeClr val="accent2"/>
          </a:solidFill>
          <a:ln w="12700">
            <a:solidFill>
              <a:schemeClr val="accent2"/>
            </a:solidFill>
            <a:prstDash val="solid"/>
          </a:ln>
        </p:spPr>
      </p:sp>
      <p:sp>
        <p:nvSpPr>
          <p:cNvPr id="11" name="Số 2"/>
          <p:cNvSpPr txBox="1"/>
          <p:nvPr/>
        </p:nvSpPr>
        <p:spPr>
          <a:xfrm>
            <a:off x="868680" y="3497580"/>
            <a:ext cx="685800" cy="685800"/>
          </a:xfrm>
          <a:prstGeom prst="rect">
            <a:avLst/>
          </a:prstGeom>
          <a:noFill/>
          <a:ln/>
        </p:spPr>
        <p:txBody>
          <a:bodyPr wrap="square" lIns="0" tIns="0" rIns="0" bIns="0" rtlCol="0" anchor="ctr"/>
          <a:lstStyle/>
          <a:p>
            <a:pPr algn="ctr" indent="0" marL="0">
              <a:buNone/>
            </a:pPr>
            <a:r>
              <a:rPr lang="en-US" sz="2800" b="1" dirty="0">
                <a:solidFill>
                  <a:schemeClr val="bg1"/>
                </a:solidFill>
              </a:rPr>
              <a:t>2</a:t>
            </a:r>
            <a:endParaRPr lang="en-US" sz="2800" dirty="0"/>
          </a:p>
        </p:txBody>
      </p:sp>
      <p:sp>
        <p:nvSpPr>
          <p:cNvPr id="12" name="Text 9"/>
          <p:cNvSpPr txBox="1"/>
          <p:nvPr/>
        </p:nvSpPr>
        <p:spPr>
          <a:xfrm>
            <a:off x="1828800" y="3227832"/>
            <a:ext cx="9445752" cy="1225296"/>
          </a:xfrm>
          <a:prstGeom prst="rect">
            <a:avLst/>
          </a:prstGeom>
          <a:noFill/>
          <a:ln/>
        </p:spPr>
        <p:txBody>
          <a:bodyPr wrap="square" lIns="0" tIns="0" rIns="0" bIns="0" rtlCol="0" anchor="ctr"/>
          <a:lstStyle/>
          <a:p>
            <a:pPr indent="0" marL="0">
              <a:buNone/>
            </a:pPr>
            <a:r>
              <a:rPr lang="en-US" sz="2600" dirty="0">
                <a:solidFill>
                  <a:schemeClr val="tx1"/>
                </a:solidFill>
              </a:rPr>
              <a:t>Mô hình tiến trình daemon nền giúp tự động hóa việc theo dõi mã nguồn mà không cần gõ lệnh thủ công</a:t>
            </a:r>
            <a:endParaRPr lang="en-US" sz="2600" dirty="0"/>
          </a:p>
        </p:txBody>
      </p:sp>
      <p:sp>
        <p:nvSpPr>
          <p:cNvPr id="13" name="Thẻ bài học 3"/>
          <p:cNvSpPr/>
          <p:nvPr/>
        </p:nvSpPr>
        <p:spPr>
          <a:xfrm>
            <a:off x="548640" y="4709160"/>
            <a:ext cx="11091672" cy="1371600"/>
          </a:xfrm>
          <a:prstGeom prst="roundRect">
            <a:avLst>
              <a:gd name="adj" fmla="val 8000"/>
            </a:avLst>
          </a:prstGeom>
          <a:solidFill>
            <a:schemeClr val="bg2"/>
          </a:solidFill>
          <a:ln w="12700">
            <a:solidFill>
              <a:schemeClr val="bg2"/>
            </a:solidFill>
            <a:prstDash val="solid"/>
          </a:ln>
          <a:effectLst>
            <a:outerShdw sx="100000" sy="100000" kx="0" ky="0" algn="bl" rotWithShape="0" blurRad="76200" dist="25400" dir="5400000">
              <a:srgbClr val="0F172A">
                <a:alpha val="10000"/>
              </a:srgbClr>
            </a:outerShdw>
          </a:effectLst>
        </p:spPr>
      </p:sp>
      <p:sp>
        <p:nvSpPr>
          <p:cNvPr id="14" name="Số 3 (vòng tròn)"/>
          <p:cNvSpPr/>
          <p:nvPr/>
        </p:nvSpPr>
        <p:spPr>
          <a:xfrm>
            <a:off x="868680" y="5052060"/>
            <a:ext cx="685800" cy="685800"/>
          </a:xfrm>
          <a:prstGeom prst="ellipse">
            <a:avLst/>
          </a:prstGeom>
          <a:solidFill>
            <a:schemeClr val="accent3"/>
          </a:solidFill>
          <a:ln w="12700">
            <a:solidFill>
              <a:schemeClr val="accent3"/>
            </a:solidFill>
            <a:prstDash val="solid"/>
          </a:ln>
        </p:spPr>
      </p:sp>
      <p:sp>
        <p:nvSpPr>
          <p:cNvPr id="15" name="Số 3"/>
          <p:cNvSpPr txBox="1"/>
          <p:nvPr/>
        </p:nvSpPr>
        <p:spPr>
          <a:xfrm>
            <a:off x="868680" y="5052060"/>
            <a:ext cx="685800" cy="685800"/>
          </a:xfrm>
          <a:prstGeom prst="rect">
            <a:avLst/>
          </a:prstGeom>
          <a:noFill/>
          <a:ln/>
        </p:spPr>
        <p:txBody>
          <a:bodyPr wrap="square" lIns="0" tIns="0" rIns="0" bIns="0" rtlCol="0" anchor="ctr"/>
          <a:lstStyle/>
          <a:p>
            <a:pPr algn="ctr" indent="0" marL="0">
              <a:buNone/>
            </a:pPr>
            <a:r>
              <a:rPr lang="en-US" sz="2800" b="1" dirty="0">
                <a:solidFill>
                  <a:schemeClr val="bg1"/>
                </a:solidFill>
              </a:rPr>
              <a:t>3</a:t>
            </a:r>
            <a:endParaRPr lang="en-US" sz="2800" dirty="0"/>
          </a:p>
        </p:txBody>
      </p:sp>
      <p:sp>
        <p:nvSpPr>
          <p:cNvPr id="16" name="Text 13"/>
          <p:cNvSpPr txBox="1"/>
          <p:nvPr/>
        </p:nvSpPr>
        <p:spPr>
          <a:xfrm>
            <a:off x="1828800" y="4782312"/>
            <a:ext cx="9445752" cy="1225296"/>
          </a:xfrm>
          <a:prstGeom prst="rect">
            <a:avLst/>
          </a:prstGeom>
          <a:noFill/>
          <a:ln/>
        </p:spPr>
        <p:txBody>
          <a:bodyPr wrap="square" lIns="0" tIns="0" rIns="0" bIns="0" rtlCol="0" anchor="ctr"/>
          <a:lstStyle/>
          <a:p>
            <a:pPr indent="0" marL="0">
              <a:buNone/>
            </a:pPr>
            <a:r>
              <a:rPr lang="en-US" sz="2600" dirty="0">
                <a:solidFill>
                  <a:schemeClr val="tx1"/>
                </a:solidFill>
              </a:rPr>
              <a:t>Quản lý vòng lặp phản hồi khép kín bằng cách trả thẳng lỗi CI vào phiên làm việc của agent</a:t>
            </a:r>
            <a:endParaRPr lang="en-US" sz="2600" dirty="0"/>
          </a:p>
        </p:txBody>
      </p:sp>
      <p:sp>
        <p:nvSpPr>
          <p:cNvPr id="25" name="Slide Number Placeholder 0"/>
          <p:cNvSpPr>
            <a:spLocks noGrp="1"/>
          </p:cNvSpPr>
          <p:nvPr>
            <p:ph type="sldNum" sz="quarter" idx="4294967295"/>
          </p:nvPr>
        </p:nvSpPr>
        <p:spPr>
          <a:xfrm>
            <a:off x="10725912" y="6382512"/>
            <a:ext cx="914400" cy="310896"/>
          </a:xfrm>
          <a:prstGeom prst="rect">
            <a:avLst/>
          </a:prstGeom>
          <a:extLst>
            <a:ext uri="{C572A759-6A51-4108-AA02-DFA0A04FC94B}">
              <ma14:wrappingTextBoxFlag xmlns:ma14="http://schemas.microsoft.com/office/mac/drawingml/2011/main" val="0"/>
            </a:ext>
          </a:extLst>
        </p:spPr>
        <p:txBody>
          <a:bodyPr/>
          <a:lstStyle>
            <a:lvl1pPr>
              <a:defRPr sz="13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Biểu tượng từ khóa (vòng tròn)"/>
          <p:cNvSpPr/>
          <p:nvPr/>
        </p:nvSpPr>
        <p:spPr>
          <a:xfrm>
            <a:off x="548640" y="411480"/>
            <a:ext cx="868680" cy="868680"/>
          </a:xfrm>
          <a:prstGeom prst="ellipse">
            <a:avLst/>
          </a:prstGeom>
          <a:solidFill>
            <a:schemeClr val="accent4"/>
          </a:solidFill>
          <a:ln w="12700">
            <a:solidFill>
              <a:schemeClr val="accent4"/>
            </a:solidFill>
            <a:prstDash val="solid"/>
          </a:ln>
        </p:spPr>
      </p:sp>
      <p:pic>
        <p:nvPicPr>
          <p:cNvPr id="3" name="Biểu tượng từ khóa" descr="Biểu tượng từ khóa">    </p:cNvPr>
          <p:cNvPicPr>
            <a:picLocks noChangeAspect="1"/>
          </p:cNvPicPr>
          <p:nvPr/>
        </p:nvPicPr>
        <p:blipFill>
          <a:blip r:embed="rId1"/>
          <a:stretch>
            <a:fillRect/>
          </a:stretch>
        </p:blipFill>
        <p:spPr>
          <a:xfrm>
            <a:off x="765810" y="628650"/>
            <a:ext cx="434340" cy="434340"/>
          </a:xfrm>
          <a:prstGeom prst="rect">
            <a:avLst/>
          </a:prstGeom>
        </p:spPr>
      </p:pic>
      <p:sp>
        <p:nvSpPr>
          <p:cNvPr id="4" name="Text 0"/>
          <p:cNvSpPr/>
          <p:nvPr>
            <p:ph idx="100" type="title" hasCustomPrompt="1"/>
          </p:nvPr>
        </p:nvSpPr>
        <p:spPr>
          <a:xfrm>
            <a:off x="1554480" y="365760"/>
            <a:ext cx="10085832" cy="1005840"/>
          </a:xfrm>
          <a:prstGeom prst="rect">
            <a:avLst/>
          </a:prstGeom>
          <a:noFill/>
          <a:ln/>
        </p:spPr>
        <p:txBody>
          <a:bodyPr wrap="square" lIns="0" tIns="0" rIns="0" bIns="0" rtlCol="0" anchor="ctr"/>
          <a:lstStyle/>
          <a:p>
            <a:pPr algn="l" indent="0" marL="0">
              <a:buNone/>
            </a:pPr>
            <a:r>
              <a:rPr lang="en-US" sz="3600" b="1" dirty="0">
                <a:solidFill>
                  <a:schemeClr val="tx2"/>
                </a:solidFill>
              </a:rPr>
              <a:t>Từ khóa</a:t>
            </a:r>
            <a:endParaRPr lang="en-US" sz="3600" dirty="0"/>
          </a:p>
        </p:txBody>
      </p:sp>
      <p:sp>
        <p:nvSpPr>
          <p:cNvPr id="5" name="Thẻ từ khóa Worktree"/>
          <p:cNvSpPr/>
          <p:nvPr/>
        </p:nvSpPr>
        <p:spPr>
          <a:xfrm>
            <a:off x="548640" y="1600200"/>
            <a:ext cx="11091672" cy="1371600"/>
          </a:xfrm>
          <a:prstGeom prst="roundRect">
            <a:avLst>
              <a:gd name="adj" fmla="val 8000"/>
            </a:avLst>
          </a:prstGeom>
          <a:solidFill>
            <a:schemeClr val="bg2"/>
          </a:solidFill>
          <a:ln w="12700">
            <a:solidFill>
              <a:schemeClr val="bg2"/>
            </a:solidFill>
            <a:prstDash val="solid"/>
          </a:ln>
          <a:effectLst>
            <a:outerShdw sx="100000" sy="100000" kx="0" ky="0" algn="bl" rotWithShape="0" blurRad="76200" dist="25400" dir="5400000">
              <a:srgbClr val="0F172A">
                <a:alpha val="10000"/>
              </a:srgbClr>
            </a:outerShdw>
          </a:effectLst>
        </p:spPr>
      </p:sp>
      <p:sp>
        <p:nvSpPr>
          <p:cNvPr id="6" name="Text 3"/>
          <p:cNvSpPr txBox="1"/>
          <p:nvPr/>
        </p:nvSpPr>
        <p:spPr>
          <a:xfrm>
            <a:off x="914400" y="1691640"/>
            <a:ext cx="2651760" cy="1188720"/>
          </a:xfrm>
          <a:prstGeom prst="rect">
            <a:avLst/>
          </a:prstGeom>
          <a:noFill/>
          <a:ln/>
        </p:spPr>
        <p:txBody>
          <a:bodyPr wrap="square" lIns="0" tIns="0" rIns="0" bIns="0" rtlCol="0" anchor="ctr"/>
          <a:lstStyle/>
          <a:p>
            <a:pPr indent="0" marL="0">
              <a:buNone/>
            </a:pPr>
            <a:r>
              <a:rPr lang="en-US" sz="3000" b="1" dirty="0">
                <a:solidFill>
                  <a:schemeClr val="accent4"/>
                </a:solidFill>
              </a:rPr>
              <a:t>Worktree</a:t>
            </a:r>
            <a:endParaRPr lang="en-US" sz="3000" dirty="0"/>
          </a:p>
        </p:txBody>
      </p:sp>
      <p:sp>
        <p:nvSpPr>
          <p:cNvPr id="7" name="Text 4"/>
          <p:cNvSpPr txBox="1"/>
          <p:nvPr/>
        </p:nvSpPr>
        <p:spPr>
          <a:xfrm>
            <a:off x="3749040" y="1691640"/>
            <a:ext cx="7525512" cy="1188720"/>
          </a:xfrm>
          <a:prstGeom prst="rect">
            <a:avLst/>
          </a:prstGeom>
          <a:noFill/>
          <a:ln/>
        </p:spPr>
        <p:txBody>
          <a:bodyPr wrap="square" lIns="0" tIns="0" rIns="0" bIns="0" rtlCol="0" anchor="ctr"/>
          <a:lstStyle/>
          <a:p>
            <a:pPr indent="0" marL="0">
              <a:buNone/>
            </a:pPr>
            <a:r>
              <a:rPr lang="en-US" sz="2400" dirty="0">
                <a:solidFill>
                  <a:schemeClr val="tx1"/>
                </a:solidFill>
              </a:rPr>
              <a:t>Tính năng của Git cho phép gắn nhiều thư mục làm việc vào cùng một repository</a:t>
            </a:r>
            <a:endParaRPr lang="en-US" sz="2400" dirty="0"/>
          </a:p>
        </p:txBody>
      </p:sp>
      <p:sp>
        <p:nvSpPr>
          <p:cNvPr id="8" name="Thẻ từ khóa Worker"/>
          <p:cNvSpPr/>
          <p:nvPr/>
        </p:nvSpPr>
        <p:spPr>
          <a:xfrm>
            <a:off x="548640" y="3154680"/>
            <a:ext cx="11091672" cy="1371600"/>
          </a:xfrm>
          <a:prstGeom prst="roundRect">
            <a:avLst>
              <a:gd name="adj" fmla="val 8000"/>
            </a:avLst>
          </a:prstGeom>
          <a:solidFill>
            <a:schemeClr val="bg2"/>
          </a:solidFill>
          <a:ln w="12700">
            <a:solidFill>
              <a:schemeClr val="bg2"/>
            </a:solidFill>
            <a:prstDash val="solid"/>
          </a:ln>
          <a:effectLst>
            <a:outerShdw sx="100000" sy="100000" kx="0" ky="0" algn="bl" rotWithShape="0" blurRad="76200" dist="25400" dir="5400000">
              <a:srgbClr val="0F172A">
                <a:alpha val="10000"/>
              </a:srgbClr>
            </a:outerShdw>
          </a:effectLst>
        </p:spPr>
      </p:sp>
      <p:sp>
        <p:nvSpPr>
          <p:cNvPr id="9" name="Text 6"/>
          <p:cNvSpPr txBox="1"/>
          <p:nvPr/>
        </p:nvSpPr>
        <p:spPr>
          <a:xfrm>
            <a:off x="914400" y="3246120"/>
            <a:ext cx="2651760" cy="1188720"/>
          </a:xfrm>
          <a:prstGeom prst="rect">
            <a:avLst/>
          </a:prstGeom>
          <a:noFill/>
          <a:ln/>
        </p:spPr>
        <p:txBody>
          <a:bodyPr wrap="square" lIns="0" tIns="0" rIns="0" bIns="0" rtlCol="0" anchor="ctr"/>
          <a:lstStyle/>
          <a:p>
            <a:pPr indent="0" marL="0">
              <a:buNone/>
            </a:pPr>
            <a:r>
              <a:rPr lang="en-US" sz="3000" b="1" dirty="0">
                <a:solidFill>
                  <a:schemeClr val="accent4"/>
                </a:solidFill>
              </a:rPr>
              <a:t>Worker</a:t>
            </a:r>
            <a:endParaRPr lang="en-US" sz="3000" dirty="0"/>
          </a:p>
        </p:txBody>
      </p:sp>
      <p:sp>
        <p:nvSpPr>
          <p:cNvPr id="10" name="Text 7"/>
          <p:cNvSpPr txBox="1"/>
          <p:nvPr/>
        </p:nvSpPr>
        <p:spPr>
          <a:xfrm>
            <a:off x="3749040" y="3246120"/>
            <a:ext cx="7525512" cy="1188720"/>
          </a:xfrm>
          <a:prstGeom prst="rect">
            <a:avLst/>
          </a:prstGeom>
          <a:noFill/>
          <a:ln/>
        </p:spPr>
        <p:txBody>
          <a:bodyPr wrap="square" lIns="0" tIns="0" rIns="0" bIns="0" rtlCol="0" anchor="ctr"/>
          <a:lstStyle/>
          <a:p>
            <a:pPr indent="0" marL="0">
              <a:buNone/>
            </a:pPr>
            <a:r>
              <a:rPr lang="en-US" sz="2400" dirty="0">
                <a:solidFill>
                  <a:schemeClr val="tx1"/>
                </a:solidFill>
              </a:rPr>
              <a:t>Đơn vị thực thi gồm một tác vụ, một coding agent và một không gian làm việc riêng biệt</a:t>
            </a:r>
            <a:endParaRPr lang="en-US" sz="2400" dirty="0"/>
          </a:p>
        </p:txBody>
      </p:sp>
      <p:sp>
        <p:nvSpPr>
          <p:cNvPr id="11" name="Thẻ từ khóa Daemon"/>
          <p:cNvSpPr/>
          <p:nvPr/>
        </p:nvSpPr>
        <p:spPr>
          <a:xfrm>
            <a:off x="548640" y="4709160"/>
            <a:ext cx="11091672" cy="1371600"/>
          </a:xfrm>
          <a:prstGeom prst="roundRect">
            <a:avLst>
              <a:gd name="adj" fmla="val 8000"/>
            </a:avLst>
          </a:prstGeom>
          <a:solidFill>
            <a:schemeClr val="bg2"/>
          </a:solidFill>
          <a:ln w="12700">
            <a:solidFill>
              <a:schemeClr val="bg2"/>
            </a:solidFill>
            <a:prstDash val="solid"/>
          </a:ln>
          <a:effectLst>
            <a:outerShdw sx="100000" sy="100000" kx="0" ky="0" algn="bl" rotWithShape="0" blurRad="76200" dist="25400" dir="5400000">
              <a:srgbClr val="0F172A">
                <a:alpha val="10000"/>
              </a:srgbClr>
            </a:outerShdw>
          </a:effectLst>
        </p:spPr>
      </p:sp>
      <p:sp>
        <p:nvSpPr>
          <p:cNvPr id="12" name="Text 9"/>
          <p:cNvSpPr txBox="1"/>
          <p:nvPr/>
        </p:nvSpPr>
        <p:spPr>
          <a:xfrm>
            <a:off x="914400" y="4800600"/>
            <a:ext cx="2651760" cy="1188720"/>
          </a:xfrm>
          <a:prstGeom prst="rect">
            <a:avLst/>
          </a:prstGeom>
          <a:noFill/>
          <a:ln/>
        </p:spPr>
        <p:txBody>
          <a:bodyPr wrap="square" lIns="0" tIns="0" rIns="0" bIns="0" rtlCol="0" anchor="ctr"/>
          <a:lstStyle/>
          <a:p>
            <a:pPr indent="0" marL="0">
              <a:buNone/>
            </a:pPr>
            <a:r>
              <a:rPr lang="en-US" sz="3000" b="1" dirty="0">
                <a:solidFill>
                  <a:schemeClr val="accent4"/>
                </a:solidFill>
              </a:rPr>
              <a:t>Daemon</a:t>
            </a:r>
            <a:endParaRPr lang="en-US" sz="3000" dirty="0"/>
          </a:p>
        </p:txBody>
      </p:sp>
      <p:sp>
        <p:nvSpPr>
          <p:cNvPr id="13" name="Text 10"/>
          <p:cNvSpPr txBox="1"/>
          <p:nvPr/>
        </p:nvSpPr>
        <p:spPr>
          <a:xfrm>
            <a:off x="3749040" y="4800600"/>
            <a:ext cx="7525512" cy="1188720"/>
          </a:xfrm>
          <a:prstGeom prst="rect">
            <a:avLst/>
          </a:prstGeom>
          <a:noFill/>
          <a:ln/>
        </p:spPr>
        <p:txBody>
          <a:bodyPr wrap="square" lIns="0" tIns="0" rIns="0" bIns="0" rtlCol="0" anchor="ctr"/>
          <a:lstStyle/>
          <a:p>
            <a:pPr indent="0" marL="0">
              <a:buNone/>
            </a:pPr>
            <a:r>
              <a:rPr lang="en-US" sz="2400" dirty="0">
                <a:solidFill>
                  <a:schemeClr val="tx1"/>
                </a:solidFill>
              </a:rPr>
              <a:t>Tiến trình chạy nền trên máy để tự động giám sát trạng thái hệ thống</a:t>
            </a:r>
            <a:endParaRPr lang="en-US" sz="2400" dirty="0"/>
          </a:p>
        </p:txBody>
      </p:sp>
      <p:sp>
        <p:nvSpPr>
          <p:cNvPr id="25" name="Slide Number Placeholder 0"/>
          <p:cNvSpPr>
            <a:spLocks noGrp="1"/>
          </p:cNvSpPr>
          <p:nvPr>
            <p:ph type="sldNum" sz="quarter" idx="4294967295"/>
          </p:nvPr>
        </p:nvSpPr>
        <p:spPr>
          <a:xfrm>
            <a:off x="10725912" y="6382512"/>
            <a:ext cx="914400" cy="310896"/>
          </a:xfrm>
          <a:prstGeom prst="rect">
            <a:avLst/>
          </a:prstGeom>
          <a:extLst>
            <a:ext uri="{C572A759-6A51-4108-AA02-DFA0A04FC94B}">
              <ma14:wrappingTextBoxFlag xmlns:ma14="http://schemas.microsoft.com/office/mac/drawingml/2011/main" val="0"/>
            </a:ext>
          </a:extLst>
        </p:spPr>
        <p:txBody>
          <a:bodyPr/>
          <a:lstStyle>
            <a:lvl1pPr>
              <a:defRPr sz="13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822960" y="822960"/>
            <a:ext cx="10543032" cy="914400"/>
          </a:xfrm>
          <a:prstGeom prst="rect">
            <a:avLst/>
          </a:prstGeom>
          <a:noFill/>
          <a:ln/>
        </p:spPr>
        <p:txBody>
          <a:bodyPr wrap="square" lIns="0" tIns="0" rIns="0" bIns="0" rtlCol="0" anchor="ctr"/>
          <a:lstStyle/>
          <a:p>
            <a:pPr algn="l" indent="0" marL="0">
              <a:buNone/>
            </a:pPr>
            <a:r>
              <a:rPr lang="en-US" sz="4000" b="1" dirty="0">
                <a:solidFill>
                  <a:schemeClr val="bg1"/>
                </a:solidFill>
              </a:rPr>
              <a:t>Nguồn dữ kiện</a:t>
            </a:r>
            <a:endParaRPr lang="en-US" sz="4000" dirty="0"/>
          </a:p>
        </p:txBody>
      </p:sp>
      <p:sp>
        <p:nvSpPr>
          <p:cNvPr id="3" name="Text 1"/>
          <p:cNvSpPr txBox="1"/>
          <p:nvPr/>
        </p:nvSpPr>
        <p:spPr>
          <a:xfrm>
            <a:off x="822960" y="2011680"/>
            <a:ext cx="10543032" cy="822960"/>
          </a:xfrm>
          <a:prstGeom prst="rect">
            <a:avLst/>
          </a:prstGeom>
          <a:noFill/>
          <a:ln/>
        </p:spPr>
        <p:txBody>
          <a:bodyPr wrap="square" lIns="0" tIns="0" rIns="0" bIns="0" rtlCol="0" anchor="t"/>
          <a:lstStyle/>
          <a:p>
            <a:pPr indent="0" marL="0">
              <a:buNone/>
            </a:pPr>
            <a:r>
              <a:rPr lang="en-US" sz="4000" b="1" u="sng" dirty="0">
                <a:solidFill>
                  <a:schemeClr val="bg1"/>
                </a:solidFill>
                <a:hlinkClick r:id="rId1" invalidUrl="" action="" tgtFrame="" tooltip="https://github.com/OrchestratorInc/agent-orchestrator" history="1" highlightClick="0" endSnd="0">
                  <a:extLst>
                    <a:ext uri="{A12FA001-AC4F-418D-AE19-62706E023703}">
                      <ahyp:hlinkClr xmlns:ahyp="http://schemas.microsoft.com/office/drawing/2018/hyperlinkcolor" val="tx"/>
                    </a:ext>
                  </a:extLst>
                </a:hlinkClick>
              </a:rPr>
              <a:t>OrchestratorInc/agent-orchestrator</a:t>
            </a:r>
            <a:endParaRPr lang="en-US" sz="2400" dirty="0"/>
          </a:p>
        </p:txBody>
      </p:sp>
      <p:sp>
        <p:nvSpPr>
          <p:cNvPr id="4" name="Text 2"/>
          <p:cNvSpPr txBox="1"/>
          <p:nvPr/>
        </p:nvSpPr>
        <p:spPr>
          <a:xfrm>
            <a:off x="822960" y="3017520"/>
            <a:ext cx="10543032" cy="731520"/>
          </a:xfrm>
          <a:prstGeom prst="rect">
            <a:avLst/>
          </a:prstGeom>
          <a:noFill/>
          <a:ln/>
        </p:spPr>
        <p:txBody>
          <a:bodyPr wrap="square" lIns="0" tIns="0" rIns="0" bIns="0" rtlCol="0" anchor="t"/>
          <a:lstStyle/>
          <a:p>
            <a:pPr indent="0" marL="0">
              <a:buNone/>
            </a:pPr>
            <a:r>
              <a:rPr lang="en-US" sz="2800" dirty="0">
                <a:solidFill>
                  <a:schemeClr val="bg2"/>
                </a:solidFill>
              </a:rPr>
              <a:t>Giấy phép: Apache-2.0 · 13.260 sao · 1.819 fork · Quét ngày 2026-10-17</a:t>
            </a:r>
            <a:endParaRPr lang="en-US" sz="2800" dirty="0"/>
          </a:p>
        </p:txBody>
      </p:sp>
      <p:sp>
        <p:nvSpPr>
          <p:cNvPr id="5" name="Text 3"/>
          <p:cNvSpPr txBox="1"/>
          <p:nvPr/>
        </p:nvSpPr>
        <p:spPr>
          <a:xfrm>
            <a:off x="822960" y="4206240"/>
            <a:ext cx="10543032" cy="1280160"/>
          </a:xfrm>
          <a:prstGeom prst="rect">
            <a:avLst/>
          </a:prstGeom>
          <a:noFill/>
          <a:ln/>
        </p:spPr>
        <p:txBody>
          <a:bodyPr wrap="square" lIns="0" tIns="0" rIns="0" bIns="0" rtlCol="0" anchor="t"/>
          <a:lstStyle/>
          <a:p>
            <a:pPr indent="0" marL="0">
              <a:buNone/>
            </a:pPr>
            <a:r>
              <a:rPr lang="en-US" sz="2400" i="1" dirty="0">
                <a:solidFill>
                  <a:schemeClr val="bg2"/>
                </a:solidFill>
              </a:rPr>
              <a:t>Nội dung do AI tóm tắt từ README và cấu trúc repo; hãy đọc repo gốc trước khi dùng.</a:t>
            </a:r>
            <a:endParaRPr lang="en-US" sz="2400" dirty="0"/>
          </a:p>
        </p:txBody>
      </p:sp>
      <p:sp>
        <p:nvSpPr>
          <p:cNvPr id="6" name="Text 4"/>
          <p:cNvSpPr txBox="1"/>
          <p:nvPr/>
        </p:nvSpPr>
        <p:spPr>
          <a:xfrm>
            <a:off x="822960" y="6035040"/>
            <a:ext cx="10543032" cy="365760"/>
          </a:xfrm>
          <a:prstGeom prst="rect">
            <a:avLst/>
          </a:prstGeom>
          <a:noFill/>
          <a:ln/>
        </p:spPr>
        <p:txBody>
          <a:bodyPr wrap="square" lIns="0" tIns="0" rIns="0" bIns="0" rtlCol="0" anchor="t"/>
          <a:lstStyle/>
          <a:p>
            <a:pPr indent="0" marL="0">
              <a:buNone/>
            </a:pPr>
            <a:r>
              <a:rPr lang="en-US" sz="1600" dirty="0">
                <a:solidFill>
                  <a:schemeClr val="bg2"/>
                </a:solidFill>
              </a:rPr>
              <a:t>GitHub Radar · 2026-10-17</a:t>
            </a:r>
            <a:endParaRPr lang="en-US" sz="1600" dirty="0"/>
          </a:p>
        </p:txBody>
      </p:sp>
    </p:spTree>
  </p:cSld>
  <p:clrMapOvr>
    <a:masterClrMapping/>
  </p:clrMapOvr>
</p:sld>
</file>

<file path=ppt/theme/theme1.xml><?xml version="1.0" encoding="utf-8"?>
<a:theme xmlns:a="http://schemas.openxmlformats.org/drawingml/2006/main" name="GitHub Radar">
  <a:themeElements>
    <a:clrScheme name="GitHub Radar">
      <a:dk1>
        <a:srgbClr val="0F172A"/>
      </a:dk1>
      <a:lt1>
        <a:srgbClr val="FFFFFF"/>
      </a:lt1>
      <a:dk2>
        <a:srgbClr val="0C4A6E"/>
      </a:dk2>
      <a:lt2>
        <a:srgbClr val="F1F5F9"/>
      </a:lt2>
      <a:accent1>
        <a:srgbClr val="0284C7"/>
      </a:accent1>
      <a:accent2>
        <a:srgbClr val="0F766E"/>
      </a:accent2>
      <a:accent3>
        <a:srgbClr val="B45309"/>
      </a:accent3>
      <a:accent4>
        <a:srgbClr val="6D28D9"/>
      </a:accent4>
      <a:accent5>
        <a:srgbClr val="15803D"/>
      </a:accent5>
      <a:accent6>
        <a:srgbClr val="BE123C"/>
      </a:accent6>
      <a:hlink>
        <a:srgbClr val="0369A1"/>
      </a:hlink>
      <a:folHlink>
        <a:srgbClr val="6D28D9"/>
      </a:folHlink>
    </a:clrScheme>
    <a:fontScheme name="GitHub Radar">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Điều phối đội ngũ AI coding agent đa nhiệm (bài học GitHub Radar)</dc:title>
  <dc:subject>Hướng dẫn từng bước về OrchestratorInc/agent-orchestrator</dc:subject>
  <dc:creator>GitHub Radar</dc:creator>
  <cp:lastModifiedBy>GitHub Radar</cp:lastModifiedBy>
  <cp:revision>1</cp:revision>
  <dcterms:created xsi:type="dcterms:W3CDTF">2026-10-17T09:30:22Z</dcterms:created>
  <dcterms:modified xsi:type="dcterms:W3CDTF">2026-10-17T09:30:22Z</dcterms:modified>
</cp:coreProperties>
</file>