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orchestrator.inc/installation"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OrchestratorInc/agent-orchestrator/releases/latest"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orchestrator.inc/installation"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OrchestratorInc/agent-orchestrator"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41B"/>
        </a:solidFill>
        <a:effectLst/>
      </p:bgPr>
    </p:bg>
    <p:spTree>
      <p:nvGrpSpPr>
        <p:cNvPr id="1" name=""/>
        <p:cNvGrpSpPr/>
        <p:nvPr/>
      </p:nvGrpSpPr>
      <p:grpSpPr/>
      <p:sp>
        <p:nvSpPr>
          <p:cNvPr id="2" name="bucket"/>
          <p:cNvSpPr/>
          <p:nvPr/>
        </p:nvSpPr>
        <p:spPr>
          <a:xfrm>
            <a:off x="685800" y="711200"/>
            <a:ext cx="1640839" cy="508000"/>
          </a:xfrm>
          <a:prstGeom prst="roundRect">
            <a:avLst>
              <a:gd name="adj" fmla="val 50000"/>
            </a:avLst>
          </a:prstGeom>
          <a:solidFill>
            <a:srgbClr val="FF6A4D"/>
          </a:solidFill>
          <a:ln>
            <a:noFill/>
          </a:ln>
        </p:spPr>
        <p:txBody>
          <a:bodyPr rtlCol="0" anchor="ctr"/>
          <a:lstStyle/>
          <a:p>
            <a:pPr algn="ctr"/>
          </a:p>
        </p:txBody>
      </p:sp>
      <p:sp>
        <p:nvSpPr>
          <p:cNvPr id="3" name="bucket text"/>
          <p:cNvSpPr txBox="1"/>
          <p:nvPr/>
        </p:nvSpPr>
        <p:spPr>
          <a:xfrm>
            <a:off x="685800" y="711200"/>
            <a:ext cx="1640839" cy="508000"/>
          </a:xfrm>
          <a:prstGeom prst="rect">
            <a:avLst/>
          </a:prstGeom>
          <a:noFill/>
        </p:spPr>
        <p:txBody>
          <a:bodyPr wrap="square" lIns="0" rIns="0" tIns="0" bIns="0" anchor="ctr">
            <a:noAutofit/>
          </a:bodyPr>
          <a:lstStyle/>
          <a:p>
            <a:pPr algn="ctr">
              <a:lnSpc>
                <a:spcPct val="100000"/>
              </a:lnSpc>
            </a:pPr>
            <a:r>
              <a:rPr sz="2000" b="1">
                <a:solidFill>
                  <a:srgbClr val="12141B"/>
                </a:solidFill>
                <a:latin typeface="Calibri"/>
              </a:rPr>
              <a:t>Phần mềm</a:t>
            </a:r>
          </a:p>
        </p:txBody>
      </p:sp>
      <p:sp>
        <p:nvSpPr>
          <p:cNvPr id="4" name="title"/>
          <p:cNvSpPr txBox="1"/>
          <p:nvPr/>
        </p:nvSpPr>
        <p:spPr>
          <a:xfrm>
            <a:off x="685800" y="1473200"/>
            <a:ext cx="10820400" cy="1463039"/>
          </a:xfrm>
          <a:prstGeom prst="rect">
            <a:avLst/>
          </a:prstGeom>
          <a:noFill/>
        </p:spPr>
        <p:txBody>
          <a:bodyPr wrap="square" lIns="0" rIns="0" tIns="0" bIns="0" anchor="t">
            <a:noAutofit/>
          </a:bodyPr>
          <a:lstStyle/>
          <a:p>
            <a:pPr algn="l">
              <a:lnSpc>
                <a:spcPct val="100000"/>
              </a:lnSpc>
            </a:pPr>
            <a:r>
              <a:rPr sz="4800" b="1">
                <a:solidFill>
                  <a:srgbClr val="F3EEE3"/>
                </a:solidFill>
                <a:latin typeface="Cambria"/>
              </a:rPr>
              <a:t>Điều phối đội ngũ AI coding agent đa nhiệm</a:t>
            </a:r>
          </a:p>
        </p:txBody>
      </p:sp>
      <p:sp>
        <p:nvSpPr>
          <p:cNvPr id="5" name="hook"/>
          <p:cNvSpPr txBox="1"/>
          <p:nvPr/>
        </p:nvSpPr>
        <p:spPr>
          <a:xfrm>
            <a:off x="685800" y="3164840"/>
            <a:ext cx="10820400" cy="780288"/>
          </a:xfrm>
          <a:prstGeom prst="rect">
            <a:avLst/>
          </a:prstGeom>
          <a:noFill/>
        </p:spPr>
        <p:txBody>
          <a:bodyPr wrap="square" lIns="0" rIns="0" tIns="0" bIns="0" anchor="t">
            <a:noAutofit/>
          </a:bodyPr>
          <a:lstStyle/>
          <a:p>
            <a:pPr algn="l">
              <a:lnSpc>
                <a:spcPct val="100000"/>
              </a:lnSpc>
            </a:pPr>
            <a:r>
              <a:rPr sz="2400" b="0">
                <a:solidFill>
                  <a:srgbClr val="9AA0B5"/>
                </a:solidFill>
                <a:latin typeface="Calibri"/>
              </a:rPr>
              <a:t>Quản lý nhiều coding agent cùng lúc trên từng branch và worktree riêng biệt mà không lo xung đột.</a:t>
            </a:r>
          </a:p>
        </p:txBody>
      </p:sp>
      <p:sp>
        <p:nvSpPr>
          <p:cNvPr id="6" name="hook"/>
          <p:cNvSpPr txBox="1"/>
          <p:nvPr/>
        </p:nvSpPr>
        <p:spPr>
          <a:xfrm>
            <a:off x="685800" y="4097528"/>
            <a:ext cx="10820400" cy="715264"/>
          </a:xfrm>
          <a:prstGeom prst="rect">
            <a:avLst/>
          </a:prstGeom>
          <a:noFill/>
        </p:spPr>
        <p:txBody>
          <a:bodyPr wrap="square" lIns="0" rIns="0" tIns="0" bIns="0" anchor="t">
            <a:noAutofit/>
          </a:bodyPr>
          <a:lstStyle/>
          <a:p>
            <a:pPr algn="l">
              <a:lnSpc>
                <a:spcPct val="100000"/>
              </a:lnSpc>
            </a:pPr>
            <a:r>
              <a:rPr sz="2200" b="1">
                <a:solidFill>
                  <a:srgbClr val="F3EEE3"/>
                </a:solidFill>
                <a:latin typeface="Calibri"/>
              </a:rPr>
              <a:t>Ứng dụng desktop điều phối và giám sát các coding agent từ khâu lập kế hoạch đến hợp nhất mã nguồn.</a:t>
            </a:r>
          </a:p>
        </p:txBody>
      </p:sp>
      <p:sp>
        <p:nvSpPr>
          <p:cNvPr id="7" name="chip"/>
          <p:cNvSpPr/>
          <p:nvPr/>
        </p:nvSpPr>
        <p:spPr>
          <a:xfrm>
            <a:off x="685800" y="5181600"/>
            <a:ext cx="1818639" cy="584200"/>
          </a:xfrm>
          <a:prstGeom prst="roundRect">
            <a:avLst>
              <a:gd name="adj" fmla="val 50000"/>
            </a:avLst>
          </a:prstGeom>
          <a:solidFill>
            <a:srgbClr val="1E2230"/>
          </a:solidFill>
          <a:ln>
            <a:noFill/>
          </a:ln>
        </p:spPr>
        <p:txBody>
          <a:bodyPr rtlCol="0" anchor="ctr"/>
          <a:lstStyle/>
          <a:p>
            <a:pPr algn="ctr"/>
          </a:p>
        </p:txBody>
      </p:sp>
      <p:sp>
        <p:nvSpPr>
          <p:cNvPr id="8" name="chip text"/>
          <p:cNvSpPr txBox="1"/>
          <p:nvPr/>
        </p:nvSpPr>
        <p:spPr>
          <a:xfrm>
            <a:off x="685800" y="5181600"/>
            <a:ext cx="1818639" cy="584200"/>
          </a:xfrm>
          <a:prstGeom prst="rect">
            <a:avLst/>
          </a:prstGeom>
          <a:noFill/>
        </p:spPr>
        <p:txBody>
          <a:bodyPr wrap="square" lIns="0" rIns="0" tIns="0" bIns="0" anchor="ctr">
            <a:noAutofit/>
          </a:bodyPr>
          <a:lstStyle/>
          <a:p>
            <a:pPr algn="ctr">
              <a:lnSpc>
                <a:spcPct val="100000"/>
              </a:lnSpc>
            </a:pPr>
            <a:r>
              <a:rPr sz="2000" b="1">
                <a:solidFill>
                  <a:srgbClr val="F3EEE3"/>
                </a:solidFill>
                <a:latin typeface="Calibri"/>
              </a:rPr>
              <a:t>13.260 sao</a:t>
            </a:r>
          </a:p>
        </p:txBody>
      </p:sp>
      <p:sp>
        <p:nvSpPr>
          <p:cNvPr id="9" name="chip"/>
          <p:cNvSpPr/>
          <p:nvPr/>
        </p:nvSpPr>
        <p:spPr>
          <a:xfrm>
            <a:off x="2656840" y="5181600"/>
            <a:ext cx="1813560" cy="584200"/>
          </a:xfrm>
          <a:prstGeom prst="roundRect">
            <a:avLst>
              <a:gd name="adj" fmla="val 50000"/>
            </a:avLst>
          </a:prstGeom>
          <a:solidFill>
            <a:srgbClr val="1E2230"/>
          </a:solidFill>
          <a:ln>
            <a:noFill/>
          </a:ln>
        </p:spPr>
        <p:txBody>
          <a:bodyPr rtlCol="0" anchor="ctr"/>
          <a:lstStyle/>
          <a:p>
            <a:pPr algn="ctr"/>
          </a:p>
        </p:txBody>
      </p:sp>
      <p:sp>
        <p:nvSpPr>
          <p:cNvPr id="10" name="chip text"/>
          <p:cNvSpPr txBox="1"/>
          <p:nvPr/>
        </p:nvSpPr>
        <p:spPr>
          <a:xfrm>
            <a:off x="2656840" y="5181600"/>
            <a:ext cx="1813560" cy="584200"/>
          </a:xfrm>
          <a:prstGeom prst="rect">
            <a:avLst/>
          </a:prstGeom>
          <a:noFill/>
        </p:spPr>
        <p:txBody>
          <a:bodyPr wrap="square" lIns="0" rIns="0" tIns="0" bIns="0" anchor="ctr">
            <a:noAutofit/>
          </a:bodyPr>
          <a:lstStyle/>
          <a:p>
            <a:pPr algn="ctr">
              <a:lnSpc>
                <a:spcPct val="100000"/>
              </a:lnSpc>
            </a:pPr>
            <a:r>
              <a:rPr sz="2000" b="1">
                <a:solidFill>
                  <a:srgbClr val="F3EEE3"/>
                </a:solidFill>
                <a:latin typeface="Calibri"/>
              </a:rPr>
              <a:t>1.819 fork</a:t>
            </a:r>
          </a:p>
        </p:txBody>
      </p:sp>
      <p:sp>
        <p:nvSpPr>
          <p:cNvPr id="11" name="chip"/>
          <p:cNvSpPr/>
          <p:nvPr/>
        </p:nvSpPr>
        <p:spPr>
          <a:xfrm>
            <a:off x="4622800" y="5181600"/>
            <a:ext cx="3271520" cy="584200"/>
          </a:xfrm>
          <a:prstGeom prst="roundRect">
            <a:avLst>
              <a:gd name="adj" fmla="val 50000"/>
            </a:avLst>
          </a:prstGeom>
          <a:solidFill>
            <a:srgbClr val="1E2230"/>
          </a:solidFill>
          <a:ln>
            <a:noFill/>
          </a:ln>
        </p:spPr>
        <p:txBody>
          <a:bodyPr rtlCol="0" anchor="ctr"/>
          <a:lstStyle/>
          <a:p>
            <a:pPr algn="ctr"/>
          </a:p>
        </p:txBody>
      </p:sp>
      <p:sp>
        <p:nvSpPr>
          <p:cNvPr id="12" name="chip text"/>
          <p:cNvSpPr txBox="1"/>
          <p:nvPr/>
        </p:nvSpPr>
        <p:spPr>
          <a:xfrm>
            <a:off x="4622800" y="5181600"/>
            <a:ext cx="3271520" cy="584200"/>
          </a:xfrm>
          <a:prstGeom prst="rect">
            <a:avLst/>
          </a:prstGeom>
          <a:noFill/>
        </p:spPr>
        <p:txBody>
          <a:bodyPr wrap="square" lIns="0" rIns="0" tIns="0" bIns="0" anchor="ctr">
            <a:noAutofit/>
          </a:bodyPr>
          <a:lstStyle/>
          <a:p>
            <a:pPr algn="ctr">
              <a:lnSpc>
                <a:spcPct val="100000"/>
              </a:lnSpc>
            </a:pPr>
            <a:r>
              <a:rPr sz="2000" b="1">
                <a:solidFill>
                  <a:srgbClr val="F3EEE3"/>
                </a:solidFill>
                <a:latin typeface="Calibri"/>
              </a:rPr>
              <a:t>Giấy phép: Apache-2.0</a:t>
            </a:r>
          </a:p>
        </p:txBody>
      </p:sp>
      <p:sp>
        <p:nvSpPr>
          <p:cNvPr id="13" name="chip"/>
          <p:cNvSpPr/>
          <p:nvPr/>
        </p:nvSpPr>
        <p:spPr>
          <a:xfrm>
            <a:off x="8046720" y="5181600"/>
            <a:ext cx="2067560" cy="584200"/>
          </a:xfrm>
          <a:prstGeom prst="roundRect">
            <a:avLst>
              <a:gd name="adj" fmla="val 50000"/>
            </a:avLst>
          </a:prstGeom>
          <a:solidFill>
            <a:srgbClr val="1E2230"/>
          </a:solidFill>
          <a:ln>
            <a:noFill/>
          </a:ln>
        </p:spPr>
        <p:txBody>
          <a:bodyPr rtlCol="0" anchor="ctr"/>
          <a:lstStyle/>
          <a:p>
            <a:pPr algn="ctr"/>
          </a:p>
        </p:txBody>
      </p:sp>
      <p:sp>
        <p:nvSpPr>
          <p:cNvPr id="14" name="chip text"/>
          <p:cNvSpPr txBox="1"/>
          <p:nvPr/>
        </p:nvSpPr>
        <p:spPr>
          <a:xfrm>
            <a:off x="8046720" y="5181600"/>
            <a:ext cx="2067560" cy="584200"/>
          </a:xfrm>
          <a:prstGeom prst="rect">
            <a:avLst/>
          </a:prstGeom>
          <a:noFill/>
        </p:spPr>
        <p:txBody>
          <a:bodyPr wrap="square" lIns="0" rIns="0" tIns="0" bIns="0" anchor="ctr">
            <a:noAutofit/>
          </a:bodyPr>
          <a:lstStyle/>
          <a:p>
            <a:pPr algn="ctr">
              <a:lnSpc>
                <a:spcPct val="100000"/>
              </a:lnSpc>
            </a:pPr>
            <a:r>
              <a:rPr sz="2000" b="1">
                <a:solidFill>
                  <a:srgbClr val="F3EEE3"/>
                </a:solidFill>
                <a:latin typeface="Calibri"/>
              </a:rPr>
              <a:t>Ngôn ngữ: Go</a:t>
            </a:r>
          </a:p>
        </p:txBody>
      </p:sp>
      <p:sp>
        <p:nvSpPr>
          <p:cNvPr id="15"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F3EEE3"/>
                </a:solidFill>
                <a:latin typeface="Calibri"/>
              </a:rPr>
              <a:t>1/20</a:t>
            </a:r>
          </a:p>
        </p:txBody>
      </p:sp>
      <p:sp>
        <p:nvSpPr>
          <p:cNvPr id="16" name="rail"/>
          <p:cNvSpPr/>
          <p:nvPr/>
        </p:nvSpPr>
        <p:spPr>
          <a:xfrm>
            <a:off x="685800" y="6451600"/>
            <a:ext cx="10820400" cy="38100"/>
          </a:xfrm>
          <a:prstGeom prst="rect">
            <a:avLst/>
          </a:prstGeom>
          <a:solidFill>
            <a:srgbClr val="9AA0B5"/>
          </a:solidFill>
          <a:ln>
            <a:noFill/>
          </a:ln>
        </p:spPr>
        <p:txBody>
          <a:bodyPr rtlCol="0" anchor="ctr"/>
          <a:lstStyle/>
          <a:p>
            <a:pPr algn="ctr"/>
          </a:p>
        </p:txBody>
      </p:sp>
      <p:sp>
        <p:nvSpPr>
          <p:cNvPr id="17" name="progress"/>
          <p:cNvSpPr/>
          <p:nvPr/>
        </p:nvSpPr>
        <p:spPr>
          <a:xfrm>
            <a:off x="685800" y="6426200"/>
            <a:ext cx="541020" cy="88900"/>
          </a:xfrm>
          <a:prstGeom prst="rect">
            <a:avLst/>
          </a:prstGeom>
          <a:solidFill>
            <a:srgbClr val="FF6A4D"/>
          </a:solidFill>
          <a:ln>
            <a:noFill/>
          </a:ln>
        </p:spPr>
        <p:txBody>
          <a:bodyPr rtlCol="0" anchor="ctr"/>
          <a:lstStyle/>
          <a:p>
            <a:pPr algn="ctr"/>
          </a:p>
        </p:txBody>
      </p:sp>
      <p:sp>
        <p:nvSpPr>
          <p:cNvPr id="18"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9AA0B5"/>
                </a:solidFill>
                <a:latin typeface="Calibri"/>
              </a:rPr>
              <a:t>Radar GitHub · agent-orchestrator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EEE3"/>
        </a:solidFill>
        <a:effectLst/>
      </p:bgPr>
    </p:bg>
    <p:spTree>
      <p:nvGrpSpPr>
        <p:cNvPr id="1" name=""/>
        <p:cNvGrpSpPr/>
        <p:nvPr/>
      </p:nvGrpSpPr>
      <p:grpSpPr/>
      <p:sp>
        <p:nvSpPr>
          <p:cNvPr id="2"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14161C"/>
                </a:solidFill>
                <a:latin typeface="Cambria"/>
              </a:rPr>
              <a:t>Bạn sẽ làm ra được gì</a:t>
            </a:r>
          </a:p>
        </p:txBody>
      </p:sp>
      <p:sp>
        <p:nvSpPr>
          <p:cNvPr id="3" name="card"/>
          <p:cNvSpPr/>
          <p:nvPr/>
        </p:nvSpPr>
        <p:spPr>
          <a:xfrm>
            <a:off x="685800" y="1326895"/>
            <a:ext cx="10820400" cy="1839976"/>
          </a:xfrm>
          <a:prstGeom prst="roundRect">
            <a:avLst>
              <a:gd name="adj" fmla="val 11043"/>
            </a:avLst>
          </a:prstGeom>
          <a:solidFill>
            <a:srgbClr val="D5EBDD"/>
          </a:solidFill>
          <a:ln>
            <a:noFill/>
          </a:ln>
        </p:spPr>
        <p:txBody>
          <a:bodyPr rtlCol="0" anchor="ctr"/>
          <a:lstStyle/>
          <a:p>
            <a:pPr algn="ctr"/>
          </a:p>
        </p:txBody>
      </p:sp>
      <p:sp>
        <p:nvSpPr>
          <p:cNvPr id="4" name="card text"/>
          <p:cNvSpPr txBox="1"/>
          <p:nvPr/>
        </p:nvSpPr>
        <p:spPr>
          <a:xfrm>
            <a:off x="965200" y="1466595"/>
            <a:ext cx="10261600" cy="1560576"/>
          </a:xfrm>
          <a:prstGeom prst="rect">
            <a:avLst/>
          </a:prstGeom>
          <a:noFill/>
        </p:spPr>
        <p:txBody>
          <a:bodyPr wrap="square" lIns="0" rIns="0" tIns="0" bIns="0" anchor="ctr">
            <a:noAutofit/>
          </a:bodyPr>
          <a:lstStyle/>
          <a:p>
            <a:pPr algn="l">
              <a:lnSpc>
                <a:spcPct val="100000"/>
              </a:lnSpc>
            </a:pPr>
            <a:r>
              <a:rPr sz="3200" b="0">
                <a:solidFill>
                  <a:srgbClr val="14161C"/>
                </a:solidFill>
                <a:latin typeface="Calibri"/>
              </a:rPr>
              <a:t>Cài đặt thành công ứng dụng desktop trên máy tính, kết nối với kho mã nguồn Git và khởi tạo worker session đầu tiên cho coding agent.</a:t>
            </a:r>
          </a:p>
        </p:txBody>
      </p:sp>
      <p:sp>
        <p:nvSpPr>
          <p:cNvPr id="5"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14161C"/>
                </a:solidFill>
                <a:latin typeface="Calibri"/>
              </a:rPr>
              <a:t>2/20</a:t>
            </a:r>
          </a:p>
        </p:txBody>
      </p:sp>
      <p:sp>
        <p:nvSpPr>
          <p:cNvPr id="6" name="rail"/>
          <p:cNvSpPr/>
          <p:nvPr/>
        </p:nvSpPr>
        <p:spPr>
          <a:xfrm>
            <a:off x="685800" y="6451600"/>
            <a:ext cx="10820400" cy="38100"/>
          </a:xfrm>
          <a:prstGeom prst="rect">
            <a:avLst/>
          </a:prstGeom>
          <a:solidFill>
            <a:srgbClr val="6B6A66"/>
          </a:solidFill>
          <a:ln>
            <a:noFill/>
          </a:ln>
        </p:spPr>
        <p:txBody>
          <a:bodyPr rtlCol="0" anchor="ctr"/>
          <a:lstStyle/>
          <a:p>
            <a:pPr algn="ctr"/>
          </a:p>
        </p:txBody>
      </p:sp>
      <p:sp>
        <p:nvSpPr>
          <p:cNvPr id="7" name="progress"/>
          <p:cNvSpPr/>
          <p:nvPr/>
        </p:nvSpPr>
        <p:spPr>
          <a:xfrm>
            <a:off x="685800" y="6426200"/>
            <a:ext cx="1082040" cy="88900"/>
          </a:xfrm>
          <a:prstGeom prst="rect">
            <a:avLst/>
          </a:prstGeom>
          <a:solidFill>
            <a:srgbClr val="E8472B"/>
          </a:solidFill>
          <a:ln>
            <a:noFill/>
          </a:ln>
        </p:spPr>
        <p:txBody>
          <a:bodyPr rtlCol="0" anchor="ctr"/>
          <a:lstStyle/>
          <a:p>
            <a:pPr algn="ctr"/>
          </a:p>
        </p:txBody>
      </p:sp>
      <p:sp>
        <p:nvSpPr>
          <p:cNvPr id="8"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6B6A66"/>
                </a:solidFill>
                <a:latin typeface="Calibri"/>
              </a:rPr>
              <a:t>Radar GitHub · agent-orchestrator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EEE3"/>
        </a:solidFill>
        <a:effectLst/>
      </p:bgPr>
    </p:bg>
    <p:spTree>
      <p:nvGrpSpPr>
        <p:cNvPr id="1" name=""/>
        <p:cNvGrpSpPr/>
        <p:nvPr/>
      </p:nvGrpSpPr>
      <p:grpSpPr/>
      <p:sp>
        <p:nvSpPr>
          <p:cNvPr id="2"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14161C"/>
                </a:solidFill>
                <a:latin typeface="Cambria"/>
              </a:rPr>
              <a:t>Vấn đề nó giải quyết</a:t>
            </a:r>
          </a:p>
        </p:txBody>
      </p:sp>
      <p:sp>
        <p:nvSpPr>
          <p:cNvPr id="3" name="card text"/>
          <p:cNvSpPr txBox="1"/>
          <p:nvPr/>
        </p:nvSpPr>
        <p:spPr>
          <a:xfrm>
            <a:off x="685800" y="1326895"/>
            <a:ext cx="10820400" cy="1267968"/>
          </a:xfrm>
          <a:prstGeom prst="rect">
            <a:avLst/>
          </a:prstGeom>
          <a:noFill/>
        </p:spPr>
        <p:txBody>
          <a:bodyPr wrap="square" lIns="0" rIns="0" tIns="0" bIns="0" anchor="t">
            <a:noAutofit/>
          </a:bodyPr>
          <a:lstStyle/>
          <a:p>
            <a:pPr algn="l">
              <a:lnSpc>
                <a:spcPct val="100000"/>
              </a:lnSpc>
            </a:pPr>
            <a:r>
              <a:rPr sz="2600" b="0">
                <a:solidFill>
                  <a:srgbClr val="14161C"/>
                </a:solidFill>
                <a:latin typeface="Calibri"/>
              </a:rPr>
              <a:t>Khi chạy nhiều AI coding agent trên cùng một dự án, lập trình viên gặp khó khăn trong việc phân chia công việc và cấp ngữ cảnh phù hợp. Việc nhiều tác vụ chạy song song dễ gây xung đột nhánh Git và mất dấu trạng thái kiểm thử.</a:t>
            </a:r>
          </a:p>
        </p:txBody>
      </p:sp>
      <p:sp>
        <p:nvSpPr>
          <p:cNvPr id="4" name="card"/>
          <p:cNvSpPr/>
          <p:nvPr/>
        </p:nvSpPr>
        <p:spPr>
          <a:xfrm>
            <a:off x="685800" y="2721864"/>
            <a:ext cx="10820400" cy="1545844"/>
          </a:xfrm>
          <a:prstGeom prst="roundRect">
            <a:avLst>
              <a:gd name="adj" fmla="val 13144"/>
            </a:avLst>
          </a:prstGeom>
          <a:solidFill>
            <a:srgbClr val="F3DFC1"/>
          </a:solidFill>
          <a:ln>
            <a:noFill/>
          </a:ln>
        </p:spPr>
        <p:txBody>
          <a:bodyPr rtlCol="0" anchor="ctr"/>
          <a:lstStyle/>
          <a:p>
            <a:pPr algn="ctr"/>
          </a:p>
        </p:txBody>
      </p:sp>
      <p:sp>
        <p:nvSpPr>
          <p:cNvPr id="5" name="bar"/>
          <p:cNvSpPr/>
          <p:nvPr/>
        </p:nvSpPr>
        <p:spPr>
          <a:xfrm>
            <a:off x="889000" y="2861564"/>
            <a:ext cx="76200" cy="1266444"/>
          </a:xfrm>
          <a:prstGeom prst="roundRect">
            <a:avLst>
              <a:gd name="adj" fmla="val 50000"/>
            </a:avLst>
          </a:prstGeom>
          <a:solidFill>
            <a:srgbClr val="E8472B"/>
          </a:solidFill>
          <a:ln>
            <a:noFill/>
          </a:ln>
        </p:spPr>
        <p:txBody>
          <a:bodyPr rtlCol="0" anchor="ctr"/>
          <a:lstStyle/>
          <a:p>
            <a:pPr algn="ctr"/>
          </a:p>
        </p:txBody>
      </p:sp>
      <p:sp>
        <p:nvSpPr>
          <p:cNvPr id="6" name="card text"/>
          <p:cNvSpPr txBox="1"/>
          <p:nvPr/>
        </p:nvSpPr>
        <p:spPr>
          <a:xfrm>
            <a:off x="1143000" y="2861564"/>
            <a:ext cx="10083800" cy="1266444"/>
          </a:xfrm>
          <a:prstGeom prst="rect">
            <a:avLst/>
          </a:prstGeom>
          <a:noFill/>
        </p:spPr>
        <p:txBody>
          <a:bodyPr wrap="square" lIns="0" rIns="0" tIns="0" bIns="0" anchor="ctr">
            <a:noAutofit/>
          </a:bodyPr>
          <a:lstStyle/>
          <a:p>
            <a:pPr algn="l">
              <a:lnSpc>
                <a:spcPct val="100000"/>
              </a:lnSpc>
            </a:pPr>
            <a:r>
              <a:rPr sz="2600" b="1">
                <a:solidFill>
                  <a:srgbClr val="14161C"/>
                </a:solidFill>
                <a:latin typeface="Calibri"/>
              </a:rPr>
              <a:t>Hình dung đời thường</a:t>
            </a:r>
          </a:p>
          <a:p>
            <a:pPr algn="l">
              <a:lnSpc>
                <a:spcPct val="100000"/>
              </a:lnSpc>
              <a:spcBef>
                <a:spcPts val="500"/>
              </a:spcBef>
            </a:pPr>
            <a:r>
              <a:rPr sz="2400" b="0">
                <a:solidFill>
                  <a:srgbClr val="14161C"/>
                </a:solidFill>
                <a:latin typeface="Calibri"/>
              </a:rPr>
              <a:t>Giống như người quản đốc công trường chia mỗi nhóm thợ vào một phòng riêng biệt để thi công mà không cản trở nhau.</a:t>
            </a:r>
          </a:p>
        </p:txBody>
      </p:sp>
      <p:sp>
        <p:nvSpPr>
          <p:cNvPr id="7"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14161C"/>
                </a:solidFill>
                <a:latin typeface="Calibri"/>
              </a:rPr>
              <a:t>3/20</a:t>
            </a:r>
          </a:p>
        </p:txBody>
      </p:sp>
      <p:sp>
        <p:nvSpPr>
          <p:cNvPr id="8" name="rail"/>
          <p:cNvSpPr/>
          <p:nvPr/>
        </p:nvSpPr>
        <p:spPr>
          <a:xfrm>
            <a:off x="685800" y="6451600"/>
            <a:ext cx="10820400" cy="38100"/>
          </a:xfrm>
          <a:prstGeom prst="rect">
            <a:avLst/>
          </a:prstGeom>
          <a:solidFill>
            <a:srgbClr val="6B6A66"/>
          </a:solidFill>
          <a:ln>
            <a:noFill/>
          </a:ln>
        </p:spPr>
        <p:txBody>
          <a:bodyPr rtlCol="0" anchor="ctr"/>
          <a:lstStyle/>
          <a:p>
            <a:pPr algn="ctr"/>
          </a:p>
        </p:txBody>
      </p:sp>
      <p:sp>
        <p:nvSpPr>
          <p:cNvPr id="9" name="progress"/>
          <p:cNvSpPr/>
          <p:nvPr/>
        </p:nvSpPr>
        <p:spPr>
          <a:xfrm>
            <a:off x="685800" y="6426200"/>
            <a:ext cx="1623060" cy="88900"/>
          </a:xfrm>
          <a:prstGeom prst="rect">
            <a:avLst/>
          </a:prstGeom>
          <a:solidFill>
            <a:srgbClr val="E8472B"/>
          </a:solidFill>
          <a:ln>
            <a:noFill/>
          </a:ln>
        </p:spPr>
        <p:txBody>
          <a:bodyPr rtlCol="0" anchor="ctr"/>
          <a:lstStyle/>
          <a:p>
            <a:pPr algn="ctr"/>
          </a:p>
        </p:txBody>
      </p:sp>
      <p:sp>
        <p:nvSpPr>
          <p:cNvPr id="10"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6B6A66"/>
                </a:solidFill>
                <a:latin typeface="Calibri"/>
              </a:rPr>
              <a:t>Radar GitHub · agent-orchestrator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EEE3"/>
        </a:solidFill>
        <a:effectLst/>
      </p:bgPr>
    </p:bg>
    <p:spTree>
      <p:nvGrpSpPr>
        <p:cNvPr id="1" name=""/>
        <p:cNvGrpSpPr/>
        <p:nvPr/>
      </p:nvGrpSpPr>
      <p:grpSpPr/>
      <p:sp>
        <p:nvSpPr>
          <p:cNvPr id="2"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14161C"/>
                </a:solidFill>
                <a:latin typeface="Cambria"/>
              </a:rPr>
              <a:t>Ai nên xem</a:t>
            </a:r>
          </a:p>
        </p:txBody>
      </p:sp>
      <p:sp>
        <p:nvSpPr>
          <p:cNvPr id="3" name="card"/>
          <p:cNvSpPr/>
          <p:nvPr/>
        </p:nvSpPr>
        <p:spPr>
          <a:xfrm>
            <a:off x="685800" y="1326895"/>
            <a:ext cx="10820400" cy="994663"/>
          </a:xfrm>
          <a:prstGeom prst="roundRect">
            <a:avLst>
              <a:gd name="adj" fmla="val 20429"/>
            </a:avLst>
          </a:prstGeom>
          <a:solidFill>
            <a:srgbClr val="E8E0CF"/>
          </a:solidFill>
          <a:ln>
            <a:noFill/>
          </a:ln>
        </p:spPr>
        <p:txBody>
          <a:bodyPr rtlCol="0" anchor="ctr"/>
          <a:lstStyle/>
          <a:p>
            <a:pPr algn="ctr"/>
          </a:p>
        </p:txBody>
      </p:sp>
      <p:sp>
        <p:nvSpPr>
          <p:cNvPr id="4" name="marker 1"/>
          <p:cNvSpPr/>
          <p:nvPr/>
        </p:nvSpPr>
        <p:spPr>
          <a:xfrm>
            <a:off x="965200" y="1570227"/>
            <a:ext cx="508000" cy="508000"/>
          </a:xfrm>
          <a:prstGeom prst="ellipse">
            <a:avLst/>
          </a:prstGeom>
          <a:solidFill>
            <a:srgbClr val="1F3FD1"/>
          </a:solidFill>
          <a:ln>
            <a:noFill/>
          </a:ln>
        </p:spPr>
        <p:txBody>
          <a:bodyPr rtlCol="0" anchor="ctr" lIns="0" rIns="0" tIns="0" bIns="0"/>
          <a:lstStyle/>
          <a:p>
            <a:pPr algn="ctr"/>
            <a:r>
              <a:rPr sz="2000" b="1">
                <a:solidFill>
                  <a:srgbClr val="FFFFFF"/>
                </a:solidFill>
                <a:latin typeface="Calibri"/>
              </a:rPr>
              <a:t>1</a:t>
            </a:r>
          </a:p>
        </p:txBody>
      </p:sp>
      <p:sp>
        <p:nvSpPr>
          <p:cNvPr id="5" name="card text"/>
          <p:cNvSpPr txBox="1"/>
          <p:nvPr/>
        </p:nvSpPr>
        <p:spPr>
          <a:xfrm>
            <a:off x="1701800" y="1466595"/>
            <a:ext cx="9525000" cy="715263"/>
          </a:xfrm>
          <a:prstGeom prst="rect">
            <a:avLst/>
          </a:prstGeom>
          <a:noFill/>
        </p:spPr>
        <p:txBody>
          <a:bodyPr wrap="square" lIns="0" rIns="0" tIns="0" bIns="0" anchor="ctr">
            <a:noAutofit/>
          </a:bodyPr>
          <a:lstStyle/>
          <a:p>
            <a:pPr algn="l">
              <a:lnSpc>
                <a:spcPct val="100000"/>
              </a:lnSpc>
            </a:pPr>
            <a:r>
              <a:rPr sz="2200" b="0">
                <a:solidFill>
                  <a:srgbClr val="14161C"/>
                </a:solidFill>
                <a:latin typeface="Calibri"/>
              </a:rPr>
              <a:t>Lập trình viên muốn chạy song song nhiều AI coding agent mà không sợ xung đột mã nguồn</a:t>
            </a:r>
          </a:p>
        </p:txBody>
      </p:sp>
      <p:sp>
        <p:nvSpPr>
          <p:cNvPr id="6" name="card"/>
          <p:cNvSpPr/>
          <p:nvPr/>
        </p:nvSpPr>
        <p:spPr>
          <a:xfrm>
            <a:off x="685800" y="2448560"/>
            <a:ext cx="10820400" cy="994663"/>
          </a:xfrm>
          <a:prstGeom prst="roundRect">
            <a:avLst>
              <a:gd name="adj" fmla="val 20429"/>
            </a:avLst>
          </a:prstGeom>
          <a:solidFill>
            <a:srgbClr val="E8E0CF"/>
          </a:solidFill>
          <a:ln>
            <a:noFill/>
          </a:ln>
        </p:spPr>
        <p:txBody>
          <a:bodyPr rtlCol="0" anchor="ctr"/>
          <a:lstStyle/>
          <a:p>
            <a:pPr algn="ctr"/>
          </a:p>
        </p:txBody>
      </p:sp>
      <p:sp>
        <p:nvSpPr>
          <p:cNvPr id="7" name="marker 2"/>
          <p:cNvSpPr/>
          <p:nvPr/>
        </p:nvSpPr>
        <p:spPr>
          <a:xfrm>
            <a:off x="965200" y="2691891"/>
            <a:ext cx="508000" cy="508000"/>
          </a:xfrm>
          <a:prstGeom prst="ellipse">
            <a:avLst/>
          </a:prstGeom>
          <a:solidFill>
            <a:srgbClr val="0F766E"/>
          </a:solidFill>
          <a:ln>
            <a:noFill/>
          </a:ln>
        </p:spPr>
        <p:txBody>
          <a:bodyPr rtlCol="0" anchor="ctr" lIns="0" rIns="0" tIns="0" bIns="0"/>
          <a:lstStyle/>
          <a:p>
            <a:pPr algn="ctr"/>
            <a:r>
              <a:rPr sz="2000" b="1">
                <a:solidFill>
                  <a:srgbClr val="FFFFFF"/>
                </a:solidFill>
                <a:latin typeface="Calibri"/>
              </a:rPr>
              <a:t>2</a:t>
            </a:r>
          </a:p>
        </p:txBody>
      </p:sp>
      <p:sp>
        <p:nvSpPr>
          <p:cNvPr id="8" name="card text"/>
          <p:cNvSpPr txBox="1"/>
          <p:nvPr/>
        </p:nvSpPr>
        <p:spPr>
          <a:xfrm>
            <a:off x="1701800" y="2588260"/>
            <a:ext cx="9525000" cy="715263"/>
          </a:xfrm>
          <a:prstGeom prst="rect">
            <a:avLst/>
          </a:prstGeom>
          <a:noFill/>
        </p:spPr>
        <p:txBody>
          <a:bodyPr wrap="square" lIns="0" rIns="0" tIns="0" bIns="0" anchor="ctr">
            <a:noAutofit/>
          </a:bodyPr>
          <a:lstStyle/>
          <a:p>
            <a:pPr algn="l">
              <a:lnSpc>
                <a:spcPct val="100000"/>
              </a:lnSpc>
            </a:pPr>
            <a:r>
              <a:rPr sz="2200" b="0">
                <a:solidFill>
                  <a:srgbClr val="14161C"/>
                </a:solidFill>
                <a:latin typeface="Calibri"/>
              </a:rPr>
              <a:t>Trưởng nhóm kỹ thuật cần giám sát trạng thái kéo mã, CI và tiến độ sửa đổi từ nhiều agent</a:t>
            </a:r>
          </a:p>
        </p:txBody>
      </p:sp>
      <p:sp>
        <p:nvSpPr>
          <p:cNvPr id="9" name="card"/>
          <p:cNvSpPr/>
          <p:nvPr/>
        </p:nvSpPr>
        <p:spPr>
          <a:xfrm>
            <a:off x="685800" y="3570224"/>
            <a:ext cx="10820400" cy="994663"/>
          </a:xfrm>
          <a:prstGeom prst="roundRect">
            <a:avLst>
              <a:gd name="adj" fmla="val 20429"/>
            </a:avLst>
          </a:prstGeom>
          <a:solidFill>
            <a:srgbClr val="E8E0CF"/>
          </a:solidFill>
          <a:ln>
            <a:noFill/>
          </a:ln>
        </p:spPr>
        <p:txBody>
          <a:bodyPr rtlCol="0" anchor="ctr"/>
          <a:lstStyle/>
          <a:p>
            <a:pPr algn="ctr"/>
          </a:p>
        </p:txBody>
      </p:sp>
      <p:sp>
        <p:nvSpPr>
          <p:cNvPr id="10" name="marker 3"/>
          <p:cNvSpPr/>
          <p:nvPr/>
        </p:nvSpPr>
        <p:spPr>
          <a:xfrm>
            <a:off x="965200" y="3813555"/>
            <a:ext cx="508000" cy="508000"/>
          </a:xfrm>
          <a:prstGeom prst="ellipse">
            <a:avLst/>
          </a:prstGeom>
          <a:solidFill>
            <a:srgbClr val="1F3FD1"/>
          </a:solidFill>
          <a:ln>
            <a:noFill/>
          </a:ln>
        </p:spPr>
        <p:txBody>
          <a:bodyPr rtlCol="0" anchor="ctr" lIns="0" rIns="0" tIns="0" bIns="0"/>
          <a:lstStyle/>
          <a:p>
            <a:pPr algn="ctr"/>
            <a:r>
              <a:rPr sz="2000" b="1">
                <a:solidFill>
                  <a:srgbClr val="FFFFFF"/>
                </a:solidFill>
                <a:latin typeface="Calibri"/>
              </a:rPr>
              <a:t>3</a:t>
            </a:r>
          </a:p>
        </p:txBody>
      </p:sp>
      <p:sp>
        <p:nvSpPr>
          <p:cNvPr id="11" name="card text"/>
          <p:cNvSpPr txBox="1"/>
          <p:nvPr/>
        </p:nvSpPr>
        <p:spPr>
          <a:xfrm>
            <a:off x="1701800" y="3709924"/>
            <a:ext cx="9525000" cy="715263"/>
          </a:xfrm>
          <a:prstGeom prst="rect">
            <a:avLst/>
          </a:prstGeom>
          <a:noFill/>
        </p:spPr>
        <p:txBody>
          <a:bodyPr wrap="square" lIns="0" rIns="0" tIns="0" bIns="0" anchor="ctr">
            <a:noAutofit/>
          </a:bodyPr>
          <a:lstStyle/>
          <a:p>
            <a:pPr algn="l">
              <a:lnSpc>
                <a:spcPct val="100000"/>
              </a:lnSpc>
            </a:pPr>
            <a:r>
              <a:rPr sz="2200" b="0">
                <a:solidFill>
                  <a:srgbClr val="14161C"/>
                </a:solidFill>
                <a:latin typeface="Calibri"/>
              </a:rPr>
              <a:t>Người dùng các công cụ như Claude Code, Codex, Cursor muốn có giao diện quản lý tập trung</a:t>
            </a:r>
          </a:p>
        </p:txBody>
      </p:sp>
      <p:sp>
        <p:nvSpPr>
          <p:cNvPr id="12"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14161C"/>
                </a:solidFill>
                <a:latin typeface="Calibri"/>
              </a:rPr>
              <a:t>4/20</a:t>
            </a:r>
          </a:p>
        </p:txBody>
      </p:sp>
      <p:sp>
        <p:nvSpPr>
          <p:cNvPr id="13" name="rail"/>
          <p:cNvSpPr/>
          <p:nvPr/>
        </p:nvSpPr>
        <p:spPr>
          <a:xfrm>
            <a:off x="685800" y="6451600"/>
            <a:ext cx="10820400" cy="38100"/>
          </a:xfrm>
          <a:prstGeom prst="rect">
            <a:avLst/>
          </a:prstGeom>
          <a:solidFill>
            <a:srgbClr val="6B6A66"/>
          </a:solidFill>
          <a:ln>
            <a:noFill/>
          </a:ln>
        </p:spPr>
        <p:txBody>
          <a:bodyPr rtlCol="0" anchor="ctr"/>
          <a:lstStyle/>
          <a:p>
            <a:pPr algn="ctr"/>
          </a:p>
        </p:txBody>
      </p:sp>
      <p:sp>
        <p:nvSpPr>
          <p:cNvPr id="14" name="progress"/>
          <p:cNvSpPr/>
          <p:nvPr/>
        </p:nvSpPr>
        <p:spPr>
          <a:xfrm>
            <a:off x="685800" y="6426200"/>
            <a:ext cx="2164080" cy="88900"/>
          </a:xfrm>
          <a:prstGeom prst="rect">
            <a:avLst/>
          </a:prstGeom>
          <a:solidFill>
            <a:srgbClr val="E8472B"/>
          </a:solidFill>
          <a:ln>
            <a:noFill/>
          </a:ln>
        </p:spPr>
        <p:txBody>
          <a:bodyPr rtlCol="0" anchor="ctr"/>
          <a:lstStyle/>
          <a:p>
            <a:pPr algn="ctr"/>
          </a:p>
        </p:txBody>
      </p:sp>
      <p:sp>
        <p:nvSpPr>
          <p:cNvPr id="15"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6B6A66"/>
                </a:solidFill>
                <a:latin typeface="Calibri"/>
              </a:rPr>
              <a:t>Radar GitHub · agent-orchestrator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EEE3"/>
        </a:solidFill>
        <a:effectLst/>
      </p:bgPr>
    </p:bg>
    <p:spTree>
      <p:nvGrpSpPr>
        <p:cNvPr id="1" name=""/>
        <p:cNvGrpSpPr/>
        <p:nvPr/>
      </p:nvGrpSpPr>
      <p:grpSpPr/>
      <p:sp>
        <p:nvSpPr>
          <p:cNvPr id="2"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14161C"/>
                </a:solidFill>
                <a:latin typeface="Cambria"/>
              </a:rPr>
              <a:t>Lưu ý trước khi dùng</a:t>
            </a:r>
          </a:p>
        </p:txBody>
      </p:sp>
      <p:sp>
        <p:nvSpPr>
          <p:cNvPr id="3" name="card"/>
          <p:cNvSpPr/>
          <p:nvPr/>
        </p:nvSpPr>
        <p:spPr>
          <a:xfrm>
            <a:off x="685800" y="1326895"/>
            <a:ext cx="10820400" cy="994663"/>
          </a:xfrm>
          <a:prstGeom prst="roundRect">
            <a:avLst>
              <a:gd name="adj" fmla="val 20429"/>
            </a:avLst>
          </a:prstGeom>
          <a:solidFill>
            <a:srgbClr val="F3DFC1"/>
          </a:solidFill>
          <a:ln>
            <a:noFill/>
          </a:ln>
        </p:spPr>
        <p:txBody>
          <a:bodyPr rtlCol="0" anchor="ctr"/>
          <a:lstStyle/>
          <a:p>
            <a:pPr algn="ctr"/>
          </a:p>
        </p:txBody>
      </p:sp>
      <p:sp>
        <p:nvSpPr>
          <p:cNvPr id="4" name="bar"/>
          <p:cNvSpPr/>
          <p:nvPr/>
        </p:nvSpPr>
        <p:spPr>
          <a:xfrm>
            <a:off x="889000" y="1466595"/>
            <a:ext cx="76200" cy="715263"/>
          </a:xfrm>
          <a:prstGeom prst="roundRect">
            <a:avLst>
              <a:gd name="adj" fmla="val 50000"/>
            </a:avLst>
          </a:prstGeom>
          <a:solidFill>
            <a:srgbClr val="E8472B"/>
          </a:solidFill>
          <a:ln>
            <a:noFill/>
          </a:ln>
        </p:spPr>
        <p:txBody>
          <a:bodyPr rtlCol="0" anchor="ctr"/>
          <a:lstStyle/>
          <a:p>
            <a:pPr algn="ctr"/>
          </a:p>
        </p:txBody>
      </p:sp>
      <p:sp>
        <p:nvSpPr>
          <p:cNvPr id="5" name="card text"/>
          <p:cNvSpPr txBox="1"/>
          <p:nvPr/>
        </p:nvSpPr>
        <p:spPr>
          <a:xfrm>
            <a:off x="1143000" y="1466595"/>
            <a:ext cx="10083800" cy="715263"/>
          </a:xfrm>
          <a:prstGeom prst="rect">
            <a:avLst/>
          </a:prstGeom>
          <a:noFill/>
        </p:spPr>
        <p:txBody>
          <a:bodyPr wrap="square" lIns="0" rIns="0" tIns="0" bIns="0" anchor="ctr">
            <a:noAutofit/>
          </a:bodyPr>
          <a:lstStyle/>
          <a:p>
            <a:pPr algn="l">
              <a:lnSpc>
                <a:spcPct val="100000"/>
              </a:lnSpc>
            </a:pPr>
            <a:r>
              <a:rPr sz="2200" b="0">
                <a:solidFill>
                  <a:srgbClr val="14161C"/>
                </a:solidFill>
                <a:latin typeface="Calibri"/>
              </a:rPr>
              <a:t>Mỗi agent harness (Claude Code, Codex, v.v.) có mức độ hỗ trợ Worker, Chat và reviewer khác nhau</a:t>
            </a:r>
          </a:p>
        </p:txBody>
      </p:sp>
      <p:sp>
        <p:nvSpPr>
          <p:cNvPr id="6" name="card"/>
          <p:cNvSpPr/>
          <p:nvPr/>
        </p:nvSpPr>
        <p:spPr>
          <a:xfrm>
            <a:off x="685800" y="2448560"/>
            <a:ext cx="10820400" cy="660400"/>
          </a:xfrm>
          <a:prstGeom prst="roundRect">
            <a:avLst>
              <a:gd name="adj" fmla="val 30769"/>
            </a:avLst>
          </a:prstGeom>
          <a:solidFill>
            <a:srgbClr val="F3DFC1"/>
          </a:solidFill>
          <a:ln>
            <a:noFill/>
          </a:ln>
        </p:spPr>
        <p:txBody>
          <a:bodyPr rtlCol="0" anchor="ctr"/>
          <a:lstStyle/>
          <a:p>
            <a:pPr algn="ctr"/>
          </a:p>
        </p:txBody>
      </p:sp>
      <p:sp>
        <p:nvSpPr>
          <p:cNvPr id="7" name="bar"/>
          <p:cNvSpPr/>
          <p:nvPr/>
        </p:nvSpPr>
        <p:spPr>
          <a:xfrm>
            <a:off x="889000" y="2588260"/>
            <a:ext cx="76200" cy="381000"/>
          </a:xfrm>
          <a:prstGeom prst="roundRect">
            <a:avLst>
              <a:gd name="adj" fmla="val 50000"/>
            </a:avLst>
          </a:prstGeom>
          <a:solidFill>
            <a:srgbClr val="E8472B"/>
          </a:solidFill>
          <a:ln>
            <a:noFill/>
          </a:ln>
        </p:spPr>
        <p:txBody>
          <a:bodyPr rtlCol="0" anchor="ctr"/>
          <a:lstStyle/>
          <a:p>
            <a:pPr algn="ctr"/>
          </a:p>
        </p:txBody>
      </p:sp>
      <p:sp>
        <p:nvSpPr>
          <p:cNvPr id="8" name="card text"/>
          <p:cNvSpPr txBox="1"/>
          <p:nvPr/>
        </p:nvSpPr>
        <p:spPr>
          <a:xfrm>
            <a:off x="1143000" y="2588260"/>
            <a:ext cx="10083800" cy="381000"/>
          </a:xfrm>
          <a:prstGeom prst="rect">
            <a:avLst/>
          </a:prstGeom>
          <a:noFill/>
        </p:spPr>
        <p:txBody>
          <a:bodyPr wrap="square" lIns="0" rIns="0" tIns="0" bIns="0" anchor="ctr">
            <a:noAutofit/>
          </a:bodyPr>
          <a:lstStyle/>
          <a:p>
            <a:pPr algn="l">
              <a:lnSpc>
                <a:spcPct val="100000"/>
              </a:lnSpc>
            </a:pPr>
            <a:r>
              <a:rPr sz="2200" b="0">
                <a:solidFill>
                  <a:srgbClr val="14161C"/>
                </a:solidFill>
                <a:latin typeface="Calibri"/>
              </a:rPr>
              <a:t>Cần cài đặt riêng CLI cho từng coding agent theo tài liệu hướng dẫn</a:t>
            </a:r>
          </a:p>
        </p:txBody>
      </p:sp>
      <p:sp>
        <p:nvSpPr>
          <p:cNvPr id="9"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14161C"/>
                </a:solidFill>
                <a:latin typeface="Calibri"/>
              </a:rPr>
              <a:t>5/20</a:t>
            </a:r>
          </a:p>
        </p:txBody>
      </p:sp>
      <p:sp>
        <p:nvSpPr>
          <p:cNvPr id="10" name="rail"/>
          <p:cNvSpPr/>
          <p:nvPr/>
        </p:nvSpPr>
        <p:spPr>
          <a:xfrm>
            <a:off x="685800" y="6451600"/>
            <a:ext cx="10820400" cy="38100"/>
          </a:xfrm>
          <a:prstGeom prst="rect">
            <a:avLst/>
          </a:prstGeom>
          <a:solidFill>
            <a:srgbClr val="6B6A66"/>
          </a:solidFill>
          <a:ln>
            <a:noFill/>
          </a:ln>
        </p:spPr>
        <p:txBody>
          <a:bodyPr rtlCol="0" anchor="ctr"/>
          <a:lstStyle/>
          <a:p>
            <a:pPr algn="ctr"/>
          </a:p>
        </p:txBody>
      </p:sp>
      <p:sp>
        <p:nvSpPr>
          <p:cNvPr id="11" name="progress"/>
          <p:cNvSpPr/>
          <p:nvPr/>
        </p:nvSpPr>
        <p:spPr>
          <a:xfrm>
            <a:off x="685800" y="6426200"/>
            <a:ext cx="2705100" cy="88900"/>
          </a:xfrm>
          <a:prstGeom prst="rect">
            <a:avLst/>
          </a:prstGeom>
          <a:solidFill>
            <a:srgbClr val="E8472B"/>
          </a:solidFill>
          <a:ln>
            <a:noFill/>
          </a:ln>
        </p:spPr>
        <p:txBody>
          <a:bodyPr rtlCol="0" anchor="ctr"/>
          <a:lstStyle/>
          <a:p>
            <a:pPr algn="ctr"/>
          </a:p>
        </p:txBody>
      </p:sp>
      <p:sp>
        <p:nvSpPr>
          <p:cNvPr id="12"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6B6A66"/>
                </a:solidFill>
                <a:latin typeface="Calibri"/>
              </a:rPr>
              <a:t>Radar GitHub · agent-orchestrator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EEE3"/>
        </a:solidFill>
        <a:effectLst/>
      </p:bgPr>
    </p:bg>
    <p:spTree>
      <p:nvGrpSpPr>
        <p:cNvPr id="1" name=""/>
        <p:cNvGrpSpPr/>
        <p:nvPr/>
      </p:nvGrpSpPr>
      <p:grpSpPr/>
      <p:sp>
        <p:nvSpPr>
          <p:cNvPr id="2"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14161C"/>
                </a:solidFill>
                <a:latin typeface="Cambria"/>
              </a:rPr>
              <a:t>Chuẩn bị trước khi bắt đầu</a:t>
            </a:r>
          </a:p>
        </p:txBody>
      </p:sp>
      <p:sp>
        <p:nvSpPr>
          <p:cNvPr id="3" name="text"/>
          <p:cNvSpPr txBox="1"/>
          <p:nvPr/>
        </p:nvSpPr>
        <p:spPr>
          <a:xfrm>
            <a:off x="685800" y="1326895"/>
            <a:ext cx="10820400" cy="375920"/>
          </a:xfrm>
          <a:prstGeom prst="rect">
            <a:avLst/>
          </a:prstGeom>
          <a:noFill/>
        </p:spPr>
        <p:txBody>
          <a:bodyPr wrap="square" lIns="0" rIns="0" tIns="0" bIns="0" anchor="t">
            <a:noAutofit/>
          </a:bodyPr>
          <a:lstStyle/>
          <a:p>
            <a:pPr algn="l">
              <a:lnSpc>
                <a:spcPct val="100000"/>
              </a:lnSpc>
            </a:pPr>
            <a:r>
              <a:rPr sz="2000" b="0">
                <a:solidFill>
                  <a:srgbClr val="6B6A66"/>
                </a:solidFill>
                <a:latin typeface="Calibri"/>
              </a:rPr>
              <a:t>Đánh dấu từng mục khi đã có đủ.</a:t>
            </a:r>
          </a:p>
        </p:txBody>
      </p:sp>
      <p:sp>
        <p:nvSpPr>
          <p:cNvPr id="4" name="card"/>
          <p:cNvSpPr/>
          <p:nvPr/>
        </p:nvSpPr>
        <p:spPr>
          <a:xfrm>
            <a:off x="685800" y="1829815"/>
            <a:ext cx="10820400" cy="1446784"/>
          </a:xfrm>
          <a:prstGeom prst="roundRect">
            <a:avLst>
              <a:gd name="adj" fmla="val 14044"/>
            </a:avLst>
          </a:prstGeom>
          <a:solidFill>
            <a:srgbClr val="E8E0CF"/>
          </a:solidFill>
          <a:ln>
            <a:noFill/>
          </a:ln>
        </p:spPr>
        <p:txBody>
          <a:bodyPr rtlCol="0" anchor="ctr"/>
          <a:lstStyle/>
          <a:p>
            <a:pPr algn="ctr"/>
          </a:p>
        </p:txBody>
      </p:sp>
      <p:sp>
        <p:nvSpPr>
          <p:cNvPr id="5" name="tick box"/>
          <p:cNvSpPr/>
          <p:nvPr/>
        </p:nvSpPr>
        <p:spPr>
          <a:xfrm>
            <a:off x="1016000" y="2350008"/>
            <a:ext cx="406400" cy="406400"/>
          </a:xfrm>
          <a:prstGeom prst="roundRect">
            <a:avLst>
              <a:gd name="adj" fmla="val 25000"/>
            </a:avLst>
          </a:prstGeom>
          <a:noFill/>
          <a:ln w="38100">
            <a:solidFill>
              <a:srgbClr val="0F766E"/>
            </a:solidFill>
          </a:ln>
        </p:spPr>
        <p:txBody>
          <a:bodyPr rtlCol="0" anchor="ctr"/>
          <a:lstStyle/>
          <a:p>
            <a:pPr algn="ctr"/>
          </a:p>
        </p:txBody>
      </p:sp>
      <p:sp>
        <p:nvSpPr>
          <p:cNvPr id="6" name="card text"/>
          <p:cNvSpPr txBox="1"/>
          <p:nvPr/>
        </p:nvSpPr>
        <p:spPr>
          <a:xfrm>
            <a:off x="1701800" y="1969515"/>
            <a:ext cx="9525000" cy="1167384"/>
          </a:xfrm>
          <a:prstGeom prst="rect">
            <a:avLst/>
          </a:prstGeom>
          <a:noFill/>
        </p:spPr>
        <p:txBody>
          <a:bodyPr wrap="square" lIns="0" rIns="0" tIns="0" bIns="0" anchor="ctr">
            <a:noAutofit/>
          </a:bodyPr>
          <a:lstStyle/>
          <a:p>
            <a:pPr algn="l">
              <a:lnSpc>
                <a:spcPct val="100000"/>
              </a:lnSpc>
            </a:pPr>
            <a:r>
              <a:rPr sz="2400" b="1">
                <a:solidFill>
                  <a:srgbClr val="14161C"/>
                </a:solidFill>
                <a:latin typeface="Calibri"/>
              </a:rPr>
              <a:t>Hệ điều hành tương thích</a:t>
            </a:r>
          </a:p>
          <a:p>
            <a:pPr algn="l">
              <a:lnSpc>
                <a:spcPct val="100000"/>
              </a:lnSpc>
              <a:spcBef>
                <a:spcPts val="500"/>
              </a:spcBef>
            </a:pPr>
            <a:r>
              <a:rPr sz="2200" b="0">
                <a:solidFill>
                  <a:srgbClr val="14161C"/>
                </a:solidFill>
                <a:latin typeface="Calibri"/>
              </a:rPr>
              <a:t>macOS (Apple silicon hoặc Intel), Windows, hoặc Linux (AppImage, deb, rpm)</a:t>
            </a:r>
          </a:p>
          <a:p>
            <a:pPr algn="l">
              <a:lnSpc>
                <a:spcPct val="100000"/>
              </a:lnSpc>
              <a:spcBef>
                <a:spcPts val="500"/>
              </a:spcBef>
            </a:pPr>
            <a:r>
              <a:rPr sz="1800" b="0">
                <a:solidFill>
                  <a:srgbClr val="14161C"/>
                </a:solidFill>
                <a:latin typeface="Calibri"/>
              </a:rPr>
              <a:t>Liên kết trong README: </a:t>
            </a:r>
            <a:r>
              <a:rPr sz="1800" b="0" u="sng">
                <a:solidFill>
                  <a:srgbClr val="1F3FD1"/>
                </a:solidFill>
                <a:latin typeface="Calibri"/>
                <a:hlinkClick r:id="rId2"/>
              </a:rPr>
              <a:t>installation guide</a:t>
            </a:r>
          </a:p>
        </p:txBody>
      </p:sp>
      <p:sp>
        <p:nvSpPr>
          <p:cNvPr id="7" name="card"/>
          <p:cNvSpPr/>
          <p:nvPr/>
        </p:nvSpPr>
        <p:spPr>
          <a:xfrm>
            <a:off x="685800" y="3403600"/>
            <a:ext cx="10820400" cy="1090676"/>
          </a:xfrm>
          <a:prstGeom prst="roundRect">
            <a:avLst>
              <a:gd name="adj" fmla="val 18630"/>
            </a:avLst>
          </a:prstGeom>
          <a:solidFill>
            <a:srgbClr val="E8E0CF"/>
          </a:solidFill>
          <a:ln>
            <a:noFill/>
          </a:ln>
        </p:spPr>
        <p:txBody>
          <a:bodyPr rtlCol="0" anchor="ctr"/>
          <a:lstStyle/>
          <a:p>
            <a:pPr algn="ctr"/>
          </a:p>
        </p:txBody>
      </p:sp>
      <p:sp>
        <p:nvSpPr>
          <p:cNvPr id="8" name="tick box"/>
          <p:cNvSpPr/>
          <p:nvPr/>
        </p:nvSpPr>
        <p:spPr>
          <a:xfrm>
            <a:off x="1016000" y="3745738"/>
            <a:ext cx="406400" cy="406400"/>
          </a:xfrm>
          <a:prstGeom prst="roundRect">
            <a:avLst>
              <a:gd name="adj" fmla="val 25000"/>
            </a:avLst>
          </a:prstGeom>
          <a:noFill/>
          <a:ln w="38100">
            <a:solidFill>
              <a:srgbClr val="0F766E"/>
            </a:solidFill>
          </a:ln>
        </p:spPr>
        <p:txBody>
          <a:bodyPr rtlCol="0" anchor="ctr"/>
          <a:lstStyle/>
          <a:p>
            <a:pPr algn="ctr"/>
          </a:p>
        </p:txBody>
      </p:sp>
      <p:sp>
        <p:nvSpPr>
          <p:cNvPr id="9" name="card text"/>
          <p:cNvSpPr txBox="1"/>
          <p:nvPr/>
        </p:nvSpPr>
        <p:spPr>
          <a:xfrm>
            <a:off x="1701800" y="3543300"/>
            <a:ext cx="9525000" cy="811276"/>
          </a:xfrm>
          <a:prstGeom prst="rect">
            <a:avLst/>
          </a:prstGeom>
          <a:noFill/>
        </p:spPr>
        <p:txBody>
          <a:bodyPr wrap="square" lIns="0" rIns="0" tIns="0" bIns="0" anchor="ctr">
            <a:noAutofit/>
          </a:bodyPr>
          <a:lstStyle/>
          <a:p>
            <a:pPr algn="l">
              <a:lnSpc>
                <a:spcPct val="100000"/>
              </a:lnSpc>
            </a:pPr>
            <a:r>
              <a:rPr sz="2400" b="1">
                <a:solidFill>
                  <a:srgbClr val="14161C"/>
                </a:solidFill>
                <a:latin typeface="Calibri"/>
              </a:rPr>
              <a:t>Kho lưu trữ Git</a:t>
            </a:r>
          </a:p>
          <a:p>
            <a:pPr algn="l">
              <a:lnSpc>
                <a:spcPct val="100000"/>
              </a:lnSpc>
              <a:spcBef>
                <a:spcPts val="500"/>
              </a:spcBef>
            </a:pPr>
            <a:r>
              <a:rPr sz="2200" b="0">
                <a:solidFill>
                  <a:srgbClr val="14161C"/>
                </a:solidFill>
                <a:latin typeface="Calibri"/>
              </a:rPr>
              <a:t>Dự án mã nguồn Git cục bộ để ứng dụng quản lý nhánh và worktree</a:t>
            </a:r>
          </a:p>
        </p:txBody>
      </p:sp>
      <p:sp>
        <p:nvSpPr>
          <p:cNvPr id="10"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14161C"/>
                </a:solidFill>
                <a:latin typeface="Calibri"/>
              </a:rPr>
              <a:t>6/20</a:t>
            </a:r>
          </a:p>
        </p:txBody>
      </p:sp>
      <p:sp>
        <p:nvSpPr>
          <p:cNvPr id="11" name="rail"/>
          <p:cNvSpPr/>
          <p:nvPr/>
        </p:nvSpPr>
        <p:spPr>
          <a:xfrm>
            <a:off x="685800" y="6451600"/>
            <a:ext cx="10820400" cy="38100"/>
          </a:xfrm>
          <a:prstGeom prst="rect">
            <a:avLst/>
          </a:prstGeom>
          <a:solidFill>
            <a:srgbClr val="6B6A66"/>
          </a:solidFill>
          <a:ln>
            <a:noFill/>
          </a:ln>
        </p:spPr>
        <p:txBody>
          <a:bodyPr rtlCol="0" anchor="ctr"/>
          <a:lstStyle/>
          <a:p>
            <a:pPr algn="ctr"/>
          </a:p>
        </p:txBody>
      </p:sp>
      <p:sp>
        <p:nvSpPr>
          <p:cNvPr id="12" name="progress"/>
          <p:cNvSpPr/>
          <p:nvPr/>
        </p:nvSpPr>
        <p:spPr>
          <a:xfrm>
            <a:off x="685800" y="6426200"/>
            <a:ext cx="3246120" cy="88900"/>
          </a:xfrm>
          <a:prstGeom prst="rect">
            <a:avLst/>
          </a:prstGeom>
          <a:solidFill>
            <a:srgbClr val="E8472B"/>
          </a:solidFill>
          <a:ln>
            <a:noFill/>
          </a:ln>
        </p:spPr>
        <p:txBody>
          <a:bodyPr rtlCol="0" anchor="ctr"/>
          <a:lstStyle/>
          <a:p>
            <a:pPr algn="ctr"/>
          </a:p>
        </p:txBody>
      </p:sp>
      <p:sp>
        <p:nvSpPr>
          <p:cNvPr id="13"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6B6A66"/>
                </a:solidFill>
                <a:latin typeface="Calibri"/>
              </a:rPr>
              <a:t>Radar GitHub · agent-orchestrator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EEE3"/>
        </a:solidFill>
        <a:effectLst/>
      </p:bgPr>
    </p:bg>
    <p:spTree>
      <p:nvGrpSpPr>
        <p:cNvPr id="1" name=""/>
        <p:cNvGrpSpPr/>
        <p:nvPr/>
      </p:nvGrpSpPr>
      <p:grpSpPr/>
      <p:sp>
        <p:nvSpPr>
          <p:cNvPr id="2"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14161C"/>
                </a:solidFill>
                <a:latin typeface="Cambria"/>
              </a:rPr>
              <a:t>Lộ trình</a:t>
            </a:r>
          </a:p>
        </p:txBody>
      </p:sp>
      <p:sp>
        <p:nvSpPr>
          <p:cNvPr id="3" name="marker 1"/>
          <p:cNvSpPr/>
          <p:nvPr/>
        </p:nvSpPr>
        <p:spPr>
          <a:xfrm>
            <a:off x="685800" y="1390395"/>
            <a:ext cx="457200" cy="457200"/>
          </a:xfrm>
          <a:prstGeom prst="ellipse">
            <a:avLst/>
          </a:prstGeom>
          <a:solidFill>
            <a:srgbClr val="1F3FD1"/>
          </a:solidFill>
          <a:ln>
            <a:noFill/>
          </a:ln>
        </p:spPr>
        <p:txBody>
          <a:bodyPr rtlCol="0" anchor="ctr" lIns="0" rIns="0" tIns="0" bIns="0"/>
          <a:lstStyle/>
          <a:p>
            <a:pPr algn="ctr"/>
            <a:r>
              <a:rPr sz="1800" b="1">
                <a:solidFill>
                  <a:srgbClr val="FFFFFF"/>
                </a:solidFill>
                <a:latin typeface="Calibri"/>
              </a:rPr>
              <a:t>1</a:t>
            </a:r>
          </a:p>
        </p:txBody>
      </p:sp>
      <p:sp>
        <p:nvSpPr>
          <p:cNvPr id="4" name="step"/>
          <p:cNvSpPr txBox="1"/>
          <p:nvPr/>
        </p:nvSpPr>
        <p:spPr>
          <a:xfrm>
            <a:off x="1346200" y="1415795"/>
            <a:ext cx="10109200" cy="406400"/>
          </a:xfrm>
          <a:prstGeom prst="rect">
            <a:avLst/>
          </a:prstGeom>
          <a:noFill/>
        </p:spPr>
        <p:txBody>
          <a:bodyPr wrap="square" lIns="0" rIns="0" tIns="0" bIns="0" anchor="ctr">
            <a:noAutofit/>
          </a:bodyPr>
          <a:lstStyle/>
          <a:p>
            <a:pPr algn="l">
              <a:lnSpc>
                <a:spcPct val="100000"/>
              </a:lnSpc>
            </a:pPr>
            <a:r>
              <a:rPr sz="2400" b="0">
                <a:solidFill>
                  <a:srgbClr val="14161C"/>
                </a:solidFill>
                <a:latin typeface="Calibri"/>
              </a:rPr>
              <a:t>Tải và khởi chạy ứng dụng desktop</a:t>
            </a:r>
          </a:p>
        </p:txBody>
      </p:sp>
      <p:sp>
        <p:nvSpPr>
          <p:cNvPr id="5" name="marker 2"/>
          <p:cNvSpPr/>
          <p:nvPr/>
        </p:nvSpPr>
        <p:spPr>
          <a:xfrm>
            <a:off x="685800" y="1974595"/>
            <a:ext cx="457200" cy="457200"/>
          </a:xfrm>
          <a:prstGeom prst="ellipse">
            <a:avLst/>
          </a:prstGeom>
          <a:solidFill>
            <a:srgbClr val="0F766E"/>
          </a:solidFill>
          <a:ln>
            <a:noFill/>
          </a:ln>
        </p:spPr>
        <p:txBody>
          <a:bodyPr rtlCol="0" anchor="ctr" lIns="0" rIns="0" tIns="0" bIns="0"/>
          <a:lstStyle/>
          <a:p>
            <a:pPr algn="ctr"/>
            <a:r>
              <a:rPr sz="1800" b="1">
                <a:solidFill>
                  <a:srgbClr val="FFFFFF"/>
                </a:solidFill>
                <a:latin typeface="Calibri"/>
              </a:rPr>
              <a:t>2</a:t>
            </a:r>
          </a:p>
        </p:txBody>
      </p:sp>
      <p:sp>
        <p:nvSpPr>
          <p:cNvPr id="6" name="step"/>
          <p:cNvSpPr txBox="1"/>
          <p:nvPr/>
        </p:nvSpPr>
        <p:spPr>
          <a:xfrm>
            <a:off x="1346200" y="1999995"/>
            <a:ext cx="10109200" cy="406400"/>
          </a:xfrm>
          <a:prstGeom prst="rect">
            <a:avLst/>
          </a:prstGeom>
          <a:noFill/>
        </p:spPr>
        <p:txBody>
          <a:bodyPr wrap="square" lIns="0" rIns="0" tIns="0" bIns="0" anchor="ctr">
            <a:noAutofit/>
          </a:bodyPr>
          <a:lstStyle/>
          <a:p>
            <a:pPr algn="l">
              <a:lnSpc>
                <a:spcPct val="100000"/>
              </a:lnSpc>
            </a:pPr>
            <a:r>
              <a:rPr sz="2400" b="0">
                <a:solidFill>
                  <a:srgbClr val="14161C"/>
                </a:solidFill>
                <a:latin typeface="Calibri"/>
              </a:rPr>
              <a:t>Thêm repository và khởi tạo worker session</a:t>
            </a:r>
          </a:p>
        </p:txBody>
      </p:sp>
      <p:sp>
        <p:nvSpPr>
          <p:cNvPr id="7"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14161C"/>
                </a:solidFill>
                <a:latin typeface="Calibri"/>
              </a:rPr>
              <a:t>7/20</a:t>
            </a:r>
          </a:p>
        </p:txBody>
      </p:sp>
      <p:sp>
        <p:nvSpPr>
          <p:cNvPr id="8" name="rail"/>
          <p:cNvSpPr/>
          <p:nvPr/>
        </p:nvSpPr>
        <p:spPr>
          <a:xfrm>
            <a:off x="685800" y="6451600"/>
            <a:ext cx="10820400" cy="38100"/>
          </a:xfrm>
          <a:prstGeom prst="rect">
            <a:avLst/>
          </a:prstGeom>
          <a:solidFill>
            <a:srgbClr val="6B6A66"/>
          </a:solidFill>
          <a:ln>
            <a:noFill/>
          </a:ln>
        </p:spPr>
        <p:txBody>
          <a:bodyPr rtlCol="0" anchor="ctr"/>
          <a:lstStyle/>
          <a:p>
            <a:pPr algn="ctr"/>
          </a:p>
        </p:txBody>
      </p:sp>
      <p:sp>
        <p:nvSpPr>
          <p:cNvPr id="9" name="progress"/>
          <p:cNvSpPr/>
          <p:nvPr/>
        </p:nvSpPr>
        <p:spPr>
          <a:xfrm>
            <a:off x="685800" y="6426200"/>
            <a:ext cx="3787140" cy="88900"/>
          </a:xfrm>
          <a:prstGeom prst="rect">
            <a:avLst/>
          </a:prstGeom>
          <a:solidFill>
            <a:srgbClr val="E8472B"/>
          </a:solidFill>
          <a:ln>
            <a:noFill/>
          </a:ln>
        </p:spPr>
        <p:txBody>
          <a:bodyPr rtlCol="0" anchor="ctr"/>
          <a:lstStyle/>
          <a:p>
            <a:pPr algn="ctr"/>
          </a:p>
        </p:txBody>
      </p:sp>
      <p:sp>
        <p:nvSpPr>
          <p:cNvPr id="10"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6B6A66"/>
                </a:solidFill>
                <a:latin typeface="Calibri"/>
              </a:rPr>
              <a:t>Radar GitHub · agent-orchestrator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EEE3"/>
        </a:solidFill>
        <a:effectLst/>
      </p:bgPr>
    </p:bg>
    <p:spTree>
      <p:nvGrpSpPr>
        <p:cNvPr id="1" name=""/>
        <p:cNvGrpSpPr/>
        <p:nvPr/>
      </p:nvGrpSpPr>
      <p:grpSpPr/>
      <p:sp>
        <p:nvSpPr>
          <p:cNvPr id="2" name="kicker"/>
          <p:cNvSpPr txBox="1"/>
          <p:nvPr/>
        </p:nvSpPr>
        <p:spPr>
          <a:xfrm>
            <a:off x="685800" y="304800"/>
            <a:ext cx="8128000" cy="279400"/>
          </a:xfrm>
          <a:prstGeom prst="rect">
            <a:avLst/>
          </a:prstGeom>
          <a:noFill/>
        </p:spPr>
        <p:txBody>
          <a:bodyPr wrap="square" lIns="0" rIns="0" tIns="0" bIns="0" anchor="t">
            <a:noAutofit/>
          </a:bodyPr>
          <a:lstStyle/>
          <a:p>
            <a:pPr algn="l">
              <a:lnSpc>
                <a:spcPct val="100000"/>
              </a:lnSpc>
            </a:pPr>
            <a:r>
              <a:rPr sz="1600" b="1">
                <a:solidFill>
                  <a:srgbClr val="1F3FD1"/>
                </a:solidFill>
                <a:latin typeface="Calibri"/>
              </a:rPr>
              <a:t>Bước 1 (1/2)</a:t>
            </a:r>
          </a:p>
        </p:txBody>
      </p:sp>
      <p:sp>
        <p:nvSpPr>
          <p:cNvPr id="3"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14161C"/>
                </a:solidFill>
                <a:latin typeface="Cambria"/>
              </a:rPr>
              <a:t>Tải và khởi chạy ứng dụng desktop</a:t>
            </a:r>
          </a:p>
        </p:txBody>
      </p:sp>
      <p:sp>
        <p:nvSpPr>
          <p:cNvPr id="4" name="text"/>
          <p:cNvSpPr txBox="1"/>
          <p:nvPr/>
        </p:nvSpPr>
        <p:spPr>
          <a:xfrm>
            <a:off x="685800" y="1326895"/>
            <a:ext cx="10820400" cy="766064"/>
          </a:xfrm>
          <a:prstGeom prst="rect">
            <a:avLst/>
          </a:prstGeom>
          <a:noFill/>
        </p:spPr>
        <p:txBody>
          <a:bodyPr wrap="square" lIns="0" rIns="0" tIns="0" bIns="0" anchor="t">
            <a:noAutofit/>
          </a:bodyPr>
          <a:lstStyle/>
          <a:p>
            <a:pPr algn="l">
              <a:lnSpc>
                <a:spcPct val="100000"/>
              </a:lnSpc>
            </a:pPr>
            <a:r>
              <a:rPr sz="2200" b="1">
                <a:solidFill>
                  <a:srgbClr val="14161C"/>
                </a:solidFill>
                <a:latin typeface="Calibri"/>
              </a:rPr>
              <a:t>Mục đích: </a:t>
            </a:r>
            <a:r>
              <a:rPr sz="2200" b="0">
                <a:solidFill>
                  <a:srgbClr val="14161C"/>
                </a:solidFill>
                <a:latin typeface="Calibri"/>
              </a:rPr>
              <a:t>Cài đặt ứng dụng desktop để tự động chạy tiến trình nền daemon quản lý mã nguồn mà không cần CLI.</a:t>
            </a:r>
          </a:p>
        </p:txBody>
      </p:sp>
      <p:sp>
        <p:nvSpPr>
          <p:cNvPr id="5" name="card"/>
          <p:cNvSpPr/>
          <p:nvPr/>
        </p:nvSpPr>
        <p:spPr>
          <a:xfrm>
            <a:off x="685800" y="2219960"/>
            <a:ext cx="10820400" cy="1059688"/>
          </a:xfrm>
          <a:prstGeom prst="roundRect">
            <a:avLst>
              <a:gd name="adj" fmla="val 19175"/>
            </a:avLst>
          </a:prstGeom>
          <a:solidFill>
            <a:srgbClr val="E8E0CF"/>
          </a:solidFill>
          <a:ln>
            <a:noFill/>
          </a:ln>
        </p:spPr>
        <p:txBody>
          <a:bodyPr rtlCol="0" anchor="ctr"/>
          <a:lstStyle/>
          <a:p>
            <a:pPr algn="ctr"/>
          </a:p>
        </p:txBody>
      </p:sp>
      <p:sp>
        <p:nvSpPr>
          <p:cNvPr id="6" name="marker 1"/>
          <p:cNvSpPr/>
          <p:nvPr/>
        </p:nvSpPr>
        <p:spPr>
          <a:xfrm>
            <a:off x="965200" y="2495804"/>
            <a:ext cx="508000" cy="508000"/>
          </a:xfrm>
          <a:prstGeom prst="ellipse">
            <a:avLst/>
          </a:prstGeom>
          <a:solidFill>
            <a:srgbClr val="1F3FD1"/>
          </a:solidFill>
          <a:ln>
            <a:noFill/>
          </a:ln>
        </p:spPr>
        <p:txBody>
          <a:bodyPr rtlCol="0" anchor="ctr" lIns="0" rIns="0" tIns="0" bIns="0"/>
          <a:lstStyle/>
          <a:p>
            <a:pPr algn="ctr"/>
            <a:r>
              <a:rPr sz="2000" b="1">
                <a:solidFill>
                  <a:srgbClr val="FFFFFF"/>
                </a:solidFill>
                <a:latin typeface="Calibri"/>
              </a:rPr>
              <a:t>1</a:t>
            </a:r>
          </a:p>
        </p:txBody>
      </p:sp>
      <p:sp>
        <p:nvSpPr>
          <p:cNvPr id="7" name="card text"/>
          <p:cNvSpPr txBox="1"/>
          <p:nvPr/>
        </p:nvSpPr>
        <p:spPr>
          <a:xfrm>
            <a:off x="1701800" y="2359660"/>
            <a:ext cx="9525000" cy="780288"/>
          </a:xfrm>
          <a:prstGeom prst="rect">
            <a:avLst/>
          </a:prstGeom>
          <a:noFill/>
        </p:spPr>
        <p:txBody>
          <a:bodyPr wrap="square" lIns="0" rIns="0" tIns="0" bIns="0" anchor="ctr">
            <a:noAutofit/>
          </a:bodyPr>
          <a:lstStyle/>
          <a:p>
            <a:pPr algn="l">
              <a:lnSpc>
                <a:spcPct val="100000"/>
              </a:lnSpc>
            </a:pPr>
            <a:r>
              <a:rPr sz="2400" b="0">
                <a:solidFill>
                  <a:srgbClr val="14161C"/>
                </a:solidFill>
                <a:latin typeface="Calibri"/>
              </a:rPr>
              <a:t>Tải tệp cài đặt phù hợp với hệ điều hành từ danh sách phát hành chính thức.</a:t>
            </a:r>
          </a:p>
        </p:txBody>
      </p:sp>
      <p:sp>
        <p:nvSpPr>
          <p:cNvPr id="8" name="card"/>
          <p:cNvSpPr/>
          <p:nvPr/>
        </p:nvSpPr>
        <p:spPr>
          <a:xfrm>
            <a:off x="685800" y="3406648"/>
            <a:ext cx="10820400" cy="669544"/>
          </a:xfrm>
          <a:prstGeom prst="roundRect">
            <a:avLst>
              <a:gd name="adj" fmla="val 30349"/>
            </a:avLst>
          </a:prstGeom>
          <a:solidFill>
            <a:srgbClr val="E8E0CF"/>
          </a:solidFill>
          <a:ln>
            <a:noFill/>
          </a:ln>
        </p:spPr>
        <p:txBody>
          <a:bodyPr rtlCol="0" anchor="ctr"/>
          <a:lstStyle/>
          <a:p>
            <a:pPr algn="ctr"/>
          </a:p>
        </p:txBody>
      </p:sp>
      <p:sp>
        <p:nvSpPr>
          <p:cNvPr id="9" name="marker 2"/>
          <p:cNvSpPr/>
          <p:nvPr/>
        </p:nvSpPr>
        <p:spPr>
          <a:xfrm>
            <a:off x="965200" y="3487420"/>
            <a:ext cx="508000" cy="508000"/>
          </a:xfrm>
          <a:prstGeom prst="ellipse">
            <a:avLst/>
          </a:prstGeom>
          <a:solidFill>
            <a:srgbClr val="0F766E"/>
          </a:solidFill>
          <a:ln>
            <a:noFill/>
          </a:ln>
        </p:spPr>
        <p:txBody>
          <a:bodyPr rtlCol="0" anchor="ctr" lIns="0" rIns="0" tIns="0" bIns="0"/>
          <a:lstStyle/>
          <a:p>
            <a:pPr algn="ctr"/>
            <a:r>
              <a:rPr sz="2000" b="1">
                <a:solidFill>
                  <a:srgbClr val="FFFFFF"/>
                </a:solidFill>
                <a:latin typeface="Calibri"/>
              </a:rPr>
              <a:t>2</a:t>
            </a:r>
          </a:p>
        </p:txBody>
      </p:sp>
      <p:sp>
        <p:nvSpPr>
          <p:cNvPr id="10" name="card text"/>
          <p:cNvSpPr txBox="1"/>
          <p:nvPr/>
        </p:nvSpPr>
        <p:spPr>
          <a:xfrm>
            <a:off x="1701800" y="3546348"/>
            <a:ext cx="9525000" cy="390144"/>
          </a:xfrm>
          <a:prstGeom prst="rect">
            <a:avLst/>
          </a:prstGeom>
          <a:noFill/>
        </p:spPr>
        <p:txBody>
          <a:bodyPr wrap="square" lIns="0" rIns="0" tIns="0" bIns="0" anchor="ctr">
            <a:noAutofit/>
          </a:bodyPr>
          <a:lstStyle/>
          <a:p>
            <a:pPr algn="l">
              <a:lnSpc>
                <a:spcPct val="100000"/>
              </a:lnSpc>
            </a:pPr>
            <a:r>
              <a:rPr sz="2400" b="0">
                <a:solidFill>
                  <a:srgbClr val="14161C"/>
                </a:solidFill>
                <a:latin typeface="Calibri"/>
              </a:rPr>
              <a:t>Mở tệp đã tải để khởi động ứng dụng trên máy tính.</a:t>
            </a:r>
          </a:p>
        </p:txBody>
      </p:sp>
      <p:sp>
        <p:nvSpPr>
          <p:cNvPr id="11" name="text"/>
          <p:cNvSpPr txBox="1"/>
          <p:nvPr/>
        </p:nvSpPr>
        <p:spPr>
          <a:xfrm>
            <a:off x="685800" y="4203192"/>
            <a:ext cx="10820400" cy="408431"/>
          </a:xfrm>
          <a:prstGeom prst="rect">
            <a:avLst/>
          </a:prstGeom>
          <a:noFill/>
        </p:spPr>
        <p:txBody>
          <a:bodyPr wrap="square" lIns="0" rIns="0" tIns="0" bIns="0" anchor="t">
            <a:noAutofit/>
          </a:bodyPr>
          <a:lstStyle/>
          <a:p>
            <a:pPr algn="l">
              <a:lnSpc>
                <a:spcPct val="100000"/>
              </a:lnSpc>
            </a:pPr>
            <a:r>
              <a:rPr sz="2200" b="0">
                <a:solidFill>
                  <a:srgbClr val="14161C"/>
                </a:solidFill>
                <a:latin typeface="Calibri"/>
              </a:rPr>
              <a:t>Liên kết trong README: </a:t>
            </a:r>
            <a:r>
              <a:rPr sz="2200" b="0" u="sng">
                <a:solidFill>
                  <a:srgbClr val="1F3FD1"/>
                </a:solidFill>
                <a:latin typeface="Calibri"/>
                <a:hlinkClick r:id="rId2"/>
              </a:rPr>
              <a:t>github.com</a:t>
            </a:r>
          </a:p>
        </p:txBody>
      </p:sp>
      <p:sp>
        <p:nvSpPr>
          <p:cNvPr id="12" name="card"/>
          <p:cNvSpPr/>
          <p:nvPr/>
        </p:nvSpPr>
        <p:spPr>
          <a:xfrm>
            <a:off x="685800" y="4738624"/>
            <a:ext cx="10820400" cy="1090676"/>
          </a:xfrm>
          <a:prstGeom prst="roundRect">
            <a:avLst>
              <a:gd name="adj" fmla="val 18630"/>
            </a:avLst>
          </a:prstGeom>
          <a:solidFill>
            <a:srgbClr val="D5EBDD"/>
          </a:solidFill>
          <a:ln>
            <a:noFill/>
          </a:ln>
        </p:spPr>
        <p:txBody>
          <a:bodyPr rtlCol="0" anchor="ctr"/>
          <a:lstStyle/>
          <a:p>
            <a:pPr algn="ctr"/>
          </a:p>
        </p:txBody>
      </p:sp>
      <p:sp>
        <p:nvSpPr>
          <p:cNvPr id="13" name="tick box"/>
          <p:cNvSpPr/>
          <p:nvPr/>
        </p:nvSpPr>
        <p:spPr>
          <a:xfrm>
            <a:off x="1016000" y="5080762"/>
            <a:ext cx="406400" cy="406400"/>
          </a:xfrm>
          <a:prstGeom prst="roundRect">
            <a:avLst>
              <a:gd name="adj" fmla="val 25000"/>
            </a:avLst>
          </a:prstGeom>
          <a:noFill/>
          <a:ln w="38100">
            <a:solidFill>
              <a:srgbClr val="0F766E"/>
            </a:solidFill>
          </a:ln>
        </p:spPr>
        <p:txBody>
          <a:bodyPr rtlCol="0" anchor="ctr"/>
          <a:lstStyle/>
          <a:p>
            <a:pPr algn="ctr"/>
          </a:p>
        </p:txBody>
      </p:sp>
      <p:sp>
        <p:nvSpPr>
          <p:cNvPr id="14" name="card text"/>
          <p:cNvSpPr txBox="1"/>
          <p:nvPr/>
        </p:nvSpPr>
        <p:spPr>
          <a:xfrm>
            <a:off x="1701800" y="4878324"/>
            <a:ext cx="9525000" cy="811276"/>
          </a:xfrm>
          <a:prstGeom prst="rect">
            <a:avLst/>
          </a:prstGeom>
          <a:noFill/>
        </p:spPr>
        <p:txBody>
          <a:bodyPr wrap="square" lIns="0" rIns="0" tIns="0" bIns="0" anchor="ctr">
            <a:noAutofit/>
          </a:bodyPr>
          <a:lstStyle/>
          <a:p>
            <a:pPr algn="l">
              <a:lnSpc>
                <a:spcPct val="100000"/>
              </a:lnSpc>
            </a:pPr>
            <a:r>
              <a:rPr sz="2400" b="1">
                <a:solidFill>
                  <a:srgbClr val="14161C"/>
                </a:solidFill>
                <a:latin typeface="Calibri"/>
              </a:rPr>
              <a:t>Bạn sẽ thấy</a:t>
            </a:r>
          </a:p>
          <a:p>
            <a:pPr algn="l">
              <a:lnSpc>
                <a:spcPct val="100000"/>
              </a:lnSpc>
              <a:spcBef>
                <a:spcPts val="500"/>
              </a:spcBef>
            </a:pPr>
            <a:r>
              <a:rPr sz="2200" b="0">
                <a:solidFill>
                  <a:srgbClr val="14161C"/>
                </a:solidFill>
                <a:latin typeface="Calibri"/>
              </a:rPr>
              <a:t>Giao diện ứng dụng hiển thị thành công trên màn hình.</a:t>
            </a:r>
          </a:p>
        </p:txBody>
      </p:sp>
      <p:sp>
        <p:nvSpPr>
          <p:cNvPr id="15"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14161C"/>
                </a:solidFill>
                <a:latin typeface="Calibri"/>
              </a:rPr>
              <a:t>8/20</a:t>
            </a:r>
          </a:p>
        </p:txBody>
      </p:sp>
      <p:sp>
        <p:nvSpPr>
          <p:cNvPr id="16" name="rail"/>
          <p:cNvSpPr/>
          <p:nvPr/>
        </p:nvSpPr>
        <p:spPr>
          <a:xfrm>
            <a:off x="685800" y="6451600"/>
            <a:ext cx="10820400" cy="38100"/>
          </a:xfrm>
          <a:prstGeom prst="rect">
            <a:avLst/>
          </a:prstGeom>
          <a:solidFill>
            <a:srgbClr val="6B6A66"/>
          </a:solidFill>
          <a:ln>
            <a:noFill/>
          </a:ln>
        </p:spPr>
        <p:txBody>
          <a:bodyPr rtlCol="0" anchor="ctr"/>
          <a:lstStyle/>
          <a:p>
            <a:pPr algn="ctr"/>
          </a:p>
        </p:txBody>
      </p:sp>
      <p:sp>
        <p:nvSpPr>
          <p:cNvPr id="17" name="progress"/>
          <p:cNvSpPr/>
          <p:nvPr/>
        </p:nvSpPr>
        <p:spPr>
          <a:xfrm>
            <a:off x="685800" y="6426200"/>
            <a:ext cx="4328160" cy="88900"/>
          </a:xfrm>
          <a:prstGeom prst="rect">
            <a:avLst/>
          </a:prstGeom>
          <a:solidFill>
            <a:srgbClr val="E8472B"/>
          </a:solidFill>
          <a:ln>
            <a:noFill/>
          </a:ln>
        </p:spPr>
        <p:txBody>
          <a:bodyPr rtlCol="0" anchor="ctr"/>
          <a:lstStyle/>
          <a:p>
            <a:pPr algn="ctr"/>
          </a:p>
        </p:txBody>
      </p:sp>
      <p:sp>
        <p:nvSpPr>
          <p:cNvPr id="18"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6B6A66"/>
                </a:solidFill>
                <a:latin typeface="Calibri"/>
              </a:rPr>
              <a:t>Radar GitHub · agent-orchestrator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EEE3"/>
        </a:solidFill>
        <a:effectLst/>
      </p:bgPr>
    </p:bg>
    <p:spTree>
      <p:nvGrpSpPr>
        <p:cNvPr id="1" name=""/>
        <p:cNvGrpSpPr/>
        <p:nvPr/>
      </p:nvGrpSpPr>
      <p:grpSpPr/>
      <p:sp>
        <p:nvSpPr>
          <p:cNvPr id="2" name="kicker"/>
          <p:cNvSpPr txBox="1"/>
          <p:nvPr/>
        </p:nvSpPr>
        <p:spPr>
          <a:xfrm>
            <a:off x="685800" y="304800"/>
            <a:ext cx="8128000" cy="279400"/>
          </a:xfrm>
          <a:prstGeom prst="rect">
            <a:avLst/>
          </a:prstGeom>
          <a:noFill/>
        </p:spPr>
        <p:txBody>
          <a:bodyPr wrap="square" lIns="0" rIns="0" tIns="0" bIns="0" anchor="t">
            <a:noAutofit/>
          </a:bodyPr>
          <a:lstStyle/>
          <a:p>
            <a:pPr algn="l">
              <a:lnSpc>
                <a:spcPct val="100000"/>
              </a:lnSpc>
            </a:pPr>
            <a:r>
              <a:rPr sz="1600" b="1">
                <a:solidFill>
                  <a:srgbClr val="1F3FD1"/>
                </a:solidFill>
                <a:latin typeface="Calibri"/>
              </a:rPr>
              <a:t>Bước 1 (2/2)</a:t>
            </a:r>
          </a:p>
        </p:txBody>
      </p:sp>
      <p:sp>
        <p:nvSpPr>
          <p:cNvPr id="3"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14161C"/>
                </a:solidFill>
                <a:latin typeface="Cambria"/>
              </a:rPr>
              <a:t>Tải và khởi chạy ứng dụng desktop</a:t>
            </a:r>
          </a:p>
        </p:txBody>
      </p:sp>
      <p:sp>
        <p:nvSpPr>
          <p:cNvPr id="4" name="card"/>
          <p:cNvSpPr/>
          <p:nvPr/>
        </p:nvSpPr>
        <p:spPr>
          <a:xfrm>
            <a:off x="685800" y="1326895"/>
            <a:ext cx="10820400" cy="1448308"/>
          </a:xfrm>
          <a:prstGeom prst="roundRect">
            <a:avLst>
              <a:gd name="adj" fmla="val 14030"/>
            </a:avLst>
          </a:prstGeom>
          <a:solidFill>
            <a:srgbClr val="F3DFC1"/>
          </a:solidFill>
          <a:ln>
            <a:noFill/>
          </a:ln>
        </p:spPr>
        <p:txBody>
          <a:bodyPr rtlCol="0" anchor="ctr"/>
          <a:lstStyle/>
          <a:p>
            <a:pPr algn="ctr"/>
          </a:p>
        </p:txBody>
      </p:sp>
      <p:sp>
        <p:nvSpPr>
          <p:cNvPr id="5" name="bar"/>
          <p:cNvSpPr/>
          <p:nvPr/>
        </p:nvSpPr>
        <p:spPr>
          <a:xfrm>
            <a:off x="889000" y="1466595"/>
            <a:ext cx="76200" cy="1168908"/>
          </a:xfrm>
          <a:prstGeom prst="roundRect">
            <a:avLst>
              <a:gd name="adj" fmla="val 50000"/>
            </a:avLst>
          </a:prstGeom>
          <a:solidFill>
            <a:srgbClr val="E8472B"/>
          </a:solidFill>
          <a:ln>
            <a:noFill/>
          </a:ln>
        </p:spPr>
        <p:txBody>
          <a:bodyPr rtlCol="0" anchor="ctr"/>
          <a:lstStyle/>
          <a:p>
            <a:pPr algn="ctr"/>
          </a:p>
        </p:txBody>
      </p:sp>
      <p:sp>
        <p:nvSpPr>
          <p:cNvPr id="6" name="card text"/>
          <p:cNvSpPr txBox="1"/>
          <p:nvPr/>
        </p:nvSpPr>
        <p:spPr>
          <a:xfrm>
            <a:off x="1143000" y="1466595"/>
            <a:ext cx="10083800" cy="1168908"/>
          </a:xfrm>
          <a:prstGeom prst="rect">
            <a:avLst/>
          </a:prstGeom>
          <a:noFill/>
        </p:spPr>
        <p:txBody>
          <a:bodyPr wrap="square" lIns="0" rIns="0" tIns="0" bIns="0" anchor="ctr">
            <a:noAutofit/>
          </a:bodyPr>
          <a:lstStyle/>
          <a:p>
            <a:pPr algn="l">
              <a:lnSpc>
                <a:spcPct val="100000"/>
              </a:lnSpc>
            </a:pPr>
            <a:r>
              <a:rPr sz="2400" b="1">
                <a:solidFill>
                  <a:srgbClr val="14161C"/>
                </a:solidFill>
                <a:latin typeface="Calibri"/>
              </a:rPr>
              <a:t>Nếu không được</a:t>
            </a:r>
          </a:p>
          <a:p>
            <a:pPr algn="l">
              <a:lnSpc>
                <a:spcPct val="100000"/>
              </a:lnSpc>
              <a:spcBef>
                <a:spcPts val="500"/>
              </a:spcBef>
            </a:pPr>
            <a:r>
              <a:rPr sz="2200" b="0">
                <a:solidFill>
                  <a:srgbClr val="14161C"/>
                </a:solidFill>
                <a:latin typeface="Calibri"/>
              </a:rPr>
              <a:t>Trên macOS nếu hệ thống báo không thể xác minh nhà phát triển, nhấp chuột phải vào ứng dụng rồi chọn Open, sau đó chọn Open lần nữa.</a:t>
            </a:r>
          </a:p>
        </p:txBody>
      </p:sp>
      <p:sp>
        <p:nvSpPr>
          <p:cNvPr id="7"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14161C"/>
                </a:solidFill>
                <a:latin typeface="Calibri"/>
              </a:rPr>
              <a:t>9/20</a:t>
            </a:r>
          </a:p>
        </p:txBody>
      </p:sp>
      <p:sp>
        <p:nvSpPr>
          <p:cNvPr id="8" name="rail"/>
          <p:cNvSpPr/>
          <p:nvPr/>
        </p:nvSpPr>
        <p:spPr>
          <a:xfrm>
            <a:off x="685800" y="6451600"/>
            <a:ext cx="10820400" cy="38100"/>
          </a:xfrm>
          <a:prstGeom prst="rect">
            <a:avLst/>
          </a:prstGeom>
          <a:solidFill>
            <a:srgbClr val="6B6A66"/>
          </a:solidFill>
          <a:ln>
            <a:noFill/>
          </a:ln>
        </p:spPr>
        <p:txBody>
          <a:bodyPr rtlCol="0" anchor="ctr"/>
          <a:lstStyle/>
          <a:p>
            <a:pPr algn="ctr"/>
          </a:p>
        </p:txBody>
      </p:sp>
      <p:sp>
        <p:nvSpPr>
          <p:cNvPr id="9" name="progress"/>
          <p:cNvSpPr/>
          <p:nvPr/>
        </p:nvSpPr>
        <p:spPr>
          <a:xfrm>
            <a:off x="685800" y="6426200"/>
            <a:ext cx="4869180" cy="88900"/>
          </a:xfrm>
          <a:prstGeom prst="rect">
            <a:avLst/>
          </a:prstGeom>
          <a:solidFill>
            <a:srgbClr val="E8472B"/>
          </a:solidFill>
          <a:ln>
            <a:noFill/>
          </a:ln>
        </p:spPr>
        <p:txBody>
          <a:bodyPr rtlCol="0" anchor="ctr"/>
          <a:lstStyle/>
          <a:p>
            <a:pPr algn="ctr"/>
          </a:p>
        </p:txBody>
      </p:sp>
      <p:sp>
        <p:nvSpPr>
          <p:cNvPr id="10"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6B6A66"/>
                </a:solidFill>
                <a:latin typeface="Calibri"/>
              </a:rPr>
              <a:t>Radar GitHub · agent-orchestrator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EEE3"/>
        </a:solidFill>
        <a:effectLst/>
      </p:bgPr>
    </p:bg>
    <p:spTree>
      <p:nvGrpSpPr>
        <p:cNvPr id="1" name=""/>
        <p:cNvGrpSpPr/>
        <p:nvPr/>
      </p:nvGrpSpPr>
      <p:grpSpPr/>
      <p:sp>
        <p:nvSpPr>
          <p:cNvPr id="2" name="kicker"/>
          <p:cNvSpPr txBox="1"/>
          <p:nvPr/>
        </p:nvSpPr>
        <p:spPr>
          <a:xfrm>
            <a:off x="685800" y="304800"/>
            <a:ext cx="8128000" cy="279400"/>
          </a:xfrm>
          <a:prstGeom prst="rect">
            <a:avLst/>
          </a:prstGeom>
          <a:noFill/>
        </p:spPr>
        <p:txBody>
          <a:bodyPr wrap="square" lIns="0" rIns="0" tIns="0" bIns="0" anchor="t">
            <a:noAutofit/>
          </a:bodyPr>
          <a:lstStyle/>
          <a:p>
            <a:pPr algn="l">
              <a:lnSpc>
                <a:spcPct val="100000"/>
              </a:lnSpc>
            </a:pPr>
            <a:r>
              <a:rPr sz="1600" b="1">
                <a:solidFill>
                  <a:srgbClr val="1F3FD1"/>
                </a:solidFill>
                <a:latin typeface="Calibri"/>
              </a:rPr>
              <a:t>Bước 2</a:t>
            </a:r>
          </a:p>
        </p:txBody>
      </p:sp>
      <p:sp>
        <p:nvSpPr>
          <p:cNvPr id="3"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14161C"/>
                </a:solidFill>
                <a:latin typeface="Cambria"/>
              </a:rPr>
              <a:t>Thêm repository và khởi tạo worker session</a:t>
            </a:r>
          </a:p>
        </p:txBody>
      </p:sp>
      <p:sp>
        <p:nvSpPr>
          <p:cNvPr id="4" name="text"/>
          <p:cNvSpPr txBox="1"/>
          <p:nvPr/>
        </p:nvSpPr>
        <p:spPr>
          <a:xfrm>
            <a:off x="685800" y="1326895"/>
            <a:ext cx="10820400" cy="766064"/>
          </a:xfrm>
          <a:prstGeom prst="rect">
            <a:avLst/>
          </a:prstGeom>
          <a:noFill/>
        </p:spPr>
        <p:txBody>
          <a:bodyPr wrap="square" lIns="0" rIns="0" tIns="0" bIns="0" anchor="t">
            <a:noAutofit/>
          </a:bodyPr>
          <a:lstStyle/>
          <a:p>
            <a:pPr algn="l">
              <a:lnSpc>
                <a:spcPct val="100000"/>
              </a:lnSpc>
            </a:pPr>
            <a:r>
              <a:rPr sz="2200" b="1">
                <a:solidFill>
                  <a:srgbClr val="14161C"/>
                </a:solidFill>
                <a:latin typeface="Calibri"/>
              </a:rPr>
              <a:t>Mục đích: </a:t>
            </a:r>
            <a:r>
              <a:rPr sz="2200" b="0">
                <a:solidFill>
                  <a:srgbClr val="14161C"/>
                </a:solidFill>
                <a:latin typeface="Calibri"/>
              </a:rPr>
              <a:t>Gắn dự án vào ứng dụng và tạo không gian làm việc cô lập cho coding agent thực hiện tác vụ.</a:t>
            </a:r>
          </a:p>
        </p:txBody>
      </p:sp>
      <p:sp>
        <p:nvSpPr>
          <p:cNvPr id="5" name="card"/>
          <p:cNvSpPr/>
          <p:nvPr/>
        </p:nvSpPr>
        <p:spPr>
          <a:xfrm>
            <a:off x="685800" y="2219960"/>
            <a:ext cx="10820400" cy="669544"/>
          </a:xfrm>
          <a:prstGeom prst="roundRect">
            <a:avLst>
              <a:gd name="adj" fmla="val 30349"/>
            </a:avLst>
          </a:prstGeom>
          <a:solidFill>
            <a:srgbClr val="E8E0CF"/>
          </a:solidFill>
          <a:ln>
            <a:noFill/>
          </a:ln>
        </p:spPr>
        <p:txBody>
          <a:bodyPr rtlCol="0" anchor="ctr"/>
          <a:lstStyle/>
          <a:p>
            <a:pPr algn="ctr"/>
          </a:p>
        </p:txBody>
      </p:sp>
      <p:sp>
        <p:nvSpPr>
          <p:cNvPr id="6" name="marker 1"/>
          <p:cNvSpPr/>
          <p:nvPr/>
        </p:nvSpPr>
        <p:spPr>
          <a:xfrm>
            <a:off x="965200" y="2300731"/>
            <a:ext cx="508000" cy="508000"/>
          </a:xfrm>
          <a:prstGeom prst="ellipse">
            <a:avLst/>
          </a:prstGeom>
          <a:solidFill>
            <a:srgbClr val="1F3FD1"/>
          </a:solidFill>
          <a:ln>
            <a:noFill/>
          </a:ln>
        </p:spPr>
        <p:txBody>
          <a:bodyPr rtlCol="0" anchor="ctr" lIns="0" rIns="0" tIns="0" bIns="0"/>
          <a:lstStyle/>
          <a:p>
            <a:pPr algn="ctr"/>
            <a:r>
              <a:rPr sz="2000" b="1">
                <a:solidFill>
                  <a:srgbClr val="FFFFFF"/>
                </a:solidFill>
                <a:latin typeface="Calibri"/>
              </a:rPr>
              <a:t>1</a:t>
            </a:r>
          </a:p>
        </p:txBody>
      </p:sp>
      <p:sp>
        <p:nvSpPr>
          <p:cNvPr id="7" name="card text"/>
          <p:cNvSpPr txBox="1"/>
          <p:nvPr/>
        </p:nvSpPr>
        <p:spPr>
          <a:xfrm>
            <a:off x="1701800" y="2359660"/>
            <a:ext cx="9525000" cy="390144"/>
          </a:xfrm>
          <a:prstGeom prst="rect">
            <a:avLst/>
          </a:prstGeom>
          <a:noFill/>
        </p:spPr>
        <p:txBody>
          <a:bodyPr wrap="square" lIns="0" rIns="0" tIns="0" bIns="0" anchor="ctr">
            <a:noAutofit/>
          </a:bodyPr>
          <a:lstStyle/>
          <a:p>
            <a:pPr algn="l">
              <a:lnSpc>
                <a:spcPct val="100000"/>
              </a:lnSpc>
            </a:pPr>
            <a:r>
              <a:rPr sz="2400" b="0">
                <a:solidFill>
                  <a:srgbClr val="14161C"/>
                </a:solidFill>
                <a:latin typeface="Calibri"/>
              </a:rPr>
              <a:t>Trỏ ứng dụng tới repository bạn muốn quản lý.</a:t>
            </a:r>
          </a:p>
        </p:txBody>
      </p:sp>
      <p:sp>
        <p:nvSpPr>
          <p:cNvPr id="8" name="card"/>
          <p:cNvSpPr/>
          <p:nvPr/>
        </p:nvSpPr>
        <p:spPr>
          <a:xfrm>
            <a:off x="685800" y="3016504"/>
            <a:ext cx="10820400" cy="1059688"/>
          </a:xfrm>
          <a:prstGeom prst="roundRect">
            <a:avLst>
              <a:gd name="adj" fmla="val 19175"/>
            </a:avLst>
          </a:prstGeom>
          <a:solidFill>
            <a:srgbClr val="E8E0CF"/>
          </a:solidFill>
          <a:ln>
            <a:noFill/>
          </a:ln>
        </p:spPr>
        <p:txBody>
          <a:bodyPr rtlCol="0" anchor="ctr"/>
          <a:lstStyle/>
          <a:p>
            <a:pPr algn="ctr"/>
          </a:p>
        </p:txBody>
      </p:sp>
      <p:sp>
        <p:nvSpPr>
          <p:cNvPr id="9" name="marker 2"/>
          <p:cNvSpPr/>
          <p:nvPr/>
        </p:nvSpPr>
        <p:spPr>
          <a:xfrm>
            <a:off x="965200" y="3292348"/>
            <a:ext cx="508000" cy="508000"/>
          </a:xfrm>
          <a:prstGeom prst="ellipse">
            <a:avLst/>
          </a:prstGeom>
          <a:solidFill>
            <a:srgbClr val="0F766E"/>
          </a:solidFill>
          <a:ln>
            <a:noFill/>
          </a:ln>
        </p:spPr>
        <p:txBody>
          <a:bodyPr rtlCol="0" anchor="ctr" lIns="0" rIns="0" tIns="0" bIns="0"/>
          <a:lstStyle/>
          <a:p>
            <a:pPr algn="ctr"/>
            <a:r>
              <a:rPr sz="2000" b="1">
                <a:solidFill>
                  <a:srgbClr val="FFFFFF"/>
                </a:solidFill>
                <a:latin typeface="Calibri"/>
              </a:rPr>
              <a:t>2</a:t>
            </a:r>
          </a:p>
        </p:txBody>
      </p:sp>
      <p:sp>
        <p:nvSpPr>
          <p:cNvPr id="10" name="card text"/>
          <p:cNvSpPr txBox="1"/>
          <p:nvPr/>
        </p:nvSpPr>
        <p:spPr>
          <a:xfrm>
            <a:off x="1701800" y="3156204"/>
            <a:ext cx="9525000" cy="780288"/>
          </a:xfrm>
          <a:prstGeom prst="rect">
            <a:avLst/>
          </a:prstGeom>
          <a:noFill/>
        </p:spPr>
        <p:txBody>
          <a:bodyPr wrap="square" lIns="0" rIns="0" tIns="0" bIns="0" anchor="ctr">
            <a:noAutofit/>
          </a:bodyPr>
          <a:lstStyle/>
          <a:p>
            <a:pPr algn="l">
              <a:lnSpc>
                <a:spcPct val="100000"/>
              </a:lnSpc>
            </a:pPr>
            <a:r>
              <a:rPr sz="2400" b="0">
                <a:solidFill>
                  <a:srgbClr val="14161C"/>
                </a:solidFill>
                <a:latin typeface="Calibri"/>
              </a:rPr>
              <a:t>Bấm New task khi công việc đã rõ ràng, mô tả kết quả mong muốn, chọn agent và model, sau đó đính kèm tệp liên quan.</a:t>
            </a:r>
          </a:p>
        </p:txBody>
      </p:sp>
      <p:sp>
        <p:nvSpPr>
          <p:cNvPr id="11" name="text"/>
          <p:cNvSpPr txBox="1"/>
          <p:nvPr/>
        </p:nvSpPr>
        <p:spPr>
          <a:xfrm>
            <a:off x="685800" y="4203192"/>
            <a:ext cx="10820400" cy="408431"/>
          </a:xfrm>
          <a:prstGeom prst="rect">
            <a:avLst/>
          </a:prstGeom>
          <a:noFill/>
        </p:spPr>
        <p:txBody>
          <a:bodyPr wrap="square" lIns="0" rIns="0" tIns="0" bIns="0" anchor="t">
            <a:noAutofit/>
          </a:bodyPr>
          <a:lstStyle/>
          <a:p>
            <a:pPr algn="l">
              <a:lnSpc>
                <a:spcPct val="100000"/>
              </a:lnSpc>
            </a:pPr>
            <a:r>
              <a:rPr sz="2200" b="0">
                <a:solidFill>
                  <a:srgbClr val="14161C"/>
                </a:solidFill>
                <a:latin typeface="Calibri"/>
              </a:rPr>
              <a:t>Liên kết trong README: </a:t>
            </a:r>
            <a:r>
              <a:rPr sz="2200" b="0" u="sng">
                <a:solidFill>
                  <a:srgbClr val="1F3FD1"/>
                </a:solidFill>
                <a:latin typeface="Calibri"/>
                <a:hlinkClick r:id="rId2"/>
              </a:rPr>
              <a:t>installation guide</a:t>
            </a:r>
          </a:p>
        </p:txBody>
      </p:sp>
      <p:sp>
        <p:nvSpPr>
          <p:cNvPr id="12" name="card"/>
          <p:cNvSpPr/>
          <p:nvPr/>
        </p:nvSpPr>
        <p:spPr>
          <a:xfrm>
            <a:off x="685800" y="4738624"/>
            <a:ext cx="10820400" cy="1448308"/>
          </a:xfrm>
          <a:prstGeom prst="roundRect">
            <a:avLst>
              <a:gd name="adj" fmla="val 14030"/>
            </a:avLst>
          </a:prstGeom>
          <a:solidFill>
            <a:srgbClr val="D5EBDD"/>
          </a:solidFill>
          <a:ln>
            <a:noFill/>
          </a:ln>
        </p:spPr>
        <p:txBody>
          <a:bodyPr rtlCol="0" anchor="ctr"/>
          <a:lstStyle/>
          <a:p>
            <a:pPr algn="ctr"/>
          </a:p>
        </p:txBody>
      </p:sp>
      <p:sp>
        <p:nvSpPr>
          <p:cNvPr id="13" name="tick box"/>
          <p:cNvSpPr/>
          <p:nvPr/>
        </p:nvSpPr>
        <p:spPr>
          <a:xfrm>
            <a:off x="1016000" y="5259578"/>
            <a:ext cx="406400" cy="406400"/>
          </a:xfrm>
          <a:prstGeom prst="roundRect">
            <a:avLst>
              <a:gd name="adj" fmla="val 25000"/>
            </a:avLst>
          </a:prstGeom>
          <a:noFill/>
          <a:ln w="38100">
            <a:solidFill>
              <a:srgbClr val="0F766E"/>
            </a:solidFill>
          </a:ln>
        </p:spPr>
        <p:txBody>
          <a:bodyPr rtlCol="0" anchor="ctr"/>
          <a:lstStyle/>
          <a:p>
            <a:pPr algn="ctr"/>
          </a:p>
        </p:txBody>
      </p:sp>
      <p:sp>
        <p:nvSpPr>
          <p:cNvPr id="14" name="card text"/>
          <p:cNvSpPr txBox="1"/>
          <p:nvPr/>
        </p:nvSpPr>
        <p:spPr>
          <a:xfrm>
            <a:off x="1701800" y="4878324"/>
            <a:ext cx="9525000" cy="1168908"/>
          </a:xfrm>
          <a:prstGeom prst="rect">
            <a:avLst/>
          </a:prstGeom>
          <a:noFill/>
        </p:spPr>
        <p:txBody>
          <a:bodyPr wrap="square" lIns="0" rIns="0" tIns="0" bIns="0" anchor="ctr">
            <a:noAutofit/>
          </a:bodyPr>
          <a:lstStyle/>
          <a:p>
            <a:pPr algn="l">
              <a:lnSpc>
                <a:spcPct val="100000"/>
              </a:lnSpc>
            </a:pPr>
            <a:r>
              <a:rPr sz="2400" b="1">
                <a:solidFill>
                  <a:srgbClr val="14161C"/>
                </a:solidFill>
                <a:latin typeface="Calibri"/>
              </a:rPr>
              <a:t>Bạn sẽ thấy</a:t>
            </a:r>
          </a:p>
          <a:p>
            <a:pPr algn="l">
              <a:lnSpc>
                <a:spcPct val="100000"/>
              </a:lnSpc>
              <a:spcBef>
                <a:spcPts val="500"/>
              </a:spcBef>
            </a:pPr>
            <a:r>
              <a:rPr sz="2200" b="0">
                <a:solidFill>
                  <a:srgbClr val="14161C"/>
                </a:solidFill>
                <a:latin typeface="Calibri"/>
              </a:rPr>
              <a:t>Một worker session được tạo với branch, worktree riêng và giao diện Chat hoặc terminal UI tương ứng.</a:t>
            </a:r>
          </a:p>
        </p:txBody>
      </p:sp>
      <p:sp>
        <p:nvSpPr>
          <p:cNvPr id="15"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14161C"/>
                </a:solidFill>
                <a:latin typeface="Calibri"/>
              </a:rPr>
              <a:t>10/20</a:t>
            </a:r>
          </a:p>
        </p:txBody>
      </p:sp>
      <p:sp>
        <p:nvSpPr>
          <p:cNvPr id="16" name="rail"/>
          <p:cNvSpPr/>
          <p:nvPr/>
        </p:nvSpPr>
        <p:spPr>
          <a:xfrm>
            <a:off x="685800" y="6451600"/>
            <a:ext cx="10820400" cy="38100"/>
          </a:xfrm>
          <a:prstGeom prst="rect">
            <a:avLst/>
          </a:prstGeom>
          <a:solidFill>
            <a:srgbClr val="6B6A66"/>
          </a:solidFill>
          <a:ln>
            <a:noFill/>
          </a:ln>
        </p:spPr>
        <p:txBody>
          <a:bodyPr rtlCol="0" anchor="ctr"/>
          <a:lstStyle/>
          <a:p>
            <a:pPr algn="ctr"/>
          </a:p>
        </p:txBody>
      </p:sp>
      <p:sp>
        <p:nvSpPr>
          <p:cNvPr id="17" name="progress"/>
          <p:cNvSpPr/>
          <p:nvPr/>
        </p:nvSpPr>
        <p:spPr>
          <a:xfrm>
            <a:off x="685800" y="6426200"/>
            <a:ext cx="5410200" cy="88900"/>
          </a:xfrm>
          <a:prstGeom prst="rect">
            <a:avLst/>
          </a:prstGeom>
          <a:solidFill>
            <a:srgbClr val="E8472B"/>
          </a:solidFill>
          <a:ln>
            <a:noFill/>
          </a:ln>
        </p:spPr>
        <p:txBody>
          <a:bodyPr rtlCol="0" anchor="ctr"/>
          <a:lstStyle/>
          <a:p>
            <a:pPr algn="ctr"/>
          </a:p>
        </p:txBody>
      </p:sp>
      <p:sp>
        <p:nvSpPr>
          <p:cNvPr id="18"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6B6A66"/>
                </a:solidFill>
                <a:latin typeface="Calibri"/>
              </a:rPr>
              <a:t>Radar GitHub · agent-orchestrator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EEE3"/>
        </a:solidFill>
        <a:effectLst/>
      </p:bgPr>
    </p:bg>
    <p:spTree>
      <p:nvGrpSpPr>
        <p:cNvPr id="1" name=""/>
        <p:cNvGrpSpPr/>
        <p:nvPr/>
      </p:nvGrpSpPr>
      <p:grpSpPr/>
      <p:sp>
        <p:nvSpPr>
          <p:cNvPr id="2"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14161C"/>
                </a:solidFill>
                <a:latin typeface="Cambria"/>
              </a:rPr>
              <a:t>Kiểm tra kết quả</a:t>
            </a:r>
          </a:p>
        </p:txBody>
      </p:sp>
      <p:sp>
        <p:nvSpPr>
          <p:cNvPr id="3" name="card"/>
          <p:cNvSpPr/>
          <p:nvPr/>
        </p:nvSpPr>
        <p:spPr>
          <a:xfrm>
            <a:off x="685800" y="1326895"/>
            <a:ext cx="10820400" cy="1742439"/>
          </a:xfrm>
          <a:prstGeom prst="roundRect">
            <a:avLst>
              <a:gd name="adj" fmla="val 11661"/>
            </a:avLst>
          </a:prstGeom>
          <a:solidFill>
            <a:srgbClr val="D5EBDD"/>
          </a:solidFill>
          <a:ln>
            <a:noFill/>
          </a:ln>
        </p:spPr>
        <p:txBody>
          <a:bodyPr rtlCol="0" anchor="ctr"/>
          <a:lstStyle/>
          <a:p>
            <a:pPr algn="ctr"/>
          </a:p>
        </p:txBody>
      </p:sp>
      <p:sp>
        <p:nvSpPr>
          <p:cNvPr id="4" name="card text"/>
          <p:cNvSpPr txBox="1"/>
          <p:nvPr/>
        </p:nvSpPr>
        <p:spPr>
          <a:xfrm>
            <a:off x="965200" y="1466595"/>
            <a:ext cx="10261600" cy="1463039"/>
          </a:xfrm>
          <a:prstGeom prst="rect">
            <a:avLst/>
          </a:prstGeom>
          <a:noFill/>
        </p:spPr>
        <p:txBody>
          <a:bodyPr wrap="square" lIns="0" rIns="0" tIns="0" bIns="0" anchor="ctr">
            <a:noAutofit/>
          </a:bodyPr>
          <a:lstStyle/>
          <a:p>
            <a:pPr algn="l">
              <a:lnSpc>
                <a:spcPct val="100000"/>
              </a:lnSpc>
            </a:pPr>
            <a:r>
              <a:rPr sz="3000" b="0">
                <a:solidFill>
                  <a:srgbClr val="14161C"/>
                </a:solidFill>
                <a:latin typeface="Calibri"/>
              </a:rPr>
              <a:t>Tài liệu không cung cấp dòng lệnh CLI để xác thực; kiểm tra trực quan trên màn hình thấy worker session đã gắn liền với branch và hiển thị trạng thái trên Kanban.</a:t>
            </a:r>
          </a:p>
        </p:txBody>
      </p:sp>
      <p:sp>
        <p:nvSpPr>
          <p:cNvPr id="5"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14161C"/>
                </a:solidFill>
                <a:latin typeface="Calibri"/>
              </a:rPr>
              <a:t>11/20</a:t>
            </a:r>
          </a:p>
        </p:txBody>
      </p:sp>
      <p:sp>
        <p:nvSpPr>
          <p:cNvPr id="6" name="rail"/>
          <p:cNvSpPr/>
          <p:nvPr/>
        </p:nvSpPr>
        <p:spPr>
          <a:xfrm>
            <a:off x="685800" y="6451600"/>
            <a:ext cx="10820400" cy="38100"/>
          </a:xfrm>
          <a:prstGeom prst="rect">
            <a:avLst/>
          </a:prstGeom>
          <a:solidFill>
            <a:srgbClr val="6B6A66"/>
          </a:solidFill>
          <a:ln>
            <a:noFill/>
          </a:ln>
        </p:spPr>
        <p:txBody>
          <a:bodyPr rtlCol="0" anchor="ctr"/>
          <a:lstStyle/>
          <a:p>
            <a:pPr algn="ctr"/>
          </a:p>
        </p:txBody>
      </p:sp>
      <p:sp>
        <p:nvSpPr>
          <p:cNvPr id="7" name="progress"/>
          <p:cNvSpPr/>
          <p:nvPr/>
        </p:nvSpPr>
        <p:spPr>
          <a:xfrm>
            <a:off x="685800" y="6426200"/>
            <a:ext cx="5951220" cy="88900"/>
          </a:xfrm>
          <a:prstGeom prst="rect">
            <a:avLst/>
          </a:prstGeom>
          <a:solidFill>
            <a:srgbClr val="E8472B"/>
          </a:solidFill>
          <a:ln>
            <a:noFill/>
          </a:ln>
        </p:spPr>
        <p:txBody>
          <a:bodyPr rtlCol="0" anchor="ctr"/>
          <a:lstStyle/>
          <a:p>
            <a:pPr algn="ctr"/>
          </a:p>
        </p:txBody>
      </p:sp>
      <p:sp>
        <p:nvSpPr>
          <p:cNvPr id="8"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6B6A66"/>
                </a:solidFill>
                <a:latin typeface="Calibri"/>
              </a:rPr>
              <a:t>Radar GitHub · agent-orchestrator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EEE3"/>
        </a:solidFill>
        <a:effectLst/>
      </p:bgPr>
    </p:bg>
    <p:spTree>
      <p:nvGrpSpPr>
        <p:cNvPr id="1" name=""/>
        <p:cNvGrpSpPr/>
        <p:nvPr/>
      </p:nvGrpSpPr>
      <p:grpSpPr/>
      <p:sp>
        <p:nvSpPr>
          <p:cNvPr id="2"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14161C"/>
                </a:solidFill>
                <a:latin typeface="Cambria"/>
              </a:rPr>
              <a:t>Lỗi thường gặp</a:t>
            </a:r>
          </a:p>
        </p:txBody>
      </p:sp>
      <p:sp>
        <p:nvSpPr>
          <p:cNvPr id="3" name="card"/>
          <p:cNvSpPr/>
          <p:nvPr/>
        </p:nvSpPr>
        <p:spPr>
          <a:xfrm>
            <a:off x="685800" y="1326895"/>
            <a:ext cx="10820400" cy="1448308"/>
          </a:xfrm>
          <a:prstGeom prst="roundRect">
            <a:avLst>
              <a:gd name="adj" fmla="val 14030"/>
            </a:avLst>
          </a:prstGeom>
          <a:solidFill>
            <a:srgbClr val="F3DFC1"/>
          </a:solidFill>
          <a:ln>
            <a:noFill/>
          </a:ln>
        </p:spPr>
        <p:txBody>
          <a:bodyPr rtlCol="0" anchor="ctr"/>
          <a:lstStyle/>
          <a:p>
            <a:pPr algn="ctr"/>
          </a:p>
        </p:txBody>
      </p:sp>
      <p:sp>
        <p:nvSpPr>
          <p:cNvPr id="4" name="bar"/>
          <p:cNvSpPr/>
          <p:nvPr/>
        </p:nvSpPr>
        <p:spPr>
          <a:xfrm>
            <a:off x="889000" y="1466595"/>
            <a:ext cx="76200" cy="1168908"/>
          </a:xfrm>
          <a:prstGeom prst="roundRect">
            <a:avLst>
              <a:gd name="adj" fmla="val 50000"/>
            </a:avLst>
          </a:prstGeom>
          <a:solidFill>
            <a:srgbClr val="E8472B"/>
          </a:solidFill>
          <a:ln>
            <a:noFill/>
          </a:ln>
        </p:spPr>
        <p:txBody>
          <a:bodyPr rtlCol="0" anchor="ctr"/>
          <a:lstStyle/>
          <a:p>
            <a:pPr algn="ctr"/>
          </a:p>
        </p:txBody>
      </p:sp>
      <p:sp>
        <p:nvSpPr>
          <p:cNvPr id="5" name="card text"/>
          <p:cNvSpPr txBox="1"/>
          <p:nvPr/>
        </p:nvSpPr>
        <p:spPr>
          <a:xfrm>
            <a:off x="1143000" y="1466595"/>
            <a:ext cx="10083800" cy="1168908"/>
          </a:xfrm>
          <a:prstGeom prst="rect">
            <a:avLst/>
          </a:prstGeom>
          <a:noFill/>
        </p:spPr>
        <p:txBody>
          <a:bodyPr wrap="square" lIns="0" rIns="0" tIns="0" bIns="0" anchor="ctr">
            <a:noAutofit/>
          </a:bodyPr>
          <a:lstStyle/>
          <a:p>
            <a:pPr algn="l">
              <a:lnSpc>
                <a:spcPct val="100000"/>
              </a:lnSpc>
            </a:pPr>
            <a:r>
              <a:rPr sz="2400" b="1">
                <a:solidFill>
                  <a:srgbClr val="14161C"/>
                </a:solidFill>
                <a:latin typeface="Calibri"/>
              </a:rPr>
              <a:t>Trên macOS ứng dụng không mở và báo không thể xác minh nhà phát triển</a:t>
            </a:r>
          </a:p>
          <a:p>
            <a:pPr algn="l">
              <a:lnSpc>
                <a:spcPct val="100000"/>
              </a:lnSpc>
              <a:spcBef>
                <a:spcPts val="500"/>
              </a:spcBef>
            </a:pPr>
            <a:r>
              <a:rPr sz="2200" b="0">
                <a:solidFill>
                  <a:srgbClr val="14161C"/>
                </a:solidFill>
                <a:latin typeface="Calibri"/>
              </a:rPr>
              <a:t>Nhấp chuột phải vào ứng dụng và chọn Open, sau đó chọn Open lần nữa; nếu vẫn lỗi thì mở issue kèm chẩn đoán Gatekeeper.</a:t>
            </a:r>
          </a:p>
        </p:txBody>
      </p:sp>
      <p:sp>
        <p:nvSpPr>
          <p:cNvPr id="6"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14161C"/>
                </a:solidFill>
                <a:latin typeface="Calibri"/>
              </a:rPr>
              <a:t>12/20</a:t>
            </a:r>
          </a:p>
        </p:txBody>
      </p:sp>
      <p:sp>
        <p:nvSpPr>
          <p:cNvPr id="7" name="rail"/>
          <p:cNvSpPr/>
          <p:nvPr/>
        </p:nvSpPr>
        <p:spPr>
          <a:xfrm>
            <a:off x="685800" y="6451600"/>
            <a:ext cx="10820400" cy="38100"/>
          </a:xfrm>
          <a:prstGeom prst="rect">
            <a:avLst/>
          </a:prstGeom>
          <a:solidFill>
            <a:srgbClr val="6B6A66"/>
          </a:solidFill>
          <a:ln>
            <a:noFill/>
          </a:ln>
        </p:spPr>
        <p:txBody>
          <a:bodyPr rtlCol="0" anchor="ctr"/>
          <a:lstStyle/>
          <a:p>
            <a:pPr algn="ctr"/>
          </a:p>
        </p:txBody>
      </p:sp>
      <p:sp>
        <p:nvSpPr>
          <p:cNvPr id="8" name="progress"/>
          <p:cNvSpPr/>
          <p:nvPr/>
        </p:nvSpPr>
        <p:spPr>
          <a:xfrm>
            <a:off x="685800" y="6426200"/>
            <a:ext cx="6492240" cy="88900"/>
          </a:xfrm>
          <a:prstGeom prst="rect">
            <a:avLst/>
          </a:prstGeom>
          <a:solidFill>
            <a:srgbClr val="E8472B"/>
          </a:solidFill>
          <a:ln>
            <a:noFill/>
          </a:ln>
        </p:spPr>
        <p:txBody>
          <a:bodyPr rtlCol="0" anchor="ctr"/>
          <a:lstStyle/>
          <a:p>
            <a:pPr algn="ctr"/>
          </a:p>
        </p:txBody>
      </p:sp>
      <p:sp>
        <p:nvSpPr>
          <p:cNvPr id="9"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6B6A66"/>
                </a:solidFill>
                <a:latin typeface="Calibri"/>
              </a:rPr>
              <a:t>Radar GitHub · agent-orchestrator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EEE3"/>
        </a:solidFill>
        <a:effectLst/>
      </p:bgPr>
    </p:bg>
    <p:spTree>
      <p:nvGrpSpPr>
        <p:cNvPr id="1" name=""/>
        <p:cNvGrpSpPr/>
        <p:nvPr/>
      </p:nvGrpSpPr>
      <p:grpSpPr/>
      <p:sp>
        <p:nvSpPr>
          <p:cNvPr id="2"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14161C"/>
                </a:solidFill>
                <a:latin typeface="Cambria"/>
              </a:rPr>
              <a:t>Làm tiếp</a:t>
            </a:r>
          </a:p>
        </p:txBody>
      </p:sp>
      <p:sp>
        <p:nvSpPr>
          <p:cNvPr id="3" name="card"/>
          <p:cNvSpPr/>
          <p:nvPr/>
        </p:nvSpPr>
        <p:spPr>
          <a:xfrm>
            <a:off x="685800" y="1326895"/>
            <a:ext cx="10820400" cy="994663"/>
          </a:xfrm>
          <a:prstGeom prst="roundRect">
            <a:avLst>
              <a:gd name="adj" fmla="val 20429"/>
            </a:avLst>
          </a:prstGeom>
          <a:solidFill>
            <a:srgbClr val="E8E0CF"/>
          </a:solidFill>
          <a:ln>
            <a:noFill/>
          </a:ln>
        </p:spPr>
        <p:txBody>
          <a:bodyPr rtlCol="0" anchor="ctr"/>
          <a:lstStyle/>
          <a:p>
            <a:pPr algn="ctr"/>
          </a:p>
        </p:txBody>
      </p:sp>
      <p:sp>
        <p:nvSpPr>
          <p:cNvPr id="4" name="marker 1"/>
          <p:cNvSpPr/>
          <p:nvPr/>
        </p:nvSpPr>
        <p:spPr>
          <a:xfrm>
            <a:off x="965200" y="1570227"/>
            <a:ext cx="508000" cy="508000"/>
          </a:xfrm>
          <a:prstGeom prst="ellipse">
            <a:avLst/>
          </a:prstGeom>
          <a:solidFill>
            <a:srgbClr val="1F3FD1"/>
          </a:solidFill>
          <a:ln>
            <a:noFill/>
          </a:ln>
        </p:spPr>
        <p:txBody>
          <a:bodyPr rtlCol="0" anchor="ctr" lIns="0" rIns="0" tIns="0" bIns="0"/>
          <a:lstStyle/>
          <a:p>
            <a:pPr algn="ctr"/>
            <a:r>
              <a:rPr sz="2000" b="1">
                <a:solidFill>
                  <a:srgbClr val="FFFFFF"/>
                </a:solidFill>
                <a:latin typeface="Calibri"/>
              </a:rPr>
              <a:t>1</a:t>
            </a:r>
          </a:p>
        </p:txBody>
      </p:sp>
      <p:sp>
        <p:nvSpPr>
          <p:cNvPr id="5" name="card text"/>
          <p:cNvSpPr txBox="1"/>
          <p:nvPr/>
        </p:nvSpPr>
        <p:spPr>
          <a:xfrm>
            <a:off x="1701800" y="1466595"/>
            <a:ext cx="9525000" cy="715263"/>
          </a:xfrm>
          <a:prstGeom prst="rect">
            <a:avLst/>
          </a:prstGeom>
          <a:noFill/>
        </p:spPr>
        <p:txBody>
          <a:bodyPr wrap="square" lIns="0" rIns="0" tIns="0" bIns="0" anchor="ctr">
            <a:noAutofit/>
          </a:bodyPr>
          <a:lstStyle/>
          <a:p>
            <a:pPr algn="l">
              <a:lnSpc>
                <a:spcPct val="100000"/>
              </a:lnSpc>
            </a:pPr>
            <a:r>
              <a:rPr sz="2200" b="0">
                <a:solidFill>
                  <a:srgbClr val="14161C"/>
                </a:solidFill>
                <a:latin typeface="Calibri"/>
              </a:rPr>
              <a:t>Xem hướng dẫn thiết lập từng agent CLI như Claude Code, Codex, Cursor trong tài liệu</a:t>
            </a:r>
          </a:p>
        </p:txBody>
      </p:sp>
      <p:sp>
        <p:nvSpPr>
          <p:cNvPr id="6" name="card"/>
          <p:cNvSpPr/>
          <p:nvPr/>
        </p:nvSpPr>
        <p:spPr>
          <a:xfrm>
            <a:off x="685800" y="2448560"/>
            <a:ext cx="10820400" cy="660400"/>
          </a:xfrm>
          <a:prstGeom prst="roundRect">
            <a:avLst>
              <a:gd name="adj" fmla="val 30769"/>
            </a:avLst>
          </a:prstGeom>
          <a:solidFill>
            <a:srgbClr val="E8E0CF"/>
          </a:solidFill>
          <a:ln>
            <a:noFill/>
          </a:ln>
        </p:spPr>
        <p:txBody>
          <a:bodyPr rtlCol="0" anchor="ctr"/>
          <a:lstStyle/>
          <a:p>
            <a:pPr algn="ctr"/>
          </a:p>
        </p:txBody>
      </p:sp>
      <p:sp>
        <p:nvSpPr>
          <p:cNvPr id="7" name="marker 2"/>
          <p:cNvSpPr/>
          <p:nvPr/>
        </p:nvSpPr>
        <p:spPr>
          <a:xfrm>
            <a:off x="965200" y="2524760"/>
            <a:ext cx="508000" cy="508000"/>
          </a:xfrm>
          <a:prstGeom prst="ellipse">
            <a:avLst/>
          </a:prstGeom>
          <a:solidFill>
            <a:srgbClr val="0F766E"/>
          </a:solidFill>
          <a:ln>
            <a:noFill/>
          </a:ln>
        </p:spPr>
        <p:txBody>
          <a:bodyPr rtlCol="0" anchor="ctr" lIns="0" rIns="0" tIns="0" bIns="0"/>
          <a:lstStyle/>
          <a:p>
            <a:pPr algn="ctr"/>
            <a:r>
              <a:rPr sz="2000" b="1">
                <a:solidFill>
                  <a:srgbClr val="FFFFFF"/>
                </a:solidFill>
                <a:latin typeface="Calibri"/>
              </a:rPr>
              <a:t>2</a:t>
            </a:r>
          </a:p>
        </p:txBody>
      </p:sp>
      <p:sp>
        <p:nvSpPr>
          <p:cNvPr id="8" name="card text"/>
          <p:cNvSpPr txBox="1"/>
          <p:nvPr/>
        </p:nvSpPr>
        <p:spPr>
          <a:xfrm>
            <a:off x="1701800" y="2588260"/>
            <a:ext cx="9525000" cy="381000"/>
          </a:xfrm>
          <a:prstGeom prst="rect">
            <a:avLst/>
          </a:prstGeom>
          <a:noFill/>
        </p:spPr>
        <p:txBody>
          <a:bodyPr wrap="square" lIns="0" rIns="0" tIns="0" bIns="0" anchor="ctr">
            <a:noAutofit/>
          </a:bodyPr>
          <a:lstStyle/>
          <a:p>
            <a:pPr algn="l">
              <a:lnSpc>
                <a:spcPct val="100000"/>
              </a:lnSpc>
            </a:pPr>
            <a:r>
              <a:rPr sz="2200" b="0">
                <a:solidFill>
                  <a:srgbClr val="14161C"/>
                </a:solidFill>
                <a:latin typeface="Calibri"/>
              </a:rPr>
              <a:t>Theo dõi tiến độ pull request và CI của các worker ngay trên bảng Kanban</a:t>
            </a:r>
          </a:p>
        </p:txBody>
      </p:sp>
      <p:sp>
        <p:nvSpPr>
          <p:cNvPr id="9"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14161C"/>
                </a:solidFill>
                <a:latin typeface="Calibri"/>
              </a:rPr>
              <a:t>13/20</a:t>
            </a:r>
          </a:p>
        </p:txBody>
      </p:sp>
      <p:sp>
        <p:nvSpPr>
          <p:cNvPr id="10" name="rail"/>
          <p:cNvSpPr/>
          <p:nvPr/>
        </p:nvSpPr>
        <p:spPr>
          <a:xfrm>
            <a:off x="685800" y="6451600"/>
            <a:ext cx="10820400" cy="38100"/>
          </a:xfrm>
          <a:prstGeom prst="rect">
            <a:avLst/>
          </a:prstGeom>
          <a:solidFill>
            <a:srgbClr val="6B6A66"/>
          </a:solidFill>
          <a:ln>
            <a:noFill/>
          </a:ln>
        </p:spPr>
        <p:txBody>
          <a:bodyPr rtlCol="0" anchor="ctr"/>
          <a:lstStyle/>
          <a:p>
            <a:pPr algn="ctr"/>
          </a:p>
        </p:txBody>
      </p:sp>
      <p:sp>
        <p:nvSpPr>
          <p:cNvPr id="11" name="progress"/>
          <p:cNvSpPr/>
          <p:nvPr/>
        </p:nvSpPr>
        <p:spPr>
          <a:xfrm>
            <a:off x="685800" y="6426200"/>
            <a:ext cx="7033259" cy="88900"/>
          </a:xfrm>
          <a:prstGeom prst="rect">
            <a:avLst/>
          </a:prstGeom>
          <a:solidFill>
            <a:srgbClr val="E8472B"/>
          </a:solidFill>
          <a:ln>
            <a:noFill/>
          </a:ln>
        </p:spPr>
        <p:txBody>
          <a:bodyPr rtlCol="0" anchor="ctr"/>
          <a:lstStyle/>
          <a:p>
            <a:pPr algn="ctr"/>
          </a:p>
        </p:txBody>
      </p:sp>
      <p:sp>
        <p:nvSpPr>
          <p:cNvPr id="12"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6B6A66"/>
                </a:solidFill>
                <a:latin typeface="Calibri"/>
              </a:rPr>
              <a:t>Radar GitHub · agent-orchestrator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EEE3"/>
        </a:solidFill>
        <a:effectLst/>
      </p:bgPr>
    </p:bg>
    <p:spTree>
      <p:nvGrpSpPr>
        <p:cNvPr id="1" name=""/>
        <p:cNvGrpSpPr/>
        <p:nvPr/>
      </p:nvGrpSpPr>
      <p:grpSpPr/>
      <p:sp>
        <p:nvSpPr>
          <p:cNvPr id="2"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14161C"/>
                </a:solidFill>
                <a:latin typeface="Cambria"/>
              </a:rPr>
              <a:t>Bên trong nó hoạt động ra sao</a:t>
            </a:r>
          </a:p>
        </p:txBody>
      </p:sp>
      <p:sp>
        <p:nvSpPr>
          <p:cNvPr id="3" name="flow arrow"/>
          <p:cNvSpPr/>
          <p:nvPr/>
        </p:nvSpPr>
        <p:spPr>
          <a:xfrm>
            <a:off x="3683000" y="3559048"/>
            <a:ext cx="914400" cy="0"/>
          </a:xfrm>
          <a:custGeom>
            <a:avLst/>
            <a:gdLst/>
            <a:ahLst/>
            <a:cxnLst/>
            <a:rect l="l" t="t" r="r" b="b"/>
            <a:pathLst>
              <a:path w="914400" h="0">
                <a:moveTo>
                  <a:pt x="0" y="0"/>
                </a:moveTo>
                <a:lnTo>
                  <a:pt x="914400" y="0"/>
                </a:lnTo>
              </a:path>
            </a:pathLst>
          </a:custGeom>
          <a:noFill/>
          <a:ln w="31750">
            <a:solidFill>
              <a:srgbClr val="475569"/>
            </a:solidFill>
            <a:tailEnd type="triangle" w="med" len="med"/>
          </a:ln>
        </p:spPr>
        <p:txBody>
          <a:bodyPr rtlCol="0" anchor="ctr"/>
          <a:lstStyle/>
          <a:p>
            <a:pPr algn="ctr"/>
          </a:p>
        </p:txBody>
      </p:sp>
      <p:sp>
        <p:nvSpPr>
          <p:cNvPr id="4" name="flow arrow"/>
          <p:cNvSpPr/>
          <p:nvPr/>
        </p:nvSpPr>
        <p:spPr>
          <a:xfrm>
            <a:off x="7594600" y="3559048"/>
            <a:ext cx="914400" cy="0"/>
          </a:xfrm>
          <a:custGeom>
            <a:avLst/>
            <a:gdLst/>
            <a:ahLst/>
            <a:cxnLst/>
            <a:rect l="l" t="t" r="r" b="b"/>
            <a:pathLst>
              <a:path w="914400" h="0">
                <a:moveTo>
                  <a:pt x="0" y="0"/>
                </a:moveTo>
                <a:lnTo>
                  <a:pt x="914400" y="0"/>
                </a:lnTo>
              </a:path>
            </a:pathLst>
          </a:custGeom>
          <a:noFill/>
          <a:ln w="31750">
            <a:solidFill>
              <a:srgbClr val="475569"/>
            </a:solidFill>
            <a:tailEnd type="triangle" w="med" len="med"/>
          </a:ln>
        </p:spPr>
        <p:txBody>
          <a:bodyPr rtlCol="0" anchor="ctr"/>
          <a:lstStyle/>
          <a:p>
            <a:pPr algn="ctr"/>
          </a:p>
        </p:txBody>
      </p:sp>
      <p:sp>
        <p:nvSpPr>
          <p:cNvPr id="5" name="flow arrow"/>
          <p:cNvSpPr/>
          <p:nvPr/>
        </p:nvSpPr>
        <p:spPr>
          <a:xfrm>
            <a:off x="2184400" y="4105148"/>
            <a:ext cx="7823200" cy="279400"/>
          </a:xfrm>
          <a:custGeom>
            <a:avLst/>
            <a:gdLst/>
            <a:ahLst/>
            <a:cxnLst/>
            <a:rect l="l" t="t" r="r" b="b"/>
            <a:pathLst>
              <a:path w="7823200" h="279400">
                <a:moveTo>
                  <a:pt x="7823200" y="0"/>
                </a:moveTo>
                <a:lnTo>
                  <a:pt x="7823200" y="279400"/>
                </a:lnTo>
                <a:lnTo>
                  <a:pt x="0" y="279400"/>
                </a:lnTo>
                <a:lnTo>
                  <a:pt x="0" y="0"/>
                </a:lnTo>
              </a:path>
            </a:pathLst>
          </a:custGeom>
          <a:noFill/>
          <a:ln w="31750">
            <a:solidFill>
              <a:srgbClr val="475569"/>
            </a:solidFill>
            <a:prstDash val="dash"/>
            <a:tailEnd type="triangle" w="med" len="med"/>
          </a:ln>
        </p:spPr>
        <p:txBody>
          <a:bodyPr rtlCol="0" anchor="ctr"/>
          <a:lstStyle/>
          <a:p>
            <a:pPr algn="ctr"/>
          </a:p>
        </p:txBody>
      </p:sp>
      <p:sp>
        <p:nvSpPr>
          <p:cNvPr id="6" name="component"/>
          <p:cNvSpPr/>
          <p:nvPr/>
        </p:nvSpPr>
        <p:spPr>
          <a:xfrm>
            <a:off x="685800" y="3012947"/>
            <a:ext cx="2997200" cy="1092200"/>
          </a:xfrm>
          <a:prstGeom prst="roundRect">
            <a:avLst>
              <a:gd name="adj" fmla="val 18604"/>
            </a:avLst>
          </a:prstGeom>
          <a:solidFill>
            <a:srgbClr val="E0F2FE"/>
          </a:solidFill>
          <a:ln w="25400">
            <a:solidFill>
              <a:srgbClr val="0284C7"/>
            </a:solidFill>
          </a:ln>
        </p:spPr>
        <p:txBody>
          <a:bodyPr rtlCol="0" anchor="ctr"/>
          <a:lstStyle/>
          <a:p>
            <a:pPr algn="ctr"/>
          </a:p>
        </p:txBody>
      </p:sp>
      <p:sp>
        <p:nvSpPr>
          <p:cNvPr id="7" name="component name"/>
          <p:cNvSpPr txBox="1"/>
          <p:nvPr/>
        </p:nvSpPr>
        <p:spPr>
          <a:xfrm>
            <a:off x="863600" y="3114547"/>
            <a:ext cx="2641600" cy="889000"/>
          </a:xfrm>
          <a:prstGeom prst="rect">
            <a:avLst/>
          </a:prstGeom>
          <a:noFill/>
        </p:spPr>
        <p:txBody>
          <a:bodyPr wrap="square" lIns="0" rIns="0" tIns="0" bIns="0" anchor="ctr">
            <a:noAutofit/>
          </a:bodyPr>
          <a:lstStyle/>
          <a:p>
            <a:pPr algn="ctr">
              <a:lnSpc>
                <a:spcPct val="100000"/>
              </a:lnSpc>
            </a:pPr>
            <a:r>
              <a:rPr sz="2200" b="1">
                <a:solidFill>
                  <a:srgbClr val="0F172A"/>
                </a:solidFill>
                <a:latin typeface="Calibri"/>
              </a:rPr>
              <a:t>Desktop App</a:t>
            </a:r>
          </a:p>
        </p:txBody>
      </p:sp>
      <p:sp>
        <p:nvSpPr>
          <p:cNvPr id="8" name="component"/>
          <p:cNvSpPr/>
          <p:nvPr/>
        </p:nvSpPr>
        <p:spPr>
          <a:xfrm>
            <a:off x="4597400" y="3012947"/>
            <a:ext cx="2997200" cy="1092200"/>
          </a:xfrm>
          <a:prstGeom prst="roundRect">
            <a:avLst>
              <a:gd name="adj" fmla="val 18604"/>
            </a:avLst>
          </a:prstGeom>
          <a:solidFill>
            <a:srgbClr val="CCFBF1"/>
          </a:solidFill>
          <a:ln w="25400">
            <a:solidFill>
              <a:srgbClr val="0F766E"/>
            </a:solidFill>
          </a:ln>
        </p:spPr>
        <p:txBody>
          <a:bodyPr rtlCol="0" anchor="ctr"/>
          <a:lstStyle/>
          <a:p>
            <a:pPr algn="ctr"/>
          </a:p>
        </p:txBody>
      </p:sp>
      <p:sp>
        <p:nvSpPr>
          <p:cNvPr id="9" name="component name"/>
          <p:cNvSpPr txBox="1"/>
          <p:nvPr/>
        </p:nvSpPr>
        <p:spPr>
          <a:xfrm>
            <a:off x="4775200" y="3114547"/>
            <a:ext cx="2641600" cy="889000"/>
          </a:xfrm>
          <a:prstGeom prst="rect">
            <a:avLst/>
          </a:prstGeom>
          <a:noFill/>
        </p:spPr>
        <p:txBody>
          <a:bodyPr wrap="square" lIns="0" rIns="0" tIns="0" bIns="0" anchor="ctr">
            <a:noAutofit/>
          </a:bodyPr>
          <a:lstStyle/>
          <a:p>
            <a:pPr algn="ctr">
              <a:lnSpc>
                <a:spcPct val="100000"/>
              </a:lnSpc>
            </a:pPr>
            <a:r>
              <a:rPr sz="2200" b="1">
                <a:solidFill>
                  <a:srgbClr val="0F172A"/>
                </a:solidFill>
                <a:latin typeface="Calibri"/>
              </a:rPr>
              <a:t>Local Daemon</a:t>
            </a:r>
          </a:p>
        </p:txBody>
      </p:sp>
      <p:sp>
        <p:nvSpPr>
          <p:cNvPr id="10" name="component"/>
          <p:cNvSpPr/>
          <p:nvPr/>
        </p:nvSpPr>
        <p:spPr>
          <a:xfrm>
            <a:off x="8509000" y="3012947"/>
            <a:ext cx="2997200" cy="1092200"/>
          </a:xfrm>
          <a:prstGeom prst="roundRect">
            <a:avLst>
              <a:gd name="adj" fmla="val 18604"/>
            </a:avLst>
          </a:prstGeom>
          <a:solidFill>
            <a:srgbClr val="FEF3C7"/>
          </a:solidFill>
          <a:ln w="25400">
            <a:solidFill>
              <a:srgbClr val="B45309"/>
            </a:solidFill>
          </a:ln>
        </p:spPr>
        <p:txBody>
          <a:bodyPr rtlCol="0" anchor="ctr"/>
          <a:lstStyle/>
          <a:p>
            <a:pPr algn="ctr"/>
          </a:p>
        </p:txBody>
      </p:sp>
      <p:sp>
        <p:nvSpPr>
          <p:cNvPr id="11" name="component name"/>
          <p:cNvSpPr txBox="1"/>
          <p:nvPr/>
        </p:nvSpPr>
        <p:spPr>
          <a:xfrm>
            <a:off x="8686800" y="3114547"/>
            <a:ext cx="2641600" cy="889000"/>
          </a:xfrm>
          <a:prstGeom prst="rect">
            <a:avLst/>
          </a:prstGeom>
          <a:noFill/>
        </p:spPr>
        <p:txBody>
          <a:bodyPr wrap="square" lIns="0" rIns="0" tIns="0" bIns="0" anchor="ctr">
            <a:noAutofit/>
          </a:bodyPr>
          <a:lstStyle/>
          <a:p>
            <a:pPr algn="ctr">
              <a:lnSpc>
                <a:spcPct val="100000"/>
              </a:lnSpc>
            </a:pPr>
            <a:r>
              <a:rPr sz="2200" b="1">
                <a:solidFill>
                  <a:srgbClr val="0F172A"/>
                </a:solidFill>
                <a:latin typeface="Calibri"/>
              </a:rPr>
              <a:t>Coding Agent Workers</a:t>
            </a:r>
          </a:p>
        </p:txBody>
      </p:sp>
      <p:sp>
        <p:nvSpPr>
          <p:cNvPr id="12"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14161C"/>
                </a:solidFill>
                <a:latin typeface="Calibri"/>
              </a:rPr>
              <a:t>14/20</a:t>
            </a:r>
          </a:p>
        </p:txBody>
      </p:sp>
      <p:sp>
        <p:nvSpPr>
          <p:cNvPr id="13" name="rail"/>
          <p:cNvSpPr/>
          <p:nvPr/>
        </p:nvSpPr>
        <p:spPr>
          <a:xfrm>
            <a:off x="685800" y="6451600"/>
            <a:ext cx="10820400" cy="38100"/>
          </a:xfrm>
          <a:prstGeom prst="rect">
            <a:avLst/>
          </a:prstGeom>
          <a:solidFill>
            <a:srgbClr val="6B6A66"/>
          </a:solidFill>
          <a:ln>
            <a:noFill/>
          </a:ln>
        </p:spPr>
        <p:txBody>
          <a:bodyPr rtlCol="0" anchor="ctr"/>
          <a:lstStyle/>
          <a:p>
            <a:pPr algn="ctr"/>
          </a:p>
        </p:txBody>
      </p:sp>
      <p:sp>
        <p:nvSpPr>
          <p:cNvPr id="14" name="progress"/>
          <p:cNvSpPr/>
          <p:nvPr/>
        </p:nvSpPr>
        <p:spPr>
          <a:xfrm>
            <a:off x="685800" y="6426200"/>
            <a:ext cx="7574280" cy="88900"/>
          </a:xfrm>
          <a:prstGeom prst="rect">
            <a:avLst/>
          </a:prstGeom>
          <a:solidFill>
            <a:srgbClr val="E8472B"/>
          </a:solidFill>
          <a:ln>
            <a:noFill/>
          </a:ln>
        </p:spPr>
        <p:txBody>
          <a:bodyPr rtlCol="0" anchor="ctr"/>
          <a:lstStyle/>
          <a:p>
            <a:pPr algn="ctr"/>
          </a:p>
        </p:txBody>
      </p:sp>
      <p:sp>
        <p:nvSpPr>
          <p:cNvPr id="15"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6B6A66"/>
                </a:solidFill>
                <a:latin typeface="Calibri"/>
              </a:rPr>
              <a:t>Radar GitHub · agent-orchestrator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EEE3"/>
        </a:solidFill>
        <a:effectLst/>
      </p:bgPr>
    </p:bg>
    <p:spTree>
      <p:nvGrpSpPr>
        <p:cNvPr id="1" name=""/>
        <p:cNvGrpSpPr/>
        <p:nvPr/>
      </p:nvGrpSpPr>
      <p:grpSpPr/>
      <p:sp>
        <p:nvSpPr>
          <p:cNvPr id="2"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14161C"/>
                </a:solidFill>
                <a:latin typeface="Cambria"/>
              </a:rPr>
              <a:t>Các mảnh ghép</a:t>
            </a:r>
          </a:p>
        </p:txBody>
      </p:sp>
      <p:sp>
        <p:nvSpPr>
          <p:cNvPr id="3" name="card"/>
          <p:cNvSpPr/>
          <p:nvPr/>
        </p:nvSpPr>
        <p:spPr>
          <a:xfrm>
            <a:off x="685800" y="1326895"/>
            <a:ext cx="10820400" cy="1090676"/>
          </a:xfrm>
          <a:prstGeom prst="roundRect">
            <a:avLst>
              <a:gd name="adj" fmla="val 18630"/>
            </a:avLst>
          </a:prstGeom>
          <a:solidFill>
            <a:srgbClr val="E8E0CF"/>
          </a:solidFill>
          <a:ln>
            <a:noFill/>
          </a:ln>
        </p:spPr>
        <p:txBody>
          <a:bodyPr rtlCol="0" anchor="ctr"/>
          <a:lstStyle/>
          <a:p>
            <a:pPr algn="ctr"/>
          </a:p>
        </p:txBody>
      </p:sp>
      <p:sp>
        <p:nvSpPr>
          <p:cNvPr id="4" name="marker 1"/>
          <p:cNvSpPr/>
          <p:nvPr/>
        </p:nvSpPr>
        <p:spPr>
          <a:xfrm>
            <a:off x="965200" y="1618233"/>
            <a:ext cx="508000" cy="508000"/>
          </a:xfrm>
          <a:prstGeom prst="ellipse">
            <a:avLst/>
          </a:prstGeom>
          <a:solidFill>
            <a:srgbClr val="1F3FD1"/>
          </a:solidFill>
          <a:ln>
            <a:noFill/>
          </a:ln>
        </p:spPr>
        <p:txBody>
          <a:bodyPr rtlCol="0" anchor="ctr" lIns="0" rIns="0" tIns="0" bIns="0"/>
          <a:lstStyle/>
          <a:p>
            <a:pPr algn="ctr"/>
            <a:r>
              <a:rPr sz="2000" b="1">
                <a:solidFill>
                  <a:srgbClr val="FFFFFF"/>
                </a:solidFill>
                <a:latin typeface="Calibri"/>
              </a:rPr>
              <a:t>1</a:t>
            </a:r>
          </a:p>
        </p:txBody>
      </p:sp>
      <p:sp>
        <p:nvSpPr>
          <p:cNvPr id="5" name="card text"/>
          <p:cNvSpPr txBox="1"/>
          <p:nvPr/>
        </p:nvSpPr>
        <p:spPr>
          <a:xfrm>
            <a:off x="1701800" y="1466595"/>
            <a:ext cx="9525000" cy="811276"/>
          </a:xfrm>
          <a:prstGeom prst="rect">
            <a:avLst/>
          </a:prstGeom>
          <a:noFill/>
        </p:spPr>
        <p:txBody>
          <a:bodyPr wrap="square" lIns="0" rIns="0" tIns="0" bIns="0" anchor="ctr">
            <a:noAutofit/>
          </a:bodyPr>
          <a:lstStyle/>
          <a:p>
            <a:pPr algn="l">
              <a:lnSpc>
                <a:spcPct val="100000"/>
              </a:lnSpc>
            </a:pPr>
            <a:r>
              <a:rPr sz="2400" b="1">
                <a:solidFill>
                  <a:srgbClr val="14161C"/>
                </a:solidFill>
                <a:latin typeface="Calibri"/>
              </a:rPr>
              <a:t>Desktop App</a:t>
            </a:r>
          </a:p>
          <a:p>
            <a:pPr algn="l">
              <a:lnSpc>
                <a:spcPct val="100000"/>
              </a:lnSpc>
              <a:spcBef>
                <a:spcPts val="500"/>
              </a:spcBef>
            </a:pPr>
            <a:r>
              <a:rPr sz="2200" b="0">
                <a:solidFill>
                  <a:srgbClr val="14161C"/>
                </a:solidFill>
                <a:latin typeface="Calibri"/>
              </a:rPr>
              <a:t>Giao diện làm việc trung tâm cung cấp bảng Kanban, Chat và terminal UI</a:t>
            </a:r>
          </a:p>
        </p:txBody>
      </p:sp>
      <p:sp>
        <p:nvSpPr>
          <p:cNvPr id="6" name="card"/>
          <p:cNvSpPr/>
          <p:nvPr/>
        </p:nvSpPr>
        <p:spPr>
          <a:xfrm>
            <a:off x="685800" y="2544572"/>
            <a:ext cx="10820400" cy="1090676"/>
          </a:xfrm>
          <a:prstGeom prst="roundRect">
            <a:avLst>
              <a:gd name="adj" fmla="val 18630"/>
            </a:avLst>
          </a:prstGeom>
          <a:solidFill>
            <a:srgbClr val="E8E0CF"/>
          </a:solidFill>
          <a:ln>
            <a:noFill/>
          </a:ln>
        </p:spPr>
        <p:txBody>
          <a:bodyPr rtlCol="0" anchor="ctr"/>
          <a:lstStyle/>
          <a:p>
            <a:pPr algn="ctr"/>
          </a:p>
        </p:txBody>
      </p:sp>
      <p:sp>
        <p:nvSpPr>
          <p:cNvPr id="7" name="marker 2"/>
          <p:cNvSpPr/>
          <p:nvPr/>
        </p:nvSpPr>
        <p:spPr>
          <a:xfrm>
            <a:off x="965200" y="2835910"/>
            <a:ext cx="508000" cy="508000"/>
          </a:xfrm>
          <a:prstGeom prst="ellipse">
            <a:avLst/>
          </a:prstGeom>
          <a:solidFill>
            <a:srgbClr val="0F766E"/>
          </a:solidFill>
          <a:ln>
            <a:noFill/>
          </a:ln>
        </p:spPr>
        <p:txBody>
          <a:bodyPr rtlCol="0" anchor="ctr" lIns="0" rIns="0" tIns="0" bIns="0"/>
          <a:lstStyle/>
          <a:p>
            <a:pPr algn="ctr"/>
            <a:r>
              <a:rPr sz="2000" b="1">
                <a:solidFill>
                  <a:srgbClr val="FFFFFF"/>
                </a:solidFill>
                <a:latin typeface="Calibri"/>
              </a:rPr>
              <a:t>2</a:t>
            </a:r>
          </a:p>
        </p:txBody>
      </p:sp>
      <p:sp>
        <p:nvSpPr>
          <p:cNvPr id="8" name="card text"/>
          <p:cNvSpPr txBox="1"/>
          <p:nvPr/>
        </p:nvSpPr>
        <p:spPr>
          <a:xfrm>
            <a:off x="1701800" y="2684272"/>
            <a:ext cx="9525000" cy="811276"/>
          </a:xfrm>
          <a:prstGeom prst="rect">
            <a:avLst/>
          </a:prstGeom>
          <a:noFill/>
        </p:spPr>
        <p:txBody>
          <a:bodyPr wrap="square" lIns="0" rIns="0" tIns="0" bIns="0" anchor="ctr">
            <a:noAutofit/>
          </a:bodyPr>
          <a:lstStyle/>
          <a:p>
            <a:pPr algn="l">
              <a:lnSpc>
                <a:spcPct val="100000"/>
              </a:lnSpc>
            </a:pPr>
            <a:r>
              <a:rPr sz="2400" b="1">
                <a:solidFill>
                  <a:srgbClr val="14161C"/>
                </a:solidFill>
                <a:latin typeface="Calibri"/>
              </a:rPr>
              <a:t>Local Daemon</a:t>
            </a:r>
          </a:p>
          <a:p>
            <a:pPr algn="l">
              <a:lnSpc>
                <a:spcPct val="100000"/>
              </a:lnSpc>
              <a:spcBef>
                <a:spcPts val="500"/>
              </a:spcBef>
            </a:pPr>
            <a:r>
              <a:rPr sz="2200" b="0">
                <a:solidFill>
                  <a:srgbClr val="14161C"/>
                </a:solidFill>
                <a:latin typeface="Calibri"/>
              </a:rPr>
              <a:t>Tiến trình nền theo dõi hoạt động agent và trạng thái kiểm soát phiên bản</a:t>
            </a:r>
          </a:p>
        </p:txBody>
      </p:sp>
      <p:sp>
        <p:nvSpPr>
          <p:cNvPr id="9" name="card"/>
          <p:cNvSpPr/>
          <p:nvPr/>
        </p:nvSpPr>
        <p:spPr>
          <a:xfrm>
            <a:off x="685800" y="3762248"/>
            <a:ext cx="10820400" cy="1090676"/>
          </a:xfrm>
          <a:prstGeom prst="roundRect">
            <a:avLst>
              <a:gd name="adj" fmla="val 18630"/>
            </a:avLst>
          </a:prstGeom>
          <a:solidFill>
            <a:srgbClr val="E8E0CF"/>
          </a:solidFill>
          <a:ln>
            <a:noFill/>
          </a:ln>
        </p:spPr>
        <p:txBody>
          <a:bodyPr rtlCol="0" anchor="ctr"/>
          <a:lstStyle/>
          <a:p>
            <a:pPr algn="ctr"/>
          </a:p>
        </p:txBody>
      </p:sp>
      <p:sp>
        <p:nvSpPr>
          <p:cNvPr id="10" name="marker 3"/>
          <p:cNvSpPr/>
          <p:nvPr/>
        </p:nvSpPr>
        <p:spPr>
          <a:xfrm>
            <a:off x="965200" y="4053586"/>
            <a:ext cx="508000" cy="508000"/>
          </a:xfrm>
          <a:prstGeom prst="ellipse">
            <a:avLst/>
          </a:prstGeom>
          <a:solidFill>
            <a:srgbClr val="1F3FD1"/>
          </a:solidFill>
          <a:ln>
            <a:noFill/>
          </a:ln>
        </p:spPr>
        <p:txBody>
          <a:bodyPr rtlCol="0" anchor="ctr" lIns="0" rIns="0" tIns="0" bIns="0"/>
          <a:lstStyle/>
          <a:p>
            <a:pPr algn="ctr"/>
            <a:r>
              <a:rPr sz="2000" b="1">
                <a:solidFill>
                  <a:srgbClr val="FFFFFF"/>
                </a:solidFill>
                <a:latin typeface="Calibri"/>
              </a:rPr>
              <a:t>3</a:t>
            </a:r>
          </a:p>
        </p:txBody>
      </p:sp>
      <p:sp>
        <p:nvSpPr>
          <p:cNvPr id="11" name="card text"/>
          <p:cNvSpPr txBox="1"/>
          <p:nvPr/>
        </p:nvSpPr>
        <p:spPr>
          <a:xfrm>
            <a:off x="1701800" y="3901948"/>
            <a:ext cx="9525000" cy="811276"/>
          </a:xfrm>
          <a:prstGeom prst="rect">
            <a:avLst/>
          </a:prstGeom>
          <a:noFill/>
        </p:spPr>
        <p:txBody>
          <a:bodyPr wrap="square" lIns="0" rIns="0" tIns="0" bIns="0" anchor="ctr">
            <a:noAutofit/>
          </a:bodyPr>
          <a:lstStyle/>
          <a:p>
            <a:pPr algn="l">
              <a:lnSpc>
                <a:spcPct val="100000"/>
              </a:lnSpc>
            </a:pPr>
            <a:r>
              <a:rPr sz="2400" b="1">
                <a:solidFill>
                  <a:srgbClr val="14161C"/>
                </a:solidFill>
                <a:latin typeface="Calibri"/>
              </a:rPr>
              <a:t>Coding Agent Workers</a:t>
            </a:r>
          </a:p>
          <a:p>
            <a:pPr algn="l">
              <a:lnSpc>
                <a:spcPct val="100000"/>
              </a:lnSpc>
              <a:spcBef>
                <a:spcPts val="500"/>
              </a:spcBef>
            </a:pPr>
            <a:r>
              <a:rPr sz="2200" b="0">
                <a:solidFill>
                  <a:srgbClr val="14161C"/>
                </a:solidFill>
                <a:latin typeface="Calibri"/>
              </a:rPr>
              <a:t>Các agent thực thi tác vụ trên worktree và nhánh Git riêng biệt</a:t>
            </a:r>
          </a:p>
        </p:txBody>
      </p:sp>
      <p:sp>
        <p:nvSpPr>
          <p:cNvPr id="12"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14161C"/>
                </a:solidFill>
                <a:latin typeface="Calibri"/>
              </a:rPr>
              <a:t>15/20</a:t>
            </a:r>
          </a:p>
        </p:txBody>
      </p:sp>
      <p:sp>
        <p:nvSpPr>
          <p:cNvPr id="13" name="rail"/>
          <p:cNvSpPr/>
          <p:nvPr/>
        </p:nvSpPr>
        <p:spPr>
          <a:xfrm>
            <a:off x="685800" y="6451600"/>
            <a:ext cx="10820400" cy="38100"/>
          </a:xfrm>
          <a:prstGeom prst="rect">
            <a:avLst/>
          </a:prstGeom>
          <a:solidFill>
            <a:srgbClr val="6B6A66"/>
          </a:solidFill>
          <a:ln>
            <a:noFill/>
          </a:ln>
        </p:spPr>
        <p:txBody>
          <a:bodyPr rtlCol="0" anchor="ctr"/>
          <a:lstStyle/>
          <a:p>
            <a:pPr algn="ctr"/>
          </a:p>
        </p:txBody>
      </p:sp>
      <p:sp>
        <p:nvSpPr>
          <p:cNvPr id="14" name="progress"/>
          <p:cNvSpPr/>
          <p:nvPr/>
        </p:nvSpPr>
        <p:spPr>
          <a:xfrm>
            <a:off x="685800" y="6426200"/>
            <a:ext cx="8115300" cy="88900"/>
          </a:xfrm>
          <a:prstGeom prst="rect">
            <a:avLst/>
          </a:prstGeom>
          <a:solidFill>
            <a:srgbClr val="E8472B"/>
          </a:solidFill>
          <a:ln>
            <a:noFill/>
          </a:ln>
        </p:spPr>
        <p:txBody>
          <a:bodyPr rtlCol="0" anchor="ctr"/>
          <a:lstStyle/>
          <a:p>
            <a:pPr algn="ctr"/>
          </a:p>
        </p:txBody>
      </p:sp>
      <p:sp>
        <p:nvSpPr>
          <p:cNvPr id="15"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6B6A66"/>
                </a:solidFill>
                <a:latin typeface="Calibri"/>
              </a:rPr>
              <a:t>Radar GitHub · agent-orchestrator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2141B"/>
        </a:solidFill>
        <a:effectLst/>
      </p:bgPr>
    </p:bg>
    <p:spTree>
      <p:nvGrpSpPr>
        <p:cNvPr id="1" name=""/>
        <p:cNvGrpSpPr/>
        <p:nvPr/>
      </p:nvGrpSpPr>
      <p:grpSpPr/>
      <p:sp>
        <p:nvSpPr>
          <p:cNvPr id="2"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F3EEE3"/>
                </a:solidFill>
                <a:latin typeface="Cambria"/>
              </a:rPr>
              <a:t>Nó chạy như thế nào (1/2)</a:t>
            </a:r>
          </a:p>
        </p:txBody>
      </p:sp>
      <p:sp>
        <p:nvSpPr>
          <p:cNvPr id="3" name="card"/>
          <p:cNvSpPr/>
          <p:nvPr/>
        </p:nvSpPr>
        <p:spPr>
          <a:xfrm>
            <a:off x="685800" y="1326895"/>
            <a:ext cx="10820400" cy="1448308"/>
          </a:xfrm>
          <a:prstGeom prst="roundRect">
            <a:avLst>
              <a:gd name="adj" fmla="val 14030"/>
            </a:avLst>
          </a:prstGeom>
          <a:solidFill>
            <a:srgbClr val="1E2230"/>
          </a:solidFill>
          <a:ln>
            <a:noFill/>
          </a:ln>
        </p:spPr>
        <p:txBody>
          <a:bodyPr rtlCol="0" anchor="ctr"/>
          <a:lstStyle/>
          <a:p>
            <a:pPr algn="ctr"/>
          </a:p>
        </p:txBody>
      </p:sp>
      <p:sp>
        <p:nvSpPr>
          <p:cNvPr id="4" name="marker 1"/>
          <p:cNvSpPr/>
          <p:nvPr/>
        </p:nvSpPr>
        <p:spPr>
          <a:xfrm>
            <a:off x="965200" y="1797050"/>
            <a:ext cx="508000" cy="508000"/>
          </a:xfrm>
          <a:prstGeom prst="ellipse">
            <a:avLst/>
          </a:prstGeom>
          <a:solidFill>
            <a:srgbClr val="7C93FF"/>
          </a:solidFill>
          <a:ln>
            <a:noFill/>
          </a:ln>
        </p:spPr>
        <p:txBody>
          <a:bodyPr rtlCol="0" anchor="ctr" lIns="0" rIns="0" tIns="0" bIns="0"/>
          <a:lstStyle/>
          <a:p>
            <a:pPr algn="ctr"/>
            <a:r>
              <a:rPr sz="2000" b="1">
                <a:solidFill>
                  <a:srgbClr val="12141B"/>
                </a:solidFill>
                <a:latin typeface="Calibri"/>
              </a:rPr>
              <a:t>1</a:t>
            </a:r>
          </a:p>
        </p:txBody>
      </p:sp>
      <p:sp>
        <p:nvSpPr>
          <p:cNvPr id="5" name="card text"/>
          <p:cNvSpPr txBox="1"/>
          <p:nvPr/>
        </p:nvSpPr>
        <p:spPr>
          <a:xfrm>
            <a:off x="1701800" y="1466595"/>
            <a:ext cx="9525000" cy="1168908"/>
          </a:xfrm>
          <a:prstGeom prst="rect">
            <a:avLst/>
          </a:prstGeom>
          <a:noFill/>
        </p:spPr>
        <p:txBody>
          <a:bodyPr wrap="square" lIns="0" rIns="0" tIns="0" bIns="0" anchor="ctr">
            <a:noAutofit/>
          </a:bodyPr>
          <a:lstStyle/>
          <a:p>
            <a:pPr algn="l">
              <a:lnSpc>
                <a:spcPct val="100000"/>
              </a:lnSpc>
            </a:pPr>
            <a:r>
              <a:rPr sz="2400" b="1">
                <a:solidFill>
                  <a:srgbClr val="F3EEE3"/>
                </a:solidFill>
                <a:latin typeface="Calibri"/>
              </a:rPr>
              <a:t>Tạo worker session</a:t>
            </a:r>
          </a:p>
          <a:p>
            <a:pPr algn="l">
              <a:lnSpc>
                <a:spcPct val="100000"/>
              </a:lnSpc>
              <a:spcBef>
                <a:spcPts val="500"/>
              </a:spcBef>
            </a:pPr>
            <a:r>
              <a:rPr sz="2200" b="0">
                <a:solidFill>
                  <a:srgbClr val="F3EEE3"/>
                </a:solidFill>
                <a:latin typeface="Calibri"/>
              </a:rPr>
              <a:t>Mỗi tác vụ được gán cho một worker gồm một coding agent, mô hình phù hợp và một không gian làm việc cô lập.</a:t>
            </a:r>
          </a:p>
        </p:txBody>
      </p:sp>
      <p:sp>
        <p:nvSpPr>
          <p:cNvPr id="6" name="card"/>
          <p:cNvSpPr/>
          <p:nvPr/>
        </p:nvSpPr>
        <p:spPr>
          <a:xfrm>
            <a:off x="685800" y="2902204"/>
            <a:ext cx="10820400" cy="1448308"/>
          </a:xfrm>
          <a:prstGeom prst="roundRect">
            <a:avLst>
              <a:gd name="adj" fmla="val 14030"/>
            </a:avLst>
          </a:prstGeom>
          <a:solidFill>
            <a:srgbClr val="1E2230"/>
          </a:solidFill>
          <a:ln>
            <a:noFill/>
          </a:ln>
        </p:spPr>
        <p:txBody>
          <a:bodyPr rtlCol="0" anchor="ctr"/>
          <a:lstStyle/>
          <a:p>
            <a:pPr algn="ctr"/>
          </a:p>
        </p:txBody>
      </p:sp>
      <p:sp>
        <p:nvSpPr>
          <p:cNvPr id="7" name="marker 2"/>
          <p:cNvSpPr/>
          <p:nvPr/>
        </p:nvSpPr>
        <p:spPr>
          <a:xfrm>
            <a:off x="965200" y="3372357"/>
            <a:ext cx="508000" cy="508000"/>
          </a:xfrm>
          <a:prstGeom prst="ellipse">
            <a:avLst/>
          </a:prstGeom>
          <a:solidFill>
            <a:srgbClr val="3DD6A0"/>
          </a:solidFill>
          <a:ln>
            <a:noFill/>
          </a:ln>
        </p:spPr>
        <p:txBody>
          <a:bodyPr rtlCol="0" anchor="ctr" lIns="0" rIns="0" tIns="0" bIns="0"/>
          <a:lstStyle/>
          <a:p>
            <a:pPr algn="ctr"/>
            <a:r>
              <a:rPr sz="2000" b="1">
                <a:solidFill>
                  <a:srgbClr val="12141B"/>
                </a:solidFill>
                <a:latin typeface="Calibri"/>
              </a:rPr>
              <a:t>2</a:t>
            </a:r>
          </a:p>
        </p:txBody>
      </p:sp>
      <p:sp>
        <p:nvSpPr>
          <p:cNvPr id="8" name="card text"/>
          <p:cNvSpPr txBox="1"/>
          <p:nvPr/>
        </p:nvSpPr>
        <p:spPr>
          <a:xfrm>
            <a:off x="1701800" y="3041904"/>
            <a:ext cx="9525000" cy="1168908"/>
          </a:xfrm>
          <a:prstGeom prst="rect">
            <a:avLst/>
          </a:prstGeom>
          <a:noFill/>
        </p:spPr>
        <p:txBody>
          <a:bodyPr wrap="square" lIns="0" rIns="0" tIns="0" bIns="0" anchor="ctr">
            <a:noAutofit/>
          </a:bodyPr>
          <a:lstStyle/>
          <a:p>
            <a:pPr algn="l">
              <a:lnSpc>
                <a:spcPct val="100000"/>
              </a:lnSpc>
            </a:pPr>
            <a:r>
              <a:rPr sz="2400" b="1">
                <a:solidFill>
                  <a:srgbClr val="F3EEE3"/>
                </a:solidFill>
                <a:latin typeface="Calibri"/>
              </a:rPr>
              <a:t>Cô lập không gian Git</a:t>
            </a:r>
          </a:p>
          <a:p>
            <a:pPr algn="l">
              <a:lnSpc>
                <a:spcPct val="100000"/>
              </a:lnSpc>
              <a:spcBef>
                <a:spcPts val="500"/>
              </a:spcBef>
            </a:pPr>
            <a:r>
              <a:rPr sz="2200" b="0">
                <a:solidFill>
                  <a:srgbClr val="F3EEE3"/>
                </a:solidFill>
                <a:latin typeface="Calibri"/>
              </a:rPr>
              <a:t>Mỗi worker chạy trên một nhánh và Git worktree riêng biệt, hoặc thư mục độc lập không cần repo.</a:t>
            </a:r>
          </a:p>
        </p:txBody>
      </p:sp>
      <p:sp>
        <p:nvSpPr>
          <p:cNvPr id="9" name="card"/>
          <p:cNvSpPr/>
          <p:nvPr/>
        </p:nvSpPr>
        <p:spPr>
          <a:xfrm>
            <a:off x="685800" y="4477511"/>
            <a:ext cx="10820400" cy="1448308"/>
          </a:xfrm>
          <a:prstGeom prst="roundRect">
            <a:avLst>
              <a:gd name="adj" fmla="val 14030"/>
            </a:avLst>
          </a:prstGeom>
          <a:solidFill>
            <a:srgbClr val="1E2230"/>
          </a:solidFill>
          <a:ln>
            <a:noFill/>
          </a:ln>
        </p:spPr>
        <p:txBody>
          <a:bodyPr rtlCol="0" anchor="ctr"/>
          <a:lstStyle/>
          <a:p>
            <a:pPr algn="ctr"/>
          </a:p>
        </p:txBody>
      </p:sp>
      <p:sp>
        <p:nvSpPr>
          <p:cNvPr id="10" name="marker 3"/>
          <p:cNvSpPr/>
          <p:nvPr/>
        </p:nvSpPr>
        <p:spPr>
          <a:xfrm>
            <a:off x="965200" y="4947665"/>
            <a:ext cx="508000" cy="508000"/>
          </a:xfrm>
          <a:prstGeom prst="ellipse">
            <a:avLst/>
          </a:prstGeom>
          <a:solidFill>
            <a:srgbClr val="FFB454"/>
          </a:solidFill>
          <a:ln>
            <a:noFill/>
          </a:ln>
        </p:spPr>
        <p:txBody>
          <a:bodyPr rtlCol="0" anchor="ctr" lIns="0" rIns="0" tIns="0" bIns="0"/>
          <a:lstStyle/>
          <a:p>
            <a:pPr algn="ctr"/>
            <a:r>
              <a:rPr sz="2000" b="1">
                <a:solidFill>
                  <a:srgbClr val="12141B"/>
                </a:solidFill>
                <a:latin typeface="Calibri"/>
              </a:rPr>
              <a:t>3</a:t>
            </a:r>
          </a:p>
        </p:txBody>
      </p:sp>
      <p:sp>
        <p:nvSpPr>
          <p:cNvPr id="11" name="card text"/>
          <p:cNvSpPr txBox="1"/>
          <p:nvPr/>
        </p:nvSpPr>
        <p:spPr>
          <a:xfrm>
            <a:off x="1701800" y="4617211"/>
            <a:ext cx="9525000" cy="1168908"/>
          </a:xfrm>
          <a:prstGeom prst="rect">
            <a:avLst/>
          </a:prstGeom>
          <a:noFill/>
        </p:spPr>
        <p:txBody>
          <a:bodyPr wrap="square" lIns="0" rIns="0" tIns="0" bIns="0" anchor="ctr">
            <a:noAutofit/>
          </a:bodyPr>
          <a:lstStyle/>
          <a:p>
            <a:pPr algn="l">
              <a:lnSpc>
                <a:spcPct val="100000"/>
              </a:lnSpc>
            </a:pPr>
            <a:r>
              <a:rPr sz="2400" b="1">
                <a:solidFill>
                  <a:srgbClr val="F3EEE3"/>
                </a:solidFill>
                <a:latin typeface="Calibri"/>
              </a:rPr>
              <a:t>Giám sát qua daemon</a:t>
            </a:r>
          </a:p>
          <a:p>
            <a:pPr algn="l">
              <a:lnSpc>
                <a:spcPct val="100000"/>
              </a:lnSpc>
              <a:spcBef>
                <a:spcPts val="500"/>
              </a:spcBef>
            </a:pPr>
            <a:r>
              <a:rPr sz="2200" b="0">
                <a:solidFill>
                  <a:srgbClr val="F3EEE3"/>
                </a:solidFill>
                <a:latin typeface="Calibri"/>
              </a:rPr>
              <a:t>Daemon chạy nền tự động theo dõi hoạt động của agent, thay đổi mã nguồn, pull request và kết quả CI.</a:t>
            </a:r>
          </a:p>
        </p:txBody>
      </p:sp>
      <p:sp>
        <p:nvSpPr>
          <p:cNvPr id="12"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F3EEE3"/>
                </a:solidFill>
                <a:latin typeface="Calibri"/>
              </a:rPr>
              <a:t>16/20</a:t>
            </a:r>
          </a:p>
        </p:txBody>
      </p:sp>
      <p:sp>
        <p:nvSpPr>
          <p:cNvPr id="13" name="rail"/>
          <p:cNvSpPr/>
          <p:nvPr/>
        </p:nvSpPr>
        <p:spPr>
          <a:xfrm>
            <a:off x="685800" y="6451600"/>
            <a:ext cx="10820400" cy="38100"/>
          </a:xfrm>
          <a:prstGeom prst="rect">
            <a:avLst/>
          </a:prstGeom>
          <a:solidFill>
            <a:srgbClr val="9AA0B5"/>
          </a:solidFill>
          <a:ln>
            <a:noFill/>
          </a:ln>
        </p:spPr>
        <p:txBody>
          <a:bodyPr rtlCol="0" anchor="ctr"/>
          <a:lstStyle/>
          <a:p>
            <a:pPr algn="ctr"/>
          </a:p>
        </p:txBody>
      </p:sp>
      <p:sp>
        <p:nvSpPr>
          <p:cNvPr id="14" name="progress"/>
          <p:cNvSpPr/>
          <p:nvPr/>
        </p:nvSpPr>
        <p:spPr>
          <a:xfrm>
            <a:off x="685800" y="6426200"/>
            <a:ext cx="8656320" cy="88900"/>
          </a:xfrm>
          <a:prstGeom prst="rect">
            <a:avLst/>
          </a:prstGeom>
          <a:solidFill>
            <a:srgbClr val="FF6A4D"/>
          </a:solidFill>
          <a:ln>
            <a:noFill/>
          </a:ln>
        </p:spPr>
        <p:txBody>
          <a:bodyPr rtlCol="0" anchor="ctr"/>
          <a:lstStyle/>
          <a:p>
            <a:pPr algn="ctr"/>
          </a:p>
        </p:txBody>
      </p:sp>
      <p:sp>
        <p:nvSpPr>
          <p:cNvPr id="15"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9AA0B5"/>
                </a:solidFill>
                <a:latin typeface="Calibri"/>
              </a:rPr>
              <a:t>Radar GitHub · agent-orchestrator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2141B"/>
        </a:solidFill>
        <a:effectLst/>
      </p:bgPr>
    </p:bg>
    <p:spTree>
      <p:nvGrpSpPr>
        <p:cNvPr id="1" name=""/>
        <p:cNvGrpSpPr/>
        <p:nvPr/>
      </p:nvGrpSpPr>
      <p:grpSpPr/>
      <p:sp>
        <p:nvSpPr>
          <p:cNvPr id="2"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F3EEE3"/>
                </a:solidFill>
                <a:latin typeface="Cambria"/>
              </a:rPr>
              <a:t>Nó chạy như thế nào (2/2)</a:t>
            </a:r>
          </a:p>
        </p:txBody>
      </p:sp>
      <p:sp>
        <p:nvSpPr>
          <p:cNvPr id="3" name="card"/>
          <p:cNvSpPr/>
          <p:nvPr/>
        </p:nvSpPr>
        <p:spPr>
          <a:xfrm>
            <a:off x="685800" y="1326895"/>
            <a:ext cx="10820400" cy="1448308"/>
          </a:xfrm>
          <a:prstGeom prst="roundRect">
            <a:avLst>
              <a:gd name="adj" fmla="val 14030"/>
            </a:avLst>
          </a:prstGeom>
          <a:solidFill>
            <a:srgbClr val="1E2230"/>
          </a:solidFill>
          <a:ln>
            <a:noFill/>
          </a:ln>
        </p:spPr>
        <p:txBody>
          <a:bodyPr rtlCol="0" anchor="ctr"/>
          <a:lstStyle/>
          <a:p>
            <a:pPr algn="ctr"/>
          </a:p>
        </p:txBody>
      </p:sp>
      <p:sp>
        <p:nvSpPr>
          <p:cNvPr id="4" name="marker 4"/>
          <p:cNvSpPr/>
          <p:nvPr/>
        </p:nvSpPr>
        <p:spPr>
          <a:xfrm>
            <a:off x="965200" y="1797050"/>
            <a:ext cx="508000" cy="508000"/>
          </a:xfrm>
          <a:prstGeom prst="ellipse">
            <a:avLst/>
          </a:prstGeom>
          <a:solidFill>
            <a:srgbClr val="C58BFF"/>
          </a:solidFill>
          <a:ln>
            <a:noFill/>
          </a:ln>
        </p:spPr>
        <p:txBody>
          <a:bodyPr rtlCol="0" anchor="ctr" lIns="0" rIns="0" tIns="0" bIns="0"/>
          <a:lstStyle/>
          <a:p>
            <a:pPr algn="ctr"/>
            <a:r>
              <a:rPr sz="2000" b="1">
                <a:solidFill>
                  <a:srgbClr val="12141B"/>
                </a:solidFill>
                <a:latin typeface="Calibri"/>
              </a:rPr>
              <a:t>4</a:t>
            </a:r>
          </a:p>
        </p:txBody>
      </p:sp>
      <p:sp>
        <p:nvSpPr>
          <p:cNvPr id="5" name="card text"/>
          <p:cNvSpPr txBox="1"/>
          <p:nvPr/>
        </p:nvSpPr>
        <p:spPr>
          <a:xfrm>
            <a:off x="1701800" y="1466595"/>
            <a:ext cx="9525000" cy="1168908"/>
          </a:xfrm>
          <a:prstGeom prst="rect">
            <a:avLst/>
          </a:prstGeom>
          <a:noFill/>
        </p:spPr>
        <p:txBody>
          <a:bodyPr wrap="square" lIns="0" rIns="0" tIns="0" bIns="0" anchor="ctr">
            <a:noAutofit/>
          </a:bodyPr>
          <a:lstStyle/>
          <a:p>
            <a:pPr algn="l">
              <a:lnSpc>
                <a:spcPct val="100000"/>
              </a:lnSpc>
            </a:pPr>
            <a:r>
              <a:rPr sz="2400" b="1">
                <a:solidFill>
                  <a:srgbClr val="F3EEE3"/>
                </a:solidFill>
                <a:latin typeface="Calibri"/>
              </a:rPr>
              <a:t>Phản hồi hai chiều</a:t>
            </a:r>
          </a:p>
          <a:p>
            <a:pPr algn="l">
              <a:lnSpc>
                <a:spcPct val="100000"/>
              </a:lnSpc>
              <a:spcBef>
                <a:spcPts val="500"/>
              </a:spcBef>
            </a:pPr>
            <a:r>
              <a:rPr sz="2200" b="0">
                <a:solidFill>
                  <a:srgbClr val="F3EEE3"/>
                </a:solidFill>
                <a:latin typeface="Calibri"/>
              </a:rPr>
              <a:t>Người dùng gửi trực tiếp góp ý duyệt mã hoặc lỗi từ CI về đúng agent sở hữu phần việc đó.</a:t>
            </a:r>
          </a:p>
        </p:txBody>
      </p:sp>
      <p:sp>
        <p:nvSpPr>
          <p:cNvPr id="6"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F3EEE3"/>
                </a:solidFill>
                <a:latin typeface="Calibri"/>
              </a:rPr>
              <a:t>17/20</a:t>
            </a:r>
          </a:p>
        </p:txBody>
      </p:sp>
      <p:sp>
        <p:nvSpPr>
          <p:cNvPr id="7" name="rail"/>
          <p:cNvSpPr/>
          <p:nvPr/>
        </p:nvSpPr>
        <p:spPr>
          <a:xfrm>
            <a:off x="685800" y="6451600"/>
            <a:ext cx="10820400" cy="38100"/>
          </a:xfrm>
          <a:prstGeom prst="rect">
            <a:avLst/>
          </a:prstGeom>
          <a:solidFill>
            <a:srgbClr val="9AA0B5"/>
          </a:solidFill>
          <a:ln>
            <a:noFill/>
          </a:ln>
        </p:spPr>
        <p:txBody>
          <a:bodyPr rtlCol="0" anchor="ctr"/>
          <a:lstStyle/>
          <a:p>
            <a:pPr algn="ctr"/>
          </a:p>
        </p:txBody>
      </p:sp>
      <p:sp>
        <p:nvSpPr>
          <p:cNvPr id="8" name="progress"/>
          <p:cNvSpPr/>
          <p:nvPr/>
        </p:nvSpPr>
        <p:spPr>
          <a:xfrm>
            <a:off x="685800" y="6426200"/>
            <a:ext cx="9197340" cy="88900"/>
          </a:xfrm>
          <a:prstGeom prst="rect">
            <a:avLst/>
          </a:prstGeom>
          <a:solidFill>
            <a:srgbClr val="FF6A4D"/>
          </a:solidFill>
          <a:ln>
            <a:noFill/>
          </a:ln>
        </p:spPr>
        <p:txBody>
          <a:bodyPr rtlCol="0" anchor="ctr"/>
          <a:lstStyle/>
          <a:p>
            <a:pPr algn="ctr"/>
          </a:p>
        </p:txBody>
      </p:sp>
      <p:sp>
        <p:nvSpPr>
          <p:cNvPr id="9"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9AA0B5"/>
                </a:solidFill>
                <a:latin typeface="Calibri"/>
              </a:rPr>
              <a:t>Radar GitHub · agent-orchestrator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F3FD1"/>
        </a:solidFill>
        <a:effectLst/>
      </p:bgPr>
    </p:bg>
    <p:spTree>
      <p:nvGrpSpPr>
        <p:cNvPr id="1" name=""/>
        <p:cNvGrpSpPr/>
        <p:nvPr/>
      </p:nvGrpSpPr>
      <p:grpSpPr/>
      <p:sp>
        <p:nvSpPr>
          <p:cNvPr id="2"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FFFFFF"/>
                </a:solidFill>
                <a:latin typeface="Cambria"/>
              </a:rPr>
              <a:t>Học được gì từ thiết kế này</a:t>
            </a:r>
          </a:p>
        </p:txBody>
      </p:sp>
      <p:sp>
        <p:nvSpPr>
          <p:cNvPr id="3" name="card"/>
          <p:cNvSpPr/>
          <p:nvPr/>
        </p:nvSpPr>
        <p:spPr>
          <a:xfrm>
            <a:off x="685800" y="1326895"/>
            <a:ext cx="10820400" cy="1124712"/>
          </a:xfrm>
          <a:prstGeom prst="roundRect">
            <a:avLst>
              <a:gd name="adj" fmla="val 18066"/>
            </a:avLst>
          </a:prstGeom>
          <a:solidFill>
            <a:srgbClr val="3453E3"/>
          </a:solidFill>
          <a:ln>
            <a:noFill/>
          </a:ln>
        </p:spPr>
        <p:txBody>
          <a:bodyPr rtlCol="0" anchor="ctr"/>
          <a:lstStyle/>
          <a:p>
            <a:pPr algn="ctr"/>
          </a:p>
        </p:txBody>
      </p:sp>
      <p:sp>
        <p:nvSpPr>
          <p:cNvPr id="4" name="marker 1"/>
          <p:cNvSpPr/>
          <p:nvPr/>
        </p:nvSpPr>
        <p:spPr>
          <a:xfrm>
            <a:off x="965200" y="1635252"/>
            <a:ext cx="508000" cy="508000"/>
          </a:xfrm>
          <a:prstGeom prst="ellipse">
            <a:avLst/>
          </a:prstGeom>
          <a:solidFill>
            <a:srgbClr val="F3EEE3"/>
          </a:solidFill>
          <a:ln>
            <a:noFill/>
          </a:ln>
        </p:spPr>
        <p:txBody>
          <a:bodyPr rtlCol="0" anchor="ctr" lIns="0" rIns="0" tIns="0" bIns="0"/>
          <a:lstStyle/>
          <a:p>
            <a:pPr algn="ctr"/>
            <a:r>
              <a:rPr sz="2000" b="1">
                <a:solidFill>
                  <a:srgbClr val="1F3FD1"/>
                </a:solidFill>
                <a:latin typeface="Calibri"/>
              </a:rPr>
              <a:t>1</a:t>
            </a:r>
          </a:p>
        </p:txBody>
      </p:sp>
      <p:sp>
        <p:nvSpPr>
          <p:cNvPr id="5" name="card text"/>
          <p:cNvSpPr txBox="1"/>
          <p:nvPr/>
        </p:nvSpPr>
        <p:spPr>
          <a:xfrm>
            <a:off x="1701800" y="1466595"/>
            <a:ext cx="9525000" cy="845312"/>
          </a:xfrm>
          <a:prstGeom prst="rect">
            <a:avLst/>
          </a:prstGeom>
          <a:noFill/>
        </p:spPr>
        <p:txBody>
          <a:bodyPr wrap="square" lIns="0" rIns="0" tIns="0" bIns="0" anchor="ctr">
            <a:noAutofit/>
          </a:bodyPr>
          <a:lstStyle/>
          <a:p>
            <a:pPr algn="l">
              <a:lnSpc>
                <a:spcPct val="100000"/>
              </a:lnSpc>
            </a:pPr>
            <a:r>
              <a:rPr sz="2600" b="0">
                <a:solidFill>
                  <a:srgbClr val="FFFFFF"/>
                </a:solidFill>
                <a:latin typeface="Calibri"/>
              </a:rPr>
              <a:t>Dùng Git worktree để cô lập hoàn toàn môi trường làm việc của từng AI agent</a:t>
            </a:r>
          </a:p>
        </p:txBody>
      </p:sp>
      <p:sp>
        <p:nvSpPr>
          <p:cNvPr id="6" name="card"/>
          <p:cNvSpPr/>
          <p:nvPr/>
        </p:nvSpPr>
        <p:spPr>
          <a:xfrm>
            <a:off x="685800" y="2578608"/>
            <a:ext cx="10820400" cy="1124712"/>
          </a:xfrm>
          <a:prstGeom prst="roundRect">
            <a:avLst>
              <a:gd name="adj" fmla="val 18066"/>
            </a:avLst>
          </a:prstGeom>
          <a:solidFill>
            <a:srgbClr val="3453E3"/>
          </a:solidFill>
          <a:ln>
            <a:noFill/>
          </a:ln>
        </p:spPr>
        <p:txBody>
          <a:bodyPr rtlCol="0" anchor="ctr"/>
          <a:lstStyle/>
          <a:p>
            <a:pPr algn="ctr"/>
          </a:p>
        </p:txBody>
      </p:sp>
      <p:sp>
        <p:nvSpPr>
          <p:cNvPr id="7" name="marker 2"/>
          <p:cNvSpPr/>
          <p:nvPr/>
        </p:nvSpPr>
        <p:spPr>
          <a:xfrm>
            <a:off x="965200" y="2886964"/>
            <a:ext cx="508000" cy="508000"/>
          </a:xfrm>
          <a:prstGeom prst="ellipse">
            <a:avLst/>
          </a:prstGeom>
          <a:solidFill>
            <a:srgbClr val="F3EEE3"/>
          </a:solidFill>
          <a:ln>
            <a:noFill/>
          </a:ln>
        </p:spPr>
        <p:txBody>
          <a:bodyPr rtlCol="0" anchor="ctr" lIns="0" rIns="0" tIns="0" bIns="0"/>
          <a:lstStyle/>
          <a:p>
            <a:pPr algn="ctr"/>
            <a:r>
              <a:rPr sz="2000" b="1">
                <a:solidFill>
                  <a:srgbClr val="1F3FD1"/>
                </a:solidFill>
                <a:latin typeface="Calibri"/>
              </a:rPr>
              <a:t>2</a:t>
            </a:r>
          </a:p>
        </p:txBody>
      </p:sp>
      <p:sp>
        <p:nvSpPr>
          <p:cNvPr id="8" name="card text"/>
          <p:cNvSpPr txBox="1"/>
          <p:nvPr/>
        </p:nvSpPr>
        <p:spPr>
          <a:xfrm>
            <a:off x="1701800" y="2718308"/>
            <a:ext cx="9525000" cy="845312"/>
          </a:xfrm>
          <a:prstGeom prst="rect">
            <a:avLst/>
          </a:prstGeom>
          <a:noFill/>
        </p:spPr>
        <p:txBody>
          <a:bodyPr wrap="square" lIns="0" rIns="0" tIns="0" bIns="0" anchor="ctr">
            <a:noAutofit/>
          </a:bodyPr>
          <a:lstStyle/>
          <a:p>
            <a:pPr algn="l">
              <a:lnSpc>
                <a:spcPct val="100000"/>
              </a:lnSpc>
            </a:pPr>
            <a:r>
              <a:rPr sz="2600" b="0">
                <a:solidFill>
                  <a:srgbClr val="FFFFFF"/>
                </a:solidFill>
                <a:latin typeface="Calibri"/>
              </a:rPr>
              <a:t>Mô hình tiến trình daemon nền giúp tự động hóa việc theo dõi mã nguồn mà không cần gõ lệnh thủ công</a:t>
            </a:r>
          </a:p>
        </p:txBody>
      </p:sp>
      <p:sp>
        <p:nvSpPr>
          <p:cNvPr id="9" name="card"/>
          <p:cNvSpPr/>
          <p:nvPr/>
        </p:nvSpPr>
        <p:spPr>
          <a:xfrm>
            <a:off x="685800" y="3830320"/>
            <a:ext cx="10820400" cy="1124712"/>
          </a:xfrm>
          <a:prstGeom prst="roundRect">
            <a:avLst>
              <a:gd name="adj" fmla="val 18066"/>
            </a:avLst>
          </a:prstGeom>
          <a:solidFill>
            <a:srgbClr val="3453E3"/>
          </a:solidFill>
          <a:ln>
            <a:noFill/>
          </a:ln>
        </p:spPr>
        <p:txBody>
          <a:bodyPr rtlCol="0" anchor="ctr"/>
          <a:lstStyle/>
          <a:p>
            <a:pPr algn="ctr"/>
          </a:p>
        </p:txBody>
      </p:sp>
      <p:sp>
        <p:nvSpPr>
          <p:cNvPr id="10" name="marker 3"/>
          <p:cNvSpPr/>
          <p:nvPr/>
        </p:nvSpPr>
        <p:spPr>
          <a:xfrm>
            <a:off x="965200" y="4138676"/>
            <a:ext cx="508000" cy="508000"/>
          </a:xfrm>
          <a:prstGeom prst="ellipse">
            <a:avLst/>
          </a:prstGeom>
          <a:solidFill>
            <a:srgbClr val="F3EEE3"/>
          </a:solidFill>
          <a:ln>
            <a:noFill/>
          </a:ln>
        </p:spPr>
        <p:txBody>
          <a:bodyPr rtlCol="0" anchor="ctr" lIns="0" rIns="0" tIns="0" bIns="0"/>
          <a:lstStyle/>
          <a:p>
            <a:pPr algn="ctr"/>
            <a:r>
              <a:rPr sz="2000" b="1">
                <a:solidFill>
                  <a:srgbClr val="1F3FD1"/>
                </a:solidFill>
                <a:latin typeface="Calibri"/>
              </a:rPr>
              <a:t>3</a:t>
            </a:r>
          </a:p>
        </p:txBody>
      </p:sp>
      <p:sp>
        <p:nvSpPr>
          <p:cNvPr id="11" name="card text"/>
          <p:cNvSpPr txBox="1"/>
          <p:nvPr/>
        </p:nvSpPr>
        <p:spPr>
          <a:xfrm>
            <a:off x="1701800" y="3970020"/>
            <a:ext cx="9525000" cy="845312"/>
          </a:xfrm>
          <a:prstGeom prst="rect">
            <a:avLst/>
          </a:prstGeom>
          <a:noFill/>
        </p:spPr>
        <p:txBody>
          <a:bodyPr wrap="square" lIns="0" rIns="0" tIns="0" bIns="0" anchor="ctr">
            <a:noAutofit/>
          </a:bodyPr>
          <a:lstStyle/>
          <a:p>
            <a:pPr algn="l">
              <a:lnSpc>
                <a:spcPct val="100000"/>
              </a:lnSpc>
            </a:pPr>
            <a:r>
              <a:rPr sz="2600" b="0">
                <a:solidFill>
                  <a:srgbClr val="FFFFFF"/>
                </a:solidFill>
                <a:latin typeface="Calibri"/>
              </a:rPr>
              <a:t>Quản lý vòng lặp phản hồi khép kín bằng cách trả thẳng lỗi CI vào phiên làm việc của agent</a:t>
            </a:r>
          </a:p>
        </p:txBody>
      </p:sp>
      <p:sp>
        <p:nvSpPr>
          <p:cNvPr id="12"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FFFFFF"/>
                </a:solidFill>
                <a:latin typeface="Calibri"/>
              </a:rPr>
              <a:t>18/20</a:t>
            </a:r>
          </a:p>
        </p:txBody>
      </p:sp>
      <p:sp>
        <p:nvSpPr>
          <p:cNvPr id="13" name="rail"/>
          <p:cNvSpPr/>
          <p:nvPr/>
        </p:nvSpPr>
        <p:spPr>
          <a:xfrm>
            <a:off x="685800" y="6451600"/>
            <a:ext cx="10820400" cy="38100"/>
          </a:xfrm>
          <a:prstGeom prst="rect">
            <a:avLst/>
          </a:prstGeom>
          <a:solidFill>
            <a:srgbClr val="C9D2FF"/>
          </a:solidFill>
          <a:ln>
            <a:noFill/>
          </a:ln>
        </p:spPr>
        <p:txBody>
          <a:bodyPr rtlCol="0" anchor="ctr"/>
          <a:lstStyle/>
          <a:p>
            <a:pPr algn="ctr"/>
          </a:p>
        </p:txBody>
      </p:sp>
      <p:sp>
        <p:nvSpPr>
          <p:cNvPr id="14" name="progress"/>
          <p:cNvSpPr/>
          <p:nvPr/>
        </p:nvSpPr>
        <p:spPr>
          <a:xfrm>
            <a:off x="685800" y="6426200"/>
            <a:ext cx="9738360" cy="88900"/>
          </a:xfrm>
          <a:prstGeom prst="rect">
            <a:avLst/>
          </a:prstGeom>
          <a:solidFill>
            <a:srgbClr val="FFB454"/>
          </a:solidFill>
          <a:ln>
            <a:noFill/>
          </a:ln>
        </p:spPr>
        <p:txBody>
          <a:bodyPr rtlCol="0" anchor="ctr"/>
          <a:lstStyle/>
          <a:p>
            <a:pPr algn="ctr"/>
          </a:p>
        </p:txBody>
      </p:sp>
      <p:sp>
        <p:nvSpPr>
          <p:cNvPr id="15"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C9D2FF"/>
                </a:solidFill>
                <a:latin typeface="Calibri"/>
              </a:rPr>
              <a:t>Radar GitHub · agent-orchestrator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3EEE3"/>
        </a:solidFill>
        <a:effectLst/>
      </p:bgPr>
    </p:bg>
    <p:spTree>
      <p:nvGrpSpPr>
        <p:cNvPr id="1" name=""/>
        <p:cNvGrpSpPr/>
        <p:nvPr/>
      </p:nvGrpSpPr>
      <p:grpSpPr/>
      <p:sp>
        <p:nvSpPr>
          <p:cNvPr id="2"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14161C"/>
                </a:solidFill>
                <a:latin typeface="Cambria"/>
              </a:rPr>
              <a:t>Từ khóa</a:t>
            </a:r>
          </a:p>
        </p:txBody>
      </p:sp>
      <p:sp>
        <p:nvSpPr>
          <p:cNvPr id="3" name="card"/>
          <p:cNvSpPr/>
          <p:nvPr/>
        </p:nvSpPr>
        <p:spPr>
          <a:xfrm>
            <a:off x="685800" y="1326895"/>
            <a:ext cx="10820400" cy="1545844"/>
          </a:xfrm>
          <a:prstGeom prst="roundRect">
            <a:avLst>
              <a:gd name="adj" fmla="val 13144"/>
            </a:avLst>
          </a:prstGeom>
          <a:solidFill>
            <a:srgbClr val="E8E0CF"/>
          </a:solidFill>
          <a:ln>
            <a:noFill/>
          </a:ln>
        </p:spPr>
        <p:txBody>
          <a:bodyPr rtlCol="0" anchor="ctr"/>
          <a:lstStyle/>
          <a:p>
            <a:pPr algn="ctr"/>
          </a:p>
        </p:txBody>
      </p:sp>
      <p:sp>
        <p:nvSpPr>
          <p:cNvPr id="4" name="card text"/>
          <p:cNvSpPr txBox="1"/>
          <p:nvPr/>
        </p:nvSpPr>
        <p:spPr>
          <a:xfrm>
            <a:off x="965200" y="1466595"/>
            <a:ext cx="10261600" cy="1266444"/>
          </a:xfrm>
          <a:prstGeom prst="rect">
            <a:avLst/>
          </a:prstGeom>
          <a:noFill/>
        </p:spPr>
        <p:txBody>
          <a:bodyPr wrap="square" lIns="0" rIns="0" tIns="0" bIns="0" anchor="ctr">
            <a:noAutofit/>
          </a:bodyPr>
          <a:lstStyle/>
          <a:p>
            <a:pPr algn="l">
              <a:lnSpc>
                <a:spcPct val="100000"/>
              </a:lnSpc>
            </a:pPr>
            <a:r>
              <a:rPr sz="2600" b="1">
                <a:solidFill>
                  <a:srgbClr val="14161C"/>
                </a:solidFill>
                <a:latin typeface="Calibri"/>
              </a:rPr>
              <a:t>Worktree</a:t>
            </a:r>
          </a:p>
          <a:p>
            <a:pPr algn="l">
              <a:lnSpc>
                <a:spcPct val="100000"/>
              </a:lnSpc>
              <a:spcBef>
                <a:spcPts val="500"/>
              </a:spcBef>
            </a:pPr>
            <a:r>
              <a:rPr sz="2400" b="0">
                <a:solidFill>
                  <a:srgbClr val="14161C"/>
                </a:solidFill>
                <a:latin typeface="Calibri"/>
              </a:rPr>
              <a:t>Tính năng của Git cho phép gắn nhiều thư mục làm việc vào cùng một repository</a:t>
            </a:r>
          </a:p>
        </p:txBody>
      </p:sp>
      <p:sp>
        <p:nvSpPr>
          <p:cNvPr id="5" name="card"/>
          <p:cNvSpPr/>
          <p:nvPr/>
        </p:nvSpPr>
        <p:spPr>
          <a:xfrm>
            <a:off x="685800" y="2999740"/>
            <a:ext cx="10820400" cy="1545844"/>
          </a:xfrm>
          <a:prstGeom prst="roundRect">
            <a:avLst>
              <a:gd name="adj" fmla="val 13144"/>
            </a:avLst>
          </a:prstGeom>
          <a:solidFill>
            <a:srgbClr val="E8E0CF"/>
          </a:solidFill>
          <a:ln>
            <a:noFill/>
          </a:ln>
        </p:spPr>
        <p:txBody>
          <a:bodyPr rtlCol="0" anchor="ctr"/>
          <a:lstStyle/>
          <a:p>
            <a:pPr algn="ctr"/>
          </a:p>
        </p:txBody>
      </p:sp>
      <p:sp>
        <p:nvSpPr>
          <p:cNvPr id="6" name="card text"/>
          <p:cNvSpPr txBox="1"/>
          <p:nvPr/>
        </p:nvSpPr>
        <p:spPr>
          <a:xfrm>
            <a:off x="965200" y="3139440"/>
            <a:ext cx="10261600" cy="1266444"/>
          </a:xfrm>
          <a:prstGeom prst="rect">
            <a:avLst/>
          </a:prstGeom>
          <a:noFill/>
        </p:spPr>
        <p:txBody>
          <a:bodyPr wrap="square" lIns="0" rIns="0" tIns="0" bIns="0" anchor="ctr">
            <a:noAutofit/>
          </a:bodyPr>
          <a:lstStyle/>
          <a:p>
            <a:pPr algn="l">
              <a:lnSpc>
                <a:spcPct val="100000"/>
              </a:lnSpc>
            </a:pPr>
            <a:r>
              <a:rPr sz="2600" b="1">
                <a:solidFill>
                  <a:srgbClr val="14161C"/>
                </a:solidFill>
                <a:latin typeface="Calibri"/>
              </a:rPr>
              <a:t>Worker</a:t>
            </a:r>
          </a:p>
          <a:p>
            <a:pPr algn="l">
              <a:lnSpc>
                <a:spcPct val="100000"/>
              </a:lnSpc>
              <a:spcBef>
                <a:spcPts val="500"/>
              </a:spcBef>
            </a:pPr>
            <a:r>
              <a:rPr sz="2400" b="0">
                <a:solidFill>
                  <a:srgbClr val="14161C"/>
                </a:solidFill>
                <a:latin typeface="Calibri"/>
              </a:rPr>
              <a:t>Đơn vị thực thi gồm một tác vụ, một coding agent và một không gian làm việc riêng biệt</a:t>
            </a:r>
          </a:p>
        </p:txBody>
      </p:sp>
      <p:sp>
        <p:nvSpPr>
          <p:cNvPr id="7" name="card"/>
          <p:cNvSpPr/>
          <p:nvPr/>
        </p:nvSpPr>
        <p:spPr>
          <a:xfrm>
            <a:off x="685800" y="4672583"/>
            <a:ext cx="10820400" cy="1155700"/>
          </a:xfrm>
          <a:prstGeom prst="roundRect">
            <a:avLst>
              <a:gd name="adj" fmla="val 17582"/>
            </a:avLst>
          </a:prstGeom>
          <a:solidFill>
            <a:srgbClr val="E8E0CF"/>
          </a:solidFill>
          <a:ln>
            <a:noFill/>
          </a:ln>
        </p:spPr>
        <p:txBody>
          <a:bodyPr rtlCol="0" anchor="ctr"/>
          <a:lstStyle/>
          <a:p>
            <a:pPr algn="ctr"/>
          </a:p>
        </p:txBody>
      </p:sp>
      <p:sp>
        <p:nvSpPr>
          <p:cNvPr id="8" name="card text"/>
          <p:cNvSpPr txBox="1"/>
          <p:nvPr/>
        </p:nvSpPr>
        <p:spPr>
          <a:xfrm>
            <a:off x="965200" y="4812283"/>
            <a:ext cx="10261600" cy="876300"/>
          </a:xfrm>
          <a:prstGeom prst="rect">
            <a:avLst/>
          </a:prstGeom>
          <a:noFill/>
        </p:spPr>
        <p:txBody>
          <a:bodyPr wrap="square" lIns="0" rIns="0" tIns="0" bIns="0" anchor="ctr">
            <a:noAutofit/>
          </a:bodyPr>
          <a:lstStyle/>
          <a:p>
            <a:pPr algn="l">
              <a:lnSpc>
                <a:spcPct val="100000"/>
              </a:lnSpc>
            </a:pPr>
            <a:r>
              <a:rPr sz="2600" b="1">
                <a:solidFill>
                  <a:srgbClr val="14161C"/>
                </a:solidFill>
                <a:latin typeface="Calibri"/>
              </a:rPr>
              <a:t>Daemon</a:t>
            </a:r>
          </a:p>
          <a:p>
            <a:pPr algn="l">
              <a:lnSpc>
                <a:spcPct val="100000"/>
              </a:lnSpc>
              <a:spcBef>
                <a:spcPts val="500"/>
              </a:spcBef>
            </a:pPr>
            <a:r>
              <a:rPr sz="2400" b="0">
                <a:solidFill>
                  <a:srgbClr val="14161C"/>
                </a:solidFill>
                <a:latin typeface="Calibri"/>
              </a:rPr>
              <a:t>Tiến trình chạy nền trên máy để tự động giám sát trạng thái hệ thống</a:t>
            </a:r>
          </a:p>
        </p:txBody>
      </p:sp>
      <p:sp>
        <p:nvSpPr>
          <p:cNvPr id="9"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14161C"/>
                </a:solidFill>
                <a:latin typeface="Calibri"/>
              </a:rPr>
              <a:t>19/20</a:t>
            </a:r>
          </a:p>
        </p:txBody>
      </p:sp>
      <p:sp>
        <p:nvSpPr>
          <p:cNvPr id="10" name="rail"/>
          <p:cNvSpPr/>
          <p:nvPr/>
        </p:nvSpPr>
        <p:spPr>
          <a:xfrm>
            <a:off x="685800" y="6451600"/>
            <a:ext cx="10820400" cy="38100"/>
          </a:xfrm>
          <a:prstGeom prst="rect">
            <a:avLst/>
          </a:prstGeom>
          <a:solidFill>
            <a:srgbClr val="6B6A66"/>
          </a:solidFill>
          <a:ln>
            <a:noFill/>
          </a:ln>
        </p:spPr>
        <p:txBody>
          <a:bodyPr rtlCol="0" anchor="ctr"/>
          <a:lstStyle/>
          <a:p>
            <a:pPr algn="ctr"/>
          </a:p>
        </p:txBody>
      </p:sp>
      <p:sp>
        <p:nvSpPr>
          <p:cNvPr id="11" name="progress"/>
          <p:cNvSpPr/>
          <p:nvPr/>
        </p:nvSpPr>
        <p:spPr>
          <a:xfrm>
            <a:off x="685800" y="6426200"/>
            <a:ext cx="10279380" cy="88900"/>
          </a:xfrm>
          <a:prstGeom prst="rect">
            <a:avLst/>
          </a:prstGeom>
          <a:solidFill>
            <a:srgbClr val="E8472B"/>
          </a:solidFill>
          <a:ln>
            <a:noFill/>
          </a:ln>
        </p:spPr>
        <p:txBody>
          <a:bodyPr rtlCol="0" anchor="ctr"/>
          <a:lstStyle/>
          <a:p>
            <a:pPr algn="ctr"/>
          </a:p>
        </p:txBody>
      </p:sp>
      <p:sp>
        <p:nvSpPr>
          <p:cNvPr id="12"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6B6A66"/>
                </a:solidFill>
                <a:latin typeface="Calibri"/>
              </a:rPr>
              <a:t>Radar GitHub · agent-orchestrator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2141B"/>
        </a:solidFill>
        <a:effectLst/>
      </p:bgPr>
    </p:bg>
    <p:spTree>
      <p:nvGrpSpPr>
        <p:cNvPr id="1" name=""/>
        <p:cNvGrpSpPr/>
        <p:nvPr/>
      </p:nvGrpSpPr>
      <p:grpSpPr/>
      <p:sp>
        <p:nvSpPr>
          <p:cNvPr id="2" name="title"/>
          <p:cNvSpPr txBox="1"/>
          <p:nvPr/>
        </p:nvSpPr>
        <p:spPr>
          <a:xfrm>
            <a:off x="685800" y="609600"/>
            <a:ext cx="10820400" cy="1524000"/>
          </a:xfrm>
          <a:prstGeom prst="rect">
            <a:avLst/>
          </a:prstGeom>
          <a:noFill/>
        </p:spPr>
        <p:txBody>
          <a:bodyPr wrap="square" lIns="0" rIns="0" tIns="0" bIns="0" anchor="t">
            <a:noAutofit/>
          </a:bodyPr>
          <a:lstStyle/>
          <a:p>
            <a:pPr algn="l">
              <a:lnSpc>
                <a:spcPct val="100000"/>
              </a:lnSpc>
            </a:pPr>
            <a:r>
              <a:rPr sz="3600" b="1">
                <a:solidFill>
                  <a:srgbClr val="F3EEE3"/>
                </a:solidFill>
                <a:latin typeface="Cambria"/>
              </a:rPr>
              <a:t>Nguồn dữ kiện</a:t>
            </a:r>
          </a:p>
        </p:txBody>
      </p:sp>
      <p:sp>
        <p:nvSpPr>
          <p:cNvPr id="3" name="chip"/>
          <p:cNvSpPr/>
          <p:nvPr/>
        </p:nvSpPr>
        <p:spPr>
          <a:xfrm>
            <a:off x="685800" y="1326895"/>
            <a:ext cx="1818639" cy="584200"/>
          </a:xfrm>
          <a:prstGeom prst="roundRect">
            <a:avLst>
              <a:gd name="adj" fmla="val 50000"/>
            </a:avLst>
          </a:prstGeom>
          <a:solidFill>
            <a:srgbClr val="1E2230"/>
          </a:solidFill>
          <a:ln>
            <a:noFill/>
          </a:ln>
        </p:spPr>
        <p:txBody>
          <a:bodyPr rtlCol="0" anchor="ctr"/>
          <a:lstStyle/>
          <a:p>
            <a:pPr algn="ctr"/>
          </a:p>
        </p:txBody>
      </p:sp>
      <p:sp>
        <p:nvSpPr>
          <p:cNvPr id="4" name="chip text"/>
          <p:cNvSpPr txBox="1"/>
          <p:nvPr/>
        </p:nvSpPr>
        <p:spPr>
          <a:xfrm>
            <a:off x="685800" y="1326895"/>
            <a:ext cx="1818639" cy="584200"/>
          </a:xfrm>
          <a:prstGeom prst="rect">
            <a:avLst/>
          </a:prstGeom>
          <a:noFill/>
        </p:spPr>
        <p:txBody>
          <a:bodyPr wrap="square" lIns="0" rIns="0" tIns="0" bIns="0" anchor="ctr">
            <a:noAutofit/>
          </a:bodyPr>
          <a:lstStyle/>
          <a:p>
            <a:pPr algn="ctr">
              <a:lnSpc>
                <a:spcPct val="100000"/>
              </a:lnSpc>
            </a:pPr>
            <a:r>
              <a:rPr sz="2000" b="1">
                <a:solidFill>
                  <a:srgbClr val="F3EEE3"/>
                </a:solidFill>
                <a:latin typeface="Calibri"/>
              </a:rPr>
              <a:t>13.260 sao</a:t>
            </a:r>
          </a:p>
        </p:txBody>
      </p:sp>
      <p:sp>
        <p:nvSpPr>
          <p:cNvPr id="5" name="chip"/>
          <p:cNvSpPr/>
          <p:nvPr/>
        </p:nvSpPr>
        <p:spPr>
          <a:xfrm>
            <a:off x="2656840" y="1326895"/>
            <a:ext cx="1813560" cy="584200"/>
          </a:xfrm>
          <a:prstGeom prst="roundRect">
            <a:avLst>
              <a:gd name="adj" fmla="val 50000"/>
            </a:avLst>
          </a:prstGeom>
          <a:solidFill>
            <a:srgbClr val="1E2230"/>
          </a:solidFill>
          <a:ln>
            <a:noFill/>
          </a:ln>
        </p:spPr>
        <p:txBody>
          <a:bodyPr rtlCol="0" anchor="ctr"/>
          <a:lstStyle/>
          <a:p>
            <a:pPr algn="ctr"/>
          </a:p>
        </p:txBody>
      </p:sp>
      <p:sp>
        <p:nvSpPr>
          <p:cNvPr id="6" name="chip text"/>
          <p:cNvSpPr txBox="1"/>
          <p:nvPr/>
        </p:nvSpPr>
        <p:spPr>
          <a:xfrm>
            <a:off x="2656840" y="1326895"/>
            <a:ext cx="1813560" cy="584200"/>
          </a:xfrm>
          <a:prstGeom prst="rect">
            <a:avLst/>
          </a:prstGeom>
          <a:noFill/>
        </p:spPr>
        <p:txBody>
          <a:bodyPr wrap="square" lIns="0" rIns="0" tIns="0" bIns="0" anchor="ctr">
            <a:noAutofit/>
          </a:bodyPr>
          <a:lstStyle/>
          <a:p>
            <a:pPr algn="ctr">
              <a:lnSpc>
                <a:spcPct val="100000"/>
              </a:lnSpc>
            </a:pPr>
            <a:r>
              <a:rPr sz="2000" b="1">
                <a:solidFill>
                  <a:srgbClr val="F3EEE3"/>
                </a:solidFill>
                <a:latin typeface="Calibri"/>
              </a:rPr>
              <a:t>1.819 fork</a:t>
            </a:r>
          </a:p>
        </p:txBody>
      </p:sp>
      <p:sp>
        <p:nvSpPr>
          <p:cNvPr id="7" name="chip"/>
          <p:cNvSpPr/>
          <p:nvPr/>
        </p:nvSpPr>
        <p:spPr>
          <a:xfrm>
            <a:off x="4622800" y="1326895"/>
            <a:ext cx="3271520" cy="584200"/>
          </a:xfrm>
          <a:prstGeom prst="roundRect">
            <a:avLst>
              <a:gd name="adj" fmla="val 50000"/>
            </a:avLst>
          </a:prstGeom>
          <a:solidFill>
            <a:srgbClr val="1E2230"/>
          </a:solidFill>
          <a:ln>
            <a:noFill/>
          </a:ln>
        </p:spPr>
        <p:txBody>
          <a:bodyPr rtlCol="0" anchor="ctr"/>
          <a:lstStyle/>
          <a:p>
            <a:pPr algn="ctr"/>
          </a:p>
        </p:txBody>
      </p:sp>
      <p:sp>
        <p:nvSpPr>
          <p:cNvPr id="8" name="chip text"/>
          <p:cNvSpPr txBox="1"/>
          <p:nvPr/>
        </p:nvSpPr>
        <p:spPr>
          <a:xfrm>
            <a:off x="4622800" y="1326895"/>
            <a:ext cx="3271520" cy="584200"/>
          </a:xfrm>
          <a:prstGeom prst="rect">
            <a:avLst/>
          </a:prstGeom>
          <a:noFill/>
        </p:spPr>
        <p:txBody>
          <a:bodyPr wrap="square" lIns="0" rIns="0" tIns="0" bIns="0" anchor="ctr">
            <a:noAutofit/>
          </a:bodyPr>
          <a:lstStyle/>
          <a:p>
            <a:pPr algn="ctr">
              <a:lnSpc>
                <a:spcPct val="100000"/>
              </a:lnSpc>
            </a:pPr>
            <a:r>
              <a:rPr sz="2000" b="1">
                <a:solidFill>
                  <a:srgbClr val="F3EEE3"/>
                </a:solidFill>
                <a:latin typeface="Calibri"/>
              </a:rPr>
              <a:t>Giấy phép: Apache-2.0</a:t>
            </a:r>
          </a:p>
        </p:txBody>
      </p:sp>
      <p:sp>
        <p:nvSpPr>
          <p:cNvPr id="9" name="chip"/>
          <p:cNvSpPr/>
          <p:nvPr/>
        </p:nvSpPr>
        <p:spPr>
          <a:xfrm>
            <a:off x="8046720" y="1326895"/>
            <a:ext cx="2067560" cy="584200"/>
          </a:xfrm>
          <a:prstGeom prst="roundRect">
            <a:avLst>
              <a:gd name="adj" fmla="val 50000"/>
            </a:avLst>
          </a:prstGeom>
          <a:solidFill>
            <a:srgbClr val="1E2230"/>
          </a:solidFill>
          <a:ln>
            <a:noFill/>
          </a:ln>
        </p:spPr>
        <p:txBody>
          <a:bodyPr rtlCol="0" anchor="ctr"/>
          <a:lstStyle/>
          <a:p>
            <a:pPr algn="ctr"/>
          </a:p>
        </p:txBody>
      </p:sp>
      <p:sp>
        <p:nvSpPr>
          <p:cNvPr id="10" name="chip text"/>
          <p:cNvSpPr txBox="1"/>
          <p:nvPr/>
        </p:nvSpPr>
        <p:spPr>
          <a:xfrm>
            <a:off x="8046720" y="1326895"/>
            <a:ext cx="2067560" cy="584200"/>
          </a:xfrm>
          <a:prstGeom prst="rect">
            <a:avLst/>
          </a:prstGeom>
          <a:noFill/>
        </p:spPr>
        <p:txBody>
          <a:bodyPr wrap="square" lIns="0" rIns="0" tIns="0" bIns="0" anchor="ctr">
            <a:noAutofit/>
          </a:bodyPr>
          <a:lstStyle/>
          <a:p>
            <a:pPr algn="ctr">
              <a:lnSpc>
                <a:spcPct val="100000"/>
              </a:lnSpc>
            </a:pPr>
            <a:r>
              <a:rPr sz="2000" b="1">
                <a:solidFill>
                  <a:srgbClr val="F3EEE3"/>
                </a:solidFill>
                <a:latin typeface="Calibri"/>
              </a:rPr>
              <a:t>Ngôn ngữ: Go</a:t>
            </a:r>
          </a:p>
        </p:txBody>
      </p:sp>
      <p:sp>
        <p:nvSpPr>
          <p:cNvPr id="11" name="card"/>
          <p:cNvSpPr/>
          <p:nvPr/>
        </p:nvSpPr>
        <p:spPr>
          <a:xfrm>
            <a:off x="685800" y="2038095"/>
            <a:ext cx="10820400" cy="1090676"/>
          </a:xfrm>
          <a:prstGeom prst="roundRect">
            <a:avLst>
              <a:gd name="adj" fmla="val 18630"/>
            </a:avLst>
          </a:prstGeom>
          <a:solidFill>
            <a:srgbClr val="1E2230"/>
          </a:solidFill>
          <a:ln>
            <a:noFill/>
          </a:ln>
        </p:spPr>
        <p:txBody>
          <a:bodyPr rtlCol="0" anchor="ctr"/>
          <a:lstStyle/>
          <a:p>
            <a:pPr algn="ctr"/>
          </a:p>
        </p:txBody>
      </p:sp>
      <p:sp>
        <p:nvSpPr>
          <p:cNvPr id="12" name="card text"/>
          <p:cNvSpPr txBox="1"/>
          <p:nvPr/>
        </p:nvSpPr>
        <p:spPr>
          <a:xfrm>
            <a:off x="965200" y="2177796"/>
            <a:ext cx="10261600" cy="811276"/>
          </a:xfrm>
          <a:prstGeom prst="rect">
            <a:avLst/>
          </a:prstGeom>
          <a:noFill/>
        </p:spPr>
        <p:txBody>
          <a:bodyPr wrap="square" lIns="0" rIns="0" tIns="0" bIns="0" anchor="ctr">
            <a:noAutofit/>
          </a:bodyPr>
          <a:lstStyle/>
          <a:p>
            <a:pPr algn="l">
              <a:lnSpc>
                <a:spcPct val="100000"/>
              </a:lnSpc>
            </a:pPr>
            <a:r>
              <a:rPr sz="2600" b="1">
                <a:solidFill>
                  <a:srgbClr val="F3EEE3"/>
                </a:solidFill>
                <a:latin typeface="Calibri"/>
              </a:rPr>
              <a:t>Nguồn dữ kiện</a:t>
            </a:r>
          </a:p>
          <a:p>
            <a:pPr algn="l">
              <a:lnSpc>
                <a:spcPct val="100000"/>
              </a:lnSpc>
              <a:spcBef>
                <a:spcPts val="500"/>
              </a:spcBef>
            </a:pPr>
            <a:r>
              <a:rPr sz="2000" b="0" u="sng">
                <a:solidFill>
                  <a:srgbClr val="9FB2FF"/>
                </a:solidFill>
                <a:latin typeface="Calibri"/>
                <a:hlinkClick r:id="rId2"/>
              </a:rPr>
              <a:t>OrchestratorInc/agent-orchestrator</a:t>
            </a:r>
            <a:r>
              <a:rPr sz="2000" b="0">
                <a:solidFill>
                  <a:srgbClr val="F3EEE3"/>
                </a:solidFill>
                <a:latin typeface="Calibri"/>
              </a:rPr>
              <a:t> · Quét ngày 2026-10-17</a:t>
            </a:r>
          </a:p>
        </p:txBody>
      </p:sp>
      <p:sp>
        <p:nvSpPr>
          <p:cNvPr id="13" name="text"/>
          <p:cNvSpPr txBox="1"/>
          <p:nvPr/>
        </p:nvSpPr>
        <p:spPr>
          <a:xfrm>
            <a:off x="685800" y="3255772"/>
            <a:ext cx="10820400" cy="375920"/>
          </a:xfrm>
          <a:prstGeom prst="rect">
            <a:avLst/>
          </a:prstGeom>
          <a:noFill/>
        </p:spPr>
        <p:txBody>
          <a:bodyPr wrap="square" lIns="0" rIns="0" tIns="0" bIns="0" anchor="t">
            <a:noAutofit/>
          </a:bodyPr>
          <a:lstStyle/>
          <a:p>
            <a:pPr algn="l">
              <a:lnSpc>
                <a:spcPct val="100000"/>
              </a:lnSpc>
            </a:pPr>
            <a:r>
              <a:rPr sz="2000" b="0">
                <a:solidFill>
                  <a:srgbClr val="9AA0B5"/>
                </a:solidFill>
                <a:latin typeface="Calibri"/>
              </a:rPr>
              <a:t>Nội dung do AI tóm tắt từ README và cấu trúc repo; hãy đọc repo gốc trước khi dùng.</a:t>
            </a:r>
          </a:p>
        </p:txBody>
      </p:sp>
      <p:sp>
        <p:nvSpPr>
          <p:cNvPr id="14" name="page"/>
          <p:cNvSpPr txBox="1"/>
          <p:nvPr/>
        </p:nvSpPr>
        <p:spPr>
          <a:xfrm>
            <a:off x="9474200" y="304800"/>
            <a:ext cx="2032000" cy="279400"/>
          </a:xfrm>
          <a:prstGeom prst="rect">
            <a:avLst/>
          </a:prstGeom>
          <a:noFill/>
        </p:spPr>
        <p:txBody>
          <a:bodyPr wrap="square" lIns="0" rIns="0" tIns="0" bIns="0" anchor="t">
            <a:noAutofit/>
          </a:bodyPr>
          <a:lstStyle/>
          <a:p>
            <a:pPr algn="r">
              <a:lnSpc>
                <a:spcPct val="100000"/>
              </a:lnSpc>
            </a:pPr>
            <a:r>
              <a:rPr sz="1600" b="1">
                <a:solidFill>
                  <a:srgbClr val="F3EEE3"/>
                </a:solidFill>
                <a:latin typeface="Calibri"/>
              </a:rPr>
              <a:t>20/20</a:t>
            </a:r>
          </a:p>
        </p:txBody>
      </p:sp>
      <p:sp>
        <p:nvSpPr>
          <p:cNvPr id="15" name="rail"/>
          <p:cNvSpPr/>
          <p:nvPr/>
        </p:nvSpPr>
        <p:spPr>
          <a:xfrm>
            <a:off x="685800" y="6451600"/>
            <a:ext cx="10820400" cy="38100"/>
          </a:xfrm>
          <a:prstGeom prst="rect">
            <a:avLst/>
          </a:prstGeom>
          <a:solidFill>
            <a:srgbClr val="9AA0B5"/>
          </a:solidFill>
          <a:ln>
            <a:noFill/>
          </a:ln>
        </p:spPr>
        <p:txBody>
          <a:bodyPr rtlCol="0" anchor="ctr"/>
          <a:lstStyle/>
          <a:p>
            <a:pPr algn="ctr"/>
          </a:p>
        </p:txBody>
      </p:sp>
      <p:sp>
        <p:nvSpPr>
          <p:cNvPr id="16" name="progress"/>
          <p:cNvSpPr/>
          <p:nvPr/>
        </p:nvSpPr>
        <p:spPr>
          <a:xfrm>
            <a:off x="685800" y="6426200"/>
            <a:ext cx="10820400" cy="88900"/>
          </a:xfrm>
          <a:prstGeom prst="rect">
            <a:avLst/>
          </a:prstGeom>
          <a:solidFill>
            <a:srgbClr val="FF6A4D"/>
          </a:solidFill>
          <a:ln>
            <a:noFill/>
          </a:ln>
        </p:spPr>
        <p:txBody>
          <a:bodyPr rtlCol="0" anchor="ctr"/>
          <a:lstStyle/>
          <a:p>
            <a:pPr algn="ctr"/>
          </a:p>
        </p:txBody>
      </p:sp>
      <p:sp>
        <p:nvSpPr>
          <p:cNvPr id="17" name="footer"/>
          <p:cNvSpPr txBox="1"/>
          <p:nvPr/>
        </p:nvSpPr>
        <p:spPr>
          <a:xfrm>
            <a:off x="685800" y="6578600"/>
            <a:ext cx="7620000" cy="228600"/>
          </a:xfrm>
          <a:prstGeom prst="rect">
            <a:avLst/>
          </a:prstGeom>
          <a:noFill/>
        </p:spPr>
        <p:txBody>
          <a:bodyPr wrap="square" lIns="0" rIns="0" tIns="0" bIns="0" anchor="t">
            <a:noAutofit/>
          </a:bodyPr>
          <a:lstStyle/>
          <a:p>
            <a:pPr algn="l">
              <a:lnSpc>
                <a:spcPct val="100000"/>
              </a:lnSpc>
            </a:pPr>
            <a:r>
              <a:rPr sz="1200" b="0">
                <a:solidFill>
                  <a:srgbClr val="9AA0B5"/>
                </a:solidFill>
                <a:latin typeface="Calibri"/>
              </a:rPr>
              <a:t>Radar GitHub · agent-orchestrator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Điều phối đội ngũ AI coding agent đa nhiệm</dc:title>
  <dc:subject>OrchestratorInc/agent-orchestrator</dc:subject>
  <dc:creator>GitHub Radar</dc:creator>
  <cp:keywords/>
  <dc:description/>
  <cp:lastModifiedBy>GitHub Radar</cp:lastModifiedBy>
  <cp:revision>1</cp:revision>
  <dcterms:created xsi:type="dcterms:W3CDTF">2026-10-17T00:00:00Z</dcterms:created>
  <dcterms:modified xsi:type="dcterms:W3CDTF">2026-10-17T00:00:00Z</dcterms:modified>
  <cp:category/>
  <cp:lastPrinted>2026-10-17T00:00:00Z</cp:lastPrinted>
  <dc:language>vi</dc:language>
</cp:coreProperties>
</file>