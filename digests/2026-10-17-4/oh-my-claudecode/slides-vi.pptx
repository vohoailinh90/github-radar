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anthropic.com/claude-cod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mux/tmux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mux/tmux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Yeachan-Heo/oh-my-claudecod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ucket"/>
          <p:cNvSpPr/>
          <p:nvPr/>
        </p:nvSpPr>
        <p:spPr>
          <a:xfrm>
            <a:off x="685800" y="711200"/>
            <a:ext cx="853440" cy="508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bucket text"/>
          <p:cNvSpPr txBox="1"/>
          <p:nvPr/>
        </p:nvSpPr>
        <p:spPr>
          <a:xfrm>
            <a:off x="685800" y="711200"/>
            <a:ext cx="85344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2141B"/>
                </a:solidFill>
                <a:latin typeface="Calibri"/>
              </a:rPr>
              <a:t>AI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1473200"/>
            <a:ext cx="10820400" cy="14630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3EEE3"/>
                </a:solidFill>
                <a:latin typeface="Cambria"/>
              </a:rPr>
              <a:t>oh-my-claudecode: cả đội agent chạy ngay trong Claude Code</a:t>
            </a:r>
          </a:p>
        </p:txBody>
      </p:sp>
      <p:sp>
        <p:nvSpPr>
          <p:cNvPr id="5" name="hook"/>
          <p:cNvSpPr txBox="1"/>
          <p:nvPr/>
        </p:nvSpPr>
        <p:spPr>
          <a:xfrm>
            <a:off x="685800" y="3164840"/>
            <a:ext cx="10820400" cy="7802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9AA0B5"/>
                </a:solidFill>
                <a:latin typeface="Calibri"/>
              </a:rPr>
              <a:t>Một lệnh /team để Claude Code chia việc, kiểm tra và sửa lỗi theo vòng, thay vì một agent làm hết.</a:t>
            </a:r>
          </a:p>
        </p:txBody>
      </p:sp>
      <p:sp>
        <p:nvSpPr>
          <p:cNvPr id="6" name="hook"/>
          <p:cNvSpPr txBox="1"/>
          <p:nvPr/>
        </p:nvSpPr>
        <p:spPr>
          <a:xfrm>
            <a:off x="685800" y="4097528"/>
            <a:ext cx="10820400" cy="7152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3EEE3"/>
                </a:solidFill>
                <a:latin typeface="Calibri"/>
              </a:rPr>
              <a:t>Plugin cho Claude Code: lệnh /team chạy chuỗi lập kế hoạch, thực thi, kiểm tra, sửa lỗi; lệnh omc team mở thêm worker Codex, Gemini, Cursor trong tmux.</a:t>
            </a:r>
          </a:p>
        </p:txBody>
      </p:sp>
      <p:sp>
        <p:nvSpPr>
          <p:cNvPr id="7" name="chip"/>
          <p:cNvSpPr/>
          <p:nvPr/>
        </p:nvSpPr>
        <p:spPr>
          <a:xfrm>
            <a:off x="685800" y="5181600"/>
            <a:ext cx="1818639" cy="584200"/>
          </a:xfrm>
          <a:prstGeom prst="roundRect">
            <a:avLst>
              <a:gd name="adj" fmla="val 50000"/>
            </a:avLst>
          </a:prstGeom>
          <a:solidFill>
            <a:srgbClr val="1E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hip text"/>
          <p:cNvSpPr txBox="1"/>
          <p:nvPr/>
        </p:nvSpPr>
        <p:spPr>
          <a:xfrm>
            <a:off x="685800" y="5181600"/>
            <a:ext cx="1818639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3EEE3"/>
                </a:solidFill>
                <a:latin typeface="Calibri"/>
              </a:rPr>
              <a:t>39.976 sao</a:t>
            </a:r>
          </a:p>
        </p:txBody>
      </p:sp>
      <p:sp>
        <p:nvSpPr>
          <p:cNvPr id="9" name="chip"/>
          <p:cNvSpPr/>
          <p:nvPr/>
        </p:nvSpPr>
        <p:spPr>
          <a:xfrm>
            <a:off x="2656840" y="5181600"/>
            <a:ext cx="1813560" cy="584200"/>
          </a:xfrm>
          <a:prstGeom prst="roundRect">
            <a:avLst>
              <a:gd name="adj" fmla="val 50000"/>
            </a:avLst>
          </a:prstGeom>
          <a:solidFill>
            <a:srgbClr val="1E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chip text"/>
          <p:cNvSpPr txBox="1"/>
          <p:nvPr/>
        </p:nvSpPr>
        <p:spPr>
          <a:xfrm>
            <a:off x="2656840" y="5181600"/>
            <a:ext cx="181356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3EEE3"/>
                </a:solidFill>
                <a:latin typeface="Calibri"/>
              </a:rPr>
              <a:t>3.586 fork</a:t>
            </a:r>
          </a:p>
        </p:txBody>
      </p:sp>
      <p:sp>
        <p:nvSpPr>
          <p:cNvPr id="11" name="chip"/>
          <p:cNvSpPr/>
          <p:nvPr/>
        </p:nvSpPr>
        <p:spPr>
          <a:xfrm>
            <a:off x="4622800" y="5181600"/>
            <a:ext cx="2346960" cy="584200"/>
          </a:xfrm>
          <a:prstGeom prst="roundRect">
            <a:avLst>
              <a:gd name="adj" fmla="val 50000"/>
            </a:avLst>
          </a:prstGeom>
          <a:solidFill>
            <a:srgbClr val="1E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hip text"/>
          <p:cNvSpPr txBox="1"/>
          <p:nvPr/>
        </p:nvSpPr>
        <p:spPr>
          <a:xfrm>
            <a:off x="4622800" y="5181600"/>
            <a:ext cx="234696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3EEE3"/>
                </a:solidFill>
                <a:latin typeface="Calibri"/>
              </a:rPr>
              <a:t>Giấy phép: MIT</a:t>
            </a:r>
          </a:p>
        </p:txBody>
      </p:sp>
      <p:sp>
        <p:nvSpPr>
          <p:cNvPr id="13" name="chip"/>
          <p:cNvSpPr/>
          <p:nvPr/>
        </p:nvSpPr>
        <p:spPr>
          <a:xfrm>
            <a:off x="7122159" y="5181600"/>
            <a:ext cx="3205480" cy="584200"/>
          </a:xfrm>
          <a:prstGeom prst="roundRect">
            <a:avLst>
              <a:gd name="adj" fmla="val 50000"/>
            </a:avLst>
          </a:prstGeom>
          <a:solidFill>
            <a:srgbClr val="1E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chip text"/>
          <p:cNvSpPr txBox="1"/>
          <p:nvPr/>
        </p:nvSpPr>
        <p:spPr>
          <a:xfrm>
            <a:off x="7122159" y="5181600"/>
            <a:ext cx="320548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3EEE3"/>
                </a:solidFill>
                <a:latin typeface="Calibri"/>
              </a:rPr>
              <a:t>Ngôn ngữ: TypeScript</a:t>
            </a:r>
          </a:p>
        </p:txBody>
      </p:sp>
      <p:sp>
        <p:nvSpPr>
          <p:cNvPr id="15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F3EEE3"/>
                </a:solidFill>
                <a:latin typeface="Calibri"/>
              </a:rPr>
              <a:t>1/33</a:t>
            </a:r>
          </a:p>
        </p:txBody>
      </p:sp>
      <p:sp>
        <p:nvSpPr>
          <p:cNvPr id="16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9AA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progress"/>
          <p:cNvSpPr/>
          <p:nvPr/>
        </p:nvSpPr>
        <p:spPr>
          <a:xfrm>
            <a:off x="685800" y="6426200"/>
            <a:ext cx="327890" cy="88900"/>
          </a:xfrm>
          <a:prstGeom prst="rect">
            <a:avLst/>
          </a:prstGeom>
          <a:solidFill>
            <a:srgbClr val="FF6A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AA0B5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Bạn sẽ làm ra được gì</a:t>
            </a:r>
          </a:p>
        </p:txBody>
      </p:sp>
      <p:sp>
        <p:nvSpPr>
          <p:cNvPr id="3" name="card"/>
          <p:cNvSpPr/>
          <p:nvPr/>
        </p:nvSpPr>
        <p:spPr>
          <a:xfrm>
            <a:off x="685800" y="1326895"/>
            <a:ext cx="10820400" cy="2360168"/>
          </a:xfrm>
          <a:prstGeom prst="roundRect">
            <a:avLst>
              <a:gd name="adj" fmla="val 8609"/>
            </a:avLst>
          </a:prstGeom>
          <a:solidFill>
            <a:srgbClr val="D5EB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rd text"/>
          <p:cNvSpPr txBox="1"/>
          <p:nvPr/>
        </p:nvSpPr>
        <p:spPr>
          <a:xfrm>
            <a:off x="965200" y="1466595"/>
            <a:ext cx="10261600" cy="2080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0">
                <a:solidFill>
                  <a:srgbClr val="14161C"/>
                </a:solidFill>
                <a:latin typeface="Calibri"/>
              </a:rPr>
              <a:t>OMC cài trong Claude Code, đội native được bật, và bạn chạy được </a:t>
            </a:r>
            <a:r>
              <a:rPr sz="3000" b="0">
                <a:solidFill>
                  <a:srgbClr val="B02D16"/>
                </a:solidFill>
                <a:latin typeface="Consolas"/>
              </a:rPr>
              <a:t>/team 3:executor "fix all TypeScript errors"</a:t>
            </a:r>
            <a:r>
              <a:rPr sz="3200" b="0">
                <a:solidFill>
                  <a:srgbClr val="14161C"/>
                </a:solidFill>
                <a:latin typeface="Calibri"/>
              </a:rPr>
              <a:t> để cả đội xử lý một việc theo chuỗi giai đoạn.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2/33</a:t>
            </a:r>
          </a:p>
        </p:txBody>
      </p:sp>
      <p:sp>
        <p:nvSpPr>
          <p:cNvPr id="6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rogress"/>
          <p:cNvSpPr/>
          <p:nvPr/>
        </p:nvSpPr>
        <p:spPr>
          <a:xfrm>
            <a:off x="685800" y="6426200"/>
            <a:ext cx="655781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Vấn đề nó giải quyết</a:t>
            </a:r>
          </a:p>
        </p:txBody>
      </p:sp>
      <p:sp>
        <p:nvSpPr>
          <p:cNvPr id="3" name="text"/>
          <p:cNvSpPr txBox="1"/>
          <p:nvPr/>
        </p:nvSpPr>
        <p:spPr>
          <a:xfrm>
            <a:off x="685800" y="1326895"/>
            <a:ext cx="10820400" cy="17414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14161C"/>
                </a:solidFill>
                <a:latin typeface="Calibri"/>
              </a:rPr>
              <a:t>Một agent AI làm từ kế hoạch đến kiểm tra thì bạn phải tự chia việc và canh từng bước. oh-my-claudecode (OMC) đặt thêm một lớp điều phối lên Claude Code: Team chạy các agent theo chuỗi giai đoạn có vòng sửa lỗi, còn omc team mở worker CLI thật trong tmux khi bạn muốn nhờ Codex hay Gemini.</a:t>
            </a:r>
          </a:p>
        </p:txBody>
      </p:sp>
      <p:sp>
        <p:nvSpPr>
          <p:cNvPr id="4" name="card"/>
          <p:cNvSpPr/>
          <p:nvPr/>
        </p:nvSpPr>
        <p:spPr>
          <a:xfrm>
            <a:off x="685800" y="3195320"/>
            <a:ext cx="10820400" cy="1545844"/>
          </a:xfrm>
          <a:prstGeom prst="roundRect">
            <a:avLst>
              <a:gd name="adj" fmla="val 13144"/>
            </a:avLst>
          </a:prstGeom>
          <a:solidFill>
            <a:srgbClr val="F3D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bar"/>
          <p:cNvSpPr/>
          <p:nvPr/>
        </p:nvSpPr>
        <p:spPr>
          <a:xfrm>
            <a:off x="889000" y="3335020"/>
            <a:ext cx="76200" cy="1266444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ard text"/>
          <p:cNvSpPr txBox="1"/>
          <p:nvPr/>
        </p:nvSpPr>
        <p:spPr>
          <a:xfrm>
            <a:off x="1143000" y="3335020"/>
            <a:ext cx="10083800" cy="12664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61C"/>
                </a:solidFill>
                <a:latin typeface="Calibri"/>
              </a:rPr>
              <a:t>Hình dung đời thường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400" b="0">
                <a:solidFill>
                  <a:srgbClr val="14161C"/>
                </a:solidFill>
                <a:latin typeface="Calibri"/>
              </a:rPr>
              <a:t>Giống một tổ trưởng công trình: bạn nói cần sửa gì, tổ trưởng chia cho từng thợ, có người nghiệm thu, chỗ nào chưa đạt thì quay lại làm tiếp.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3/33</a:t>
            </a:r>
          </a:p>
        </p:txBody>
      </p:sp>
      <p:sp>
        <p:nvSpPr>
          <p:cNvPr id="8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rogress"/>
          <p:cNvSpPr/>
          <p:nvPr/>
        </p:nvSpPr>
        <p:spPr>
          <a:xfrm>
            <a:off x="685800" y="6426200"/>
            <a:ext cx="983672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Ai nên xem</a:t>
            </a:r>
          </a:p>
        </p:txBody>
      </p:sp>
      <p:sp>
        <p:nvSpPr>
          <p:cNvPr id="3" name="card"/>
          <p:cNvSpPr/>
          <p:nvPr/>
        </p:nvSpPr>
        <p:spPr>
          <a:xfrm>
            <a:off x="685800" y="1326895"/>
            <a:ext cx="10820400" cy="994663"/>
          </a:xfrm>
          <a:prstGeom prst="roundRect">
            <a:avLst>
              <a:gd name="adj" fmla="val 20429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marker 1"/>
          <p:cNvSpPr/>
          <p:nvPr/>
        </p:nvSpPr>
        <p:spPr>
          <a:xfrm>
            <a:off x="965200" y="1570227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card text"/>
          <p:cNvSpPr txBox="1"/>
          <p:nvPr/>
        </p:nvSpPr>
        <p:spPr>
          <a:xfrm>
            <a:off x="1701800" y="1466595"/>
            <a:ext cx="9525000" cy="71526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4161C"/>
                </a:solidFill>
                <a:latin typeface="Calibri"/>
              </a:rPr>
              <a:t>Người dùng Claude Code muốn chia một việc lớn cho nhiều agent mà vẫn có bước kiểm tra riêng.</a:t>
            </a:r>
          </a:p>
        </p:txBody>
      </p:sp>
      <p:sp>
        <p:nvSpPr>
          <p:cNvPr id="6" name="card"/>
          <p:cNvSpPr/>
          <p:nvPr/>
        </p:nvSpPr>
        <p:spPr>
          <a:xfrm>
            <a:off x="685800" y="2448560"/>
            <a:ext cx="10820400" cy="994663"/>
          </a:xfrm>
          <a:prstGeom prst="roundRect">
            <a:avLst>
              <a:gd name="adj" fmla="val 20429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marker 2"/>
          <p:cNvSpPr/>
          <p:nvPr/>
        </p:nvSpPr>
        <p:spPr>
          <a:xfrm>
            <a:off x="965200" y="2691891"/>
            <a:ext cx="508000" cy="5080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card text"/>
          <p:cNvSpPr txBox="1"/>
          <p:nvPr/>
        </p:nvSpPr>
        <p:spPr>
          <a:xfrm>
            <a:off x="1701800" y="2588260"/>
            <a:ext cx="9525000" cy="71526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4161C"/>
                </a:solidFill>
                <a:latin typeface="Calibri"/>
              </a:rPr>
              <a:t>Người đã có thuê bao Codex, Gemini hoặc Cursor và muốn gọi chúng làm worker cho cùng một việc.</a:t>
            </a:r>
          </a:p>
        </p:txBody>
      </p:sp>
      <p:sp>
        <p:nvSpPr>
          <p:cNvPr id="9" name="card"/>
          <p:cNvSpPr/>
          <p:nvPr/>
        </p:nvSpPr>
        <p:spPr>
          <a:xfrm>
            <a:off x="685800" y="3570224"/>
            <a:ext cx="10820400" cy="660400"/>
          </a:xfrm>
          <a:prstGeom prst="roundRect">
            <a:avLst>
              <a:gd name="adj" fmla="val 30769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marker 3"/>
          <p:cNvSpPr/>
          <p:nvPr/>
        </p:nvSpPr>
        <p:spPr>
          <a:xfrm>
            <a:off x="965200" y="3646424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card text"/>
          <p:cNvSpPr txBox="1"/>
          <p:nvPr/>
        </p:nvSpPr>
        <p:spPr>
          <a:xfrm>
            <a:off x="1701800" y="3709924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4161C"/>
                </a:solidFill>
                <a:latin typeface="Calibri"/>
              </a:rPr>
              <a:t>Người cần làm rõ yêu cầu mơ hồ trước khi viết mã (lệnh /deep-interview).</a:t>
            </a:r>
          </a:p>
        </p:txBody>
      </p:sp>
      <p:sp>
        <p:nvSpPr>
          <p:cNvPr id="12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4/33</a:t>
            </a:r>
          </a:p>
        </p:txBody>
      </p:sp>
      <p:sp>
        <p:nvSpPr>
          <p:cNvPr id="13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progress"/>
          <p:cNvSpPr/>
          <p:nvPr/>
        </p:nvSpPr>
        <p:spPr>
          <a:xfrm>
            <a:off x="685800" y="6426200"/>
            <a:ext cx="1311563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Lưu ý trước khi dùng</a:t>
            </a:r>
          </a:p>
        </p:txBody>
      </p:sp>
      <p:sp>
        <p:nvSpPr>
          <p:cNvPr id="3" name="card"/>
          <p:cNvSpPr/>
          <p:nvPr/>
        </p:nvSpPr>
        <p:spPr>
          <a:xfrm>
            <a:off x="685800" y="1326895"/>
            <a:ext cx="10820400" cy="994663"/>
          </a:xfrm>
          <a:prstGeom prst="roundRect">
            <a:avLst>
              <a:gd name="adj" fmla="val 20429"/>
            </a:avLst>
          </a:prstGeom>
          <a:solidFill>
            <a:srgbClr val="F3D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bar"/>
          <p:cNvSpPr/>
          <p:nvPr/>
        </p:nvSpPr>
        <p:spPr>
          <a:xfrm>
            <a:off x="889000" y="1466595"/>
            <a:ext cx="76200" cy="715263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rd text"/>
          <p:cNvSpPr txBox="1"/>
          <p:nvPr/>
        </p:nvSpPr>
        <p:spPr>
          <a:xfrm>
            <a:off x="1143000" y="1466595"/>
            <a:ext cx="10083800" cy="71526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4161C"/>
                </a:solidFill>
                <a:latin typeface="Calibri"/>
              </a:rPr>
              <a:t>Cần Claude Code CLI và gói Max/Pro hoặc khóa API Anthropic. Với omc team, mỗi CLI (codex, gemini, agy, grok, cursor-agent) tự cài và đăng nhập riêng.</a:t>
            </a:r>
          </a:p>
        </p:txBody>
      </p:sp>
      <p:sp>
        <p:nvSpPr>
          <p:cNvPr id="6" name="card"/>
          <p:cNvSpPr/>
          <p:nvPr/>
        </p:nvSpPr>
        <p:spPr>
          <a:xfrm>
            <a:off x="685800" y="2448560"/>
            <a:ext cx="10820400" cy="994663"/>
          </a:xfrm>
          <a:prstGeom prst="roundRect">
            <a:avLst>
              <a:gd name="adj" fmla="val 20429"/>
            </a:avLst>
          </a:prstGeom>
          <a:solidFill>
            <a:srgbClr val="F3D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bar"/>
          <p:cNvSpPr/>
          <p:nvPr/>
        </p:nvSpPr>
        <p:spPr>
          <a:xfrm>
            <a:off x="889000" y="2588260"/>
            <a:ext cx="76200" cy="715263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ard text"/>
          <p:cNvSpPr txBox="1"/>
          <p:nvPr/>
        </p:nvSpPr>
        <p:spPr>
          <a:xfrm>
            <a:off x="1143000" y="2588260"/>
            <a:ext cx="10083800" cy="71526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4161C"/>
                </a:solidFill>
                <a:latin typeface="Calibri"/>
              </a:rPr>
              <a:t>Đội native cần đặt </a:t>
            </a:r>
            <a:r>
              <a:rPr sz="2000" b="0">
                <a:solidFill>
                  <a:srgbClr val="B02D16"/>
                </a:solidFill>
                <a:latin typeface="Consolas"/>
              </a:rPr>
              <a:t>CLAUDE_CODE_EXPERIMENTAL_AGENT_TEAMS</a:t>
            </a:r>
            <a:r>
              <a:rPr sz="2200" b="0">
                <a:solidFill>
                  <a:srgbClr val="14161C"/>
                </a:solidFill>
                <a:latin typeface="Calibri"/>
              </a:rPr>
              <a:t>; nếu tắt, OMC cảnh báo và lùi về chạy không theo đội khi có thể.</a:t>
            </a:r>
          </a:p>
        </p:txBody>
      </p:sp>
      <p:sp>
        <p:nvSpPr>
          <p:cNvPr id="9" name="card"/>
          <p:cNvSpPr/>
          <p:nvPr/>
        </p:nvSpPr>
        <p:spPr>
          <a:xfrm>
            <a:off x="685800" y="3570224"/>
            <a:ext cx="10820400" cy="994663"/>
          </a:xfrm>
          <a:prstGeom prst="roundRect">
            <a:avLst>
              <a:gd name="adj" fmla="val 20429"/>
            </a:avLst>
          </a:prstGeom>
          <a:solidFill>
            <a:srgbClr val="F3D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bar"/>
          <p:cNvSpPr/>
          <p:nvPr/>
        </p:nvSpPr>
        <p:spPr>
          <a:xfrm>
            <a:off x="889000" y="3709924"/>
            <a:ext cx="76200" cy="715263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ard text"/>
          <p:cNvSpPr txBox="1"/>
          <p:nvPr/>
        </p:nvSpPr>
        <p:spPr>
          <a:xfrm>
            <a:off x="1143000" y="3709924"/>
            <a:ext cx="10083800" cy="71526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4161C"/>
                </a:solidFill>
                <a:latin typeface="Calibri"/>
              </a:rPr>
              <a:t>Lệnh slash như /team, /autopilot cần phiên Claude Code đang chạy nên không dùng trong CI; omc team cần tmux.</a:t>
            </a:r>
          </a:p>
        </p:txBody>
      </p:sp>
      <p:sp>
        <p:nvSpPr>
          <p:cNvPr id="12" name="card"/>
          <p:cNvSpPr/>
          <p:nvPr/>
        </p:nvSpPr>
        <p:spPr>
          <a:xfrm>
            <a:off x="685800" y="4691888"/>
            <a:ext cx="10820400" cy="994663"/>
          </a:xfrm>
          <a:prstGeom prst="roundRect">
            <a:avLst>
              <a:gd name="adj" fmla="val 20429"/>
            </a:avLst>
          </a:prstGeom>
          <a:solidFill>
            <a:srgbClr val="F3D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bar"/>
          <p:cNvSpPr/>
          <p:nvPr/>
        </p:nvSpPr>
        <p:spPr>
          <a:xfrm>
            <a:off x="889000" y="4831588"/>
            <a:ext cx="76200" cy="715263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card text"/>
          <p:cNvSpPr txBox="1"/>
          <p:nvPr/>
        </p:nvSpPr>
        <p:spPr>
          <a:xfrm>
            <a:off x="1143000" y="4831588"/>
            <a:ext cx="10083800" cy="71526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4161C"/>
                </a:solidFill>
                <a:latin typeface="Calibri"/>
              </a:rPr>
              <a:t>Jev (lớp phán đoán tùy chọn, bật bằng biến môi trường) cần khóa riêng. README cũng gợi ý gajae-code cho ai thấy OMC hơi quá tay.</a:t>
            </a:r>
          </a:p>
        </p:txBody>
      </p:sp>
      <p:sp>
        <p:nvSpPr>
          <p:cNvPr id="15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5/33</a:t>
            </a:r>
          </a:p>
        </p:txBody>
      </p:sp>
      <p:sp>
        <p:nvSpPr>
          <p:cNvPr id="16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progress"/>
          <p:cNvSpPr/>
          <p:nvPr/>
        </p:nvSpPr>
        <p:spPr>
          <a:xfrm>
            <a:off x="685800" y="6426200"/>
            <a:ext cx="1639454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Chuẩn bị trước khi bắt đầu (1/2)</a:t>
            </a:r>
          </a:p>
        </p:txBody>
      </p:sp>
      <p:sp>
        <p:nvSpPr>
          <p:cNvPr id="3" name="text"/>
          <p:cNvSpPr txBox="1"/>
          <p:nvPr/>
        </p:nvSpPr>
        <p:spPr>
          <a:xfrm>
            <a:off x="685800" y="1326895"/>
            <a:ext cx="10820400" cy="375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B6A66"/>
                </a:solidFill>
                <a:latin typeface="Calibri"/>
              </a:rPr>
              <a:t>Đánh dấu từng mục khi đã có đủ.</a:t>
            </a:r>
          </a:p>
        </p:txBody>
      </p:sp>
      <p:sp>
        <p:nvSpPr>
          <p:cNvPr id="4" name="card"/>
          <p:cNvSpPr/>
          <p:nvPr/>
        </p:nvSpPr>
        <p:spPr>
          <a:xfrm>
            <a:off x="685800" y="1829815"/>
            <a:ext cx="10820400" cy="1446784"/>
          </a:xfrm>
          <a:prstGeom prst="roundRect">
            <a:avLst>
              <a:gd name="adj" fmla="val 14044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ick box"/>
          <p:cNvSpPr/>
          <p:nvPr/>
        </p:nvSpPr>
        <p:spPr>
          <a:xfrm>
            <a:off x="1016000" y="2350008"/>
            <a:ext cx="406400" cy="406400"/>
          </a:xfrm>
          <a:prstGeom prst="roundRect">
            <a:avLst>
              <a:gd name="adj" fmla="val 25000"/>
            </a:avLst>
          </a:prstGeom>
          <a:noFill/>
          <a:ln w="38100">
            <a:solidFill>
              <a:srgbClr val="0F7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ard text"/>
          <p:cNvSpPr txBox="1"/>
          <p:nvPr/>
        </p:nvSpPr>
        <p:spPr>
          <a:xfrm>
            <a:off x="1701800" y="1969515"/>
            <a:ext cx="9525000" cy="11673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61C"/>
                </a:solidFill>
                <a:latin typeface="Calibri"/>
              </a:rPr>
              <a:t>Claude Code CLI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14161C"/>
                </a:solidFill>
                <a:latin typeface="Calibri"/>
              </a:rPr>
              <a:t>OMC chạy bên trong phiên Claude Code; README đặt nó làm điều kiện đầu tiên.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1800" b="0">
                <a:solidFill>
                  <a:srgbClr val="14161C"/>
                </a:solidFill>
                <a:latin typeface="Calibri"/>
              </a:rPr>
              <a:t>Liên kết trong README: </a:t>
            </a:r>
            <a:r>
              <a:rPr sz="1800" b="0" u="sng">
                <a:solidFill>
                  <a:srgbClr val="1F3FD1"/>
                </a:solidFill>
                <a:latin typeface="Calibri"/>
                <a:hlinkClick r:id="rId2"/>
              </a:rPr>
              <a:t>Claude Code</a:t>
            </a:r>
          </a:p>
        </p:txBody>
      </p:sp>
      <p:sp>
        <p:nvSpPr>
          <p:cNvPr id="7" name="card"/>
          <p:cNvSpPr/>
          <p:nvPr/>
        </p:nvSpPr>
        <p:spPr>
          <a:xfrm>
            <a:off x="685800" y="3403600"/>
            <a:ext cx="10820400" cy="1090676"/>
          </a:xfrm>
          <a:prstGeom prst="roundRect">
            <a:avLst>
              <a:gd name="adj" fmla="val 18630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ick box"/>
          <p:cNvSpPr/>
          <p:nvPr/>
        </p:nvSpPr>
        <p:spPr>
          <a:xfrm>
            <a:off x="1016000" y="3745738"/>
            <a:ext cx="406400" cy="406400"/>
          </a:xfrm>
          <a:prstGeom prst="roundRect">
            <a:avLst>
              <a:gd name="adj" fmla="val 25000"/>
            </a:avLst>
          </a:prstGeom>
          <a:noFill/>
          <a:ln w="38100">
            <a:solidFill>
              <a:srgbClr val="0F7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ard text"/>
          <p:cNvSpPr txBox="1"/>
          <p:nvPr/>
        </p:nvSpPr>
        <p:spPr>
          <a:xfrm>
            <a:off x="1701800" y="3543300"/>
            <a:ext cx="9525000" cy="8112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61C"/>
                </a:solidFill>
                <a:latin typeface="Calibri"/>
              </a:rPr>
              <a:t>Gói Claude Max/Pro hoặc khóa API Anthropic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14161C"/>
                </a:solidFill>
                <a:latin typeface="Calibri"/>
              </a:rPr>
              <a:t>README ghi cần một trong hai để dùng Claude Code.</a:t>
            </a:r>
          </a:p>
        </p:txBody>
      </p:sp>
      <p:sp>
        <p:nvSpPr>
          <p:cNvPr id="10" name="card"/>
          <p:cNvSpPr/>
          <p:nvPr/>
        </p:nvSpPr>
        <p:spPr>
          <a:xfrm>
            <a:off x="685800" y="4621276"/>
            <a:ext cx="10820400" cy="1448308"/>
          </a:xfrm>
          <a:prstGeom prst="roundRect">
            <a:avLst>
              <a:gd name="adj" fmla="val 14030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ck box"/>
          <p:cNvSpPr/>
          <p:nvPr/>
        </p:nvSpPr>
        <p:spPr>
          <a:xfrm>
            <a:off x="1016000" y="5142230"/>
            <a:ext cx="406400" cy="406400"/>
          </a:xfrm>
          <a:prstGeom prst="roundRect">
            <a:avLst>
              <a:gd name="adj" fmla="val 25000"/>
            </a:avLst>
          </a:prstGeom>
          <a:noFill/>
          <a:ln w="38100">
            <a:solidFill>
              <a:srgbClr val="0F7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ard text"/>
          <p:cNvSpPr txBox="1"/>
          <p:nvPr/>
        </p:nvSpPr>
        <p:spPr>
          <a:xfrm>
            <a:off x="1701800" y="4760976"/>
            <a:ext cx="9525000" cy="11689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61C"/>
                </a:solidFill>
                <a:latin typeface="Calibri"/>
              </a:rPr>
              <a:t>npm (chỉ khi cài lệnh omc)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14161C"/>
                </a:solidFill>
                <a:latin typeface="Calibri"/>
              </a:rPr>
              <a:t>README cài lệnh omc ở terminal bằng gói npm; các lệnh slash trong Claude Code không cần bước này.</a:t>
            </a:r>
          </a:p>
        </p:txBody>
      </p:sp>
      <p:sp>
        <p:nvSpPr>
          <p:cNvPr id="13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6/33</a:t>
            </a:r>
          </a:p>
        </p:txBody>
      </p:sp>
      <p:sp>
        <p:nvSpPr>
          <p:cNvPr id="14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progress"/>
          <p:cNvSpPr/>
          <p:nvPr/>
        </p:nvSpPr>
        <p:spPr>
          <a:xfrm>
            <a:off x="685800" y="6426200"/>
            <a:ext cx="1967345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Chuẩn bị trước khi bắt đầu (2/2)</a:t>
            </a:r>
          </a:p>
        </p:txBody>
      </p:sp>
      <p:sp>
        <p:nvSpPr>
          <p:cNvPr id="3" name="card"/>
          <p:cNvSpPr/>
          <p:nvPr/>
        </p:nvSpPr>
        <p:spPr>
          <a:xfrm>
            <a:off x="685800" y="1326895"/>
            <a:ext cx="10820400" cy="1446784"/>
          </a:xfrm>
          <a:prstGeom prst="roundRect">
            <a:avLst>
              <a:gd name="adj" fmla="val 14044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ck box"/>
          <p:cNvSpPr/>
          <p:nvPr/>
        </p:nvSpPr>
        <p:spPr>
          <a:xfrm>
            <a:off x="1016000" y="1847088"/>
            <a:ext cx="406400" cy="406400"/>
          </a:xfrm>
          <a:prstGeom prst="roundRect">
            <a:avLst>
              <a:gd name="adj" fmla="val 25000"/>
            </a:avLst>
          </a:prstGeom>
          <a:noFill/>
          <a:ln w="38100">
            <a:solidFill>
              <a:srgbClr val="0F7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rd text"/>
          <p:cNvSpPr txBox="1"/>
          <p:nvPr/>
        </p:nvSpPr>
        <p:spPr>
          <a:xfrm>
            <a:off x="1701800" y="1466595"/>
            <a:ext cx="9525000" cy="11673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61C"/>
                </a:solidFill>
                <a:latin typeface="Calibri"/>
              </a:rPr>
              <a:t>tmux (chỉ cho omc team)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14161C"/>
                </a:solidFill>
                <a:latin typeface="Calibri"/>
              </a:rPr>
              <a:t>Windows: psmux, bản tmux chạy thẳng; WSL2: tmux cài bên trong WSL.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1800" b="0">
                <a:solidFill>
                  <a:srgbClr val="14161C"/>
                </a:solidFill>
                <a:latin typeface="Calibri"/>
              </a:rPr>
              <a:t>Liên kết trong README: </a:t>
            </a:r>
            <a:r>
              <a:rPr sz="1800" b="0" u="sng">
                <a:solidFill>
                  <a:srgbClr val="1F3FD1"/>
                </a:solidFill>
                <a:latin typeface="Calibri"/>
                <a:hlinkClick r:id="rId2"/>
              </a:rPr>
              <a:t>tmux</a:t>
            </a:r>
          </a:p>
        </p:txBody>
      </p:sp>
      <p:sp>
        <p:nvSpPr>
          <p:cNvPr id="6" name="card"/>
          <p:cNvSpPr/>
          <p:nvPr/>
        </p:nvSpPr>
        <p:spPr>
          <a:xfrm>
            <a:off x="685800" y="2900679"/>
            <a:ext cx="10820400" cy="1448308"/>
          </a:xfrm>
          <a:prstGeom prst="roundRect">
            <a:avLst>
              <a:gd name="adj" fmla="val 14030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ick box"/>
          <p:cNvSpPr/>
          <p:nvPr/>
        </p:nvSpPr>
        <p:spPr>
          <a:xfrm>
            <a:off x="1016000" y="3421633"/>
            <a:ext cx="406400" cy="406400"/>
          </a:xfrm>
          <a:prstGeom prst="roundRect">
            <a:avLst>
              <a:gd name="adj" fmla="val 25000"/>
            </a:avLst>
          </a:prstGeom>
          <a:noFill/>
          <a:ln w="38100">
            <a:solidFill>
              <a:srgbClr val="0F7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ard text"/>
          <p:cNvSpPr txBox="1"/>
          <p:nvPr/>
        </p:nvSpPr>
        <p:spPr>
          <a:xfrm>
            <a:off x="1701800" y="3040379"/>
            <a:ext cx="9525000" cy="11689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61C"/>
                </a:solidFill>
                <a:latin typeface="Calibri"/>
              </a:rPr>
              <a:t>CLI của agent khác (tùy chọn)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14161C"/>
                </a:solidFill>
                <a:latin typeface="Calibri"/>
              </a:rPr>
              <a:t>codex, gemini, agy, grok, cursor-agent: mỗi cái cài và đăng nhập riêng. OMC chạy đủ khi không có chúng.</a:t>
            </a:r>
          </a:p>
        </p:txBody>
      </p:sp>
      <p:sp>
        <p:nvSpPr>
          <p:cNvPr id="9" name="card"/>
          <p:cNvSpPr/>
          <p:nvPr/>
        </p:nvSpPr>
        <p:spPr>
          <a:xfrm>
            <a:off x="685800" y="4475987"/>
            <a:ext cx="10820400" cy="1448308"/>
          </a:xfrm>
          <a:prstGeom prst="roundRect">
            <a:avLst>
              <a:gd name="adj" fmla="val 14030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ick box"/>
          <p:cNvSpPr/>
          <p:nvPr/>
        </p:nvSpPr>
        <p:spPr>
          <a:xfrm>
            <a:off x="1016000" y="4996941"/>
            <a:ext cx="406400" cy="406400"/>
          </a:xfrm>
          <a:prstGeom prst="roundRect">
            <a:avLst>
              <a:gd name="adj" fmla="val 25000"/>
            </a:avLst>
          </a:prstGeom>
          <a:noFill/>
          <a:ln w="38100">
            <a:solidFill>
              <a:srgbClr val="0F7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ard text"/>
          <p:cNvSpPr txBox="1"/>
          <p:nvPr/>
        </p:nvSpPr>
        <p:spPr>
          <a:xfrm>
            <a:off x="1701800" y="4615687"/>
            <a:ext cx="9525000" cy="11689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61C"/>
                </a:solidFill>
                <a:latin typeface="Calibri"/>
              </a:rPr>
              <a:t>Chi phí nếu dùng đủ ba hãng (tùy chọn)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14161C"/>
                </a:solidFill>
                <a:latin typeface="Calibri"/>
              </a:rPr>
              <a:t>README ước tính ba gói Pro (Claude, Antigravity/Gemini, ChatGPT) khoảng 60 USD mỗi tháng; các hãng ngoài Claude không bắt buộc.</a:t>
            </a:r>
          </a:p>
        </p:txBody>
      </p:sp>
      <p:sp>
        <p:nvSpPr>
          <p:cNvPr id="12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7/33</a:t>
            </a:r>
          </a:p>
        </p:txBody>
      </p:sp>
      <p:sp>
        <p:nvSpPr>
          <p:cNvPr id="13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progress"/>
          <p:cNvSpPr/>
          <p:nvPr/>
        </p:nvSpPr>
        <p:spPr>
          <a:xfrm>
            <a:off x="685800" y="6426200"/>
            <a:ext cx="2295236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Lộ trình</a:t>
            </a:r>
          </a:p>
        </p:txBody>
      </p:sp>
      <p:sp>
        <p:nvSpPr>
          <p:cNvPr id="3" name="marker 1"/>
          <p:cNvSpPr/>
          <p:nvPr/>
        </p:nvSpPr>
        <p:spPr>
          <a:xfrm>
            <a:off x="685800" y="1577339"/>
            <a:ext cx="457200" cy="4572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step"/>
          <p:cNvSpPr txBox="1"/>
          <p:nvPr/>
        </p:nvSpPr>
        <p:spPr>
          <a:xfrm>
            <a:off x="1346200" y="1415795"/>
            <a:ext cx="4495800" cy="780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Thêm marketplace của plugin vào Claude Code</a:t>
            </a:r>
          </a:p>
        </p:txBody>
      </p:sp>
      <p:sp>
        <p:nvSpPr>
          <p:cNvPr id="5" name="marker 2"/>
          <p:cNvSpPr/>
          <p:nvPr/>
        </p:nvSpPr>
        <p:spPr>
          <a:xfrm>
            <a:off x="685800" y="2348484"/>
            <a:ext cx="457200" cy="4572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" name="step"/>
          <p:cNvSpPr txBox="1"/>
          <p:nvPr/>
        </p:nvSpPr>
        <p:spPr>
          <a:xfrm>
            <a:off x="1346200" y="2373884"/>
            <a:ext cx="4495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Cài plugin</a:t>
            </a:r>
          </a:p>
        </p:txBody>
      </p:sp>
      <p:sp>
        <p:nvSpPr>
          <p:cNvPr id="7" name="marker 3"/>
          <p:cNvSpPr/>
          <p:nvPr/>
        </p:nvSpPr>
        <p:spPr>
          <a:xfrm>
            <a:off x="685800" y="2932684"/>
            <a:ext cx="457200" cy="4572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step"/>
          <p:cNvSpPr txBox="1"/>
          <p:nvPr/>
        </p:nvSpPr>
        <p:spPr>
          <a:xfrm>
            <a:off x="1346200" y="2958084"/>
            <a:ext cx="4495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Chạy thiết lập ban đầu</a:t>
            </a:r>
          </a:p>
        </p:txBody>
      </p:sp>
      <p:sp>
        <p:nvSpPr>
          <p:cNvPr id="9" name="marker 4"/>
          <p:cNvSpPr/>
          <p:nvPr/>
        </p:nvSpPr>
        <p:spPr>
          <a:xfrm>
            <a:off x="685800" y="3703828"/>
            <a:ext cx="457200" cy="4572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" name="step"/>
          <p:cNvSpPr txBox="1"/>
          <p:nvPr/>
        </p:nvSpPr>
        <p:spPr>
          <a:xfrm>
            <a:off x="1346200" y="3542283"/>
            <a:ext cx="4495800" cy="780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Bật đội agent native của Claude Code</a:t>
            </a:r>
          </a:p>
        </p:txBody>
      </p:sp>
      <p:sp>
        <p:nvSpPr>
          <p:cNvPr id="11" name="marker 5"/>
          <p:cNvSpPr/>
          <p:nvPr/>
        </p:nvSpPr>
        <p:spPr>
          <a:xfrm>
            <a:off x="685800" y="4661915"/>
            <a:ext cx="457200" cy="4572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2" name="step"/>
          <p:cNvSpPr txBox="1"/>
          <p:nvPr/>
        </p:nvSpPr>
        <p:spPr>
          <a:xfrm>
            <a:off x="1346200" y="4500371"/>
            <a:ext cx="4495800" cy="780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Giao một việc cho cả đội bằng /team</a:t>
            </a:r>
          </a:p>
        </p:txBody>
      </p:sp>
      <p:sp>
        <p:nvSpPr>
          <p:cNvPr id="13" name="marker 6"/>
          <p:cNvSpPr/>
          <p:nvPr/>
        </p:nvSpPr>
        <p:spPr>
          <a:xfrm>
            <a:off x="6299200" y="1577339"/>
            <a:ext cx="457200" cy="4572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4" name="step"/>
          <p:cNvSpPr txBox="1"/>
          <p:nvPr/>
        </p:nvSpPr>
        <p:spPr>
          <a:xfrm>
            <a:off x="6959600" y="1415795"/>
            <a:ext cx="4495800" cy="780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Dùng autopilot khi chỉ cần một agent chính</a:t>
            </a:r>
          </a:p>
        </p:txBody>
      </p:sp>
      <p:sp>
        <p:nvSpPr>
          <p:cNvPr id="15" name="marker 7"/>
          <p:cNvSpPr/>
          <p:nvPr/>
        </p:nvSpPr>
        <p:spPr>
          <a:xfrm>
            <a:off x="6299200" y="2535428"/>
            <a:ext cx="457200" cy="4572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6" name="step"/>
          <p:cNvSpPr txBox="1"/>
          <p:nvPr/>
        </p:nvSpPr>
        <p:spPr>
          <a:xfrm>
            <a:off x="6959600" y="2373884"/>
            <a:ext cx="4495800" cy="780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Cài lệnh omc ở terminal (cho omc team)</a:t>
            </a:r>
          </a:p>
        </p:txBody>
      </p:sp>
      <p:sp>
        <p:nvSpPr>
          <p:cNvPr id="17" name="marker 8"/>
          <p:cNvSpPr/>
          <p:nvPr/>
        </p:nvSpPr>
        <p:spPr>
          <a:xfrm>
            <a:off x="6299200" y="3306572"/>
            <a:ext cx="457200" cy="4572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8" name="step"/>
          <p:cNvSpPr txBox="1"/>
          <p:nvPr/>
        </p:nvSpPr>
        <p:spPr>
          <a:xfrm>
            <a:off x="6959600" y="3331972"/>
            <a:ext cx="4495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Cài tmux</a:t>
            </a:r>
          </a:p>
        </p:txBody>
      </p:sp>
      <p:sp>
        <p:nvSpPr>
          <p:cNvPr id="19" name="marker 9"/>
          <p:cNvSpPr/>
          <p:nvPr/>
        </p:nvSpPr>
        <p:spPr>
          <a:xfrm>
            <a:off x="6299200" y="3890772"/>
            <a:ext cx="457200" cy="4572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0" name="step"/>
          <p:cNvSpPr txBox="1"/>
          <p:nvPr/>
        </p:nvSpPr>
        <p:spPr>
          <a:xfrm>
            <a:off x="6959600" y="3916172"/>
            <a:ext cx="4495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Mở worker CLI bằng omc team</a:t>
            </a:r>
          </a:p>
        </p:txBody>
      </p:sp>
      <p:sp>
        <p:nvSpPr>
          <p:cNvPr id="21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8/33</a:t>
            </a:r>
          </a:p>
        </p:txBody>
      </p:sp>
      <p:sp>
        <p:nvSpPr>
          <p:cNvPr id="22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progress"/>
          <p:cNvSpPr/>
          <p:nvPr/>
        </p:nvSpPr>
        <p:spPr>
          <a:xfrm>
            <a:off x="685800" y="6426200"/>
            <a:ext cx="2623127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304800"/>
            <a:ext cx="812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3FD1"/>
                </a:solidFill>
                <a:latin typeface="Calibri"/>
              </a:rPr>
              <a:t>Bước 1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Thêm marketplace của plugin vào Claude Code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85800" y="1326895"/>
            <a:ext cx="10820400" cy="4084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61C"/>
                </a:solidFill>
                <a:latin typeface="Calibri"/>
              </a:rPr>
              <a:t>Mục đích: </a:t>
            </a:r>
            <a:r>
              <a:rPr sz="2200" b="0">
                <a:solidFill>
                  <a:srgbClr val="14161C"/>
                </a:solidFill>
                <a:latin typeface="Calibri"/>
              </a:rPr>
              <a:t>Cho Claude Code biết nơi lấy plugin oh-my-claudecode.</a:t>
            </a:r>
          </a:p>
        </p:txBody>
      </p:sp>
      <p:sp>
        <p:nvSpPr>
          <p:cNvPr id="5" name="card"/>
          <p:cNvSpPr/>
          <p:nvPr/>
        </p:nvSpPr>
        <p:spPr>
          <a:xfrm>
            <a:off x="685800" y="1862327"/>
            <a:ext cx="10820400" cy="669544"/>
          </a:xfrm>
          <a:prstGeom prst="roundRect">
            <a:avLst>
              <a:gd name="adj" fmla="val 30349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marker 1"/>
          <p:cNvSpPr/>
          <p:nvPr/>
        </p:nvSpPr>
        <p:spPr>
          <a:xfrm>
            <a:off x="965200" y="1943100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card text"/>
          <p:cNvSpPr txBox="1"/>
          <p:nvPr/>
        </p:nvSpPr>
        <p:spPr>
          <a:xfrm>
            <a:off x="1701800" y="2002027"/>
            <a:ext cx="9525000" cy="3901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Mở một phiên Claude Code và gõ lệnh dưới đây.</a:t>
            </a:r>
          </a:p>
        </p:txBody>
      </p:sp>
      <p:sp>
        <p:nvSpPr>
          <p:cNvPr id="8" name="card"/>
          <p:cNvSpPr/>
          <p:nvPr/>
        </p:nvSpPr>
        <p:spPr>
          <a:xfrm>
            <a:off x="685800" y="2658872"/>
            <a:ext cx="10820400" cy="669544"/>
          </a:xfrm>
          <a:prstGeom prst="roundRect">
            <a:avLst>
              <a:gd name="adj" fmla="val 30349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marker 2"/>
          <p:cNvSpPr/>
          <p:nvPr/>
        </p:nvSpPr>
        <p:spPr>
          <a:xfrm>
            <a:off x="965200" y="2739643"/>
            <a:ext cx="508000" cy="5080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card text"/>
          <p:cNvSpPr txBox="1"/>
          <p:nvPr/>
        </p:nvSpPr>
        <p:spPr>
          <a:xfrm>
            <a:off x="1701800" y="2798572"/>
            <a:ext cx="9525000" cy="3901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README dặn nhập từng lệnh một; dán cả hai lệnh cùng lúc sẽ lỗi.</a:t>
            </a:r>
          </a:p>
        </p:txBody>
      </p:sp>
      <p:sp>
        <p:nvSpPr>
          <p:cNvPr id="11" name="code label"/>
          <p:cNvSpPr txBox="1"/>
          <p:nvPr/>
        </p:nvSpPr>
        <p:spPr>
          <a:xfrm>
            <a:off x="685800" y="3455416"/>
            <a:ext cx="108204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B6A66"/>
                </a:solidFill>
                <a:latin typeface="Calibri"/>
              </a:rPr>
              <a:t>Gõ hoặc dán từng dòng, theo thứ tự.</a:t>
            </a:r>
          </a:p>
        </p:txBody>
      </p:sp>
      <p:sp>
        <p:nvSpPr>
          <p:cNvPr id="12" name="code block"/>
          <p:cNvSpPr/>
          <p:nvPr/>
        </p:nvSpPr>
        <p:spPr>
          <a:xfrm>
            <a:off x="685800" y="3785616"/>
            <a:ext cx="10820400" cy="671068"/>
          </a:xfrm>
          <a:prstGeom prst="roundRect">
            <a:avLst>
              <a:gd name="adj" fmla="val 26495"/>
            </a:avLst>
          </a:prstGeom>
          <a:solidFill>
            <a:srgbClr val="141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ode"/>
          <p:cNvSpPr txBox="1"/>
          <p:nvPr/>
        </p:nvSpPr>
        <p:spPr>
          <a:xfrm>
            <a:off x="965200" y="3963416"/>
            <a:ext cx="10261600" cy="3154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3EEE3"/>
                </a:solidFill>
                <a:latin typeface="Consolas"/>
              </a:rPr>
              <a:t>/plugin marketplace add https://github.com/Yeachan-Heo/oh-my-claudecode</a:t>
            </a:r>
          </a:p>
        </p:txBody>
      </p:sp>
      <p:sp>
        <p:nvSpPr>
          <p:cNvPr id="14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9/33</a:t>
            </a:r>
          </a:p>
        </p:txBody>
      </p:sp>
      <p:sp>
        <p:nvSpPr>
          <p:cNvPr id="15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progress"/>
          <p:cNvSpPr/>
          <p:nvPr/>
        </p:nvSpPr>
        <p:spPr>
          <a:xfrm>
            <a:off x="685800" y="6426200"/>
            <a:ext cx="2951018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304800"/>
            <a:ext cx="812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3FD1"/>
                </a:solidFill>
                <a:latin typeface="Calibri"/>
              </a:rPr>
              <a:t>Bước 2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Cài plugin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85800" y="1326895"/>
            <a:ext cx="10820400" cy="4084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61C"/>
                </a:solidFill>
                <a:latin typeface="Calibri"/>
              </a:rPr>
              <a:t>Mục đích: </a:t>
            </a:r>
            <a:r>
              <a:rPr sz="2200" b="0">
                <a:solidFill>
                  <a:srgbClr val="14161C"/>
                </a:solidFill>
                <a:latin typeface="Calibri"/>
              </a:rPr>
              <a:t>Đưa các skill của OMC (/team, /autopilot, /ralph) vào Claude Code.</a:t>
            </a:r>
          </a:p>
        </p:txBody>
      </p:sp>
      <p:sp>
        <p:nvSpPr>
          <p:cNvPr id="5" name="card"/>
          <p:cNvSpPr/>
          <p:nvPr/>
        </p:nvSpPr>
        <p:spPr>
          <a:xfrm>
            <a:off x="685800" y="1862327"/>
            <a:ext cx="10820400" cy="669544"/>
          </a:xfrm>
          <a:prstGeom prst="roundRect">
            <a:avLst>
              <a:gd name="adj" fmla="val 30349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marker 1"/>
          <p:cNvSpPr/>
          <p:nvPr/>
        </p:nvSpPr>
        <p:spPr>
          <a:xfrm>
            <a:off x="965200" y="1943100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card text"/>
          <p:cNvSpPr txBox="1"/>
          <p:nvPr/>
        </p:nvSpPr>
        <p:spPr>
          <a:xfrm>
            <a:off x="1701800" y="2002027"/>
            <a:ext cx="9525000" cy="3901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Gõ lệnh dưới đây trong cùng phiên, sau khi lệnh trước chạy xong.</a:t>
            </a:r>
          </a:p>
        </p:txBody>
      </p:sp>
      <p:sp>
        <p:nvSpPr>
          <p:cNvPr id="8" name="code block"/>
          <p:cNvSpPr/>
          <p:nvPr/>
        </p:nvSpPr>
        <p:spPr>
          <a:xfrm>
            <a:off x="685800" y="2658872"/>
            <a:ext cx="10820400" cy="706119"/>
          </a:xfrm>
          <a:prstGeom prst="roundRect">
            <a:avLst>
              <a:gd name="adj" fmla="val 25179"/>
            </a:avLst>
          </a:prstGeom>
          <a:solidFill>
            <a:srgbClr val="141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ode"/>
          <p:cNvSpPr txBox="1"/>
          <p:nvPr/>
        </p:nvSpPr>
        <p:spPr>
          <a:xfrm>
            <a:off x="965200" y="2836672"/>
            <a:ext cx="10261600" cy="3505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3EEE3"/>
                </a:solidFill>
                <a:latin typeface="Consolas"/>
              </a:rPr>
              <a:t>/plugin install oh-my-claudecode</a:t>
            </a:r>
          </a:p>
        </p:txBody>
      </p:sp>
      <p:sp>
        <p:nvSpPr>
          <p:cNvPr id="10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10/33</a:t>
            </a:r>
          </a:p>
        </p:txBody>
      </p:sp>
      <p:sp>
        <p:nvSpPr>
          <p:cNvPr id="11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progress"/>
          <p:cNvSpPr/>
          <p:nvPr/>
        </p:nvSpPr>
        <p:spPr>
          <a:xfrm>
            <a:off x="685800" y="6426200"/>
            <a:ext cx="3278909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304800"/>
            <a:ext cx="812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3FD1"/>
                </a:solidFill>
                <a:latin typeface="Calibri"/>
              </a:rPr>
              <a:t>Bước 3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Chạy thiết lập ban đầu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85800" y="1326895"/>
            <a:ext cx="10820400" cy="4084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61C"/>
                </a:solidFill>
                <a:latin typeface="Calibri"/>
              </a:rPr>
              <a:t>Mục đích: </a:t>
            </a:r>
            <a:r>
              <a:rPr sz="2200" b="0">
                <a:solidFill>
                  <a:srgbClr val="14161C"/>
                </a:solidFill>
                <a:latin typeface="Calibri"/>
              </a:rPr>
              <a:t>Hoàn tất cấu hình OMC sau khi cài plugin.</a:t>
            </a:r>
          </a:p>
        </p:txBody>
      </p:sp>
      <p:sp>
        <p:nvSpPr>
          <p:cNvPr id="5" name="card"/>
          <p:cNvSpPr/>
          <p:nvPr/>
        </p:nvSpPr>
        <p:spPr>
          <a:xfrm>
            <a:off x="685800" y="1862327"/>
            <a:ext cx="10820400" cy="669544"/>
          </a:xfrm>
          <a:prstGeom prst="roundRect">
            <a:avLst>
              <a:gd name="adj" fmla="val 30349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marker 1"/>
          <p:cNvSpPr/>
          <p:nvPr/>
        </p:nvSpPr>
        <p:spPr>
          <a:xfrm>
            <a:off x="965200" y="1943100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card text"/>
          <p:cNvSpPr txBox="1"/>
          <p:nvPr/>
        </p:nvSpPr>
        <p:spPr>
          <a:xfrm>
            <a:off x="1701800" y="2002027"/>
            <a:ext cx="9525000" cy="3901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Gõ lệnh dưới đây trong phiên Claude Code.</a:t>
            </a:r>
          </a:p>
        </p:txBody>
      </p:sp>
      <p:sp>
        <p:nvSpPr>
          <p:cNvPr id="8" name="card"/>
          <p:cNvSpPr/>
          <p:nvPr/>
        </p:nvSpPr>
        <p:spPr>
          <a:xfrm>
            <a:off x="685800" y="2658872"/>
            <a:ext cx="10820400" cy="669544"/>
          </a:xfrm>
          <a:prstGeom prst="roundRect">
            <a:avLst>
              <a:gd name="adj" fmla="val 30349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marker 2"/>
          <p:cNvSpPr/>
          <p:nvPr/>
        </p:nvSpPr>
        <p:spPr>
          <a:xfrm>
            <a:off x="965200" y="2739643"/>
            <a:ext cx="508000" cy="5080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card text"/>
          <p:cNvSpPr txBox="1"/>
          <p:nvPr/>
        </p:nvSpPr>
        <p:spPr>
          <a:xfrm>
            <a:off x="1701800" y="2798572"/>
            <a:ext cx="9525000" cy="3901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Ở terminal, lệnh tương đương là </a:t>
            </a:r>
            <a:r>
              <a:rPr sz="2200" b="0">
                <a:solidFill>
                  <a:srgbClr val="B02D16"/>
                </a:solidFill>
                <a:latin typeface="Consolas"/>
              </a:rPr>
              <a:t>omc setup</a:t>
            </a:r>
            <a:r>
              <a:rPr sz="2400" b="0">
                <a:solidFill>
                  <a:srgbClr val="14161C"/>
                </a:solidFill>
                <a:latin typeface="Calibri"/>
              </a:rPr>
              <a:t> (cần cài lệnh omc ở bước 7).</a:t>
            </a:r>
          </a:p>
        </p:txBody>
      </p:sp>
      <p:sp>
        <p:nvSpPr>
          <p:cNvPr id="11" name="code block"/>
          <p:cNvSpPr/>
          <p:nvPr/>
        </p:nvSpPr>
        <p:spPr>
          <a:xfrm>
            <a:off x="685800" y="3455416"/>
            <a:ext cx="10820400" cy="706119"/>
          </a:xfrm>
          <a:prstGeom prst="roundRect">
            <a:avLst>
              <a:gd name="adj" fmla="val 25179"/>
            </a:avLst>
          </a:prstGeom>
          <a:solidFill>
            <a:srgbClr val="141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ode"/>
          <p:cNvSpPr txBox="1"/>
          <p:nvPr/>
        </p:nvSpPr>
        <p:spPr>
          <a:xfrm>
            <a:off x="965200" y="3633216"/>
            <a:ext cx="10261600" cy="3505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3EEE3"/>
                </a:solidFill>
                <a:latin typeface="Consolas"/>
              </a:rPr>
              <a:t>/omc-setup</a:t>
            </a:r>
          </a:p>
        </p:txBody>
      </p:sp>
      <p:sp>
        <p:nvSpPr>
          <p:cNvPr id="13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11/33</a:t>
            </a:r>
          </a:p>
        </p:txBody>
      </p:sp>
      <p:sp>
        <p:nvSpPr>
          <p:cNvPr id="14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progress"/>
          <p:cNvSpPr/>
          <p:nvPr/>
        </p:nvSpPr>
        <p:spPr>
          <a:xfrm>
            <a:off x="685800" y="6426200"/>
            <a:ext cx="3606800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304800"/>
            <a:ext cx="812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3FD1"/>
                </a:solidFill>
                <a:latin typeface="Calibri"/>
              </a:rPr>
              <a:t>Bước 4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Bật đội agent native của Claude Code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85800" y="1326895"/>
            <a:ext cx="10820400" cy="766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61C"/>
                </a:solidFill>
                <a:latin typeface="Calibri"/>
              </a:rPr>
              <a:t>Mục đích: </a:t>
            </a:r>
            <a:r>
              <a:rPr sz="2200" b="0">
                <a:solidFill>
                  <a:srgbClr val="14161C"/>
                </a:solidFill>
                <a:latin typeface="Calibri"/>
              </a:rPr>
              <a:t>Lệnh /team dùng đội native; không bật thì OMC cảnh báo và, khi có thể, lùi về chạy không theo đội.</a:t>
            </a:r>
          </a:p>
        </p:txBody>
      </p:sp>
      <p:sp>
        <p:nvSpPr>
          <p:cNvPr id="5" name="card"/>
          <p:cNvSpPr/>
          <p:nvPr/>
        </p:nvSpPr>
        <p:spPr>
          <a:xfrm>
            <a:off x="685800" y="2219960"/>
            <a:ext cx="10820400" cy="669544"/>
          </a:xfrm>
          <a:prstGeom prst="roundRect">
            <a:avLst>
              <a:gd name="adj" fmla="val 30349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marker 1"/>
          <p:cNvSpPr/>
          <p:nvPr/>
        </p:nvSpPr>
        <p:spPr>
          <a:xfrm>
            <a:off x="965200" y="2300731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card text"/>
          <p:cNvSpPr txBox="1"/>
          <p:nvPr/>
        </p:nvSpPr>
        <p:spPr>
          <a:xfrm>
            <a:off x="1701800" y="2359660"/>
            <a:ext cx="9525000" cy="3901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Mở </a:t>
            </a:r>
            <a:r>
              <a:rPr sz="2200" b="0">
                <a:solidFill>
                  <a:srgbClr val="B02D16"/>
                </a:solidFill>
                <a:latin typeface="Consolas"/>
              </a:rPr>
              <a:t>~/.claude/settings.json</a:t>
            </a:r>
            <a:r>
              <a:rPr sz="2400" b="0">
                <a:solidFill>
                  <a:srgbClr val="14161C"/>
                </a:solidFill>
                <a:latin typeface="Calibri"/>
              </a:rPr>
              <a:t>.</a:t>
            </a:r>
          </a:p>
        </p:txBody>
      </p:sp>
      <p:sp>
        <p:nvSpPr>
          <p:cNvPr id="8" name="card"/>
          <p:cNvSpPr/>
          <p:nvPr/>
        </p:nvSpPr>
        <p:spPr>
          <a:xfrm>
            <a:off x="685800" y="3016504"/>
            <a:ext cx="10820400" cy="1449832"/>
          </a:xfrm>
          <a:prstGeom prst="roundRect">
            <a:avLst>
              <a:gd name="adj" fmla="val 14015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marker 2"/>
          <p:cNvSpPr/>
          <p:nvPr/>
        </p:nvSpPr>
        <p:spPr>
          <a:xfrm>
            <a:off x="965200" y="3487419"/>
            <a:ext cx="508000" cy="5080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card text"/>
          <p:cNvSpPr txBox="1"/>
          <p:nvPr/>
        </p:nvSpPr>
        <p:spPr>
          <a:xfrm>
            <a:off x="1701800" y="3156204"/>
            <a:ext cx="9525000" cy="11704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Trong khóa </a:t>
            </a:r>
            <a:r>
              <a:rPr sz="2200" b="0">
                <a:solidFill>
                  <a:srgbClr val="B02D16"/>
                </a:solidFill>
                <a:latin typeface="Consolas"/>
              </a:rPr>
              <a:t>env</a:t>
            </a:r>
            <a:r>
              <a:rPr sz="2400" b="0">
                <a:solidFill>
                  <a:srgbClr val="14161C"/>
                </a:solidFill>
                <a:latin typeface="Calibri"/>
              </a:rPr>
              <a:t>, thêm dòng </a:t>
            </a:r>
            <a:r>
              <a:rPr sz="2200" b="0">
                <a:solidFill>
                  <a:srgbClr val="B02D16"/>
                </a:solidFill>
                <a:latin typeface="Consolas"/>
              </a:rPr>
              <a:t>"CLAUDE_CODE_EXPERIMENTAL_AGENT_TEAMS": "1"</a:t>
            </a:r>
            <a:r>
              <a:rPr sz="2400" b="0">
                <a:solidFill>
                  <a:srgbClr val="14161C"/>
                </a:solidFill>
                <a:latin typeface="Calibri"/>
              </a:rPr>
              <a:t>. Giá trị 1 là giá trị thật, giữ nguyên.</a:t>
            </a:r>
          </a:p>
        </p:txBody>
      </p:sp>
      <p:sp>
        <p:nvSpPr>
          <p:cNvPr id="11" name="card"/>
          <p:cNvSpPr/>
          <p:nvPr/>
        </p:nvSpPr>
        <p:spPr>
          <a:xfrm>
            <a:off x="685800" y="4593335"/>
            <a:ext cx="10820400" cy="1059688"/>
          </a:xfrm>
          <a:prstGeom prst="roundRect">
            <a:avLst>
              <a:gd name="adj" fmla="val 19175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marker 3"/>
          <p:cNvSpPr/>
          <p:nvPr/>
        </p:nvSpPr>
        <p:spPr>
          <a:xfrm>
            <a:off x="965200" y="4869180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card text"/>
          <p:cNvSpPr txBox="1"/>
          <p:nvPr/>
        </p:nvSpPr>
        <p:spPr>
          <a:xfrm>
            <a:off x="1701800" y="4733035"/>
            <a:ext cx="9525000" cy="780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Nếu file đã có khóa env, thêm dòng đó vào khóa sẵn có thay vì thay cả file.</a:t>
            </a:r>
          </a:p>
        </p:txBody>
      </p:sp>
      <p:sp>
        <p:nvSpPr>
          <p:cNvPr id="14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12/33</a:t>
            </a:r>
          </a:p>
        </p:txBody>
      </p:sp>
      <p:sp>
        <p:nvSpPr>
          <p:cNvPr id="15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progress"/>
          <p:cNvSpPr/>
          <p:nvPr/>
        </p:nvSpPr>
        <p:spPr>
          <a:xfrm>
            <a:off x="685800" y="6426200"/>
            <a:ext cx="3934690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304800"/>
            <a:ext cx="812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3FD1"/>
                </a:solidFill>
                <a:latin typeface="Calibri"/>
              </a:rPr>
              <a:t>Bước 5 (1/2)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Giao một việc cho cả đội bằng /team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85800" y="1326895"/>
            <a:ext cx="10820400" cy="766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61C"/>
                </a:solidFill>
                <a:latin typeface="Calibri"/>
              </a:rPr>
              <a:t>Mục đích: </a:t>
            </a:r>
            <a:r>
              <a:rPr sz="2200" b="0">
                <a:solidFill>
                  <a:srgbClr val="14161C"/>
                </a:solidFill>
                <a:latin typeface="Calibri"/>
              </a:rPr>
              <a:t>Team là cách điều phối README đề nghị: các agent Claude phối hợp trên một danh sách việc chung.</a:t>
            </a:r>
          </a:p>
        </p:txBody>
      </p:sp>
      <p:sp>
        <p:nvSpPr>
          <p:cNvPr id="5" name="card"/>
          <p:cNvSpPr/>
          <p:nvPr/>
        </p:nvSpPr>
        <p:spPr>
          <a:xfrm>
            <a:off x="685800" y="2219960"/>
            <a:ext cx="10820400" cy="1059688"/>
          </a:xfrm>
          <a:prstGeom prst="roundRect">
            <a:avLst>
              <a:gd name="adj" fmla="val 19175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marker 1"/>
          <p:cNvSpPr/>
          <p:nvPr/>
        </p:nvSpPr>
        <p:spPr>
          <a:xfrm>
            <a:off x="965200" y="2495804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card text"/>
          <p:cNvSpPr txBox="1"/>
          <p:nvPr/>
        </p:nvSpPr>
        <p:spPr>
          <a:xfrm>
            <a:off x="1701800" y="2359660"/>
            <a:ext cx="9525000" cy="780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Mở một dự án có lỗi TypeScript và gõ lệnh dưới đây trong phiên Claude Code.</a:t>
            </a:r>
          </a:p>
        </p:txBody>
      </p:sp>
      <p:sp>
        <p:nvSpPr>
          <p:cNvPr id="8" name="card"/>
          <p:cNvSpPr/>
          <p:nvPr/>
        </p:nvSpPr>
        <p:spPr>
          <a:xfrm>
            <a:off x="685800" y="3406648"/>
            <a:ext cx="10820400" cy="1059688"/>
          </a:xfrm>
          <a:prstGeom prst="roundRect">
            <a:avLst>
              <a:gd name="adj" fmla="val 19175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marker 2"/>
          <p:cNvSpPr/>
          <p:nvPr/>
        </p:nvSpPr>
        <p:spPr>
          <a:xfrm>
            <a:off x="965200" y="3682492"/>
            <a:ext cx="508000" cy="5080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card text"/>
          <p:cNvSpPr txBox="1"/>
          <p:nvPr/>
        </p:nvSpPr>
        <p:spPr>
          <a:xfrm>
            <a:off x="1701800" y="3546348"/>
            <a:ext cx="9525000" cy="780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Số đứng trước dấu hai chấm có dạng N:loại-agent; README dùng 3:executor cho /team và 2:codex cho omc team.</a:t>
            </a:r>
          </a:p>
        </p:txBody>
      </p:sp>
      <p:sp>
        <p:nvSpPr>
          <p:cNvPr id="11" name="card"/>
          <p:cNvSpPr/>
          <p:nvPr/>
        </p:nvSpPr>
        <p:spPr>
          <a:xfrm>
            <a:off x="685800" y="4593336"/>
            <a:ext cx="10820400" cy="1449832"/>
          </a:xfrm>
          <a:prstGeom prst="roundRect">
            <a:avLst>
              <a:gd name="adj" fmla="val 14015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marker 3"/>
          <p:cNvSpPr/>
          <p:nvPr/>
        </p:nvSpPr>
        <p:spPr>
          <a:xfrm>
            <a:off x="965200" y="5064252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card text"/>
          <p:cNvSpPr txBox="1"/>
          <p:nvPr/>
        </p:nvSpPr>
        <p:spPr>
          <a:xfrm>
            <a:off x="1701800" y="4733036"/>
            <a:ext cx="9525000" cy="11704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Đội đi theo chuỗi </a:t>
            </a:r>
            <a:r>
              <a:rPr sz="2200" b="0">
                <a:solidFill>
                  <a:srgbClr val="B02D16"/>
                </a:solidFill>
                <a:latin typeface="Consolas"/>
              </a:rPr>
              <a:t>team-plan → team-prd → team-exec → team-verify → team-fix (loop)</a:t>
            </a:r>
            <a:r>
              <a:rPr sz="2400" b="0">
                <a:solidFill>
                  <a:srgbClr val="14161C"/>
                </a:solidFill>
                <a:latin typeface="Calibri"/>
              </a:rPr>
              <a:t>.</a:t>
            </a:r>
          </a:p>
        </p:txBody>
      </p:sp>
      <p:sp>
        <p:nvSpPr>
          <p:cNvPr id="14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13/33</a:t>
            </a:r>
          </a:p>
        </p:txBody>
      </p:sp>
      <p:sp>
        <p:nvSpPr>
          <p:cNvPr id="15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progress"/>
          <p:cNvSpPr/>
          <p:nvPr/>
        </p:nvSpPr>
        <p:spPr>
          <a:xfrm>
            <a:off x="685800" y="6426200"/>
            <a:ext cx="4262581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304800"/>
            <a:ext cx="812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3FD1"/>
                </a:solidFill>
                <a:latin typeface="Calibri"/>
              </a:rPr>
              <a:t>Bước 5 (2/2)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Giao một việc cho cả đội bằng /team</a:t>
            </a:r>
          </a:p>
        </p:txBody>
      </p:sp>
      <p:sp>
        <p:nvSpPr>
          <p:cNvPr id="4" name="code block"/>
          <p:cNvSpPr/>
          <p:nvPr/>
        </p:nvSpPr>
        <p:spPr>
          <a:xfrm>
            <a:off x="685800" y="1326895"/>
            <a:ext cx="10820400" cy="706119"/>
          </a:xfrm>
          <a:prstGeom prst="roundRect">
            <a:avLst>
              <a:gd name="adj" fmla="val 25179"/>
            </a:avLst>
          </a:prstGeom>
          <a:solidFill>
            <a:srgbClr val="141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ode"/>
          <p:cNvSpPr txBox="1"/>
          <p:nvPr/>
        </p:nvSpPr>
        <p:spPr>
          <a:xfrm>
            <a:off x="965200" y="1504695"/>
            <a:ext cx="10261600" cy="3505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3EEE3"/>
                </a:solidFill>
                <a:latin typeface="Consolas"/>
              </a:rPr>
              <a:t>/team 3:executor "fix all TypeScript errors"</a:t>
            </a:r>
          </a:p>
        </p:txBody>
      </p:sp>
      <p:sp>
        <p:nvSpPr>
          <p:cNvPr id="6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14/33</a:t>
            </a:r>
          </a:p>
        </p:txBody>
      </p:sp>
      <p:sp>
        <p:nvSpPr>
          <p:cNvPr id="7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rogress"/>
          <p:cNvSpPr/>
          <p:nvPr/>
        </p:nvSpPr>
        <p:spPr>
          <a:xfrm>
            <a:off x="685800" y="6426200"/>
            <a:ext cx="4590472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304800"/>
            <a:ext cx="812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3FD1"/>
                </a:solidFill>
                <a:latin typeface="Calibri"/>
              </a:rPr>
              <a:t>Bước 6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Dùng autopilot khi chỉ cần một agent chính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85800" y="1326895"/>
            <a:ext cx="10820400" cy="766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61C"/>
                </a:solidFill>
                <a:latin typeface="Calibri"/>
              </a:rPr>
              <a:t>Mục đích: </a:t>
            </a:r>
            <a:r>
              <a:rPr sz="2200" b="0">
                <a:solidFill>
                  <a:srgbClr val="14161C"/>
                </a:solidFill>
                <a:latin typeface="Calibri"/>
              </a:rPr>
              <a:t>README mô tả autopilot là thực thi tự động bằng một agent chính, hợp việc làm trọn một tính năng với ít thủ tục.</a:t>
            </a:r>
          </a:p>
        </p:txBody>
      </p:sp>
      <p:sp>
        <p:nvSpPr>
          <p:cNvPr id="5" name="card"/>
          <p:cNvSpPr/>
          <p:nvPr/>
        </p:nvSpPr>
        <p:spPr>
          <a:xfrm>
            <a:off x="685800" y="2219960"/>
            <a:ext cx="10820400" cy="669544"/>
          </a:xfrm>
          <a:prstGeom prst="roundRect">
            <a:avLst>
              <a:gd name="adj" fmla="val 30349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marker 1"/>
          <p:cNvSpPr/>
          <p:nvPr/>
        </p:nvSpPr>
        <p:spPr>
          <a:xfrm>
            <a:off x="965200" y="2300731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card text"/>
          <p:cNvSpPr txBox="1"/>
          <p:nvPr/>
        </p:nvSpPr>
        <p:spPr>
          <a:xfrm>
            <a:off x="1701800" y="2359660"/>
            <a:ext cx="9525000" cy="3901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Gõ lệnh dưới đây trong phiên Claude Code để xây một tính năng từ mô tả.</a:t>
            </a:r>
          </a:p>
        </p:txBody>
      </p:sp>
      <p:sp>
        <p:nvSpPr>
          <p:cNvPr id="8" name="card"/>
          <p:cNvSpPr/>
          <p:nvPr/>
        </p:nvSpPr>
        <p:spPr>
          <a:xfrm>
            <a:off x="685800" y="3016504"/>
            <a:ext cx="10820400" cy="1449832"/>
          </a:xfrm>
          <a:prstGeom prst="roundRect">
            <a:avLst>
              <a:gd name="adj" fmla="val 14015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marker 2"/>
          <p:cNvSpPr/>
          <p:nvPr/>
        </p:nvSpPr>
        <p:spPr>
          <a:xfrm>
            <a:off x="965200" y="3487419"/>
            <a:ext cx="508000" cy="5080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card text"/>
          <p:cNvSpPr txBox="1"/>
          <p:nvPr/>
        </p:nvSpPr>
        <p:spPr>
          <a:xfrm>
            <a:off x="1701800" y="3156204"/>
            <a:ext cx="9525000" cy="11704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README dặn mỗi phiên chỉ dùng một cơ chế cầm vòng lặp chính (/goal, Execute, Team hoặc Verify). Autopilot cũng có thể được cấu hình để chạy giai đoạn thực thi qua team.</a:t>
            </a:r>
          </a:p>
        </p:txBody>
      </p:sp>
      <p:sp>
        <p:nvSpPr>
          <p:cNvPr id="11" name="code block"/>
          <p:cNvSpPr/>
          <p:nvPr/>
        </p:nvSpPr>
        <p:spPr>
          <a:xfrm>
            <a:off x="685800" y="4593335"/>
            <a:ext cx="10820400" cy="706119"/>
          </a:xfrm>
          <a:prstGeom prst="roundRect">
            <a:avLst>
              <a:gd name="adj" fmla="val 25179"/>
            </a:avLst>
          </a:prstGeom>
          <a:solidFill>
            <a:srgbClr val="141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ode"/>
          <p:cNvSpPr txBox="1"/>
          <p:nvPr/>
        </p:nvSpPr>
        <p:spPr>
          <a:xfrm>
            <a:off x="965200" y="4771135"/>
            <a:ext cx="10261600" cy="3505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3EEE3"/>
                </a:solidFill>
                <a:latin typeface="Consolas"/>
              </a:rPr>
              <a:t>/autopilot "build a REST API for managing tasks"</a:t>
            </a:r>
          </a:p>
        </p:txBody>
      </p:sp>
      <p:sp>
        <p:nvSpPr>
          <p:cNvPr id="13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15/33</a:t>
            </a:r>
          </a:p>
        </p:txBody>
      </p:sp>
      <p:sp>
        <p:nvSpPr>
          <p:cNvPr id="14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progress"/>
          <p:cNvSpPr/>
          <p:nvPr/>
        </p:nvSpPr>
        <p:spPr>
          <a:xfrm>
            <a:off x="685800" y="6426200"/>
            <a:ext cx="4918363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304800"/>
            <a:ext cx="812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3FD1"/>
                </a:solidFill>
                <a:latin typeface="Calibri"/>
              </a:rPr>
              <a:t>Bước 7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Cài lệnh omc ở terminal (cho omc team)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85800" y="1326895"/>
            <a:ext cx="10820400" cy="766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61C"/>
                </a:solidFill>
                <a:latin typeface="Calibri"/>
              </a:rPr>
              <a:t>Mục đích: </a:t>
            </a:r>
            <a:r>
              <a:rPr sz="2200" b="0">
                <a:solidFill>
                  <a:srgbClr val="14161C"/>
                </a:solidFill>
                <a:latin typeface="Calibri"/>
              </a:rPr>
              <a:t>README đưa lệnh omc (omc team, omc ask) vào bề mặt terminal, cài bằng đường npm.</a:t>
            </a:r>
          </a:p>
        </p:txBody>
      </p:sp>
      <p:sp>
        <p:nvSpPr>
          <p:cNvPr id="5" name="card"/>
          <p:cNvSpPr/>
          <p:nvPr/>
        </p:nvSpPr>
        <p:spPr>
          <a:xfrm>
            <a:off x="685800" y="2219960"/>
            <a:ext cx="10820400" cy="669544"/>
          </a:xfrm>
          <a:prstGeom prst="roundRect">
            <a:avLst>
              <a:gd name="adj" fmla="val 30349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marker 1"/>
          <p:cNvSpPr/>
          <p:nvPr/>
        </p:nvSpPr>
        <p:spPr>
          <a:xfrm>
            <a:off x="965200" y="2300731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card text"/>
          <p:cNvSpPr txBox="1"/>
          <p:nvPr/>
        </p:nvSpPr>
        <p:spPr>
          <a:xfrm>
            <a:off x="1701800" y="2359660"/>
            <a:ext cx="9525000" cy="3901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Chạy lệnh dưới đây trong terminal, không phải trong phiên Claude Code.</a:t>
            </a:r>
          </a:p>
        </p:txBody>
      </p:sp>
      <p:sp>
        <p:nvSpPr>
          <p:cNvPr id="8" name="card"/>
          <p:cNvSpPr/>
          <p:nvPr/>
        </p:nvSpPr>
        <p:spPr>
          <a:xfrm>
            <a:off x="685800" y="3016504"/>
            <a:ext cx="10820400" cy="1059688"/>
          </a:xfrm>
          <a:prstGeom prst="roundRect">
            <a:avLst>
              <a:gd name="adj" fmla="val 19175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marker 2"/>
          <p:cNvSpPr/>
          <p:nvPr/>
        </p:nvSpPr>
        <p:spPr>
          <a:xfrm>
            <a:off x="965200" y="3292348"/>
            <a:ext cx="508000" cy="5080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card text"/>
          <p:cNvSpPr txBox="1"/>
          <p:nvPr/>
        </p:nvSpPr>
        <p:spPr>
          <a:xfrm>
            <a:off x="1701800" y="3156204"/>
            <a:ext cx="9525000" cy="780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Tên gói npm khác tên repo; nó cài cả </a:t>
            </a:r>
            <a:r>
              <a:rPr sz="2200" b="0">
                <a:solidFill>
                  <a:srgbClr val="B02D16"/>
                </a:solidFill>
                <a:latin typeface="Consolas"/>
              </a:rPr>
              <a:t>oh-my-claudecode</a:t>
            </a:r>
            <a:r>
              <a:rPr sz="2400" b="0">
                <a:solidFill>
                  <a:srgbClr val="14161C"/>
                </a:solidFill>
                <a:latin typeface="Calibri"/>
              </a:rPr>
              <a:t> lẫn lệnh ngắn </a:t>
            </a:r>
            <a:r>
              <a:rPr sz="2200" b="0">
                <a:solidFill>
                  <a:srgbClr val="B02D16"/>
                </a:solidFill>
                <a:latin typeface="Consolas"/>
              </a:rPr>
              <a:t>omc</a:t>
            </a:r>
            <a:r>
              <a:rPr sz="2400" b="0">
                <a:solidFill>
                  <a:srgbClr val="14161C"/>
                </a:solidFill>
                <a:latin typeface="Calibri"/>
              </a:rPr>
              <a:t>.</a:t>
            </a:r>
          </a:p>
        </p:txBody>
      </p:sp>
      <p:sp>
        <p:nvSpPr>
          <p:cNvPr id="11" name="card"/>
          <p:cNvSpPr/>
          <p:nvPr/>
        </p:nvSpPr>
        <p:spPr>
          <a:xfrm>
            <a:off x="685800" y="4203192"/>
            <a:ext cx="10820400" cy="1059688"/>
          </a:xfrm>
          <a:prstGeom prst="roundRect">
            <a:avLst>
              <a:gd name="adj" fmla="val 19175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marker 3"/>
          <p:cNvSpPr/>
          <p:nvPr/>
        </p:nvSpPr>
        <p:spPr>
          <a:xfrm>
            <a:off x="965200" y="4479035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card text"/>
          <p:cNvSpPr txBox="1"/>
          <p:nvPr/>
        </p:nvSpPr>
        <p:spPr>
          <a:xfrm>
            <a:off x="1701800" y="4342892"/>
            <a:ext cx="9525000" cy="780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README đưa đường npm như lựa chọn thay cho marketplace, nhưng bảng CLI và skill trong phiên liệt kê cả hai bề mặt; bước này chỉ thêm lệnh omc.</a:t>
            </a:r>
          </a:p>
        </p:txBody>
      </p:sp>
      <p:sp>
        <p:nvSpPr>
          <p:cNvPr id="14" name="code block"/>
          <p:cNvSpPr/>
          <p:nvPr/>
        </p:nvSpPr>
        <p:spPr>
          <a:xfrm>
            <a:off x="685800" y="5389880"/>
            <a:ext cx="10820400" cy="706119"/>
          </a:xfrm>
          <a:prstGeom prst="roundRect">
            <a:avLst>
              <a:gd name="adj" fmla="val 25179"/>
            </a:avLst>
          </a:prstGeom>
          <a:solidFill>
            <a:srgbClr val="141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code"/>
          <p:cNvSpPr txBox="1"/>
          <p:nvPr/>
        </p:nvSpPr>
        <p:spPr>
          <a:xfrm>
            <a:off x="965200" y="5567680"/>
            <a:ext cx="10261600" cy="3505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3EEE3"/>
                </a:solidFill>
                <a:latin typeface="Consolas"/>
              </a:rPr>
              <a:t>npm i -g oh-my-claude-sisyphus@latest</a:t>
            </a:r>
          </a:p>
        </p:txBody>
      </p:sp>
      <p:sp>
        <p:nvSpPr>
          <p:cNvPr id="16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16/33</a:t>
            </a:r>
          </a:p>
        </p:txBody>
      </p:sp>
      <p:sp>
        <p:nvSpPr>
          <p:cNvPr id="17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progress"/>
          <p:cNvSpPr/>
          <p:nvPr/>
        </p:nvSpPr>
        <p:spPr>
          <a:xfrm>
            <a:off x="685800" y="6426200"/>
            <a:ext cx="5246254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304800"/>
            <a:ext cx="812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3FD1"/>
                </a:solidFill>
                <a:latin typeface="Calibri"/>
              </a:rPr>
              <a:t>Bước 8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Cài tmux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85800" y="1326895"/>
            <a:ext cx="10820400" cy="766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61C"/>
                </a:solidFill>
                <a:latin typeface="Calibri"/>
              </a:rPr>
              <a:t>Mục đích: </a:t>
            </a:r>
            <a:r>
              <a:rPr sz="2200" b="0">
                <a:solidFill>
                  <a:srgbClr val="14161C"/>
                </a:solidFill>
                <a:latin typeface="Calibri"/>
              </a:rPr>
              <a:t>Worker của omc team là các pane tmux; README yêu cầu một phiên tmux đang hoạt động.</a:t>
            </a:r>
          </a:p>
        </p:txBody>
      </p:sp>
      <p:sp>
        <p:nvSpPr>
          <p:cNvPr id="5" name="card"/>
          <p:cNvSpPr/>
          <p:nvPr/>
        </p:nvSpPr>
        <p:spPr>
          <a:xfrm>
            <a:off x="685800" y="2219960"/>
            <a:ext cx="10820400" cy="669544"/>
          </a:xfrm>
          <a:prstGeom prst="roundRect">
            <a:avLst>
              <a:gd name="adj" fmla="val 30349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marker 1"/>
          <p:cNvSpPr/>
          <p:nvPr/>
        </p:nvSpPr>
        <p:spPr>
          <a:xfrm>
            <a:off x="965200" y="2300731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card text"/>
          <p:cNvSpPr txBox="1"/>
          <p:nvPr/>
        </p:nvSpPr>
        <p:spPr>
          <a:xfrm>
            <a:off x="1701800" y="2359660"/>
            <a:ext cx="9525000" cy="3901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Lệnh dưới đây dành cho macOS (Homebrew).</a:t>
            </a:r>
          </a:p>
        </p:txBody>
      </p:sp>
      <p:sp>
        <p:nvSpPr>
          <p:cNvPr id="8" name="card"/>
          <p:cNvSpPr/>
          <p:nvPr/>
        </p:nvSpPr>
        <p:spPr>
          <a:xfrm>
            <a:off x="685800" y="3016504"/>
            <a:ext cx="10820400" cy="1449832"/>
          </a:xfrm>
          <a:prstGeom prst="roundRect">
            <a:avLst>
              <a:gd name="adj" fmla="val 14015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marker 2"/>
          <p:cNvSpPr/>
          <p:nvPr/>
        </p:nvSpPr>
        <p:spPr>
          <a:xfrm>
            <a:off x="965200" y="3487419"/>
            <a:ext cx="508000" cy="5080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card text"/>
          <p:cNvSpPr txBox="1"/>
          <p:nvPr/>
        </p:nvSpPr>
        <p:spPr>
          <a:xfrm>
            <a:off x="1701800" y="3156204"/>
            <a:ext cx="9525000" cy="11704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Ubuntu/Debian: </a:t>
            </a:r>
            <a:r>
              <a:rPr sz="2200" b="0">
                <a:solidFill>
                  <a:srgbClr val="B02D16"/>
                </a:solidFill>
                <a:latin typeface="Consolas"/>
              </a:rPr>
              <a:t>sudo apt install tmux</a:t>
            </a:r>
            <a:r>
              <a:rPr sz="2400" b="0">
                <a:solidFill>
                  <a:srgbClr val="14161C"/>
                </a:solidFill>
                <a:latin typeface="Calibri"/>
              </a:rPr>
              <a:t>. Fedora: </a:t>
            </a:r>
            <a:r>
              <a:rPr sz="2200" b="0">
                <a:solidFill>
                  <a:srgbClr val="B02D16"/>
                </a:solidFill>
                <a:latin typeface="Consolas"/>
              </a:rPr>
              <a:t>sudo dnf install tmux</a:t>
            </a:r>
            <a:r>
              <a:rPr sz="2400" b="0">
                <a:solidFill>
                  <a:srgbClr val="14161C"/>
                </a:solidFill>
                <a:latin typeface="Calibri"/>
              </a:rPr>
              <a:t>. Arch: </a:t>
            </a:r>
            <a:r>
              <a:rPr sz="2200" b="0">
                <a:solidFill>
                  <a:srgbClr val="B02D16"/>
                </a:solidFill>
                <a:latin typeface="Consolas"/>
              </a:rPr>
              <a:t>sudo pacman -S tmux</a:t>
            </a:r>
            <a:r>
              <a:rPr sz="2400" b="0">
                <a:solidFill>
                  <a:srgbClr val="14161C"/>
                </a:solidFill>
                <a:latin typeface="Calibri"/>
              </a:rPr>
              <a:t>. Windows: </a:t>
            </a:r>
            <a:r>
              <a:rPr sz="2200" b="0">
                <a:solidFill>
                  <a:srgbClr val="B02D16"/>
                </a:solidFill>
                <a:latin typeface="Consolas"/>
              </a:rPr>
              <a:t>winget install psmux</a:t>
            </a:r>
            <a:r>
              <a:rPr sz="2400" b="0">
                <a:solidFill>
                  <a:srgbClr val="14161C"/>
                </a:solidFill>
                <a:latin typeface="Calibri"/>
              </a:rPr>
              <a:t>; WSL2 dùng tmux trong WSL.</a:t>
            </a:r>
          </a:p>
        </p:txBody>
      </p:sp>
      <p:sp>
        <p:nvSpPr>
          <p:cNvPr id="11" name="code block"/>
          <p:cNvSpPr/>
          <p:nvPr/>
        </p:nvSpPr>
        <p:spPr>
          <a:xfrm>
            <a:off x="685800" y="4593335"/>
            <a:ext cx="10820400" cy="706119"/>
          </a:xfrm>
          <a:prstGeom prst="roundRect">
            <a:avLst>
              <a:gd name="adj" fmla="val 25179"/>
            </a:avLst>
          </a:prstGeom>
          <a:solidFill>
            <a:srgbClr val="141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ode"/>
          <p:cNvSpPr txBox="1"/>
          <p:nvPr/>
        </p:nvSpPr>
        <p:spPr>
          <a:xfrm>
            <a:off x="965200" y="4771135"/>
            <a:ext cx="10261600" cy="3505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3EEE3"/>
                </a:solidFill>
                <a:latin typeface="Consolas"/>
              </a:rPr>
              <a:t>brew install tmux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685800" y="5426456"/>
            <a:ext cx="10820400" cy="4084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4161C"/>
                </a:solidFill>
                <a:latin typeface="Calibri"/>
              </a:rPr>
              <a:t>Liên kết trong README: </a:t>
            </a:r>
            <a:r>
              <a:rPr sz="2200" b="0" u="sng">
                <a:solidFill>
                  <a:srgbClr val="1F3FD1"/>
                </a:solidFill>
                <a:latin typeface="Calibri"/>
                <a:hlinkClick r:id="rId2"/>
              </a:rPr>
              <a:t>tmux</a:t>
            </a:r>
          </a:p>
        </p:txBody>
      </p:sp>
      <p:sp>
        <p:nvSpPr>
          <p:cNvPr id="14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17/33</a:t>
            </a:r>
          </a:p>
        </p:txBody>
      </p:sp>
      <p:sp>
        <p:nvSpPr>
          <p:cNvPr id="15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progress"/>
          <p:cNvSpPr/>
          <p:nvPr/>
        </p:nvSpPr>
        <p:spPr>
          <a:xfrm>
            <a:off x="685800" y="6426200"/>
            <a:ext cx="5574145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304800"/>
            <a:ext cx="812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3FD1"/>
                </a:solidFill>
                <a:latin typeface="Calibri"/>
              </a:rPr>
              <a:t>Bước 9 (1/2)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Mở worker CLI bằng omc team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85800" y="1326895"/>
            <a:ext cx="10820400" cy="766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61C"/>
                </a:solidFill>
                <a:latin typeface="Calibri"/>
              </a:rPr>
              <a:t>Mục đích: </a:t>
            </a:r>
            <a:r>
              <a:rPr sz="2200" b="0">
                <a:solidFill>
                  <a:srgbClr val="14161C"/>
                </a:solidFill>
                <a:latin typeface="Calibri"/>
              </a:rPr>
              <a:t>Nhờ Codex (hay Gemini, Cursor) làm một phần việc như một worker riêng; worker tự tắt khi xong.</a:t>
            </a:r>
          </a:p>
        </p:txBody>
      </p:sp>
      <p:sp>
        <p:nvSpPr>
          <p:cNvPr id="5" name="card"/>
          <p:cNvSpPr/>
          <p:nvPr/>
        </p:nvSpPr>
        <p:spPr>
          <a:xfrm>
            <a:off x="685800" y="2219960"/>
            <a:ext cx="10820400" cy="1059688"/>
          </a:xfrm>
          <a:prstGeom prst="roundRect">
            <a:avLst>
              <a:gd name="adj" fmla="val 19175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marker 1"/>
          <p:cNvSpPr/>
          <p:nvPr/>
        </p:nvSpPr>
        <p:spPr>
          <a:xfrm>
            <a:off x="965200" y="2495804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card text"/>
          <p:cNvSpPr txBox="1"/>
          <p:nvPr/>
        </p:nvSpPr>
        <p:spPr>
          <a:xfrm>
            <a:off x="1701800" y="2359660"/>
            <a:ext cx="9525000" cy="780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Làm trong một phiên tmux đang hoạt động: README yêu cầu điều này nhưng không ghi cách mở phiên.</a:t>
            </a:r>
          </a:p>
        </p:txBody>
      </p:sp>
      <p:sp>
        <p:nvSpPr>
          <p:cNvPr id="8" name="card"/>
          <p:cNvSpPr/>
          <p:nvPr/>
        </p:nvSpPr>
        <p:spPr>
          <a:xfrm>
            <a:off x="685800" y="3406648"/>
            <a:ext cx="10820400" cy="669544"/>
          </a:xfrm>
          <a:prstGeom prst="roundRect">
            <a:avLst>
              <a:gd name="adj" fmla="val 30349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marker 2"/>
          <p:cNvSpPr/>
          <p:nvPr/>
        </p:nvSpPr>
        <p:spPr>
          <a:xfrm>
            <a:off x="965200" y="3487420"/>
            <a:ext cx="508000" cy="5080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card text"/>
          <p:cNvSpPr txBox="1"/>
          <p:nvPr/>
        </p:nvSpPr>
        <p:spPr>
          <a:xfrm>
            <a:off x="1701800" y="3546348"/>
            <a:ext cx="9525000" cy="3901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Cài và đăng nhập CLI bạn định dùng (ở đây là codex) trước.</a:t>
            </a:r>
          </a:p>
        </p:txBody>
      </p:sp>
      <p:sp>
        <p:nvSpPr>
          <p:cNvPr id="11" name="card"/>
          <p:cNvSpPr/>
          <p:nvPr/>
        </p:nvSpPr>
        <p:spPr>
          <a:xfrm>
            <a:off x="685800" y="4203192"/>
            <a:ext cx="10820400" cy="1059688"/>
          </a:xfrm>
          <a:prstGeom prst="roundRect">
            <a:avLst>
              <a:gd name="adj" fmla="val 19175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marker 3"/>
          <p:cNvSpPr/>
          <p:nvPr/>
        </p:nvSpPr>
        <p:spPr>
          <a:xfrm>
            <a:off x="965200" y="4479036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card text"/>
          <p:cNvSpPr txBox="1"/>
          <p:nvPr/>
        </p:nvSpPr>
        <p:spPr>
          <a:xfrm>
            <a:off x="1701800" y="4342892"/>
            <a:ext cx="9525000" cy="780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4161C"/>
                </a:solidFill>
                <a:latin typeface="Calibri"/>
              </a:rPr>
              <a:t>Chạy lệnh dưới đây (một ví dụ trong bảng của README) để mở hai worker Codex xem xét luồng xác thực.</a:t>
            </a:r>
          </a:p>
        </p:txBody>
      </p:sp>
      <p:sp>
        <p:nvSpPr>
          <p:cNvPr id="14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18/33</a:t>
            </a:r>
          </a:p>
        </p:txBody>
      </p:sp>
      <p:sp>
        <p:nvSpPr>
          <p:cNvPr id="15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progress"/>
          <p:cNvSpPr/>
          <p:nvPr/>
        </p:nvSpPr>
        <p:spPr>
          <a:xfrm>
            <a:off x="685800" y="6426200"/>
            <a:ext cx="5902036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304800"/>
            <a:ext cx="812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3FD1"/>
                </a:solidFill>
                <a:latin typeface="Calibri"/>
              </a:rPr>
              <a:t>Bước 9 (2/2)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Mở worker CLI bằng omc team</a:t>
            </a:r>
          </a:p>
        </p:txBody>
      </p:sp>
      <p:sp>
        <p:nvSpPr>
          <p:cNvPr id="4" name="card"/>
          <p:cNvSpPr/>
          <p:nvPr/>
        </p:nvSpPr>
        <p:spPr>
          <a:xfrm>
            <a:off x="685800" y="1326895"/>
            <a:ext cx="10820400" cy="1449832"/>
          </a:xfrm>
          <a:prstGeom prst="roundRect">
            <a:avLst>
              <a:gd name="adj" fmla="val 14015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marker 4"/>
          <p:cNvSpPr/>
          <p:nvPr/>
        </p:nvSpPr>
        <p:spPr>
          <a:xfrm>
            <a:off x="965200" y="1797812"/>
            <a:ext cx="508000" cy="5080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" name="card text"/>
          <p:cNvSpPr txBox="1"/>
          <p:nvPr/>
        </p:nvSpPr>
        <p:spPr>
          <a:xfrm>
            <a:off x="1701800" y="1466595"/>
            <a:ext cx="9525000" cy="11704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B02D16"/>
                </a:solidFill>
                <a:latin typeface="Consolas"/>
              </a:rPr>
              <a:t>omc team status</a:t>
            </a:r>
            <a:r>
              <a:rPr sz="2400" b="0">
                <a:solidFill>
                  <a:srgbClr val="14161C"/>
                </a:solidFill>
                <a:latin typeface="Calibri"/>
              </a:rPr>
              <a:t> và </a:t>
            </a:r>
            <a:r>
              <a:rPr sz="2200" b="0">
                <a:solidFill>
                  <a:srgbClr val="B02D16"/>
                </a:solidFill>
                <a:latin typeface="Consolas"/>
              </a:rPr>
              <a:t>omc team shutdown</a:t>
            </a:r>
            <a:r>
              <a:rPr sz="2400" b="0">
                <a:solidFill>
                  <a:srgbClr val="14161C"/>
                </a:solidFill>
                <a:latin typeface="Calibri"/>
              </a:rPr>
              <a:t> cần tên đội đã mở; README không nói cách lấy tên. Xem </a:t>
            </a:r>
            <a:r>
              <a:rPr sz="2200" b="0">
                <a:solidFill>
                  <a:srgbClr val="B02D16"/>
                </a:solidFill>
                <a:latin typeface="Consolas"/>
              </a:rPr>
              <a:t>docs/REFERENCE.md</a:t>
            </a:r>
            <a:r>
              <a:rPr sz="2400" b="0">
                <a:solidFill>
                  <a:srgbClr val="14161C"/>
                </a:solidFill>
                <a:latin typeface="Calibri"/>
              </a:rPr>
              <a:t>: việc review auth flow có tên đội review-auth-flow.</a:t>
            </a:r>
          </a:p>
        </p:txBody>
      </p:sp>
      <p:sp>
        <p:nvSpPr>
          <p:cNvPr id="7" name="code block"/>
          <p:cNvSpPr/>
          <p:nvPr/>
        </p:nvSpPr>
        <p:spPr>
          <a:xfrm>
            <a:off x="685800" y="2903728"/>
            <a:ext cx="10820400" cy="706119"/>
          </a:xfrm>
          <a:prstGeom prst="roundRect">
            <a:avLst>
              <a:gd name="adj" fmla="val 25179"/>
            </a:avLst>
          </a:prstGeom>
          <a:solidFill>
            <a:srgbClr val="141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ode"/>
          <p:cNvSpPr txBox="1"/>
          <p:nvPr/>
        </p:nvSpPr>
        <p:spPr>
          <a:xfrm>
            <a:off x="965200" y="3081528"/>
            <a:ext cx="10261600" cy="3505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3EEE3"/>
                </a:solidFill>
                <a:latin typeface="Consolas"/>
              </a:rPr>
              <a:t>omc team 2:codex "review auth flow"</a:t>
            </a:r>
          </a:p>
        </p:txBody>
      </p:sp>
      <p:sp>
        <p:nvSpPr>
          <p:cNvPr id="9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19/33</a:t>
            </a:r>
          </a:p>
        </p:txBody>
      </p:sp>
      <p:sp>
        <p:nvSpPr>
          <p:cNvPr id="10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rogress"/>
          <p:cNvSpPr/>
          <p:nvPr/>
        </p:nvSpPr>
        <p:spPr>
          <a:xfrm>
            <a:off x="685800" y="6426200"/>
            <a:ext cx="6229927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Kiểm tra kết quả</a:t>
            </a:r>
          </a:p>
        </p:txBody>
      </p:sp>
      <p:sp>
        <p:nvSpPr>
          <p:cNvPr id="3" name="card"/>
          <p:cNvSpPr/>
          <p:nvPr/>
        </p:nvSpPr>
        <p:spPr>
          <a:xfrm>
            <a:off x="685800" y="1326895"/>
            <a:ext cx="10820400" cy="1742439"/>
          </a:xfrm>
          <a:prstGeom prst="roundRect">
            <a:avLst>
              <a:gd name="adj" fmla="val 11661"/>
            </a:avLst>
          </a:prstGeom>
          <a:solidFill>
            <a:srgbClr val="D5EB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rd text"/>
          <p:cNvSpPr txBox="1"/>
          <p:nvPr/>
        </p:nvSpPr>
        <p:spPr>
          <a:xfrm>
            <a:off x="965200" y="1466595"/>
            <a:ext cx="10261600" cy="14630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4161C"/>
                </a:solidFill>
                <a:latin typeface="Calibri"/>
              </a:rPr>
              <a:t>Trong Claude Code, /team bắt đầu chuỗi giai đoạn của Team. Ở terminal, omc team status với tên đội cho biết trạng thái; README không mô tả chi tiết đầu ra.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20/33</a:t>
            </a:r>
          </a:p>
        </p:txBody>
      </p:sp>
      <p:sp>
        <p:nvSpPr>
          <p:cNvPr id="6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rogress"/>
          <p:cNvSpPr/>
          <p:nvPr/>
        </p:nvSpPr>
        <p:spPr>
          <a:xfrm>
            <a:off x="685800" y="6426200"/>
            <a:ext cx="6557818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Lỗi thường gặp (1/2)</a:t>
            </a:r>
          </a:p>
        </p:txBody>
      </p:sp>
      <p:sp>
        <p:nvSpPr>
          <p:cNvPr id="3" name="card"/>
          <p:cNvSpPr/>
          <p:nvPr/>
        </p:nvSpPr>
        <p:spPr>
          <a:xfrm>
            <a:off x="685800" y="1326895"/>
            <a:ext cx="10820400" cy="1448308"/>
          </a:xfrm>
          <a:prstGeom prst="roundRect">
            <a:avLst>
              <a:gd name="adj" fmla="val 14030"/>
            </a:avLst>
          </a:prstGeom>
          <a:solidFill>
            <a:srgbClr val="F3D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bar"/>
          <p:cNvSpPr/>
          <p:nvPr/>
        </p:nvSpPr>
        <p:spPr>
          <a:xfrm>
            <a:off x="889000" y="1466595"/>
            <a:ext cx="76200" cy="1168908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rd text"/>
          <p:cNvSpPr txBox="1"/>
          <p:nvPr/>
        </p:nvSpPr>
        <p:spPr>
          <a:xfrm>
            <a:off x="1143000" y="1466595"/>
            <a:ext cx="10083800" cy="11689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61C"/>
                </a:solidFill>
                <a:latin typeface="Calibri"/>
              </a:rPr>
              <a:t>npm cảnh báo deprecated prebuild-install@7.1.3 khi cài CLI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14161C"/>
                </a:solidFill>
                <a:latin typeface="Calibri"/>
              </a:rPr>
              <a:t>README nói cảnh báo đến từ phụ thuộc </a:t>
            </a:r>
            <a:r>
              <a:rPr sz="2000" b="0">
                <a:solidFill>
                  <a:srgbClr val="B02D16"/>
                </a:solidFill>
                <a:latin typeface="Consolas"/>
              </a:rPr>
              <a:t>better-sqlite3</a:t>
            </a:r>
            <a:r>
              <a:rPr sz="2200" b="0">
                <a:solidFill>
                  <a:srgbClr val="14161C"/>
                </a:solidFill>
                <a:latin typeface="Calibri"/>
              </a:rPr>
              <a:t> và không có nghĩa là cài thất bại.</a:t>
            </a:r>
          </a:p>
        </p:txBody>
      </p:sp>
      <p:sp>
        <p:nvSpPr>
          <p:cNvPr id="6" name="card"/>
          <p:cNvSpPr/>
          <p:nvPr/>
        </p:nvSpPr>
        <p:spPr>
          <a:xfrm>
            <a:off x="685800" y="2902204"/>
            <a:ext cx="10820400" cy="1090676"/>
          </a:xfrm>
          <a:prstGeom prst="roundRect">
            <a:avLst>
              <a:gd name="adj" fmla="val 18630"/>
            </a:avLst>
          </a:prstGeom>
          <a:solidFill>
            <a:srgbClr val="F3D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bar"/>
          <p:cNvSpPr/>
          <p:nvPr/>
        </p:nvSpPr>
        <p:spPr>
          <a:xfrm>
            <a:off x="889000" y="3041904"/>
            <a:ext cx="76200" cy="811276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ard text"/>
          <p:cNvSpPr txBox="1"/>
          <p:nvPr/>
        </p:nvSpPr>
        <p:spPr>
          <a:xfrm>
            <a:off x="1143000" y="3041904"/>
            <a:ext cx="10083800" cy="8112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61C"/>
                </a:solidFill>
                <a:latin typeface="Calibri"/>
              </a:rPr>
              <a:t>Dán hai lệnh /plugin cùng lúc thì lỗi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14161C"/>
                </a:solidFill>
                <a:latin typeface="Calibri"/>
              </a:rPr>
              <a:t>Nhập từng lệnh một và đợi lệnh trước chạy xong, như README dặn.</a:t>
            </a:r>
          </a:p>
        </p:txBody>
      </p:sp>
      <p:sp>
        <p:nvSpPr>
          <p:cNvPr id="9" name="card"/>
          <p:cNvSpPr/>
          <p:nvPr/>
        </p:nvSpPr>
        <p:spPr>
          <a:xfrm>
            <a:off x="685800" y="4119879"/>
            <a:ext cx="10820400" cy="1448308"/>
          </a:xfrm>
          <a:prstGeom prst="roundRect">
            <a:avLst>
              <a:gd name="adj" fmla="val 14030"/>
            </a:avLst>
          </a:prstGeom>
          <a:solidFill>
            <a:srgbClr val="F3D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bar"/>
          <p:cNvSpPr/>
          <p:nvPr/>
        </p:nvSpPr>
        <p:spPr>
          <a:xfrm>
            <a:off x="889000" y="4259580"/>
            <a:ext cx="76200" cy="1168908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ard text"/>
          <p:cNvSpPr txBox="1"/>
          <p:nvPr/>
        </p:nvSpPr>
        <p:spPr>
          <a:xfrm>
            <a:off x="1143000" y="4259580"/>
            <a:ext cx="10083800" cy="11689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61C"/>
                </a:solidFill>
                <a:latin typeface="Calibri"/>
              </a:rPr>
              <a:t>Chạy /team khi chưa bật đội native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14161C"/>
                </a:solidFill>
                <a:latin typeface="Calibri"/>
              </a:rPr>
              <a:t>OMC cảnh báo và lùi về chạy không theo đội khi có thể. Đặt </a:t>
            </a:r>
            <a:r>
              <a:rPr sz="2000" b="0">
                <a:solidFill>
                  <a:srgbClr val="B02D16"/>
                </a:solidFill>
                <a:latin typeface="Consolas"/>
              </a:rPr>
              <a:t>CLAUDE_CODE_EXPERIMENTAL_AGENT_TEAMS</a:t>
            </a:r>
            <a:r>
              <a:rPr sz="2200" b="0">
                <a:solidFill>
                  <a:srgbClr val="14161C"/>
                </a:solidFill>
                <a:latin typeface="Calibri"/>
              </a:rPr>
              <a:t> ở bước 4.</a:t>
            </a:r>
          </a:p>
        </p:txBody>
      </p:sp>
      <p:sp>
        <p:nvSpPr>
          <p:cNvPr id="12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21/33</a:t>
            </a:r>
          </a:p>
        </p:txBody>
      </p:sp>
      <p:sp>
        <p:nvSpPr>
          <p:cNvPr id="13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progress"/>
          <p:cNvSpPr/>
          <p:nvPr/>
        </p:nvSpPr>
        <p:spPr>
          <a:xfrm>
            <a:off x="685800" y="6426200"/>
            <a:ext cx="6885709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Lỗi thường gặp (2/2)</a:t>
            </a:r>
          </a:p>
        </p:txBody>
      </p:sp>
      <p:sp>
        <p:nvSpPr>
          <p:cNvPr id="3" name="card"/>
          <p:cNvSpPr/>
          <p:nvPr/>
        </p:nvSpPr>
        <p:spPr>
          <a:xfrm>
            <a:off x="685800" y="1326895"/>
            <a:ext cx="10820400" cy="1448308"/>
          </a:xfrm>
          <a:prstGeom prst="roundRect">
            <a:avLst>
              <a:gd name="adj" fmla="val 14030"/>
            </a:avLst>
          </a:prstGeom>
          <a:solidFill>
            <a:srgbClr val="F3D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bar"/>
          <p:cNvSpPr/>
          <p:nvPr/>
        </p:nvSpPr>
        <p:spPr>
          <a:xfrm>
            <a:off x="889000" y="1466595"/>
            <a:ext cx="76200" cy="1168908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rd text"/>
          <p:cNvSpPr txBox="1"/>
          <p:nvPr/>
        </p:nvSpPr>
        <p:spPr>
          <a:xfrm>
            <a:off x="1143000" y="1466595"/>
            <a:ext cx="10083800" cy="11689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61C"/>
                </a:solidFill>
                <a:latin typeface="Calibri"/>
              </a:rPr>
              <a:t>Gặp lỗi sau khi cập nhật plugin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14161C"/>
                </a:solidFill>
                <a:latin typeface="Calibri"/>
              </a:rPr>
              <a:t>Cập nhật bằng </a:t>
            </a:r>
            <a:r>
              <a:rPr sz="2000" b="0">
                <a:solidFill>
                  <a:srgbClr val="B02D16"/>
                </a:solidFill>
                <a:latin typeface="Consolas"/>
              </a:rPr>
              <a:t>/plugin marketplace update omc</a:t>
            </a:r>
            <a:r>
              <a:rPr sz="2200" b="0">
                <a:solidFill>
                  <a:srgbClr val="14161C"/>
                </a:solidFill>
                <a:latin typeface="Calibri"/>
              </a:rPr>
              <a:t> rồi </a:t>
            </a:r>
            <a:r>
              <a:rPr sz="2000" b="0">
                <a:solidFill>
                  <a:srgbClr val="B02D16"/>
                </a:solidFill>
                <a:latin typeface="Consolas"/>
              </a:rPr>
              <a:t>/omc-setup</a:t>
            </a:r>
            <a:r>
              <a:rPr sz="2200" b="0">
                <a:solidFill>
                  <a:srgbClr val="14161C"/>
                </a:solidFill>
                <a:latin typeface="Calibri"/>
              </a:rPr>
              <a:t>; nếu vẫn lỗi, README bảo xóa cache plugin cũ bằng </a:t>
            </a:r>
            <a:r>
              <a:rPr sz="2000" b="0">
                <a:solidFill>
                  <a:srgbClr val="B02D16"/>
                </a:solidFill>
                <a:latin typeface="Consolas"/>
              </a:rPr>
              <a:t>/omc-doctor</a:t>
            </a:r>
            <a:r>
              <a:rPr sz="2200" b="0">
                <a:solidFill>
                  <a:srgbClr val="14161C"/>
                </a:solidFill>
                <a:latin typeface="Calibri"/>
              </a:rPr>
              <a:t>.</a:t>
            </a:r>
          </a:p>
        </p:txBody>
      </p:sp>
      <p:sp>
        <p:nvSpPr>
          <p:cNvPr id="6" name="card"/>
          <p:cNvSpPr/>
          <p:nvPr/>
        </p:nvSpPr>
        <p:spPr>
          <a:xfrm>
            <a:off x="685800" y="2902204"/>
            <a:ext cx="10820400" cy="1448308"/>
          </a:xfrm>
          <a:prstGeom prst="roundRect">
            <a:avLst>
              <a:gd name="adj" fmla="val 14030"/>
            </a:avLst>
          </a:prstGeom>
          <a:solidFill>
            <a:srgbClr val="F3D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bar"/>
          <p:cNvSpPr/>
          <p:nvPr/>
        </p:nvSpPr>
        <p:spPr>
          <a:xfrm>
            <a:off x="889000" y="3041904"/>
            <a:ext cx="76200" cy="1168908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ard text"/>
          <p:cNvSpPr txBox="1"/>
          <p:nvPr/>
        </p:nvSpPr>
        <p:spPr>
          <a:xfrm>
            <a:off x="1143000" y="3041904"/>
            <a:ext cx="10083800" cy="11689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61C"/>
                </a:solidFill>
                <a:latin typeface="Calibri"/>
              </a:rPr>
              <a:t>Chạy /team hay /autopilot trong CI không có người ngồi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14161C"/>
                </a:solidFill>
                <a:latin typeface="Calibri"/>
              </a:rPr>
              <a:t>README: các lệnh slash cần phiên Claude Code đang chạy; trong CI dùng lệnh terminal xác định như </a:t>
            </a:r>
            <a:r>
              <a:rPr sz="2000" b="0">
                <a:solidFill>
                  <a:srgbClr val="B02D16"/>
                </a:solidFill>
                <a:latin typeface="Consolas"/>
              </a:rPr>
              <a:t>omc setup</a:t>
            </a:r>
            <a:r>
              <a:rPr sz="2200" b="0">
                <a:solidFill>
                  <a:srgbClr val="14161C"/>
                </a:solidFill>
                <a:latin typeface="Calibri"/>
              </a:rPr>
              <a:t>.</a:t>
            </a:r>
          </a:p>
        </p:txBody>
      </p:sp>
      <p:sp>
        <p:nvSpPr>
          <p:cNvPr id="9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22/33</a:t>
            </a:r>
          </a:p>
        </p:txBody>
      </p:sp>
      <p:sp>
        <p:nvSpPr>
          <p:cNvPr id="10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rogress"/>
          <p:cNvSpPr/>
          <p:nvPr/>
        </p:nvSpPr>
        <p:spPr>
          <a:xfrm>
            <a:off x="685800" y="6426200"/>
            <a:ext cx="7213600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Làm tiếp</a:t>
            </a:r>
          </a:p>
        </p:txBody>
      </p:sp>
      <p:sp>
        <p:nvSpPr>
          <p:cNvPr id="3" name="card"/>
          <p:cNvSpPr/>
          <p:nvPr/>
        </p:nvSpPr>
        <p:spPr>
          <a:xfrm>
            <a:off x="685800" y="1326895"/>
            <a:ext cx="10820400" cy="994663"/>
          </a:xfrm>
          <a:prstGeom prst="roundRect">
            <a:avLst>
              <a:gd name="adj" fmla="val 20429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marker 1"/>
          <p:cNvSpPr/>
          <p:nvPr/>
        </p:nvSpPr>
        <p:spPr>
          <a:xfrm>
            <a:off x="965200" y="1570227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card text"/>
          <p:cNvSpPr txBox="1"/>
          <p:nvPr/>
        </p:nvSpPr>
        <p:spPr>
          <a:xfrm>
            <a:off x="1701800" y="1466595"/>
            <a:ext cx="9525000" cy="71526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4161C"/>
                </a:solidFill>
                <a:latin typeface="Calibri"/>
              </a:rPr>
              <a:t>Làm rõ yêu cầu mơ hồ trước khi chia việc: </a:t>
            </a:r>
            <a:r>
              <a:rPr sz="2000" b="0">
                <a:solidFill>
                  <a:srgbClr val="B02D16"/>
                </a:solidFill>
                <a:latin typeface="Consolas"/>
              </a:rPr>
              <a:t>/deep-interview "I want to build a task management app"</a:t>
            </a:r>
            <a:r>
              <a:rPr sz="2200" b="0">
                <a:solidFill>
                  <a:srgbClr val="14161C"/>
                </a:solidFill>
                <a:latin typeface="Calibri"/>
              </a:rPr>
              <a:t>.</a:t>
            </a:r>
          </a:p>
        </p:txBody>
      </p:sp>
      <p:sp>
        <p:nvSpPr>
          <p:cNvPr id="6" name="card"/>
          <p:cNvSpPr/>
          <p:nvPr/>
        </p:nvSpPr>
        <p:spPr>
          <a:xfrm>
            <a:off x="685800" y="2448560"/>
            <a:ext cx="10820400" cy="994663"/>
          </a:xfrm>
          <a:prstGeom prst="roundRect">
            <a:avLst>
              <a:gd name="adj" fmla="val 20429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marker 2"/>
          <p:cNvSpPr/>
          <p:nvPr/>
        </p:nvSpPr>
        <p:spPr>
          <a:xfrm>
            <a:off x="965200" y="2691891"/>
            <a:ext cx="508000" cy="5080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card text"/>
          <p:cNvSpPr txBox="1"/>
          <p:nvPr/>
        </p:nvSpPr>
        <p:spPr>
          <a:xfrm>
            <a:off x="1701800" y="2588260"/>
            <a:ext cx="9525000" cy="71526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4161C"/>
                </a:solidFill>
                <a:latin typeface="Calibri"/>
              </a:rPr>
              <a:t>Hỏi một nhà cung cấp khác xem xét giúp: </a:t>
            </a:r>
            <a:r>
              <a:rPr sz="2000" b="0">
                <a:solidFill>
                  <a:srgbClr val="B02D16"/>
                </a:solidFill>
                <a:latin typeface="Consolas"/>
              </a:rPr>
              <a:t>/ask codex "Review this PR — architecture"</a:t>
            </a:r>
            <a:r>
              <a:rPr sz="2200" b="0">
                <a:solidFill>
                  <a:srgbClr val="14161C"/>
                </a:solidFill>
                <a:latin typeface="Calibri"/>
              </a:rPr>
              <a:t>.</a:t>
            </a:r>
          </a:p>
        </p:txBody>
      </p:sp>
      <p:sp>
        <p:nvSpPr>
          <p:cNvPr id="9" name="card"/>
          <p:cNvSpPr/>
          <p:nvPr/>
        </p:nvSpPr>
        <p:spPr>
          <a:xfrm>
            <a:off x="685800" y="3570224"/>
            <a:ext cx="10820400" cy="994663"/>
          </a:xfrm>
          <a:prstGeom prst="roundRect">
            <a:avLst>
              <a:gd name="adj" fmla="val 20429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marker 3"/>
          <p:cNvSpPr/>
          <p:nvPr/>
        </p:nvSpPr>
        <p:spPr>
          <a:xfrm>
            <a:off x="965200" y="3813555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card text"/>
          <p:cNvSpPr txBox="1"/>
          <p:nvPr/>
        </p:nvSpPr>
        <p:spPr>
          <a:xfrm>
            <a:off x="1701800" y="3709924"/>
            <a:ext cx="9525000" cy="71526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4161C"/>
                </a:solidFill>
                <a:latin typeface="Calibri"/>
              </a:rPr>
              <a:t>Chạy OMC trong worktree? Đặt </a:t>
            </a:r>
            <a:r>
              <a:rPr sz="2000" b="0">
                <a:solidFill>
                  <a:srgbClr val="B02D16"/>
                </a:solidFill>
                <a:latin typeface="Consolas"/>
              </a:rPr>
              <a:t>OMC_STATE_DIR</a:t>
            </a:r>
            <a:r>
              <a:rPr sz="2200" b="0">
                <a:solidFill>
                  <a:srgbClr val="14161C"/>
                </a:solidFill>
                <a:latin typeface="Calibri"/>
              </a:rPr>
              <a:t> để trạng thái </a:t>
            </a:r>
            <a:r>
              <a:rPr sz="2000" b="0">
                <a:solidFill>
                  <a:srgbClr val="B02D16"/>
                </a:solidFill>
                <a:latin typeface="Consolas"/>
              </a:rPr>
              <a:t>.omc/</a:t>
            </a:r>
            <a:r>
              <a:rPr sz="2200" b="0">
                <a:solidFill>
                  <a:srgbClr val="14161C"/>
                </a:solidFill>
                <a:latin typeface="Calibri"/>
              </a:rPr>
              <a:t> không mất khi xóa worktree.</a:t>
            </a:r>
          </a:p>
        </p:txBody>
      </p:sp>
      <p:sp>
        <p:nvSpPr>
          <p:cNvPr id="12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23/33</a:t>
            </a:r>
          </a:p>
        </p:txBody>
      </p:sp>
      <p:sp>
        <p:nvSpPr>
          <p:cNvPr id="13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progress"/>
          <p:cNvSpPr/>
          <p:nvPr/>
        </p:nvSpPr>
        <p:spPr>
          <a:xfrm>
            <a:off x="685800" y="6426200"/>
            <a:ext cx="7541490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Bên trong nó hoạt động ra sao</a:t>
            </a:r>
          </a:p>
        </p:txBody>
      </p:sp>
      <p:sp>
        <p:nvSpPr>
          <p:cNvPr id="3" name="flow arrow"/>
          <p:cNvSpPr/>
          <p:nvPr/>
        </p:nvSpPr>
        <p:spPr>
          <a:xfrm>
            <a:off x="3683000" y="3036316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31750">
            <a:solidFill>
              <a:srgbClr val="475569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low arrow"/>
          <p:cNvSpPr/>
          <p:nvPr/>
        </p:nvSpPr>
        <p:spPr>
          <a:xfrm>
            <a:off x="3683000" y="4615180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31750">
            <a:solidFill>
              <a:srgbClr val="475569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low arrow"/>
          <p:cNvSpPr/>
          <p:nvPr/>
        </p:nvSpPr>
        <p:spPr>
          <a:xfrm>
            <a:off x="7594600" y="3036316"/>
            <a:ext cx="914400" cy="789432"/>
          </a:xfrm>
          <a:custGeom>
            <a:avLst/>
            <a:gdLst/>
            <a:ahLst/>
            <a:cxnLst/>
            <a:rect l="l" t="t" r="r" b="b"/>
            <a:pathLst>
              <a:path w="914400" h="789432">
                <a:moveTo>
                  <a:pt x="0" y="0"/>
                </a:moveTo>
                <a:lnTo>
                  <a:pt x="457200" y="0"/>
                </a:lnTo>
                <a:lnTo>
                  <a:pt x="457200" y="789432"/>
                </a:lnTo>
                <a:lnTo>
                  <a:pt x="914400" y="789432"/>
                </a:lnTo>
              </a:path>
            </a:pathLst>
          </a:custGeom>
          <a:noFill/>
          <a:ln w="31750">
            <a:solidFill>
              <a:srgbClr val="475569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low arrow"/>
          <p:cNvSpPr/>
          <p:nvPr/>
        </p:nvSpPr>
        <p:spPr>
          <a:xfrm>
            <a:off x="7594600" y="3825748"/>
            <a:ext cx="914400" cy="789432"/>
          </a:xfrm>
          <a:custGeom>
            <a:avLst/>
            <a:gdLst/>
            <a:ahLst/>
            <a:cxnLst/>
            <a:rect l="l" t="t" r="r" b="b"/>
            <a:pathLst>
              <a:path w="914400" h="789432">
                <a:moveTo>
                  <a:pt x="0" y="789432"/>
                </a:moveTo>
                <a:lnTo>
                  <a:pt x="457200" y="789432"/>
                </a:lnTo>
                <a:lnTo>
                  <a:pt x="457200" y="0"/>
                </a:lnTo>
                <a:lnTo>
                  <a:pt x="914400" y="0"/>
                </a:lnTo>
              </a:path>
            </a:pathLst>
          </a:custGeom>
          <a:noFill/>
          <a:ln w="31750">
            <a:solidFill>
              <a:srgbClr val="475569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omponent"/>
          <p:cNvSpPr/>
          <p:nvPr/>
        </p:nvSpPr>
        <p:spPr>
          <a:xfrm>
            <a:off x="685800" y="2424684"/>
            <a:ext cx="2997200" cy="1223264"/>
          </a:xfrm>
          <a:prstGeom prst="roundRect">
            <a:avLst>
              <a:gd name="adj" fmla="val 16611"/>
            </a:avLst>
          </a:prstGeom>
          <a:solidFill>
            <a:srgbClr val="E0F2FE"/>
          </a:solidFill>
          <a:ln w="25400">
            <a:solidFill>
              <a:srgbClr val="0284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omponent name"/>
          <p:cNvSpPr txBox="1"/>
          <p:nvPr/>
        </p:nvSpPr>
        <p:spPr>
          <a:xfrm>
            <a:off x="863600" y="2526284"/>
            <a:ext cx="2641600" cy="102006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Calibri"/>
              </a:rPr>
              <a:t>Plugin trong Claude Code</a:t>
            </a:r>
          </a:p>
        </p:txBody>
      </p:sp>
      <p:sp>
        <p:nvSpPr>
          <p:cNvPr id="9" name="component"/>
          <p:cNvSpPr/>
          <p:nvPr/>
        </p:nvSpPr>
        <p:spPr>
          <a:xfrm>
            <a:off x="685800" y="4003548"/>
            <a:ext cx="2997200" cy="1223264"/>
          </a:xfrm>
          <a:prstGeom prst="roundRect">
            <a:avLst>
              <a:gd name="adj" fmla="val 16611"/>
            </a:avLst>
          </a:prstGeom>
          <a:solidFill>
            <a:srgbClr val="E0F2FE"/>
          </a:solidFill>
          <a:ln w="25400">
            <a:solidFill>
              <a:srgbClr val="0284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component name"/>
          <p:cNvSpPr txBox="1"/>
          <p:nvPr/>
        </p:nvSpPr>
        <p:spPr>
          <a:xfrm>
            <a:off x="863600" y="4105148"/>
            <a:ext cx="2641600" cy="102006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Calibri"/>
              </a:rPr>
              <a:t>Lệnh omc (gói npm)</a:t>
            </a:r>
          </a:p>
        </p:txBody>
      </p:sp>
      <p:sp>
        <p:nvSpPr>
          <p:cNvPr id="11" name="component"/>
          <p:cNvSpPr/>
          <p:nvPr/>
        </p:nvSpPr>
        <p:spPr>
          <a:xfrm>
            <a:off x="4597400" y="2424684"/>
            <a:ext cx="2997200" cy="1223264"/>
          </a:xfrm>
          <a:prstGeom prst="roundRect">
            <a:avLst>
              <a:gd name="adj" fmla="val 16611"/>
            </a:avLst>
          </a:prstGeom>
          <a:solidFill>
            <a:srgbClr val="CCFBF1"/>
          </a:solidFill>
          <a:ln w="25400">
            <a:solidFill>
              <a:srgbClr val="0F7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omponent name"/>
          <p:cNvSpPr txBox="1"/>
          <p:nvPr/>
        </p:nvSpPr>
        <p:spPr>
          <a:xfrm>
            <a:off x="4775200" y="2526284"/>
            <a:ext cx="2641600" cy="102006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Calibri"/>
              </a:rPr>
              <a:t>Đội native (/team)</a:t>
            </a:r>
          </a:p>
        </p:txBody>
      </p:sp>
      <p:sp>
        <p:nvSpPr>
          <p:cNvPr id="13" name="component"/>
          <p:cNvSpPr/>
          <p:nvPr/>
        </p:nvSpPr>
        <p:spPr>
          <a:xfrm>
            <a:off x="4597400" y="4003548"/>
            <a:ext cx="2997200" cy="1223264"/>
          </a:xfrm>
          <a:prstGeom prst="roundRect">
            <a:avLst>
              <a:gd name="adj" fmla="val 16611"/>
            </a:avLst>
          </a:prstGeom>
          <a:solidFill>
            <a:srgbClr val="CCFBF1"/>
          </a:solidFill>
          <a:ln w="25400">
            <a:solidFill>
              <a:srgbClr val="0F7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component name"/>
          <p:cNvSpPr txBox="1"/>
          <p:nvPr/>
        </p:nvSpPr>
        <p:spPr>
          <a:xfrm>
            <a:off x="4775200" y="4105148"/>
            <a:ext cx="2641600" cy="102006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Calibri"/>
              </a:rPr>
              <a:t>Worker tmux</a:t>
            </a:r>
          </a:p>
        </p:txBody>
      </p:sp>
      <p:sp>
        <p:nvSpPr>
          <p:cNvPr id="15" name="component"/>
          <p:cNvSpPr/>
          <p:nvPr/>
        </p:nvSpPr>
        <p:spPr>
          <a:xfrm>
            <a:off x="8509000" y="3214116"/>
            <a:ext cx="2997200" cy="1223264"/>
          </a:xfrm>
          <a:prstGeom prst="roundRect">
            <a:avLst>
              <a:gd name="adj" fmla="val 16611"/>
            </a:avLst>
          </a:prstGeom>
          <a:solidFill>
            <a:srgbClr val="FEF3C7"/>
          </a:solidFill>
          <a:ln w="25400">
            <a:solidFill>
              <a:srgbClr val="B4530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component name"/>
          <p:cNvSpPr txBox="1"/>
          <p:nvPr/>
        </p:nvSpPr>
        <p:spPr>
          <a:xfrm>
            <a:off x="8686800" y="3315716"/>
            <a:ext cx="2641600" cy="102006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Calibri"/>
              </a:rPr>
              <a:t>Thư mục .omc/</a:t>
            </a:r>
          </a:p>
        </p:txBody>
      </p:sp>
      <p:sp>
        <p:nvSpPr>
          <p:cNvPr id="17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24/33</a:t>
            </a:r>
          </a:p>
        </p:txBody>
      </p:sp>
      <p:sp>
        <p:nvSpPr>
          <p:cNvPr id="18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progress"/>
          <p:cNvSpPr/>
          <p:nvPr/>
        </p:nvSpPr>
        <p:spPr>
          <a:xfrm>
            <a:off x="685800" y="6426200"/>
            <a:ext cx="7869381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Các mảnh ghép (1/2)</a:t>
            </a:r>
          </a:p>
        </p:txBody>
      </p:sp>
      <p:sp>
        <p:nvSpPr>
          <p:cNvPr id="3" name="card"/>
          <p:cNvSpPr/>
          <p:nvPr/>
        </p:nvSpPr>
        <p:spPr>
          <a:xfrm>
            <a:off x="685800" y="1326895"/>
            <a:ext cx="10820400" cy="1448308"/>
          </a:xfrm>
          <a:prstGeom prst="roundRect">
            <a:avLst>
              <a:gd name="adj" fmla="val 14030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marker 1"/>
          <p:cNvSpPr/>
          <p:nvPr/>
        </p:nvSpPr>
        <p:spPr>
          <a:xfrm>
            <a:off x="965200" y="1797050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card text"/>
          <p:cNvSpPr txBox="1"/>
          <p:nvPr/>
        </p:nvSpPr>
        <p:spPr>
          <a:xfrm>
            <a:off x="1701800" y="1466595"/>
            <a:ext cx="9525000" cy="11689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61C"/>
                </a:solidFill>
                <a:latin typeface="Calibri"/>
              </a:rPr>
              <a:t>Plugin trong Claude Code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14161C"/>
                </a:solidFill>
                <a:latin typeface="Calibri"/>
              </a:rPr>
              <a:t>Đưa các skill /team, /autopilot, /ralph vào phiên Claude Code qua marketplace của plugin.</a:t>
            </a:r>
          </a:p>
        </p:txBody>
      </p:sp>
      <p:sp>
        <p:nvSpPr>
          <p:cNvPr id="6" name="card"/>
          <p:cNvSpPr/>
          <p:nvPr/>
        </p:nvSpPr>
        <p:spPr>
          <a:xfrm>
            <a:off x="685800" y="2902204"/>
            <a:ext cx="10820400" cy="1448308"/>
          </a:xfrm>
          <a:prstGeom prst="roundRect">
            <a:avLst>
              <a:gd name="adj" fmla="val 14030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marker 2"/>
          <p:cNvSpPr/>
          <p:nvPr/>
        </p:nvSpPr>
        <p:spPr>
          <a:xfrm>
            <a:off x="965200" y="3372357"/>
            <a:ext cx="508000" cy="5080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card text"/>
          <p:cNvSpPr txBox="1"/>
          <p:nvPr/>
        </p:nvSpPr>
        <p:spPr>
          <a:xfrm>
            <a:off x="1701800" y="3041904"/>
            <a:ext cx="9525000" cy="11689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61C"/>
                </a:solidFill>
                <a:latin typeface="Calibri"/>
              </a:rPr>
              <a:t>Lệnh omc (gói npm)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14161C"/>
                </a:solidFill>
                <a:latin typeface="Calibri"/>
              </a:rPr>
              <a:t>Lệnh terminal: omc setup, omc team, omc ask. Cài bằng gói npm oh-my-claude-sisyphus.</a:t>
            </a:r>
          </a:p>
        </p:txBody>
      </p:sp>
      <p:sp>
        <p:nvSpPr>
          <p:cNvPr id="9" name="card"/>
          <p:cNvSpPr/>
          <p:nvPr/>
        </p:nvSpPr>
        <p:spPr>
          <a:xfrm>
            <a:off x="685800" y="4477511"/>
            <a:ext cx="10820400" cy="1448308"/>
          </a:xfrm>
          <a:prstGeom prst="roundRect">
            <a:avLst>
              <a:gd name="adj" fmla="val 14030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marker 3"/>
          <p:cNvSpPr/>
          <p:nvPr/>
        </p:nvSpPr>
        <p:spPr>
          <a:xfrm>
            <a:off x="965200" y="4947665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card text"/>
          <p:cNvSpPr txBox="1"/>
          <p:nvPr/>
        </p:nvSpPr>
        <p:spPr>
          <a:xfrm>
            <a:off x="1701800" y="4617211"/>
            <a:ext cx="9525000" cy="11689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61C"/>
                </a:solidFill>
                <a:latin typeface="Calibri"/>
              </a:rPr>
              <a:t>Đội native (/team)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14161C"/>
                </a:solidFill>
                <a:latin typeface="Calibri"/>
              </a:rPr>
              <a:t>Các agent Claude phối hợp trên một danh sách việc chung; cần bật cờ đội native trong settings.json (bước 4).</a:t>
            </a:r>
          </a:p>
        </p:txBody>
      </p:sp>
      <p:sp>
        <p:nvSpPr>
          <p:cNvPr id="12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25/33</a:t>
            </a:r>
          </a:p>
        </p:txBody>
      </p:sp>
      <p:sp>
        <p:nvSpPr>
          <p:cNvPr id="13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progress"/>
          <p:cNvSpPr/>
          <p:nvPr/>
        </p:nvSpPr>
        <p:spPr>
          <a:xfrm>
            <a:off x="685800" y="6426200"/>
            <a:ext cx="8197272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Các mảnh ghép (2/2)</a:t>
            </a:r>
          </a:p>
        </p:txBody>
      </p:sp>
      <p:sp>
        <p:nvSpPr>
          <p:cNvPr id="3" name="card"/>
          <p:cNvSpPr/>
          <p:nvPr/>
        </p:nvSpPr>
        <p:spPr>
          <a:xfrm>
            <a:off x="685800" y="1326895"/>
            <a:ext cx="10820400" cy="1448308"/>
          </a:xfrm>
          <a:prstGeom prst="roundRect">
            <a:avLst>
              <a:gd name="adj" fmla="val 14030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marker 4"/>
          <p:cNvSpPr/>
          <p:nvPr/>
        </p:nvSpPr>
        <p:spPr>
          <a:xfrm>
            <a:off x="965200" y="1797050"/>
            <a:ext cx="508000" cy="50800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" name="card text"/>
          <p:cNvSpPr txBox="1"/>
          <p:nvPr/>
        </p:nvSpPr>
        <p:spPr>
          <a:xfrm>
            <a:off x="1701800" y="1466595"/>
            <a:ext cx="9525000" cy="11689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61C"/>
                </a:solidFill>
                <a:latin typeface="Calibri"/>
              </a:rPr>
              <a:t>Worker tmux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14161C"/>
                </a:solidFill>
                <a:latin typeface="Calibri"/>
              </a:rPr>
              <a:t>Pane tmux chạy CLI thật (claude, codex, gemini, antigravity, grok, cursor-agent); sinh khi cần, tắt khi xong.</a:t>
            </a:r>
          </a:p>
        </p:txBody>
      </p:sp>
      <p:sp>
        <p:nvSpPr>
          <p:cNvPr id="6" name="card"/>
          <p:cNvSpPr/>
          <p:nvPr/>
        </p:nvSpPr>
        <p:spPr>
          <a:xfrm>
            <a:off x="685800" y="2902204"/>
            <a:ext cx="10820400" cy="1090676"/>
          </a:xfrm>
          <a:prstGeom prst="roundRect">
            <a:avLst>
              <a:gd name="adj" fmla="val 18630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marker 5"/>
          <p:cNvSpPr/>
          <p:nvPr/>
        </p:nvSpPr>
        <p:spPr>
          <a:xfrm>
            <a:off x="965200" y="3193541"/>
            <a:ext cx="508000" cy="508000"/>
          </a:xfrm>
          <a:prstGeom prst="ellipse">
            <a:avLst/>
          </a:prstGeom>
          <a:solidFill>
            <a:srgbClr val="1F3F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" name="card text"/>
          <p:cNvSpPr txBox="1"/>
          <p:nvPr/>
        </p:nvSpPr>
        <p:spPr>
          <a:xfrm>
            <a:off x="1701800" y="3041904"/>
            <a:ext cx="9525000" cy="8112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61C"/>
                </a:solidFill>
                <a:latin typeface="Calibri"/>
              </a:rPr>
              <a:t>Thư mục .omc/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14161C"/>
                </a:solidFill>
                <a:latin typeface="Calibri"/>
              </a:rPr>
              <a:t>Nơi OMC giữ trạng thái chạy, dữ liệu phiên, kế hoạch và log của dự án.</a:t>
            </a:r>
          </a:p>
        </p:txBody>
      </p:sp>
      <p:sp>
        <p:nvSpPr>
          <p:cNvPr id="9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26/33</a:t>
            </a:r>
          </a:p>
        </p:txBody>
      </p:sp>
      <p:sp>
        <p:nvSpPr>
          <p:cNvPr id="10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rogress"/>
          <p:cNvSpPr/>
          <p:nvPr/>
        </p:nvSpPr>
        <p:spPr>
          <a:xfrm>
            <a:off x="685800" y="6426200"/>
            <a:ext cx="8525163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3EEE3"/>
                </a:solidFill>
                <a:latin typeface="Cambria"/>
              </a:rPr>
              <a:t>Nó chạy như thế nào (1/2)</a:t>
            </a:r>
          </a:p>
        </p:txBody>
      </p:sp>
      <p:sp>
        <p:nvSpPr>
          <p:cNvPr id="3" name="card"/>
          <p:cNvSpPr/>
          <p:nvPr/>
        </p:nvSpPr>
        <p:spPr>
          <a:xfrm>
            <a:off x="685800" y="1326895"/>
            <a:ext cx="10820400" cy="1448308"/>
          </a:xfrm>
          <a:prstGeom prst="roundRect">
            <a:avLst>
              <a:gd name="adj" fmla="val 14030"/>
            </a:avLst>
          </a:prstGeom>
          <a:solidFill>
            <a:srgbClr val="1E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marker 1"/>
          <p:cNvSpPr/>
          <p:nvPr/>
        </p:nvSpPr>
        <p:spPr>
          <a:xfrm>
            <a:off x="965200" y="1797050"/>
            <a:ext cx="508000" cy="508000"/>
          </a:xfrm>
          <a:prstGeom prst="ellipse">
            <a:avLst/>
          </a:prstGeom>
          <a:solidFill>
            <a:srgbClr val="7C93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2141B"/>
                </a:solidFill>
                <a:latin typeface="Calibri"/>
              </a:rPr>
              <a:t>1</a:t>
            </a:r>
          </a:p>
        </p:txBody>
      </p:sp>
      <p:sp>
        <p:nvSpPr>
          <p:cNvPr id="5" name="card text"/>
          <p:cNvSpPr txBox="1"/>
          <p:nvPr/>
        </p:nvSpPr>
        <p:spPr>
          <a:xfrm>
            <a:off x="1701800" y="1466595"/>
            <a:ext cx="9525000" cy="11689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3EEE3"/>
                </a:solidFill>
                <a:latin typeface="Calibri"/>
              </a:rPr>
              <a:t>Hai lối vào, hai runtime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F3EEE3"/>
                </a:solidFill>
                <a:latin typeface="Calibri"/>
              </a:rPr>
              <a:t>Lệnh /team trong phiên Claude Code chạy đội native; omc team ở terminal mở worker CLI thật trong tmux. README nói rõ đây là hai runtime khác nhau.</a:t>
            </a:r>
          </a:p>
        </p:txBody>
      </p:sp>
      <p:sp>
        <p:nvSpPr>
          <p:cNvPr id="6" name="card"/>
          <p:cNvSpPr/>
          <p:nvPr/>
        </p:nvSpPr>
        <p:spPr>
          <a:xfrm>
            <a:off x="685800" y="2902204"/>
            <a:ext cx="10820400" cy="1448308"/>
          </a:xfrm>
          <a:prstGeom prst="roundRect">
            <a:avLst>
              <a:gd name="adj" fmla="val 14030"/>
            </a:avLst>
          </a:prstGeom>
          <a:solidFill>
            <a:srgbClr val="1E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marker 2"/>
          <p:cNvSpPr/>
          <p:nvPr/>
        </p:nvSpPr>
        <p:spPr>
          <a:xfrm>
            <a:off x="965200" y="3372357"/>
            <a:ext cx="508000" cy="508000"/>
          </a:xfrm>
          <a:prstGeom prst="ellipse">
            <a:avLst/>
          </a:prstGeom>
          <a:solidFill>
            <a:srgbClr val="3DD6A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2141B"/>
                </a:solidFill>
                <a:latin typeface="Calibri"/>
              </a:rPr>
              <a:t>2</a:t>
            </a:r>
          </a:p>
        </p:txBody>
      </p:sp>
      <p:sp>
        <p:nvSpPr>
          <p:cNvPr id="8" name="card text"/>
          <p:cNvSpPr txBox="1"/>
          <p:nvPr/>
        </p:nvSpPr>
        <p:spPr>
          <a:xfrm>
            <a:off x="1701800" y="3041904"/>
            <a:ext cx="9525000" cy="11689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3EEE3"/>
                </a:solidFill>
                <a:latin typeface="Calibri"/>
              </a:rPr>
              <a:t>Chuỗi giai đoạn có vòng sửa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F3EEE3"/>
                </a:solidFill>
                <a:latin typeface="Calibri"/>
              </a:rPr>
              <a:t>Team chạy team-plan → team-prd → team-exec → team-verify → team-fix (loop): kiểm tra là một giai đoạn riêng, và lỗi được sửa lặp lại.</a:t>
            </a:r>
          </a:p>
        </p:txBody>
      </p:sp>
      <p:sp>
        <p:nvSpPr>
          <p:cNvPr id="9" name="card"/>
          <p:cNvSpPr/>
          <p:nvPr/>
        </p:nvSpPr>
        <p:spPr>
          <a:xfrm>
            <a:off x="685800" y="4477511"/>
            <a:ext cx="10820400" cy="1448308"/>
          </a:xfrm>
          <a:prstGeom prst="roundRect">
            <a:avLst>
              <a:gd name="adj" fmla="val 14030"/>
            </a:avLst>
          </a:prstGeom>
          <a:solidFill>
            <a:srgbClr val="1E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marker 3"/>
          <p:cNvSpPr/>
          <p:nvPr/>
        </p:nvSpPr>
        <p:spPr>
          <a:xfrm>
            <a:off x="965200" y="4947665"/>
            <a:ext cx="508000" cy="508000"/>
          </a:xfrm>
          <a:prstGeom prst="ellipse">
            <a:avLst/>
          </a:prstGeom>
          <a:solidFill>
            <a:srgbClr val="FFB45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2141B"/>
                </a:solidFill>
                <a:latin typeface="Calibri"/>
              </a:rPr>
              <a:t>3</a:t>
            </a:r>
          </a:p>
        </p:txBody>
      </p:sp>
      <p:sp>
        <p:nvSpPr>
          <p:cNvPr id="11" name="card text"/>
          <p:cNvSpPr txBox="1"/>
          <p:nvPr/>
        </p:nvSpPr>
        <p:spPr>
          <a:xfrm>
            <a:off x="1701800" y="4617211"/>
            <a:ext cx="9525000" cy="11689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3EEE3"/>
                </a:solidFill>
                <a:latin typeface="Calibri"/>
              </a:rPr>
              <a:t>Worker sinh khi cần, tắt khi xong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F3EEE3"/>
                </a:solidFill>
                <a:latin typeface="Calibri"/>
              </a:rPr>
              <a:t>Worker của omc team được sinh theo yêu cầu và chết khi xong việc, nên README nói không tốn tài nguyên lúc nhàn rỗi.</a:t>
            </a:r>
          </a:p>
        </p:txBody>
      </p:sp>
      <p:sp>
        <p:nvSpPr>
          <p:cNvPr id="12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F3EEE3"/>
                </a:solidFill>
                <a:latin typeface="Calibri"/>
              </a:rPr>
              <a:t>27/33</a:t>
            </a:r>
          </a:p>
        </p:txBody>
      </p:sp>
      <p:sp>
        <p:nvSpPr>
          <p:cNvPr id="13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9AA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progress"/>
          <p:cNvSpPr/>
          <p:nvPr/>
        </p:nvSpPr>
        <p:spPr>
          <a:xfrm>
            <a:off x="685800" y="6426200"/>
            <a:ext cx="8853054" cy="88900"/>
          </a:xfrm>
          <a:prstGeom prst="rect">
            <a:avLst/>
          </a:prstGeom>
          <a:solidFill>
            <a:srgbClr val="FF6A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AA0B5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3EEE3"/>
                </a:solidFill>
                <a:latin typeface="Cambria"/>
              </a:rPr>
              <a:t>Nó chạy như thế nào (2/2)</a:t>
            </a:r>
          </a:p>
        </p:txBody>
      </p:sp>
      <p:sp>
        <p:nvSpPr>
          <p:cNvPr id="3" name="card"/>
          <p:cNvSpPr/>
          <p:nvPr/>
        </p:nvSpPr>
        <p:spPr>
          <a:xfrm>
            <a:off x="685800" y="1326895"/>
            <a:ext cx="10820400" cy="1805939"/>
          </a:xfrm>
          <a:prstGeom prst="roundRect">
            <a:avLst>
              <a:gd name="adj" fmla="val 11251"/>
            </a:avLst>
          </a:prstGeom>
          <a:solidFill>
            <a:srgbClr val="1E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marker 4"/>
          <p:cNvSpPr/>
          <p:nvPr/>
        </p:nvSpPr>
        <p:spPr>
          <a:xfrm>
            <a:off x="965200" y="1975865"/>
            <a:ext cx="508000" cy="508000"/>
          </a:xfrm>
          <a:prstGeom prst="ellipse">
            <a:avLst/>
          </a:prstGeom>
          <a:solidFill>
            <a:srgbClr val="C58B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2141B"/>
                </a:solidFill>
                <a:latin typeface="Calibri"/>
              </a:rPr>
              <a:t>4</a:t>
            </a:r>
          </a:p>
        </p:txBody>
      </p:sp>
      <p:sp>
        <p:nvSpPr>
          <p:cNvPr id="5" name="card text"/>
          <p:cNvSpPr txBox="1"/>
          <p:nvPr/>
        </p:nvSpPr>
        <p:spPr>
          <a:xfrm>
            <a:off x="1701800" y="1466595"/>
            <a:ext cx="9525000" cy="15265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3EEE3"/>
                </a:solidFill>
                <a:latin typeface="Calibri"/>
              </a:rPr>
              <a:t>Mỗi phiên một người cầm vòng lặp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F3EEE3"/>
                </a:solidFill>
                <a:latin typeface="Calibri"/>
              </a:rPr>
              <a:t>README dặn dùng một quyền điều khiển vòng lặp chính mỗi phiên: Team cho việc song song theo giai đoạn, Execute cho một agent làm tới nơi, Verify cho vòng kiểm tra lặp.</a:t>
            </a:r>
          </a:p>
        </p:txBody>
      </p:sp>
      <p:sp>
        <p:nvSpPr>
          <p:cNvPr id="6" name="card"/>
          <p:cNvSpPr/>
          <p:nvPr/>
        </p:nvSpPr>
        <p:spPr>
          <a:xfrm>
            <a:off x="685800" y="3259835"/>
            <a:ext cx="10820400" cy="1805939"/>
          </a:xfrm>
          <a:prstGeom prst="roundRect">
            <a:avLst>
              <a:gd name="adj" fmla="val 11251"/>
            </a:avLst>
          </a:prstGeom>
          <a:solidFill>
            <a:srgbClr val="1E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marker 5"/>
          <p:cNvSpPr/>
          <p:nvPr/>
        </p:nvSpPr>
        <p:spPr>
          <a:xfrm>
            <a:off x="965200" y="3908805"/>
            <a:ext cx="508000" cy="508000"/>
          </a:xfrm>
          <a:prstGeom prst="ellipse">
            <a:avLst/>
          </a:prstGeom>
          <a:solidFill>
            <a:srgbClr val="FF6A4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2141B"/>
                </a:solidFill>
                <a:latin typeface="Calibri"/>
              </a:rPr>
              <a:t>5</a:t>
            </a:r>
          </a:p>
        </p:txBody>
      </p:sp>
      <p:sp>
        <p:nvSpPr>
          <p:cNvPr id="8" name="card text"/>
          <p:cNvSpPr txBox="1"/>
          <p:nvPr/>
        </p:nvSpPr>
        <p:spPr>
          <a:xfrm>
            <a:off x="1701800" y="3399535"/>
            <a:ext cx="9525000" cy="15265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3EEE3"/>
                </a:solidFill>
                <a:latin typeface="Calibri"/>
              </a:rPr>
              <a:t>Trạng thái nằm trong .omc/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200" b="0">
                <a:solidFill>
                  <a:srgbClr val="F3EEE3"/>
                </a:solidFill>
                <a:latin typeface="Calibri"/>
              </a:rPr>
              <a:t>OMC ghi trạng thái, phiên, kế hoạch vào thư mục .omc/. Trong worktree liên kết, thư mục này nằm trong worktree nên xóa worktree là mất; đặt OMC_STATE_DIR để giữ.</a:t>
            </a:r>
          </a:p>
        </p:txBody>
      </p:sp>
      <p:sp>
        <p:nvSpPr>
          <p:cNvPr id="9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F3EEE3"/>
                </a:solidFill>
                <a:latin typeface="Calibri"/>
              </a:rPr>
              <a:t>28/33</a:t>
            </a:r>
          </a:p>
        </p:txBody>
      </p:sp>
      <p:sp>
        <p:nvSpPr>
          <p:cNvPr id="10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9AA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rogress"/>
          <p:cNvSpPr/>
          <p:nvPr/>
        </p:nvSpPr>
        <p:spPr>
          <a:xfrm>
            <a:off x="685800" y="6426200"/>
            <a:ext cx="9180945" cy="88900"/>
          </a:xfrm>
          <a:prstGeom prst="rect">
            <a:avLst/>
          </a:prstGeom>
          <a:solidFill>
            <a:srgbClr val="FF6A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AA0B5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F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Học được gì từ thiết kế này (1/2)</a:t>
            </a:r>
          </a:p>
        </p:txBody>
      </p:sp>
      <p:sp>
        <p:nvSpPr>
          <p:cNvPr id="3" name="card"/>
          <p:cNvSpPr/>
          <p:nvPr/>
        </p:nvSpPr>
        <p:spPr>
          <a:xfrm>
            <a:off x="685800" y="1326895"/>
            <a:ext cx="10820400" cy="1124712"/>
          </a:xfrm>
          <a:prstGeom prst="roundRect">
            <a:avLst>
              <a:gd name="adj" fmla="val 18066"/>
            </a:avLst>
          </a:prstGeom>
          <a:solidFill>
            <a:srgbClr val="3453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marker 1"/>
          <p:cNvSpPr/>
          <p:nvPr/>
        </p:nvSpPr>
        <p:spPr>
          <a:xfrm>
            <a:off x="965200" y="1635252"/>
            <a:ext cx="508000" cy="508000"/>
          </a:xfrm>
          <a:prstGeom prst="ellipse">
            <a:avLst/>
          </a:prstGeom>
          <a:solidFill>
            <a:srgbClr val="F3EEE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F3FD1"/>
                </a:solidFill>
                <a:latin typeface="Calibri"/>
              </a:rPr>
              <a:t>1</a:t>
            </a:r>
          </a:p>
        </p:txBody>
      </p:sp>
      <p:sp>
        <p:nvSpPr>
          <p:cNvPr id="5" name="card text"/>
          <p:cNvSpPr txBox="1"/>
          <p:nvPr/>
        </p:nvSpPr>
        <p:spPr>
          <a:xfrm>
            <a:off x="1701800" y="1466595"/>
            <a:ext cx="9525000" cy="8453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FFFFFF"/>
                </a:solidFill>
                <a:latin typeface="Calibri"/>
              </a:rPr>
              <a:t>Tách hai runtime: đội chạy trong phiên và worker chạy ngoài phiên, mỗi bên hợp một loại việc.</a:t>
            </a:r>
          </a:p>
        </p:txBody>
      </p:sp>
      <p:sp>
        <p:nvSpPr>
          <p:cNvPr id="6" name="card"/>
          <p:cNvSpPr/>
          <p:nvPr/>
        </p:nvSpPr>
        <p:spPr>
          <a:xfrm>
            <a:off x="685800" y="2578608"/>
            <a:ext cx="10820400" cy="1124712"/>
          </a:xfrm>
          <a:prstGeom prst="roundRect">
            <a:avLst>
              <a:gd name="adj" fmla="val 18066"/>
            </a:avLst>
          </a:prstGeom>
          <a:solidFill>
            <a:srgbClr val="3453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marker 2"/>
          <p:cNvSpPr/>
          <p:nvPr/>
        </p:nvSpPr>
        <p:spPr>
          <a:xfrm>
            <a:off x="965200" y="2886964"/>
            <a:ext cx="508000" cy="508000"/>
          </a:xfrm>
          <a:prstGeom prst="ellipse">
            <a:avLst/>
          </a:prstGeom>
          <a:solidFill>
            <a:srgbClr val="F3EEE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F3FD1"/>
                </a:solidFill>
                <a:latin typeface="Calibri"/>
              </a:rPr>
              <a:t>2</a:t>
            </a:r>
          </a:p>
        </p:txBody>
      </p:sp>
      <p:sp>
        <p:nvSpPr>
          <p:cNvPr id="8" name="card text"/>
          <p:cNvSpPr txBox="1"/>
          <p:nvPr/>
        </p:nvSpPr>
        <p:spPr>
          <a:xfrm>
            <a:off x="1701800" y="2718308"/>
            <a:ext cx="9525000" cy="8453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FFFFFF"/>
                </a:solidFill>
                <a:latin typeface="Calibri"/>
              </a:rPr>
              <a:t>Đặt kiểm tra thành giai đoạn riêng và cho nó vòng sửa lỗi, thay vì kiểm tra một lần ở cuối.</a:t>
            </a:r>
          </a:p>
        </p:txBody>
      </p:sp>
      <p:sp>
        <p:nvSpPr>
          <p:cNvPr id="9" name="card"/>
          <p:cNvSpPr/>
          <p:nvPr/>
        </p:nvSpPr>
        <p:spPr>
          <a:xfrm>
            <a:off x="685800" y="3830320"/>
            <a:ext cx="10820400" cy="1124712"/>
          </a:xfrm>
          <a:prstGeom prst="roundRect">
            <a:avLst>
              <a:gd name="adj" fmla="val 18066"/>
            </a:avLst>
          </a:prstGeom>
          <a:solidFill>
            <a:srgbClr val="3453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marker 3"/>
          <p:cNvSpPr/>
          <p:nvPr/>
        </p:nvSpPr>
        <p:spPr>
          <a:xfrm>
            <a:off x="965200" y="4138676"/>
            <a:ext cx="508000" cy="508000"/>
          </a:xfrm>
          <a:prstGeom prst="ellipse">
            <a:avLst/>
          </a:prstGeom>
          <a:solidFill>
            <a:srgbClr val="F3EEE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F3FD1"/>
                </a:solidFill>
                <a:latin typeface="Calibri"/>
              </a:rPr>
              <a:t>3</a:t>
            </a:r>
          </a:p>
        </p:txBody>
      </p:sp>
      <p:sp>
        <p:nvSpPr>
          <p:cNvPr id="11" name="card text"/>
          <p:cNvSpPr txBox="1"/>
          <p:nvPr/>
        </p:nvSpPr>
        <p:spPr>
          <a:xfrm>
            <a:off x="1701800" y="3970020"/>
            <a:ext cx="9525000" cy="8453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FFFFFF"/>
                </a:solidFill>
                <a:latin typeface="Calibri"/>
              </a:rPr>
              <a:t>Mỗi phiên chỉ một cơ chế cầm vòng lặp chính, theo lời dặn của README.</a:t>
            </a:r>
          </a:p>
        </p:txBody>
      </p:sp>
      <p:sp>
        <p:nvSpPr>
          <p:cNvPr id="12" name="card"/>
          <p:cNvSpPr/>
          <p:nvPr/>
        </p:nvSpPr>
        <p:spPr>
          <a:xfrm>
            <a:off x="685800" y="5082032"/>
            <a:ext cx="10820400" cy="1124712"/>
          </a:xfrm>
          <a:prstGeom prst="roundRect">
            <a:avLst>
              <a:gd name="adj" fmla="val 18066"/>
            </a:avLst>
          </a:prstGeom>
          <a:solidFill>
            <a:srgbClr val="3453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marker 4"/>
          <p:cNvSpPr/>
          <p:nvPr/>
        </p:nvSpPr>
        <p:spPr>
          <a:xfrm>
            <a:off x="965200" y="5390388"/>
            <a:ext cx="508000" cy="508000"/>
          </a:xfrm>
          <a:prstGeom prst="ellipse">
            <a:avLst/>
          </a:prstGeom>
          <a:solidFill>
            <a:srgbClr val="F3EEE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F3FD1"/>
                </a:solidFill>
                <a:latin typeface="Calibri"/>
              </a:rPr>
              <a:t>4</a:t>
            </a:r>
          </a:p>
        </p:txBody>
      </p:sp>
      <p:sp>
        <p:nvSpPr>
          <p:cNvPr id="14" name="card text"/>
          <p:cNvSpPr txBox="1"/>
          <p:nvPr/>
        </p:nvSpPr>
        <p:spPr>
          <a:xfrm>
            <a:off x="1701800" y="5221732"/>
            <a:ext cx="9525000" cy="8453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FFFFFF"/>
                </a:solidFill>
                <a:latin typeface="Calibri"/>
              </a:rPr>
              <a:t>Worker sinh khi cần và tắt khi xong: trả tài nguyên ngay sau mỗi việc.</a:t>
            </a:r>
          </a:p>
        </p:txBody>
      </p:sp>
      <p:sp>
        <p:nvSpPr>
          <p:cNvPr id="15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29/33</a:t>
            </a:r>
          </a:p>
        </p:txBody>
      </p:sp>
      <p:sp>
        <p:nvSpPr>
          <p:cNvPr id="16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C9D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progress"/>
          <p:cNvSpPr/>
          <p:nvPr/>
        </p:nvSpPr>
        <p:spPr>
          <a:xfrm>
            <a:off x="685800" y="6426200"/>
            <a:ext cx="9508836" cy="88900"/>
          </a:xfrm>
          <a:prstGeom prst="rect">
            <a:avLst/>
          </a:prstGeom>
          <a:solidFill>
            <a:srgbClr val="FFB4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9D2FF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F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Học được gì từ thiết kế này (2/2)</a:t>
            </a:r>
          </a:p>
        </p:txBody>
      </p:sp>
      <p:sp>
        <p:nvSpPr>
          <p:cNvPr id="3" name="card"/>
          <p:cNvSpPr/>
          <p:nvPr/>
        </p:nvSpPr>
        <p:spPr>
          <a:xfrm>
            <a:off x="685800" y="1326895"/>
            <a:ext cx="10820400" cy="1124712"/>
          </a:xfrm>
          <a:prstGeom prst="roundRect">
            <a:avLst>
              <a:gd name="adj" fmla="val 18066"/>
            </a:avLst>
          </a:prstGeom>
          <a:solidFill>
            <a:srgbClr val="3453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marker 5"/>
          <p:cNvSpPr/>
          <p:nvPr/>
        </p:nvSpPr>
        <p:spPr>
          <a:xfrm>
            <a:off x="965200" y="1635252"/>
            <a:ext cx="508000" cy="508000"/>
          </a:xfrm>
          <a:prstGeom prst="ellipse">
            <a:avLst/>
          </a:prstGeom>
          <a:solidFill>
            <a:srgbClr val="F3EEE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1F3FD1"/>
                </a:solidFill>
                <a:latin typeface="Calibri"/>
              </a:rPr>
              <a:t>5</a:t>
            </a:r>
          </a:p>
        </p:txBody>
      </p:sp>
      <p:sp>
        <p:nvSpPr>
          <p:cNvPr id="5" name="card text"/>
          <p:cNvSpPr txBox="1"/>
          <p:nvPr/>
        </p:nvSpPr>
        <p:spPr>
          <a:xfrm>
            <a:off x="1701800" y="1466595"/>
            <a:ext cx="9525000" cy="8453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FFFFFF"/>
                </a:solidFill>
                <a:latin typeface="Calibri"/>
              </a:rPr>
              <a:t>Giữ trạng thái cục bộ cạnh dự án và nói rõ nó sống hay chết theo worktree.</a:t>
            </a:r>
          </a:p>
        </p:txBody>
      </p:sp>
      <p:sp>
        <p:nvSpPr>
          <p:cNvPr id="6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30/33</a:t>
            </a:r>
          </a:p>
        </p:txBody>
      </p:sp>
      <p:sp>
        <p:nvSpPr>
          <p:cNvPr id="7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C9D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rogress"/>
          <p:cNvSpPr/>
          <p:nvPr/>
        </p:nvSpPr>
        <p:spPr>
          <a:xfrm>
            <a:off x="685800" y="6426200"/>
            <a:ext cx="9836727" cy="88900"/>
          </a:xfrm>
          <a:prstGeom prst="rect">
            <a:avLst/>
          </a:prstGeom>
          <a:solidFill>
            <a:srgbClr val="FFB4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9D2FF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Từ khóa (1/2)</a:t>
            </a:r>
          </a:p>
        </p:txBody>
      </p:sp>
      <p:sp>
        <p:nvSpPr>
          <p:cNvPr id="3" name="card"/>
          <p:cNvSpPr/>
          <p:nvPr/>
        </p:nvSpPr>
        <p:spPr>
          <a:xfrm>
            <a:off x="685800" y="1326895"/>
            <a:ext cx="10820400" cy="1545844"/>
          </a:xfrm>
          <a:prstGeom prst="roundRect">
            <a:avLst>
              <a:gd name="adj" fmla="val 13144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rd text"/>
          <p:cNvSpPr txBox="1"/>
          <p:nvPr/>
        </p:nvSpPr>
        <p:spPr>
          <a:xfrm>
            <a:off x="965200" y="1466595"/>
            <a:ext cx="10261600" cy="12664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61C"/>
                </a:solidFill>
                <a:latin typeface="Calibri"/>
              </a:rPr>
              <a:t>tmux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400" b="0">
                <a:solidFill>
                  <a:srgbClr val="14161C"/>
                </a:solidFill>
                <a:latin typeface="Calibri"/>
              </a:rPr>
              <a:t>Công cụ chia một cửa sổ terminal thành nhiều pane chạy song song; omc team dùng nó cho worker.</a:t>
            </a:r>
          </a:p>
        </p:txBody>
      </p:sp>
      <p:sp>
        <p:nvSpPr>
          <p:cNvPr id="5" name="card"/>
          <p:cNvSpPr/>
          <p:nvPr/>
        </p:nvSpPr>
        <p:spPr>
          <a:xfrm>
            <a:off x="685800" y="2999740"/>
            <a:ext cx="10820400" cy="1155700"/>
          </a:xfrm>
          <a:prstGeom prst="roundRect">
            <a:avLst>
              <a:gd name="adj" fmla="val 17582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ard text"/>
          <p:cNvSpPr txBox="1"/>
          <p:nvPr/>
        </p:nvSpPr>
        <p:spPr>
          <a:xfrm>
            <a:off x="965200" y="3139440"/>
            <a:ext cx="10261600" cy="876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61C"/>
                </a:solidFill>
                <a:latin typeface="Calibri"/>
              </a:rPr>
              <a:t>Worker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400" b="0">
                <a:solidFill>
                  <a:srgbClr val="14161C"/>
                </a:solidFill>
                <a:latin typeface="Calibri"/>
              </a:rPr>
              <a:t>Một tiến trình agent do omc team mở để làm một phần việc, tự tắt khi xong.</a:t>
            </a:r>
          </a:p>
        </p:txBody>
      </p:sp>
      <p:sp>
        <p:nvSpPr>
          <p:cNvPr id="7" name="card"/>
          <p:cNvSpPr/>
          <p:nvPr/>
        </p:nvSpPr>
        <p:spPr>
          <a:xfrm>
            <a:off x="685800" y="4282440"/>
            <a:ext cx="10820400" cy="1155700"/>
          </a:xfrm>
          <a:prstGeom prst="roundRect">
            <a:avLst>
              <a:gd name="adj" fmla="val 17582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ard text"/>
          <p:cNvSpPr txBox="1"/>
          <p:nvPr/>
        </p:nvSpPr>
        <p:spPr>
          <a:xfrm>
            <a:off x="965200" y="4422140"/>
            <a:ext cx="10261600" cy="876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61C"/>
                </a:solidFill>
                <a:latin typeface="Calibri"/>
              </a:rPr>
              <a:t>Skill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400" b="0">
                <a:solidFill>
                  <a:srgbClr val="14161C"/>
                </a:solidFill>
                <a:latin typeface="Calibri"/>
              </a:rPr>
              <a:t>Lệnh slash do plugin cung cấp trong Claude Code, như /team hay /autopilot.</a:t>
            </a:r>
          </a:p>
        </p:txBody>
      </p:sp>
      <p:sp>
        <p:nvSpPr>
          <p:cNvPr id="9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31/33</a:t>
            </a:r>
          </a:p>
        </p:txBody>
      </p:sp>
      <p:sp>
        <p:nvSpPr>
          <p:cNvPr id="10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rogress"/>
          <p:cNvSpPr/>
          <p:nvPr/>
        </p:nvSpPr>
        <p:spPr>
          <a:xfrm>
            <a:off x="685800" y="6426200"/>
            <a:ext cx="10164618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61C"/>
                </a:solidFill>
                <a:latin typeface="Cambria"/>
              </a:rPr>
              <a:t>Từ khóa (2/2)</a:t>
            </a:r>
          </a:p>
        </p:txBody>
      </p:sp>
      <p:sp>
        <p:nvSpPr>
          <p:cNvPr id="3" name="card"/>
          <p:cNvSpPr/>
          <p:nvPr/>
        </p:nvSpPr>
        <p:spPr>
          <a:xfrm>
            <a:off x="685800" y="1326895"/>
            <a:ext cx="10820400" cy="1545844"/>
          </a:xfrm>
          <a:prstGeom prst="roundRect">
            <a:avLst>
              <a:gd name="adj" fmla="val 13144"/>
            </a:avLst>
          </a:prstGeom>
          <a:solidFill>
            <a:srgbClr val="E8E0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rd text"/>
          <p:cNvSpPr txBox="1"/>
          <p:nvPr/>
        </p:nvSpPr>
        <p:spPr>
          <a:xfrm>
            <a:off x="965200" y="1466595"/>
            <a:ext cx="10261600" cy="12664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61C"/>
                </a:solidFill>
                <a:latin typeface="Calibri"/>
              </a:rPr>
              <a:t>Worktree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400" b="0">
                <a:solidFill>
                  <a:srgbClr val="14161C"/>
                </a:solidFill>
                <a:latin typeface="Calibri"/>
              </a:rPr>
              <a:t>Bản làm việc riêng của git cho một nhánh; .omc/ của OMC nằm trong worktree liên kết.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14161C"/>
                </a:solidFill>
                <a:latin typeface="Calibri"/>
              </a:rPr>
              <a:t>32/33</a:t>
            </a:r>
          </a:p>
        </p:txBody>
      </p:sp>
      <p:sp>
        <p:nvSpPr>
          <p:cNvPr id="6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6B6A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rogress"/>
          <p:cNvSpPr/>
          <p:nvPr/>
        </p:nvSpPr>
        <p:spPr>
          <a:xfrm>
            <a:off x="685800" y="6426200"/>
            <a:ext cx="10492509" cy="88900"/>
          </a:xfrm>
          <a:prstGeom prst="rect">
            <a:avLst/>
          </a:prstGeom>
          <a:solidFill>
            <a:srgbClr val="E84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A66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609600"/>
            <a:ext cx="108204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3EEE3"/>
                </a:solidFill>
                <a:latin typeface="Cambria"/>
              </a:rPr>
              <a:t>Nguồn dữ kiện</a:t>
            </a:r>
          </a:p>
        </p:txBody>
      </p:sp>
      <p:sp>
        <p:nvSpPr>
          <p:cNvPr id="3" name="chip"/>
          <p:cNvSpPr/>
          <p:nvPr/>
        </p:nvSpPr>
        <p:spPr>
          <a:xfrm>
            <a:off x="685800" y="1326895"/>
            <a:ext cx="1818639" cy="584200"/>
          </a:xfrm>
          <a:prstGeom prst="roundRect">
            <a:avLst>
              <a:gd name="adj" fmla="val 50000"/>
            </a:avLst>
          </a:prstGeom>
          <a:solidFill>
            <a:srgbClr val="1E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ip text"/>
          <p:cNvSpPr txBox="1"/>
          <p:nvPr/>
        </p:nvSpPr>
        <p:spPr>
          <a:xfrm>
            <a:off x="685800" y="1326895"/>
            <a:ext cx="1818639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3EEE3"/>
                </a:solidFill>
                <a:latin typeface="Calibri"/>
              </a:rPr>
              <a:t>39.976 sao</a:t>
            </a:r>
          </a:p>
        </p:txBody>
      </p:sp>
      <p:sp>
        <p:nvSpPr>
          <p:cNvPr id="5" name="chip"/>
          <p:cNvSpPr/>
          <p:nvPr/>
        </p:nvSpPr>
        <p:spPr>
          <a:xfrm>
            <a:off x="2656840" y="1326895"/>
            <a:ext cx="1813560" cy="584200"/>
          </a:xfrm>
          <a:prstGeom prst="roundRect">
            <a:avLst>
              <a:gd name="adj" fmla="val 50000"/>
            </a:avLst>
          </a:prstGeom>
          <a:solidFill>
            <a:srgbClr val="1E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hip text"/>
          <p:cNvSpPr txBox="1"/>
          <p:nvPr/>
        </p:nvSpPr>
        <p:spPr>
          <a:xfrm>
            <a:off x="2656840" y="1326895"/>
            <a:ext cx="181356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3EEE3"/>
                </a:solidFill>
                <a:latin typeface="Calibri"/>
              </a:rPr>
              <a:t>3.586 fork</a:t>
            </a:r>
          </a:p>
        </p:txBody>
      </p:sp>
      <p:sp>
        <p:nvSpPr>
          <p:cNvPr id="7" name="chip"/>
          <p:cNvSpPr/>
          <p:nvPr/>
        </p:nvSpPr>
        <p:spPr>
          <a:xfrm>
            <a:off x="4622800" y="1326895"/>
            <a:ext cx="2346960" cy="584200"/>
          </a:xfrm>
          <a:prstGeom prst="roundRect">
            <a:avLst>
              <a:gd name="adj" fmla="val 50000"/>
            </a:avLst>
          </a:prstGeom>
          <a:solidFill>
            <a:srgbClr val="1E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hip text"/>
          <p:cNvSpPr txBox="1"/>
          <p:nvPr/>
        </p:nvSpPr>
        <p:spPr>
          <a:xfrm>
            <a:off x="4622800" y="1326895"/>
            <a:ext cx="234696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3EEE3"/>
                </a:solidFill>
                <a:latin typeface="Calibri"/>
              </a:rPr>
              <a:t>Giấy phép: MIT</a:t>
            </a:r>
          </a:p>
        </p:txBody>
      </p:sp>
      <p:sp>
        <p:nvSpPr>
          <p:cNvPr id="9" name="chip"/>
          <p:cNvSpPr/>
          <p:nvPr/>
        </p:nvSpPr>
        <p:spPr>
          <a:xfrm>
            <a:off x="7122159" y="1326895"/>
            <a:ext cx="3205480" cy="584200"/>
          </a:xfrm>
          <a:prstGeom prst="roundRect">
            <a:avLst>
              <a:gd name="adj" fmla="val 50000"/>
            </a:avLst>
          </a:prstGeom>
          <a:solidFill>
            <a:srgbClr val="1E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chip text"/>
          <p:cNvSpPr txBox="1"/>
          <p:nvPr/>
        </p:nvSpPr>
        <p:spPr>
          <a:xfrm>
            <a:off x="7122159" y="1326895"/>
            <a:ext cx="320548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3EEE3"/>
                </a:solidFill>
                <a:latin typeface="Calibri"/>
              </a:rPr>
              <a:t>Ngôn ngữ: TypeScript</a:t>
            </a:r>
          </a:p>
        </p:txBody>
      </p:sp>
      <p:sp>
        <p:nvSpPr>
          <p:cNvPr id="11" name="card"/>
          <p:cNvSpPr/>
          <p:nvPr/>
        </p:nvSpPr>
        <p:spPr>
          <a:xfrm>
            <a:off x="685800" y="2038095"/>
            <a:ext cx="10820400" cy="1090676"/>
          </a:xfrm>
          <a:prstGeom prst="roundRect">
            <a:avLst>
              <a:gd name="adj" fmla="val 18630"/>
            </a:avLst>
          </a:prstGeom>
          <a:solidFill>
            <a:srgbClr val="1E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ard text"/>
          <p:cNvSpPr txBox="1"/>
          <p:nvPr/>
        </p:nvSpPr>
        <p:spPr>
          <a:xfrm>
            <a:off x="965200" y="2177796"/>
            <a:ext cx="10261600" cy="8112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EEE3"/>
                </a:solidFill>
                <a:latin typeface="Calibri"/>
              </a:rPr>
              <a:t>Nguồn dữ kiện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2000" b="0" u="sng">
                <a:solidFill>
                  <a:srgbClr val="9FB2FF"/>
                </a:solidFill>
                <a:latin typeface="Calibri"/>
                <a:hlinkClick r:id="rId2"/>
              </a:rPr>
              <a:t>Yeachan-Heo/oh-my-claudecode</a:t>
            </a:r>
            <a:r>
              <a:rPr sz="2000" b="0">
                <a:solidFill>
                  <a:srgbClr val="F3EEE3"/>
                </a:solidFill>
                <a:latin typeface="Calibri"/>
              </a:rPr>
              <a:t> · Quét ngày 2026-10-17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685800" y="3255772"/>
            <a:ext cx="10820400" cy="375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9AA0B5"/>
                </a:solidFill>
                <a:latin typeface="Calibri"/>
              </a:rPr>
              <a:t>Nội dung do AI tóm tắt từ README và cấu trúc repo; hãy đọc repo gốc trước khi dùng.</a:t>
            </a:r>
          </a:p>
        </p:txBody>
      </p:sp>
      <p:sp>
        <p:nvSpPr>
          <p:cNvPr id="14" name="page"/>
          <p:cNvSpPr txBox="1"/>
          <p:nvPr/>
        </p:nvSpPr>
        <p:spPr>
          <a:xfrm>
            <a:off x="9474200" y="304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 b="1">
                <a:solidFill>
                  <a:srgbClr val="F3EEE3"/>
                </a:solidFill>
                <a:latin typeface="Calibri"/>
              </a:rPr>
              <a:t>33/33</a:t>
            </a:r>
          </a:p>
        </p:txBody>
      </p:sp>
      <p:sp>
        <p:nvSpPr>
          <p:cNvPr id="15" name="rail"/>
          <p:cNvSpPr/>
          <p:nvPr/>
        </p:nvSpPr>
        <p:spPr>
          <a:xfrm>
            <a:off x="685800" y="6451600"/>
            <a:ext cx="10820400" cy="38100"/>
          </a:xfrm>
          <a:prstGeom prst="rect">
            <a:avLst/>
          </a:prstGeom>
          <a:solidFill>
            <a:srgbClr val="9AA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progress"/>
          <p:cNvSpPr/>
          <p:nvPr/>
        </p:nvSpPr>
        <p:spPr>
          <a:xfrm>
            <a:off x="685800" y="6426200"/>
            <a:ext cx="10820400" cy="88900"/>
          </a:xfrm>
          <a:prstGeom prst="rect">
            <a:avLst/>
          </a:prstGeom>
          <a:solidFill>
            <a:srgbClr val="FF6A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ooter"/>
          <p:cNvSpPr txBox="1"/>
          <p:nvPr/>
        </p:nvSpPr>
        <p:spPr>
          <a:xfrm>
            <a:off x="685800" y="6578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AA0B5"/>
                </a:solidFill>
                <a:latin typeface="Calibri"/>
              </a:rPr>
              <a:t>Radar GitHub · oh-my-claudecode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oh-my-claudecode: cả đội agent chạy ngay trong Claude Code</dc:title>
  <dc:subject>Yeachan-Heo/oh-my-claudecode</dc:subject>
  <dc:creator>GitHub Radar</dc:creator>
  <cp:keywords/>
  <dc:description/>
  <cp:lastModifiedBy>GitHub Radar</cp:lastModifiedBy>
  <cp:revision>1</cp:revision>
  <dcterms:created xsi:type="dcterms:W3CDTF">2026-10-17T00:00:00Z</dcterms:created>
  <dcterms:modified xsi:type="dcterms:W3CDTF">2026-10-17T00:00:00Z</dcterms:modified>
  <cp:category/>
  <cp:lastPrinted>2026-10-17T00:00:00Z</cp:lastPrinted>
  <dc:language>vi</dc:language>
</cp:coreProperties>
</file>