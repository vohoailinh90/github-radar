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anthropic.com/claude-cod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mux/tmux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mux/tmux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Yeachan-Heo/oh-my-claudeco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cket"/>
          <p:cNvSpPr/>
          <p:nvPr/>
        </p:nvSpPr>
        <p:spPr>
          <a:xfrm>
            <a:off x="685800" y="711200"/>
            <a:ext cx="853440" cy="508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ucket text"/>
          <p:cNvSpPr txBox="1"/>
          <p:nvPr/>
        </p:nvSpPr>
        <p:spPr>
          <a:xfrm>
            <a:off x="685800" y="711200"/>
            <a:ext cx="85344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2141B"/>
                </a:solidFill>
                <a:latin typeface="Calibri"/>
              </a:rPr>
              <a:t>AI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1473200"/>
            <a:ext cx="10820400" cy="1463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3EEE3"/>
                </a:solidFill>
                <a:latin typeface="Cambria"/>
              </a:rPr>
              <a:t>oh-my-claudecode: cả đội agent chạy ngay trong Claude Code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85800" y="3164840"/>
            <a:ext cx="10820400" cy="780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9AA0B5"/>
                </a:solidFill>
                <a:latin typeface="Calibri"/>
              </a:rPr>
              <a:t>Một lệnh /team để Claude Code chia việc, kiểm tra và sửa lỗi theo vòng, thay vì một agent làm hết.</a:t>
            </a:r>
          </a:p>
        </p:txBody>
      </p:sp>
      <p:sp>
        <p:nvSpPr>
          <p:cNvPr id="6" name="hook"/>
          <p:cNvSpPr txBox="1"/>
          <p:nvPr/>
        </p:nvSpPr>
        <p:spPr>
          <a:xfrm>
            <a:off x="685800" y="4097528"/>
            <a:ext cx="10820400" cy="715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EEE3"/>
                </a:solidFill>
                <a:latin typeface="Calibri"/>
              </a:rPr>
              <a:t>Plugin cho Claude Code: lệnh /team chạy chuỗi lập kế hoạch, thực thi, kiểm tra, sửa lỗi; lệnh omc team mở thêm worker Codex, Gemini, Cursor trong tmux.</a:t>
            </a:r>
          </a:p>
        </p:txBody>
      </p:sp>
      <p:sp>
        <p:nvSpPr>
          <p:cNvPr id="7" name="chip"/>
          <p:cNvSpPr/>
          <p:nvPr/>
        </p:nvSpPr>
        <p:spPr>
          <a:xfrm>
            <a:off x="685800" y="5181600"/>
            <a:ext cx="1818639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ip text"/>
          <p:cNvSpPr txBox="1"/>
          <p:nvPr/>
        </p:nvSpPr>
        <p:spPr>
          <a:xfrm>
            <a:off x="685800" y="5181600"/>
            <a:ext cx="1818639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39.976 sao</a:t>
            </a:r>
          </a:p>
        </p:txBody>
      </p:sp>
      <p:sp>
        <p:nvSpPr>
          <p:cNvPr id="9" name="chip"/>
          <p:cNvSpPr/>
          <p:nvPr/>
        </p:nvSpPr>
        <p:spPr>
          <a:xfrm>
            <a:off x="2656840" y="5181600"/>
            <a:ext cx="181356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hip text"/>
          <p:cNvSpPr txBox="1"/>
          <p:nvPr/>
        </p:nvSpPr>
        <p:spPr>
          <a:xfrm>
            <a:off x="2656840" y="5181600"/>
            <a:ext cx="181356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3.586 fork</a:t>
            </a:r>
          </a:p>
        </p:txBody>
      </p:sp>
      <p:sp>
        <p:nvSpPr>
          <p:cNvPr id="11" name="chip"/>
          <p:cNvSpPr/>
          <p:nvPr/>
        </p:nvSpPr>
        <p:spPr>
          <a:xfrm>
            <a:off x="4622800" y="5181600"/>
            <a:ext cx="234696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hip text"/>
          <p:cNvSpPr txBox="1"/>
          <p:nvPr/>
        </p:nvSpPr>
        <p:spPr>
          <a:xfrm>
            <a:off x="4622800" y="5181600"/>
            <a:ext cx="234696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Giấy phép: MIT</a:t>
            </a:r>
          </a:p>
        </p:txBody>
      </p:sp>
      <p:sp>
        <p:nvSpPr>
          <p:cNvPr id="13" name="chip"/>
          <p:cNvSpPr/>
          <p:nvPr/>
        </p:nvSpPr>
        <p:spPr>
          <a:xfrm>
            <a:off x="7122159" y="5181600"/>
            <a:ext cx="320548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hip text"/>
          <p:cNvSpPr txBox="1"/>
          <p:nvPr/>
        </p:nvSpPr>
        <p:spPr>
          <a:xfrm>
            <a:off x="7122159" y="5181600"/>
            <a:ext cx="320548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Ngôn ngữ: TypeScript</a:t>
            </a:r>
          </a:p>
        </p:txBody>
      </p:sp>
      <p:sp>
        <p:nvSpPr>
          <p:cNvPr id="1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EE3"/>
                </a:solidFill>
                <a:latin typeface="Calibri"/>
              </a:rPr>
              <a:t>1/34</a:t>
            </a:r>
          </a:p>
        </p:txBody>
      </p:sp>
      <p:sp>
        <p:nvSpPr>
          <p:cNvPr id="1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9AA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gress"/>
          <p:cNvSpPr/>
          <p:nvPr/>
        </p:nvSpPr>
        <p:spPr>
          <a:xfrm>
            <a:off x="685800" y="6426200"/>
            <a:ext cx="318247" cy="88900"/>
          </a:xfrm>
          <a:prstGeom prst="rect">
            <a:avLst/>
          </a:prstGeom>
          <a:solidFill>
            <a:srgbClr val="FF6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B5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Bạn sẽ làm ra được gì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2360168"/>
          </a:xfrm>
          <a:prstGeom prst="roundRect">
            <a:avLst>
              <a:gd name="adj" fmla="val 8609"/>
            </a:avLst>
          </a:prstGeom>
          <a:solidFill>
            <a:srgbClr val="D5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text"/>
          <p:cNvSpPr txBox="1"/>
          <p:nvPr/>
        </p:nvSpPr>
        <p:spPr>
          <a:xfrm>
            <a:off x="965200" y="1466595"/>
            <a:ext cx="10261600" cy="2080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4161C"/>
                </a:solidFill>
                <a:latin typeface="Calibri"/>
              </a:rPr>
              <a:t>OMC cài trong Claude Code, đội native được bật, và bạn chạy được </a:t>
            </a:r>
            <a:r>
              <a:rPr sz="3000" b="0">
                <a:solidFill>
                  <a:srgbClr val="B02D16"/>
                </a:solidFill>
                <a:latin typeface="Consolas"/>
              </a:rPr>
              <a:t>/team 3:executor "fix all TypeScript errors"</a:t>
            </a:r>
            <a:r>
              <a:rPr sz="3200" b="0">
                <a:solidFill>
                  <a:srgbClr val="14161C"/>
                </a:solidFill>
                <a:latin typeface="Calibri"/>
              </a:rPr>
              <a:t> để cả đội xử lý một việc theo chuỗi giai đoạn.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2/34</a:t>
            </a:r>
          </a:p>
        </p:txBody>
      </p:sp>
      <p:sp>
        <p:nvSpPr>
          <p:cNvPr id="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685800" y="6426200"/>
            <a:ext cx="636494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Vấn đề nó giải quyết</a:t>
            </a:r>
          </a:p>
        </p:txBody>
      </p:sp>
      <p:sp>
        <p:nvSpPr>
          <p:cNvPr id="3" name="card text"/>
          <p:cNvSpPr txBox="1"/>
          <p:nvPr/>
        </p:nvSpPr>
        <p:spPr>
          <a:xfrm>
            <a:off x="685800" y="1326895"/>
            <a:ext cx="10820400" cy="169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4161C"/>
                </a:solidFill>
                <a:latin typeface="Calibri"/>
              </a:rPr>
              <a:t>Một agent AI làm từ kế hoạch đến kiểm tra thì bạn phải tự chia việc và canh từng bước. oh-my-claudecode (OMC) đặt thêm một lớp điều phối lên Claude Code: Team chạy các agent theo chuỗi giai đoạn có vòng sửa lỗi, còn omc team mở worker CLI thật trong tmux khi bạn muốn nhờ Codex hay Gemini.</a:t>
            </a:r>
          </a:p>
        </p:txBody>
      </p:sp>
      <p:sp>
        <p:nvSpPr>
          <p:cNvPr id="4" name="card"/>
          <p:cNvSpPr/>
          <p:nvPr/>
        </p:nvSpPr>
        <p:spPr>
          <a:xfrm>
            <a:off x="685800" y="3144520"/>
            <a:ext cx="10820400" cy="1545844"/>
          </a:xfrm>
          <a:prstGeom prst="roundRect">
            <a:avLst>
              <a:gd name="adj" fmla="val 13144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ar"/>
          <p:cNvSpPr/>
          <p:nvPr/>
        </p:nvSpPr>
        <p:spPr>
          <a:xfrm>
            <a:off x="889000" y="3284220"/>
            <a:ext cx="76200" cy="1266444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text"/>
          <p:cNvSpPr txBox="1"/>
          <p:nvPr/>
        </p:nvSpPr>
        <p:spPr>
          <a:xfrm>
            <a:off x="1143000" y="3284220"/>
            <a:ext cx="10083800" cy="1266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61C"/>
                </a:solidFill>
                <a:latin typeface="Calibri"/>
              </a:rPr>
              <a:t>Hình dung đời thường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400" b="0">
                <a:solidFill>
                  <a:srgbClr val="14161C"/>
                </a:solidFill>
                <a:latin typeface="Calibri"/>
              </a:rPr>
              <a:t>Giống một tổ trưởng công trình: bạn nói cần sửa gì, tổ trưởng chia cho từng thợ, có người nghiệm thu, chỗ nào chưa đạt thì quay lại làm tiếp.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3/34</a:t>
            </a:r>
          </a:p>
        </p:txBody>
      </p:sp>
      <p:sp>
        <p:nvSpPr>
          <p:cNvPr id="8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gress"/>
          <p:cNvSpPr/>
          <p:nvPr/>
        </p:nvSpPr>
        <p:spPr>
          <a:xfrm>
            <a:off x="685800" y="6426200"/>
            <a:ext cx="954741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Ai nên xem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1"/>
          <p:cNvSpPr/>
          <p:nvPr/>
        </p:nvSpPr>
        <p:spPr>
          <a:xfrm>
            <a:off x="965200" y="1570227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Người dùng Claude Code muốn chia một việc lớn cho nhiều agent mà vẫn có bước kiểm tra riêng.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448560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2"/>
          <p:cNvSpPr/>
          <p:nvPr/>
        </p:nvSpPr>
        <p:spPr>
          <a:xfrm>
            <a:off x="965200" y="2691891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2588260"/>
            <a:ext cx="95250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Người đã có thuê bao Codex, Gemini hoặc Cursor và muốn gọi chúng làm worker cho cùng một việc.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3570224"/>
            <a:ext cx="10820400" cy="660400"/>
          </a:xfrm>
          <a:prstGeom prst="roundRect">
            <a:avLst>
              <a:gd name="adj" fmla="val 3076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ker 3"/>
          <p:cNvSpPr/>
          <p:nvPr/>
        </p:nvSpPr>
        <p:spPr>
          <a:xfrm>
            <a:off x="965200" y="3646424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701800" y="3709924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Người cần làm rõ yêu cầu mơ hồ trước khi viết mã (lệnh /deep-interview).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4/34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1272988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Lưu ý trước khi dùng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ar"/>
          <p:cNvSpPr/>
          <p:nvPr/>
        </p:nvSpPr>
        <p:spPr>
          <a:xfrm>
            <a:off x="889000" y="1466595"/>
            <a:ext cx="76200" cy="715263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text"/>
          <p:cNvSpPr txBox="1"/>
          <p:nvPr/>
        </p:nvSpPr>
        <p:spPr>
          <a:xfrm>
            <a:off x="1143000" y="1466595"/>
            <a:ext cx="100838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Cần Claude Code CLI và gói Max/Pro hoặc khóa API Anthropic. Với omc team, mỗi CLI (codex, gemini, agy, grok, cursor-agent) tự cài và đăng nhập riêng.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448560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r"/>
          <p:cNvSpPr/>
          <p:nvPr/>
        </p:nvSpPr>
        <p:spPr>
          <a:xfrm>
            <a:off x="889000" y="2588260"/>
            <a:ext cx="76200" cy="715263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text"/>
          <p:cNvSpPr txBox="1"/>
          <p:nvPr/>
        </p:nvSpPr>
        <p:spPr>
          <a:xfrm>
            <a:off x="1143000" y="2588260"/>
            <a:ext cx="100838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Đội native cần đặt </a:t>
            </a:r>
            <a:r>
              <a:rPr sz="2000" b="0">
                <a:solidFill>
                  <a:srgbClr val="B02D16"/>
                </a:solidFill>
                <a:latin typeface="Consolas"/>
              </a:rPr>
              <a:t>CLAUDE_CODE_EXPERIMENTAL_AGENT_TEAMS</a:t>
            </a:r>
            <a:r>
              <a:rPr sz="2200" b="0">
                <a:solidFill>
                  <a:srgbClr val="14161C"/>
                </a:solidFill>
                <a:latin typeface="Calibri"/>
              </a:rPr>
              <a:t>; nếu tắt, OMC cảnh báo và lùi về chạy không theo đội khi có thể.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3570224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ar"/>
          <p:cNvSpPr/>
          <p:nvPr/>
        </p:nvSpPr>
        <p:spPr>
          <a:xfrm>
            <a:off x="889000" y="3709924"/>
            <a:ext cx="76200" cy="715263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text"/>
          <p:cNvSpPr txBox="1"/>
          <p:nvPr/>
        </p:nvSpPr>
        <p:spPr>
          <a:xfrm>
            <a:off x="1143000" y="3709924"/>
            <a:ext cx="100838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Lệnh slash như /team, /autopilot cần phiên Claude Code đang chạy nên không dùng trong CI; omc team cần tmux.</a:t>
            </a:r>
          </a:p>
        </p:txBody>
      </p:sp>
      <p:sp>
        <p:nvSpPr>
          <p:cNvPr id="12" name="card"/>
          <p:cNvSpPr/>
          <p:nvPr/>
        </p:nvSpPr>
        <p:spPr>
          <a:xfrm>
            <a:off x="685800" y="4691888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r"/>
          <p:cNvSpPr/>
          <p:nvPr/>
        </p:nvSpPr>
        <p:spPr>
          <a:xfrm>
            <a:off x="889000" y="4831588"/>
            <a:ext cx="76200" cy="715263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ard text"/>
          <p:cNvSpPr txBox="1"/>
          <p:nvPr/>
        </p:nvSpPr>
        <p:spPr>
          <a:xfrm>
            <a:off x="1143000" y="4831588"/>
            <a:ext cx="100838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Jev (lớp phán đoán tùy chọn, bật bằng biến môi trường) cần khóa riêng. README cũng gợi ý gajae-code cho ai thấy OMC hơi quá tay.</a:t>
            </a:r>
          </a:p>
        </p:txBody>
      </p:sp>
      <p:sp>
        <p:nvSpPr>
          <p:cNvPr id="1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5/34</a:t>
            </a:r>
          </a:p>
        </p:txBody>
      </p:sp>
      <p:sp>
        <p:nvSpPr>
          <p:cNvPr id="1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gress"/>
          <p:cNvSpPr/>
          <p:nvPr/>
        </p:nvSpPr>
        <p:spPr>
          <a:xfrm>
            <a:off x="685800" y="6426200"/>
            <a:ext cx="1591235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Chuẩn bị trước khi bắt đầu (1/2)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85800" y="1326895"/>
            <a:ext cx="10820400" cy="37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B6A66"/>
                </a:solidFill>
                <a:latin typeface="Calibri"/>
              </a:rPr>
              <a:t>Đánh dấu từng mục khi đã có đủ.</a:t>
            </a:r>
          </a:p>
        </p:txBody>
      </p:sp>
      <p:sp>
        <p:nvSpPr>
          <p:cNvPr id="4" name="card"/>
          <p:cNvSpPr/>
          <p:nvPr/>
        </p:nvSpPr>
        <p:spPr>
          <a:xfrm>
            <a:off x="685800" y="1829815"/>
            <a:ext cx="10820400" cy="1446784"/>
          </a:xfrm>
          <a:prstGeom prst="roundRect">
            <a:avLst>
              <a:gd name="adj" fmla="val 14044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ick box"/>
          <p:cNvSpPr/>
          <p:nvPr/>
        </p:nvSpPr>
        <p:spPr>
          <a:xfrm>
            <a:off x="1016000" y="2350008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text"/>
          <p:cNvSpPr txBox="1"/>
          <p:nvPr/>
        </p:nvSpPr>
        <p:spPr>
          <a:xfrm>
            <a:off x="1701800" y="1969515"/>
            <a:ext cx="9525000" cy="1167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Claude Code CLI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OMC chạy bên trong phiên Claude Code; README đặt nó làm điều kiện đầu tiên.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800" b="0">
                <a:solidFill>
                  <a:srgbClr val="14161C"/>
                </a:solidFill>
                <a:latin typeface="Calibri"/>
              </a:rPr>
              <a:t>Liên kết trong README: </a:t>
            </a:r>
            <a:r>
              <a:rPr sz="1800" b="0" u="sng">
                <a:solidFill>
                  <a:srgbClr val="1F3FD1"/>
                </a:solidFill>
                <a:latin typeface="Calibri"/>
                <a:hlinkClick r:id="rId2"/>
              </a:rPr>
              <a:t>Claude Code</a:t>
            </a:r>
          </a:p>
        </p:txBody>
      </p:sp>
      <p:sp>
        <p:nvSpPr>
          <p:cNvPr id="7" name="card"/>
          <p:cNvSpPr/>
          <p:nvPr/>
        </p:nvSpPr>
        <p:spPr>
          <a:xfrm>
            <a:off x="685800" y="3403600"/>
            <a:ext cx="10820400" cy="1090676"/>
          </a:xfrm>
          <a:prstGeom prst="roundRect">
            <a:avLst>
              <a:gd name="adj" fmla="val 186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ick box"/>
          <p:cNvSpPr/>
          <p:nvPr/>
        </p:nvSpPr>
        <p:spPr>
          <a:xfrm>
            <a:off x="1016000" y="3745738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ard text"/>
          <p:cNvSpPr txBox="1"/>
          <p:nvPr/>
        </p:nvSpPr>
        <p:spPr>
          <a:xfrm>
            <a:off x="1701800" y="3543300"/>
            <a:ext cx="9525000" cy="8112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Gói Claude Max/Pro hoặc khóa API Anthropic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README ghi cần một trong hai để dùng Claude Code.</a:t>
            </a:r>
          </a:p>
        </p:txBody>
      </p:sp>
      <p:sp>
        <p:nvSpPr>
          <p:cNvPr id="10" name="card"/>
          <p:cNvSpPr/>
          <p:nvPr/>
        </p:nvSpPr>
        <p:spPr>
          <a:xfrm>
            <a:off x="685800" y="4621276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ck box"/>
          <p:cNvSpPr/>
          <p:nvPr/>
        </p:nvSpPr>
        <p:spPr>
          <a:xfrm>
            <a:off x="1016000" y="5142230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ard text"/>
          <p:cNvSpPr txBox="1"/>
          <p:nvPr/>
        </p:nvSpPr>
        <p:spPr>
          <a:xfrm>
            <a:off x="1701800" y="4760976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npm (chỉ khi cài lệnh omc)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README cài lệnh omc ở terminal bằng gói npm; các lệnh slash trong Claude Code không cần bước này.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6/34</a:t>
            </a:r>
          </a:p>
        </p:txBody>
      </p:sp>
      <p:sp>
        <p:nvSpPr>
          <p:cNvPr id="14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gress"/>
          <p:cNvSpPr/>
          <p:nvPr/>
        </p:nvSpPr>
        <p:spPr>
          <a:xfrm>
            <a:off x="685800" y="6426200"/>
            <a:ext cx="1909482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Chuẩn bị trước khi bắt đầu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6784"/>
          </a:xfrm>
          <a:prstGeom prst="roundRect">
            <a:avLst>
              <a:gd name="adj" fmla="val 14044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ck box"/>
          <p:cNvSpPr/>
          <p:nvPr/>
        </p:nvSpPr>
        <p:spPr>
          <a:xfrm>
            <a:off x="1016000" y="1847088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1167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tmux (chỉ cho omc team)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Windows: psmux, bản tmux chạy thẳng; WSL2: tmux cài bên trong WSL.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800" b="0">
                <a:solidFill>
                  <a:srgbClr val="14161C"/>
                </a:solidFill>
                <a:latin typeface="Calibri"/>
              </a:rPr>
              <a:t>Liên kết trong README: </a:t>
            </a:r>
            <a:r>
              <a:rPr sz="1800" b="0" u="sng">
                <a:solidFill>
                  <a:srgbClr val="1F3FD1"/>
                </a:solidFill>
                <a:latin typeface="Calibri"/>
                <a:hlinkClick r:id="rId2"/>
              </a:rPr>
              <a:t>tmux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0679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ick box"/>
          <p:cNvSpPr/>
          <p:nvPr/>
        </p:nvSpPr>
        <p:spPr>
          <a:xfrm>
            <a:off x="1016000" y="3421633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text"/>
          <p:cNvSpPr txBox="1"/>
          <p:nvPr/>
        </p:nvSpPr>
        <p:spPr>
          <a:xfrm>
            <a:off x="1701800" y="3040379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CLI của agent khác (tùy chọn)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codex, gemini, agy, grok, cursor-agent: mỗi cái cài và đăng nhập riêng. OMC chạy đủ khi không có chúng.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4475987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ck box"/>
          <p:cNvSpPr/>
          <p:nvPr/>
        </p:nvSpPr>
        <p:spPr>
          <a:xfrm>
            <a:off x="1016000" y="4996941"/>
            <a:ext cx="406400" cy="406400"/>
          </a:xfrm>
          <a:prstGeom prst="roundRect">
            <a:avLst>
              <a:gd name="adj" fmla="val 25000"/>
            </a:avLst>
          </a:prstGeom>
          <a:noFill/>
          <a:ln w="381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text"/>
          <p:cNvSpPr txBox="1"/>
          <p:nvPr/>
        </p:nvSpPr>
        <p:spPr>
          <a:xfrm>
            <a:off x="1701800" y="4615687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Chi phí nếu dùng đủ ba hãng (tùy chọn)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README ước tính ba gói Pro (Claude, Antigravity/Gemini, ChatGPT) khoảng 60 USD mỗi tháng; các hãng ngoài Claude không bắt buộc.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7/34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2227729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Lộ trình</a:t>
            </a:r>
          </a:p>
        </p:txBody>
      </p:sp>
      <p:sp>
        <p:nvSpPr>
          <p:cNvPr id="3" name="marker 1"/>
          <p:cNvSpPr/>
          <p:nvPr/>
        </p:nvSpPr>
        <p:spPr>
          <a:xfrm>
            <a:off x="685800" y="1577339"/>
            <a:ext cx="457200" cy="4572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step"/>
          <p:cNvSpPr txBox="1"/>
          <p:nvPr/>
        </p:nvSpPr>
        <p:spPr>
          <a:xfrm>
            <a:off x="1346200" y="1415795"/>
            <a:ext cx="44958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Thêm marketplace của plugin vào Claude Code</a:t>
            </a:r>
          </a:p>
        </p:txBody>
      </p:sp>
      <p:sp>
        <p:nvSpPr>
          <p:cNvPr id="5" name="marker 2"/>
          <p:cNvSpPr/>
          <p:nvPr/>
        </p:nvSpPr>
        <p:spPr>
          <a:xfrm>
            <a:off x="685800" y="2348484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step"/>
          <p:cNvSpPr txBox="1"/>
          <p:nvPr/>
        </p:nvSpPr>
        <p:spPr>
          <a:xfrm>
            <a:off x="1346200" y="2373884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Cài plugin</a:t>
            </a:r>
          </a:p>
        </p:txBody>
      </p:sp>
      <p:sp>
        <p:nvSpPr>
          <p:cNvPr id="7" name="marker 3"/>
          <p:cNvSpPr/>
          <p:nvPr/>
        </p:nvSpPr>
        <p:spPr>
          <a:xfrm>
            <a:off x="685800" y="2932684"/>
            <a:ext cx="457200" cy="4572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step"/>
          <p:cNvSpPr txBox="1"/>
          <p:nvPr/>
        </p:nvSpPr>
        <p:spPr>
          <a:xfrm>
            <a:off x="1346200" y="2958084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Chạy thiết lập ban đầu</a:t>
            </a:r>
          </a:p>
        </p:txBody>
      </p:sp>
      <p:sp>
        <p:nvSpPr>
          <p:cNvPr id="9" name="marker 4"/>
          <p:cNvSpPr/>
          <p:nvPr/>
        </p:nvSpPr>
        <p:spPr>
          <a:xfrm>
            <a:off x="685800" y="370382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1346200" y="3542283"/>
            <a:ext cx="44958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Bật đội agent native của Claude Code</a:t>
            </a:r>
          </a:p>
        </p:txBody>
      </p:sp>
      <p:sp>
        <p:nvSpPr>
          <p:cNvPr id="11" name="marker 5"/>
          <p:cNvSpPr/>
          <p:nvPr/>
        </p:nvSpPr>
        <p:spPr>
          <a:xfrm>
            <a:off x="685800" y="4661915"/>
            <a:ext cx="457200" cy="4572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step"/>
          <p:cNvSpPr txBox="1"/>
          <p:nvPr/>
        </p:nvSpPr>
        <p:spPr>
          <a:xfrm>
            <a:off x="1346200" y="4500371"/>
            <a:ext cx="44958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Giao một việc cho cả đội bằng /team</a:t>
            </a:r>
          </a:p>
        </p:txBody>
      </p:sp>
      <p:sp>
        <p:nvSpPr>
          <p:cNvPr id="13" name="marker 6"/>
          <p:cNvSpPr/>
          <p:nvPr/>
        </p:nvSpPr>
        <p:spPr>
          <a:xfrm>
            <a:off x="6299200" y="1577339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step"/>
          <p:cNvSpPr txBox="1"/>
          <p:nvPr/>
        </p:nvSpPr>
        <p:spPr>
          <a:xfrm>
            <a:off x="6959600" y="1415795"/>
            <a:ext cx="44958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Dùng autopilot khi chỉ cần một agent chính</a:t>
            </a:r>
          </a:p>
        </p:txBody>
      </p:sp>
      <p:sp>
        <p:nvSpPr>
          <p:cNvPr id="15" name="marker 7"/>
          <p:cNvSpPr/>
          <p:nvPr/>
        </p:nvSpPr>
        <p:spPr>
          <a:xfrm>
            <a:off x="6299200" y="2535428"/>
            <a:ext cx="457200" cy="4572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6959600" y="2373884"/>
            <a:ext cx="44958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Cài lệnh omc ở terminal (cho omc team)</a:t>
            </a:r>
          </a:p>
        </p:txBody>
      </p:sp>
      <p:sp>
        <p:nvSpPr>
          <p:cNvPr id="17" name="marker 8"/>
          <p:cNvSpPr/>
          <p:nvPr/>
        </p:nvSpPr>
        <p:spPr>
          <a:xfrm>
            <a:off x="6299200" y="330657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step"/>
          <p:cNvSpPr txBox="1"/>
          <p:nvPr/>
        </p:nvSpPr>
        <p:spPr>
          <a:xfrm>
            <a:off x="6959600" y="3331972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Cài tmux</a:t>
            </a:r>
          </a:p>
        </p:txBody>
      </p:sp>
      <p:sp>
        <p:nvSpPr>
          <p:cNvPr id="19" name="marker 9"/>
          <p:cNvSpPr/>
          <p:nvPr/>
        </p:nvSpPr>
        <p:spPr>
          <a:xfrm>
            <a:off x="6299200" y="3890772"/>
            <a:ext cx="457200" cy="4572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0" name="step"/>
          <p:cNvSpPr txBox="1"/>
          <p:nvPr/>
        </p:nvSpPr>
        <p:spPr>
          <a:xfrm>
            <a:off x="6959600" y="3916172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Mở worker CLI bằng omc team</a:t>
            </a:r>
          </a:p>
        </p:txBody>
      </p:sp>
      <p:sp>
        <p:nvSpPr>
          <p:cNvPr id="21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8/34</a:t>
            </a:r>
          </a:p>
        </p:txBody>
      </p:sp>
      <p:sp>
        <p:nvSpPr>
          <p:cNvPr id="22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rogress"/>
          <p:cNvSpPr/>
          <p:nvPr/>
        </p:nvSpPr>
        <p:spPr>
          <a:xfrm>
            <a:off x="685800" y="6426200"/>
            <a:ext cx="2545976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Thêm marketplace của plugin vào Claude Code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4084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Cho Claude Code biết nơi lấy plugin oh-my-claudecode.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1862327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1943100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002027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Mở một phiên Claude Code và gõ lệnh dưới đây.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2658872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2739643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2798572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README dặn nhập từng lệnh một; dán cả hai lệnh cùng lúc sẽ lỗi.</a:t>
            </a:r>
          </a:p>
        </p:txBody>
      </p:sp>
      <p:sp>
        <p:nvSpPr>
          <p:cNvPr id="11" name="code label"/>
          <p:cNvSpPr txBox="1"/>
          <p:nvPr/>
        </p:nvSpPr>
        <p:spPr>
          <a:xfrm>
            <a:off x="685800" y="3455416"/>
            <a:ext cx="10820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6A66"/>
                </a:solidFill>
                <a:latin typeface="Calibri"/>
              </a:rPr>
              <a:t>Gõ hoặc dán từng dòng, theo thứ tự.</a:t>
            </a:r>
          </a:p>
        </p:txBody>
      </p:sp>
      <p:sp>
        <p:nvSpPr>
          <p:cNvPr id="12" name="code block"/>
          <p:cNvSpPr/>
          <p:nvPr/>
        </p:nvSpPr>
        <p:spPr>
          <a:xfrm>
            <a:off x="685800" y="3785616"/>
            <a:ext cx="10820400" cy="671068"/>
          </a:xfrm>
          <a:prstGeom prst="roundRect">
            <a:avLst>
              <a:gd name="adj" fmla="val 26495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de"/>
          <p:cNvSpPr txBox="1"/>
          <p:nvPr/>
        </p:nvSpPr>
        <p:spPr>
          <a:xfrm>
            <a:off x="965200" y="3963416"/>
            <a:ext cx="10261600" cy="3154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EE3"/>
                </a:solidFill>
                <a:latin typeface="Consolas"/>
              </a:rPr>
              <a:t>/plugin marketplace add https://github.com/Yeachan-Heo/oh-my-claudecode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9/34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2864223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Cài plugin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4084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Đưa các skill của OMC (/team, /autopilot, /ralph) vào Claude Code.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1862327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1943100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002027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Gõ lệnh dưới đây trong cùng phiên, sau khi lệnh trước chạy xong.</a:t>
            </a:r>
          </a:p>
        </p:txBody>
      </p:sp>
      <p:sp>
        <p:nvSpPr>
          <p:cNvPr id="8" name="code block"/>
          <p:cNvSpPr/>
          <p:nvPr/>
        </p:nvSpPr>
        <p:spPr>
          <a:xfrm>
            <a:off x="685800" y="2658872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de"/>
          <p:cNvSpPr txBox="1"/>
          <p:nvPr/>
        </p:nvSpPr>
        <p:spPr>
          <a:xfrm>
            <a:off x="965200" y="2836672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/plugin install oh-my-claudecode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10/34</a:t>
            </a:r>
          </a:p>
        </p:txBody>
      </p:sp>
      <p:sp>
        <p:nvSpPr>
          <p:cNvPr id="11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gress"/>
          <p:cNvSpPr/>
          <p:nvPr/>
        </p:nvSpPr>
        <p:spPr>
          <a:xfrm>
            <a:off x="685800" y="6426200"/>
            <a:ext cx="3182470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Chạy thiết lập ban đầu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4084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Hoàn tất cấu hình OMC sau khi cài plugin.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1862327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1943100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002027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Gõ lệnh dưới đây trong phiên Claude Code.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2658872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2934716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2798572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Ở terminal, lệnh tương đương là </a:t>
            </a:r>
            <a:r>
              <a:rPr sz="2200" b="0">
                <a:solidFill>
                  <a:srgbClr val="B02D16"/>
                </a:solidFill>
                <a:latin typeface="Consolas"/>
              </a:rPr>
              <a:t>omc setup</a:t>
            </a:r>
            <a:r>
              <a:rPr sz="2400" b="0">
                <a:solidFill>
                  <a:srgbClr val="14161C"/>
                </a:solidFill>
                <a:latin typeface="Calibri"/>
              </a:rPr>
              <a:t> (cần cài lệnh omc ở bước 7).</a:t>
            </a:r>
          </a:p>
        </p:txBody>
      </p:sp>
      <p:sp>
        <p:nvSpPr>
          <p:cNvPr id="11" name="code block"/>
          <p:cNvSpPr/>
          <p:nvPr/>
        </p:nvSpPr>
        <p:spPr>
          <a:xfrm>
            <a:off x="685800" y="3845559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de"/>
          <p:cNvSpPr txBox="1"/>
          <p:nvPr/>
        </p:nvSpPr>
        <p:spPr>
          <a:xfrm>
            <a:off x="965200" y="4023359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/omc-setup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11/34</a:t>
            </a:r>
          </a:p>
        </p:txBody>
      </p:sp>
      <p:sp>
        <p:nvSpPr>
          <p:cNvPr id="14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gress"/>
          <p:cNvSpPr/>
          <p:nvPr/>
        </p:nvSpPr>
        <p:spPr>
          <a:xfrm>
            <a:off x="685800" y="6426200"/>
            <a:ext cx="3500717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Bật đội agent native của Claude Code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Lệnh /team dùng đội native; không bật thì OMC cảnh báo và, khi có thể, lùi về chạy không theo đội.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300731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Mở </a:t>
            </a:r>
            <a:r>
              <a:rPr sz="2200" b="0">
                <a:solidFill>
                  <a:srgbClr val="B02D16"/>
                </a:solidFill>
                <a:latin typeface="Consolas"/>
              </a:rPr>
              <a:t>~/.claude/settings.json</a:t>
            </a:r>
            <a:r>
              <a:rPr sz="24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016504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487419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156204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Trong khóa </a:t>
            </a:r>
            <a:r>
              <a:rPr sz="2200" b="0">
                <a:solidFill>
                  <a:srgbClr val="B02D16"/>
                </a:solidFill>
                <a:latin typeface="Consolas"/>
              </a:rPr>
              <a:t>env</a:t>
            </a:r>
            <a:r>
              <a:rPr sz="2400" b="0">
                <a:solidFill>
                  <a:srgbClr val="14161C"/>
                </a:solidFill>
                <a:latin typeface="Calibri"/>
              </a:rPr>
              <a:t>, thêm dòng </a:t>
            </a:r>
            <a:r>
              <a:rPr sz="2200" b="0">
                <a:solidFill>
                  <a:srgbClr val="B02D16"/>
                </a:solidFill>
                <a:latin typeface="Consolas"/>
              </a:rPr>
              <a:t>"CLAUDE_CODE_EXPERIMENTAL_AGENT_TEAMS": "1"</a:t>
            </a:r>
            <a:r>
              <a:rPr sz="2400" b="0">
                <a:solidFill>
                  <a:srgbClr val="14161C"/>
                </a:solidFill>
                <a:latin typeface="Calibri"/>
              </a:rPr>
              <a:t>. Giá trị 1 là giá trị thật, giữ nguyên.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4593335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marker 3"/>
          <p:cNvSpPr/>
          <p:nvPr/>
        </p:nvSpPr>
        <p:spPr>
          <a:xfrm>
            <a:off x="965200" y="4869180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1701800" y="4733035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Nếu file đã có khóa env, thêm dòng đó vào khóa sẵn có thay vì thay cả file.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12/34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3818964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5 (1/2)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Giao một việc cho cả đội bằng /team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Team là cách điều phối README đề nghị: các agent Claude phối hợp trên một danh sách việc chung.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495804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Mở một dự án có lỗi TypeScript và gõ lệnh dưới đây trong phiên Claude Code.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406648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682492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546348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Số đứng trước dấu hai chấm có dạng N:loại-agent; README dùng 3:executor cho /team và 2:codex cho omc team.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4593336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marker 3"/>
          <p:cNvSpPr/>
          <p:nvPr/>
        </p:nvSpPr>
        <p:spPr>
          <a:xfrm>
            <a:off x="965200" y="5064252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1701800" y="4733036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Đội đi theo chuỗi </a:t>
            </a:r>
            <a:r>
              <a:rPr sz="2200" b="0">
                <a:solidFill>
                  <a:srgbClr val="B02D16"/>
                </a:solidFill>
                <a:latin typeface="Consolas"/>
              </a:rPr>
              <a:t>team-plan → team-prd → team-exec → team-verify → team-fix (loop)</a:t>
            </a:r>
            <a:r>
              <a:rPr sz="24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13/34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4137211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5 (2/2)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Giao một việc cho cả đội bằng /team</a:t>
            </a:r>
          </a:p>
        </p:txBody>
      </p:sp>
      <p:sp>
        <p:nvSpPr>
          <p:cNvPr id="4" name="code block"/>
          <p:cNvSpPr/>
          <p:nvPr/>
        </p:nvSpPr>
        <p:spPr>
          <a:xfrm>
            <a:off x="685800" y="1326895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ode"/>
          <p:cNvSpPr txBox="1"/>
          <p:nvPr/>
        </p:nvSpPr>
        <p:spPr>
          <a:xfrm>
            <a:off x="965200" y="1504695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/team 3:executor "fix all TypeScript errors"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14/34</a:t>
            </a:r>
          </a:p>
        </p:txBody>
      </p:sp>
      <p:sp>
        <p:nvSpPr>
          <p:cNvPr id="7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gress"/>
          <p:cNvSpPr/>
          <p:nvPr/>
        </p:nvSpPr>
        <p:spPr>
          <a:xfrm>
            <a:off x="685800" y="6426200"/>
            <a:ext cx="4455458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Dùng autopilot khi chỉ cần một agent chính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README mô tả autopilot là thực thi tự động bằng một agent chính, hợp việc làm trọn một tính năng với ít thủ tục.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495804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Gõ lệnh dưới đây trong phiên Claude Code để xây một tính năng từ mô tả.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406648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877564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546348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README dặn mỗi phiên chỉ dùng một cơ chế cầm vòng lặp chính (/goal, Execute, Team hoặc Verify). Autopilot cũng có thể được cấu hình để chạy giai đoạn thực thi qua team.</a:t>
            </a:r>
          </a:p>
        </p:txBody>
      </p:sp>
      <p:sp>
        <p:nvSpPr>
          <p:cNvPr id="11" name="code block"/>
          <p:cNvSpPr/>
          <p:nvPr/>
        </p:nvSpPr>
        <p:spPr>
          <a:xfrm>
            <a:off x="685800" y="4983480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de"/>
          <p:cNvSpPr txBox="1"/>
          <p:nvPr/>
        </p:nvSpPr>
        <p:spPr>
          <a:xfrm>
            <a:off x="965200" y="5161280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/autopilot "build a REST API for managing tasks"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15/34</a:t>
            </a:r>
          </a:p>
        </p:txBody>
      </p:sp>
      <p:sp>
        <p:nvSpPr>
          <p:cNvPr id="14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gress"/>
          <p:cNvSpPr/>
          <p:nvPr/>
        </p:nvSpPr>
        <p:spPr>
          <a:xfrm>
            <a:off x="685800" y="6426200"/>
            <a:ext cx="4773705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7 (1/2)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Cài lệnh omc ở terminal (cho omc team)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README đưa lệnh omc (omc team, omc ask) vào bề mặt terminal, cài bằng đường npm.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300731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Chạy lệnh dưới đây trong terminal, không phải trong phiên Claude Code.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016504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292348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156204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Tên gói npm khác tên repo; nó cài cả </a:t>
            </a:r>
            <a:r>
              <a:rPr sz="2200" b="0">
                <a:solidFill>
                  <a:srgbClr val="B02D16"/>
                </a:solidFill>
                <a:latin typeface="Consolas"/>
              </a:rPr>
              <a:t>oh-my-claudecode</a:t>
            </a:r>
            <a:r>
              <a:rPr sz="2400" b="0">
                <a:solidFill>
                  <a:srgbClr val="14161C"/>
                </a:solidFill>
                <a:latin typeface="Calibri"/>
              </a:rPr>
              <a:t> lẫn lệnh ngắn </a:t>
            </a:r>
            <a:r>
              <a:rPr sz="2200" b="0">
                <a:solidFill>
                  <a:srgbClr val="B02D16"/>
                </a:solidFill>
                <a:latin typeface="Consolas"/>
              </a:rPr>
              <a:t>omc</a:t>
            </a:r>
            <a:r>
              <a:rPr sz="24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4203192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marker 3"/>
          <p:cNvSpPr/>
          <p:nvPr/>
        </p:nvSpPr>
        <p:spPr>
          <a:xfrm>
            <a:off x="965200" y="4674108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1701800" y="4342892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README đưa đường npm như lựa chọn thay cho marketplace, nhưng bảng CLI và skill trong phiên liệt kê cả hai bề mặt; bước này chỉ thêm lệnh omc.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16/34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5091952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7 (2/2)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Cài lệnh omc ở terminal (cho omc team)</a:t>
            </a:r>
          </a:p>
        </p:txBody>
      </p:sp>
      <p:sp>
        <p:nvSpPr>
          <p:cNvPr id="4" name="code block"/>
          <p:cNvSpPr/>
          <p:nvPr/>
        </p:nvSpPr>
        <p:spPr>
          <a:xfrm>
            <a:off x="685800" y="1326895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ode"/>
          <p:cNvSpPr txBox="1"/>
          <p:nvPr/>
        </p:nvSpPr>
        <p:spPr>
          <a:xfrm>
            <a:off x="965200" y="1504695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npm i -g oh-my-claude-sisyphus@latest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17/34</a:t>
            </a:r>
          </a:p>
        </p:txBody>
      </p:sp>
      <p:sp>
        <p:nvSpPr>
          <p:cNvPr id="7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gress"/>
          <p:cNvSpPr/>
          <p:nvPr/>
        </p:nvSpPr>
        <p:spPr>
          <a:xfrm>
            <a:off x="685800" y="6426200"/>
            <a:ext cx="5410200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8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Cài tmux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Worker của omc team là các pane tmux; README yêu cầu một phiên tmux đang hoạt động.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300731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Lệnh dưới đây dành cho macOS (Homebrew).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016504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487419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156204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Ubuntu/Debian: </a:t>
            </a:r>
            <a:r>
              <a:rPr sz="2200" b="0">
                <a:solidFill>
                  <a:srgbClr val="B02D16"/>
                </a:solidFill>
                <a:latin typeface="Consolas"/>
              </a:rPr>
              <a:t>sudo apt install tmux</a:t>
            </a:r>
            <a:r>
              <a:rPr sz="2400" b="0">
                <a:solidFill>
                  <a:srgbClr val="14161C"/>
                </a:solidFill>
                <a:latin typeface="Calibri"/>
              </a:rPr>
              <a:t>. Fedora: </a:t>
            </a:r>
            <a:r>
              <a:rPr sz="2200" b="0">
                <a:solidFill>
                  <a:srgbClr val="B02D16"/>
                </a:solidFill>
                <a:latin typeface="Consolas"/>
              </a:rPr>
              <a:t>sudo dnf install tmux</a:t>
            </a:r>
            <a:r>
              <a:rPr sz="2400" b="0">
                <a:solidFill>
                  <a:srgbClr val="14161C"/>
                </a:solidFill>
                <a:latin typeface="Calibri"/>
              </a:rPr>
              <a:t>. Arch: </a:t>
            </a:r>
            <a:r>
              <a:rPr sz="2200" b="0">
                <a:solidFill>
                  <a:srgbClr val="B02D16"/>
                </a:solidFill>
                <a:latin typeface="Consolas"/>
              </a:rPr>
              <a:t>sudo pacman -S tmux</a:t>
            </a:r>
            <a:r>
              <a:rPr sz="2400" b="0">
                <a:solidFill>
                  <a:srgbClr val="14161C"/>
                </a:solidFill>
                <a:latin typeface="Calibri"/>
              </a:rPr>
              <a:t>. Windows: </a:t>
            </a:r>
            <a:r>
              <a:rPr sz="2200" b="0">
                <a:solidFill>
                  <a:srgbClr val="B02D16"/>
                </a:solidFill>
                <a:latin typeface="Consolas"/>
              </a:rPr>
              <a:t>winget install psmux</a:t>
            </a:r>
            <a:r>
              <a:rPr sz="2400" b="0">
                <a:solidFill>
                  <a:srgbClr val="14161C"/>
                </a:solidFill>
                <a:latin typeface="Calibri"/>
              </a:rPr>
              <a:t>; WSL2 dùng tmux trong WSL.</a:t>
            </a:r>
          </a:p>
        </p:txBody>
      </p:sp>
      <p:sp>
        <p:nvSpPr>
          <p:cNvPr id="11" name="code block"/>
          <p:cNvSpPr/>
          <p:nvPr/>
        </p:nvSpPr>
        <p:spPr>
          <a:xfrm>
            <a:off x="685800" y="4593335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de"/>
          <p:cNvSpPr txBox="1"/>
          <p:nvPr/>
        </p:nvSpPr>
        <p:spPr>
          <a:xfrm>
            <a:off x="965200" y="4771135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brew install tmux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85800" y="5426456"/>
            <a:ext cx="10820400" cy="4084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Liên kết trong README: </a:t>
            </a:r>
            <a:r>
              <a:rPr sz="2200" b="0" u="sng">
                <a:solidFill>
                  <a:srgbClr val="1F3FD1"/>
                </a:solidFill>
                <a:latin typeface="Calibri"/>
                <a:hlinkClick r:id="rId2"/>
              </a:rPr>
              <a:t>tmux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18/34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5728447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9 (1/2)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Mở worker CLI bằng omc team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85800" y="1326895"/>
            <a:ext cx="10820400" cy="766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61C"/>
                </a:solidFill>
                <a:latin typeface="Calibri"/>
              </a:rPr>
              <a:t>Mục đích: </a:t>
            </a:r>
            <a:r>
              <a:rPr sz="2200" b="0">
                <a:solidFill>
                  <a:srgbClr val="14161C"/>
                </a:solidFill>
                <a:latin typeface="Calibri"/>
              </a:rPr>
              <a:t>Nhờ Codex (hay Gemini, Cursor) làm một phần việc như một worker riêng; worker tự tắt khi xong.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19960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marker 1"/>
          <p:cNvSpPr/>
          <p:nvPr/>
        </p:nvSpPr>
        <p:spPr>
          <a:xfrm>
            <a:off x="965200" y="2495804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701800" y="2359660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Làm trong một phiên tmux đang hoạt động: README yêu cầu điều này nhưng không ghi cách mở phiên.</a:t>
            </a:r>
          </a:p>
        </p:txBody>
      </p:sp>
      <p:sp>
        <p:nvSpPr>
          <p:cNvPr id="8" name="card"/>
          <p:cNvSpPr/>
          <p:nvPr/>
        </p:nvSpPr>
        <p:spPr>
          <a:xfrm>
            <a:off x="685800" y="3406648"/>
            <a:ext cx="10820400" cy="669544"/>
          </a:xfrm>
          <a:prstGeom prst="roundRect">
            <a:avLst>
              <a:gd name="adj" fmla="val 3034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marker 2"/>
          <p:cNvSpPr/>
          <p:nvPr/>
        </p:nvSpPr>
        <p:spPr>
          <a:xfrm>
            <a:off x="965200" y="3487420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card text"/>
          <p:cNvSpPr txBox="1"/>
          <p:nvPr/>
        </p:nvSpPr>
        <p:spPr>
          <a:xfrm>
            <a:off x="1701800" y="3546348"/>
            <a:ext cx="9525000" cy="390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Cài và đăng nhập CLI bạn định dùng (ở đây là codex) trước.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4203192"/>
            <a:ext cx="10820400" cy="1059688"/>
          </a:xfrm>
          <a:prstGeom prst="roundRect">
            <a:avLst>
              <a:gd name="adj" fmla="val 1917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marker 3"/>
          <p:cNvSpPr/>
          <p:nvPr/>
        </p:nvSpPr>
        <p:spPr>
          <a:xfrm>
            <a:off x="965200" y="4479036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1701800" y="4342892"/>
            <a:ext cx="9525000" cy="7802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4161C"/>
                </a:solidFill>
                <a:latin typeface="Calibri"/>
              </a:rPr>
              <a:t>Chạy lệnh dưới đây (một ví dụ trong bảng của README) để mở hai worker Codex xem xét luồng xác thực.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19/34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6046694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3048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FD1"/>
                </a:solidFill>
                <a:latin typeface="Calibri"/>
              </a:rPr>
              <a:t>Bước 9 (2/2)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Mở worker CLI bằng omc team</a:t>
            </a:r>
          </a:p>
        </p:txBody>
      </p:sp>
      <p:sp>
        <p:nvSpPr>
          <p:cNvPr id="4" name="card"/>
          <p:cNvSpPr/>
          <p:nvPr/>
        </p:nvSpPr>
        <p:spPr>
          <a:xfrm>
            <a:off x="685800" y="1326895"/>
            <a:ext cx="10820400" cy="1449832"/>
          </a:xfrm>
          <a:prstGeom prst="roundRect">
            <a:avLst>
              <a:gd name="adj" fmla="val 14015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marker 4"/>
          <p:cNvSpPr/>
          <p:nvPr/>
        </p:nvSpPr>
        <p:spPr>
          <a:xfrm>
            <a:off x="965200" y="1797812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card text"/>
          <p:cNvSpPr txBox="1"/>
          <p:nvPr/>
        </p:nvSpPr>
        <p:spPr>
          <a:xfrm>
            <a:off x="1701800" y="1466595"/>
            <a:ext cx="9525000" cy="11704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2D16"/>
                </a:solidFill>
                <a:latin typeface="Consolas"/>
              </a:rPr>
              <a:t>omc team status</a:t>
            </a:r>
            <a:r>
              <a:rPr sz="2400" b="0">
                <a:solidFill>
                  <a:srgbClr val="14161C"/>
                </a:solidFill>
                <a:latin typeface="Calibri"/>
              </a:rPr>
              <a:t> và </a:t>
            </a:r>
            <a:r>
              <a:rPr sz="2200" b="0">
                <a:solidFill>
                  <a:srgbClr val="B02D16"/>
                </a:solidFill>
                <a:latin typeface="Consolas"/>
              </a:rPr>
              <a:t>omc team shutdown</a:t>
            </a:r>
            <a:r>
              <a:rPr sz="2400" b="0">
                <a:solidFill>
                  <a:srgbClr val="14161C"/>
                </a:solidFill>
                <a:latin typeface="Calibri"/>
              </a:rPr>
              <a:t> cần tên đội đã mở; README không nói cách lấy tên. Xem </a:t>
            </a:r>
            <a:r>
              <a:rPr sz="2200" b="0">
                <a:solidFill>
                  <a:srgbClr val="B02D16"/>
                </a:solidFill>
                <a:latin typeface="Consolas"/>
              </a:rPr>
              <a:t>docs/REFERENCE.md</a:t>
            </a:r>
            <a:r>
              <a:rPr sz="2400" b="0">
                <a:solidFill>
                  <a:srgbClr val="14161C"/>
                </a:solidFill>
                <a:latin typeface="Calibri"/>
              </a:rPr>
              <a:t>: việc review auth flow có tên đội review-auth-flow.</a:t>
            </a:r>
          </a:p>
        </p:txBody>
      </p:sp>
      <p:sp>
        <p:nvSpPr>
          <p:cNvPr id="7" name="code block"/>
          <p:cNvSpPr/>
          <p:nvPr/>
        </p:nvSpPr>
        <p:spPr>
          <a:xfrm>
            <a:off x="685800" y="2903728"/>
            <a:ext cx="10820400" cy="706119"/>
          </a:xfrm>
          <a:prstGeom prst="roundRect">
            <a:avLst>
              <a:gd name="adj" fmla="val 25179"/>
            </a:avLst>
          </a:prstGeom>
          <a:solidFill>
            <a:srgbClr val="141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de"/>
          <p:cNvSpPr txBox="1"/>
          <p:nvPr/>
        </p:nvSpPr>
        <p:spPr>
          <a:xfrm>
            <a:off x="965200" y="3081528"/>
            <a:ext cx="10261600" cy="3505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3EEE3"/>
                </a:solidFill>
                <a:latin typeface="Consolas"/>
              </a:rPr>
              <a:t>omc team 2:codex "review auth flow"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20/34</a:t>
            </a:r>
          </a:p>
        </p:txBody>
      </p:sp>
      <p:sp>
        <p:nvSpPr>
          <p:cNvPr id="10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gress"/>
          <p:cNvSpPr/>
          <p:nvPr/>
        </p:nvSpPr>
        <p:spPr>
          <a:xfrm>
            <a:off x="685800" y="6426200"/>
            <a:ext cx="6364941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Kiểm tra kết quả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742439"/>
          </a:xfrm>
          <a:prstGeom prst="roundRect">
            <a:avLst>
              <a:gd name="adj" fmla="val 11661"/>
            </a:avLst>
          </a:prstGeom>
          <a:solidFill>
            <a:srgbClr val="D5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text"/>
          <p:cNvSpPr txBox="1"/>
          <p:nvPr/>
        </p:nvSpPr>
        <p:spPr>
          <a:xfrm>
            <a:off x="965200" y="1466595"/>
            <a:ext cx="10261600" cy="14630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4161C"/>
                </a:solidFill>
                <a:latin typeface="Calibri"/>
              </a:rPr>
              <a:t>Trong Claude Code, /team bắt đầu chuỗi giai đoạn của Team. Ở terminal, omc team status với tên đội cho biết trạng thái; README không mô tả chi tiết đầu ra.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21/34</a:t>
            </a:r>
          </a:p>
        </p:txBody>
      </p:sp>
      <p:sp>
        <p:nvSpPr>
          <p:cNvPr id="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685800" y="6426200"/>
            <a:ext cx="6683188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Lỗi thường gặp (1/2)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ar"/>
          <p:cNvSpPr/>
          <p:nvPr/>
        </p:nvSpPr>
        <p:spPr>
          <a:xfrm>
            <a:off x="889000" y="1466595"/>
            <a:ext cx="76200" cy="1168908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text"/>
          <p:cNvSpPr txBox="1"/>
          <p:nvPr/>
        </p:nvSpPr>
        <p:spPr>
          <a:xfrm>
            <a:off x="1143000" y="1466595"/>
            <a:ext cx="100838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npm cảnh báo deprecated prebuild-install@7.1.3 khi cài CLI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README nói cảnh báo đến từ phụ thuộc </a:t>
            </a:r>
            <a:r>
              <a:rPr sz="2000" b="0">
                <a:solidFill>
                  <a:srgbClr val="B02D16"/>
                </a:solidFill>
                <a:latin typeface="Consolas"/>
              </a:rPr>
              <a:t>better-sqlite3</a:t>
            </a:r>
            <a:r>
              <a:rPr sz="2200" b="0">
                <a:solidFill>
                  <a:srgbClr val="14161C"/>
                </a:solidFill>
                <a:latin typeface="Calibri"/>
              </a:rPr>
              <a:t> và không có nghĩa là cài thất bại.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2204"/>
            <a:ext cx="10820400" cy="1090676"/>
          </a:xfrm>
          <a:prstGeom prst="roundRect">
            <a:avLst>
              <a:gd name="adj" fmla="val 18630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r"/>
          <p:cNvSpPr/>
          <p:nvPr/>
        </p:nvSpPr>
        <p:spPr>
          <a:xfrm>
            <a:off x="889000" y="3041904"/>
            <a:ext cx="76200" cy="811276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text"/>
          <p:cNvSpPr txBox="1"/>
          <p:nvPr/>
        </p:nvSpPr>
        <p:spPr>
          <a:xfrm>
            <a:off x="1143000" y="3041904"/>
            <a:ext cx="10083800" cy="8112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Dán hai lệnh /plugin cùng lúc thì lỗi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Nhập từng lệnh một và đợi lệnh trước chạy xong, như README dặn.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4119879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ar"/>
          <p:cNvSpPr/>
          <p:nvPr/>
        </p:nvSpPr>
        <p:spPr>
          <a:xfrm>
            <a:off x="889000" y="4259580"/>
            <a:ext cx="76200" cy="1168908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 text"/>
          <p:cNvSpPr txBox="1"/>
          <p:nvPr/>
        </p:nvSpPr>
        <p:spPr>
          <a:xfrm>
            <a:off x="1143000" y="4259580"/>
            <a:ext cx="100838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Chạy /team khi chưa bật đội native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OMC cảnh báo và lùi về chạy không theo đội khi có thể. Đặt </a:t>
            </a:r>
            <a:r>
              <a:rPr sz="2000" b="0">
                <a:solidFill>
                  <a:srgbClr val="B02D16"/>
                </a:solidFill>
                <a:latin typeface="Consolas"/>
              </a:rPr>
              <a:t>CLAUDE_CODE_EXPERIMENTAL_AGENT_TEAMS</a:t>
            </a:r>
            <a:r>
              <a:rPr sz="2200" b="0">
                <a:solidFill>
                  <a:srgbClr val="14161C"/>
                </a:solidFill>
                <a:latin typeface="Calibri"/>
              </a:rPr>
              <a:t> ở bước 4.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22/34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7001435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Lỗi thường gặp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ar"/>
          <p:cNvSpPr/>
          <p:nvPr/>
        </p:nvSpPr>
        <p:spPr>
          <a:xfrm>
            <a:off x="889000" y="1466595"/>
            <a:ext cx="76200" cy="1168908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d text"/>
          <p:cNvSpPr txBox="1"/>
          <p:nvPr/>
        </p:nvSpPr>
        <p:spPr>
          <a:xfrm>
            <a:off x="1143000" y="1466595"/>
            <a:ext cx="100838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Gặp lỗi sau khi cập nhật plugin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Cập nhật bằng </a:t>
            </a:r>
            <a:r>
              <a:rPr sz="2000" b="0">
                <a:solidFill>
                  <a:srgbClr val="B02D16"/>
                </a:solidFill>
                <a:latin typeface="Consolas"/>
              </a:rPr>
              <a:t>/plugin marketplace update omc</a:t>
            </a:r>
            <a:r>
              <a:rPr sz="2200" b="0">
                <a:solidFill>
                  <a:srgbClr val="14161C"/>
                </a:solidFill>
                <a:latin typeface="Calibri"/>
              </a:rPr>
              <a:t> rồi </a:t>
            </a:r>
            <a:r>
              <a:rPr sz="2000" b="0">
                <a:solidFill>
                  <a:srgbClr val="B02D16"/>
                </a:solidFill>
                <a:latin typeface="Consolas"/>
              </a:rPr>
              <a:t>/omc-setup</a:t>
            </a:r>
            <a:r>
              <a:rPr sz="2200" b="0">
                <a:solidFill>
                  <a:srgbClr val="14161C"/>
                </a:solidFill>
                <a:latin typeface="Calibri"/>
              </a:rPr>
              <a:t>; nếu vẫn lỗi, README bảo xóa cache plugin cũ bằng </a:t>
            </a:r>
            <a:r>
              <a:rPr sz="2000" b="0">
                <a:solidFill>
                  <a:srgbClr val="B02D16"/>
                </a:solidFill>
                <a:latin typeface="Consolas"/>
              </a:rPr>
              <a:t>/omc-doctor</a:t>
            </a:r>
            <a:r>
              <a:rPr sz="22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2204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F3DF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r"/>
          <p:cNvSpPr/>
          <p:nvPr/>
        </p:nvSpPr>
        <p:spPr>
          <a:xfrm>
            <a:off x="889000" y="3041904"/>
            <a:ext cx="76200" cy="1168908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text"/>
          <p:cNvSpPr txBox="1"/>
          <p:nvPr/>
        </p:nvSpPr>
        <p:spPr>
          <a:xfrm>
            <a:off x="1143000" y="3041904"/>
            <a:ext cx="100838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Chạy /team hay /autopilot trong CI không có người ngồi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README: các lệnh slash cần phiên Claude Code đang chạy; trong CI dùng lệnh terminal xác định như </a:t>
            </a:r>
            <a:r>
              <a:rPr sz="2000" b="0">
                <a:solidFill>
                  <a:srgbClr val="B02D16"/>
                </a:solidFill>
                <a:latin typeface="Consolas"/>
              </a:rPr>
              <a:t>omc setup</a:t>
            </a:r>
            <a:r>
              <a:rPr sz="22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23/34</a:t>
            </a:r>
          </a:p>
        </p:txBody>
      </p:sp>
      <p:sp>
        <p:nvSpPr>
          <p:cNvPr id="10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gress"/>
          <p:cNvSpPr/>
          <p:nvPr/>
        </p:nvSpPr>
        <p:spPr>
          <a:xfrm>
            <a:off x="685800" y="6426200"/>
            <a:ext cx="7319682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Làm tiếp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1"/>
          <p:cNvSpPr/>
          <p:nvPr/>
        </p:nvSpPr>
        <p:spPr>
          <a:xfrm>
            <a:off x="965200" y="1570227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Làm rõ yêu cầu mơ hồ trước khi chia việc: </a:t>
            </a:r>
            <a:r>
              <a:rPr sz="2000" b="0">
                <a:solidFill>
                  <a:srgbClr val="B02D16"/>
                </a:solidFill>
                <a:latin typeface="Consolas"/>
              </a:rPr>
              <a:t>/deep-interview "I want to build a task management app"</a:t>
            </a:r>
            <a:r>
              <a:rPr sz="22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448560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2"/>
          <p:cNvSpPr/>
          <p:nvPr/>
        </p:nvSpPr>
        <p:spPr>
          <a:xfrm>
            <a:off x="965200" y="2691891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2588260"/>
            <a:ext cx="95250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Hỏi một nhà cung cấp khác xem xét giúp: </a:t>
            </a:r>
            <a:r>
              <a:rPr sz="2000" b="0">
                <a:solidFill>
                  <a:srgbClr val="B02D16"/>
                </a:solidFill>
                <a:latin typeface="Consolas"/>
              </a:rPr>
              <a:t>/ask codex "Review this PR — architecture"</a:t>
            </a:r>
            <a:r>
              <a:rPr sz="2200" b="0">
                <a:solidFill>
                  <a:srgbClr val="14161C"/>
                </a:solidFill>
                <a:latin typeface="Calibri"/>
              </a:rPr>
              <a:t>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3570224"/>
            <a:ext cx="10820400" cy="994663"/>
          </a:xfrm>
          <a:prstGeom prst="roundRect">
            <a:avLst>
              <a:gd name="adj" fmla="val 20429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ker 3"/>
          <p:cNvSpPr/>
          <p:nvPr/>
        </p:nvSpPr>
        <p:spPr>
          <a:xfrm>
            <a:off x="965200" y="3813555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701800" y="3709924"/>
            <a:ext cx="9525000" cy="7152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61C"/>
                </a:solidFill>
                <a:latin typeface="Calibri"/>
              </a:rPr>
              <a:t>Chạy OMC trong worktree? Đặt </a:t>
            </a:r>
            <a:r>
              <a:rPr sz="2000" b="0">
                <a:solidFill>
                  <a:srgbClr val="B02D16"/>
                </a:solidFill>
                <a:latin typeface="Consolas"/>
              </a:rPr>
              <a:t>OMC_STATE_DIR</a:t>
            </a:r>
            <a:r>
              <a:rPr sz="2200" b="0">
                <a:solidFill>
                  <a:srgbClr val="14161C"/>
                </a:solidFill>
                <a:latin typeface="Calibri"/>
              </a:rPr>
              <a:t> để trạng thái </a:t>
            </a:r>
            <a:r>
              <a:rPr sz="2000" b="0">
                <a:solidFill>
                  <a:srgbClr val="B02D16"/>
                </a:solidFill>
                <a:latin typeface="Consolas"/>
              </a:rPr>
              <a:t>.omc/</a:t>
            </a:r>
            <a:r>
              <a:rPr sz="2200" b="0">
                <a:solidFill>
                  <a:srgbClr val="14161C"/>
                </a:solidFill>
                <a:latin typeface="Calibri"/>
              </a:rPr>
              <a:t> không mất khi xóa worktree.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24/34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7637929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Bên trong nó hoạt động ra sao</a:t>
            </a:r>
          </a:p>
        </p:txBody>
      </p:sp>
      <p:sp>
        <p:nvSpPr>
          <p:cNvPr id="3" name="flow arrow"/>
          <p:cNvSpPr/>
          <p:nvPr/>
        </p:nvSpPr>
        <p:spPr>
          <a:xfrm>
            <a:off x="3683000" y="3101847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31750">
            <a:solidFill>
              <a:srgbClr val="475569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low arrow"/>
          <p:cNvSpPr/>
          <p:nvPr/>
        </p:nvSpPr>
        <p:spPr>
          <a:xfrm>
            <a:off x="3683000" y="4549648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31750">
            <a:solidFill>
              <a:srgbClr val="475569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low arrow"/>
          <p:cNvSpPr/>
          <p:nvPr/>
        </p:nvSpPr>
        <p:spPr>
          <a:xfrm>
            <a:off x="7594600" y="3101847"/>
            <a:ext cx="914400" cy="723901"/>
          </a:xfrm>
          <a:custGeom>
            <a:avLst/>
            <a:gdLst/>
            <a:ahLst/>
            <a:cxnLst/>
            <a:rect l="l" t="t" r="r" b="b"/>
            <a:pathLst>
              <a:path w="914400" h="723901">
                <a:moveTo>
                  <a:pt x="0" y="0"/>
                </a:moveTo>
                <a:lnTo>
                  <a:pt x="457200" y="0"/>
                </a:lnTo>
                <a:lnTo>
                  <a:pt x="457200" y="723901"/>
                </a:lnTo>
                <a:lnTo>
                  <a:pt x="914400" y="723901"/>
                </a:lnTo>
              </a:path>
            </a:pathLst>
          </a:custGeom>
          <a:noFill/>
          <a:ln w="31750">
            <a:solidFill>
              <a:srgbClr val="475569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low arrow"/>
          <p:cNvSpPr/>
          <p:nvPr/>
        </p:nvSpPr>
        <p:spPr>
          <a:xfrm>
            <a:off x="7594600" y="3825748"/>
            <a:ext cx="914400" cy="723900"/>
          </a:xfrm>
          <a:custGeom>
            <a:avLst/>
            <a:gdLst/>
            <a:ahLst/>
            <a:cxnLst/>
            <a:rect l="l" t="t" r="r" b="b"/>
            <a:pathLst>
              <a:path w="914400" h="723900">
                <a:moveTo>
                  <a:pt x="0" y="723900"/>
                </a:moveTo>
                <a:lnTo>
                  <a:pt x="457200" y="723900"/>
                </a:lnTo>
                <a:lnTo>
                  <a:pt x="457200" y="0"/>
                </a:lnTo>
                <a:lnTo>
                  <a:pt x="914400" y="0"/>
                </a:lnTo>
              </a:path>
            </a:pathLst>
          </a:custGeom>
          <a:noFill/>
          <a:ln w="31750">
            <a:solidFill>
              <a:srgbClr val="475569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omponent"/>
          <p:cNvSpPr/>
          <p:nvPr/>
        </p:nvSpPr>
        <p:spPr>
          <a:xfrm>
            <a:off x="685800" y="2555747"/>
            <a:ext cx="2997200" cy="1092200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 w="25400">
            <a:solidFill>
              <a:srgbClr val="0284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mponent name"/>
          <p:cNvSpPr txBox="1"/>
          <p:nvPr/>
        </p:nvSpPr>
        <p:spPr>
          <a:xfrm>
            <a:off x="863600" y="2657347"/>
            <a:ext cx="2641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Plugin trong Claude Code</a:t>
            </a:r>
          </a:p>
        </p:txBody>
      </p:sp>
      <p:sp>
        <p:nvSpPr>
          <p:cNvPr id="9" name="component"/>
          <p:cNvSpPr/>
          <p:nvPr/>
        </p:nvSpPr>
        <p:spPr>
          <a:xfrm>
            <a:off x="685800" y="4003548"/>
            <a:ext cx="2997200" cy="1092200"/>
          </a:xfrm>
          <a:prstGeom prst="roundRect">
            <a:avLst>
              <a:gd name="adj" fmla="val 18604"/>
            </a:avLst>
          </a:prstGeom>
          <a:solidFill>
            <a:srgbClr val="E0F2FE"/>
          </a:solidFill>
          <a:ln w="25400">
            <a:solidFill>
              <a:srgbClr val="0284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mponent name"/>
          <p:cNvSpPr txBox="1"/>
          <p:nvPr/>
        </p:nvSpPr>
        <p:spPr>
          <a:xfrm>
            <a:off x="863600" y="4105148"/>
            <a:ext cx="2641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Lệnh omc (gói npm)</a:t>
            </a:r>
          </a:p>
        </p:txBody>
      </p:sp>
      <p:sp>
        <p:nvSpPr>
          <p:cNvPr id="11" name="component"/>
          <p:cNvSpPr/>
          <p:nvPr/>
        </p:nvSpPr>
        <p:spPr>
          <a:xfrm>
            <a:off x="4597400" y="2555747"/>
            <a:ext cx="2997200" cy="1092200"/>
          </a:xfrm>
          <a:prstGeom prst="roundRect">
            <a:avLst>
              <a:gd name="adj" fmla="val 18604"/>
            </a:avLst>
          </a:prstGeom>
          <a:solidFill>
            <a:srgbClr val="CCFBF1"/>
          </a:solidFill>
          <a:ln w="254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mponent name"/>
          <p:cNvSpPr txBox="1"/>
          <p:nvPr/>
        </p:nvSpPr>
        <p:spPr>
          <a:xfrm>
            <a:off x="4775200" y="2657347"/>
            <a:ext cx="2641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Đội native (/team)</a:t>
            </a:r>
          </a:p>
        </p:txBody>
      </p:sp>
      <p:sp>
        <p:nvSpPr>
          <p:cNvPr id="13" name="component"/>
          <p:cNvSpPr/>
          <p:nvPr/>
        </p:nvSpPr>
        <p:spPr>
          <a:xfrm>
            <a:off x="4597400" y="4003548"/>
            <a:ext cx="2997200" cy="1092200"/>
          </a:xfrm>
          <a:prstGeom prst="roundRect">
            <a:avLst>
              <a:gd name="adj" fmla="val 18604"/>
            </a:avLst>
          </a:prstGeom>
          <a:solidFill>
            <a:srgbClr val="CCFBF1"/>
          </a:solidFill>
          <a:ln w="25400">
            <a:solidFill>
              <a:srgbClr val="0F7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mponent name"/>
          <p:cNvSpPr txBox="1"/>
          <p:nvPr/>
        </p:nvSpPr>
        <p:spPr>
          <a:xfrm>
            <a:off x="4775200" y="4105148"/>
            <a:ext cx="2641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Worker tmux</a:t>
            </a:r>
          </a:p>
        </p:txBody>
      </p:sp>
      <p:sp>
        <p:nvSpPr>
          <p:cNvPr id="15" name="component"/>
          <p:cNvSpPr/>
          <p:nvPr/>
        </p:nvSpPr>
        <p:spPr>
          <a:xfrm>
            <a:off x="8509000" y="3279648"/>
            <a:ext cx="2997200" cy="1092200"/>
          </a:xfrm>
          <a:prstGeom prst="roundRect">
            <a:avLst>
              <a:gd name="adj" fmla="val 18604"/>
            </a:avLst>
          </a:prstGeom>
          <a:solidFill>
            <a:srgbClr val="FEF3C7"/>
          </a:solidFill>
          <a:ln w="25400">
            <a:solidFill>
              <a:srgbClr val="B4530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omponent name"/>
          <p:cNvSpPr txBox="1"/>
          <p:nvPr/>
        </p:nvSpPr>
        <p:spPr>
          <a:xfrm>
            <a:off x="8686800" y="3381248"/>
            <a:ext cx="2641600" cy="889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172A"/>
                </a:solidFill>
                <a:latin typeface="Calibri"/>
              </a:rPr>
              <a:t>Thư mục .omc/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25/34</a:t>
            </a:r>
          </a:p>
        </p:txBody>
      </p:sp>
      <p:sp>
        <p:nvSpPr>
          <p:cNvPr id="18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gress"/>
          <p:cNvSpPr/>
          <p:nvPr/>
        </p:nvSpPr>
        <p:spPr>
          <a:xfrm>
            <a:off x="685800" y="6426200"/>
            <a:ext cx="7956176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Các mảnh ghép (1/2)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1"/>
          <p:cNvSpPr/>
          <p:nvPr/>
        </p:nvSpPr>
        <p:spPr>
          <a:xfrm>
            <a:off x="965200" y="1797050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Plugin trong Claude Code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Đưa các skill /team, /autopilot, /ralph vào phiên Claude Code qua marketplace của plugin.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2204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2"/>
          <p:cNvSpPr/>
          <p:nvPr/>
        </p:nvSpPr>
        <p:spPr>
          <a:xfrm>
            <a:off x="965200" y="3372357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3041904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Lệnh omc (gói npm)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Lệnh terminal: omc setup, omc team, omc ask. Cài bằng gói npm oh-my-claude-sisyphus.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4477511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ker 3"/>
          <p:cNvSpPr/>
          <p:nvPr/>
        </p:nvSpPr>
        <p:spPr>
          <a:xfrm>
            <a:off x="965200" y="4947665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701800" y="4617211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Đội native (/team)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Các agent Claude phối hợp trên một danh sách việc chung; cần bật cờ đội native trong settings.json (bước 4).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26/34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8274423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Các mảnh ghép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4"/>
          <p:cNvSpPr/>
          <p:nvPr/>
        </p:nvSpPr>
        <p:spPr>
          <a:xfrm>
            <a:off x="965200" y="1797050"/>
            <a:ext cx="508000" cy="508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Worker tmux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Pane tmux chạy CLI thật (claude, codex, gemini, antigravity, grok, cursor-agent); sinh khi cần, tắt khi xong.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2204"/>
            <a:ext cx="10820400" cy="1090676"/>
          </a:xfrm>
          <a:prstGeom prst="roundRect">
            <a:avLst>
              <a:gd name="adj" fmla="val 18630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5"/>
          <p:cNvSpPr/>
          <p:nvPr/>
        </p:nvSpPr>
        <p:spPr>
          <a:xfrm>
            <a:off x="965200" y="3193541"/>
            <a:ext cx="508000" cy="508000"/>
          </a:xfrm>
          <a:prstGeom prst="ellipse">
            <a:avLst/>
          </a:prstGeom>
          <a:solidFill>
            <a:srgbClr val="1F3F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3041904"/>
            <a:ext cx="9525000" cy="8112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61C"/>
                </a:solidFill>
                <a:latin typeface="Calibri"/>
              </a:rPr>
              <a:t>Thư mục .omc/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14161C"/>
                </a:solidFill>
                <a:latin typeface="Calibri"/>
              </a:rPr>
              <a:t>Nơi OMC giữ trạng thái chạy, dữ liệu phiên, kế hoạch và log của dự án.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27/34</a:t>
            </a:r>
          </a:p>
        </p:txBody>
      </p:sp>
      <p:sp>
        <p:nvSpPr>
          <p:cNvPr id="10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gress"/>
          <p:cNvSpPr/>
          <p:nvPr/>
        </p:nvSpPr>
        <p:spPr>
          <a:xfrm>
            <a:off x="685800" y="6426200"/>
            <a:ext cx="8592670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3EEE3"/>
                </a:solidFill>
                <a:latin typeface="Cambria"/>
              </a:rPr>
              <a:t>Nó chạy như thế nào (1/2)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1"/>
          <p:cNvSpPr/>
          <p:nvPr/>
        </p:nvSpPr>
        <p:spPr>
          <a:xfrm>
            <a:off x="965200" y="1797050"/>
            <a:ext cx="508000" cy="508000"/>
          </a:xfrm>
          <a:prstGeom prst="ellipse">
            <a:avLst/>
          </a:prstGeom>
          <a:solidFill>
            <a:srgbClr val="7C93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141B"/>
                </a:solidFill>
                <a:latin typeface="Calibri"/>
              </a:rPr>
              <a:t>1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EEE3"/>
                </a:solidFill>
                <a:latin typeface="Calibri"/>
              </a:rPr>
              <a:t>Hai lối vào, hai runtime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F3EEE3"/>
                </a:solidFill>
                <a:latin typeface="Calibri"/>
              </a:rPr>
              <a:t>Lệnh /team trong phiên Claude Code chạy đội native; omc team ở terminal mở worker CLI thật trong tmux. README nói rõ đây là hai runtime khác nhau.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902204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2"/>
          <p:cNvSpPr/>
          <p:nvPr/>
        </p:nvSpPr>
        <p:spPr>
          <a:xfrm>
            <a:off x="965200" y="3372357"/>
            <a:ext cx="508000" cy="508000"/>
          </a:xfrm>
          <a:prstGeom prst="ellipse">
            <a:avLst/>
          </a:prstGeom>
          <a:solidFill>
            <a:srgbClr val="3DD6A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141B"/>
                </a:solidFill>
                <a:latin typeface="Calibri"/>
              </a:rPr>
              <a:t>2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3041904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EEE3"/>
                </a:solidFill>
                <a:latin typeface="Calibri"/>
              </a:rPr>
              <a:t>Chuỗi giai đoạn có vòng sửa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F3EEE3"/>
                </a:solidFill>
                <a:latin typeface="Calibri"/>
              </a:rPr>
              <a:t>Team chạy team-plan → team-prd → team-exec → team-verify → team-fix (loop): kiểm tra là một giai đoạn riêng, và lỗi được sửa lặp lại.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4477511"/>
            <a:ext cx="10820400" cy="1448308"/>
          </a:xfrm>
          <a:prstGeom prst="roundRect">
            <a:avLst>
              <a:gd name="adj" fmla="val 1403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ker 3"/>
          <p:cNvSpPr/>
          <p:nvPr/>
        </p:nvSpPr>
        <p:spPr>
          <a:xfrm>
            <a:off x="965200" y="4947665"/>
            <a:ext cx="508000" cy="5080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141B"/>
                </a:solidFill>
                <a:latin typeface="Calibri"/>
              </a:rPr>
              <a:t>3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701800" y="4617211"/>
            <a:ext cx="9525000" cy="11689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EEE3"/>
                </a:solidFill>
                <a:latin typeface="Calibri"/>
              </a:rPr>
              <a:t>Worker sinh khi cần, tắt khi xong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F3EEE3"/>
                </a:solidFill>
                <a:latin typeface="Calibri"/>
              </a:rPr>
              <a:t>Worker của omc team được sinh theo yêu cầu và chết khi xong việc, nên README nói không tốn tài nguyên lúc nhàn rỗi.</a:t>
            </a:r>
          </a:p>
        </p:txBody>
      </p:sp>
      <p:sp>
        <p:nvSpPr>
          <p:cNvPr id="12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EE3"/>
                </a:solidFill>
                <a:latin typeface="Calibri"/>
              </a:rPr>
              <a:t>28/34</a:t>
            </a:r>
          </a:p>
        </p:txBody>
      </p:sp>
      <p:sp>
        <p:nvSpPr>
          <p:cNvPr id="13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9AA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gress"/>
          <p:cNvSpPr/>
          <p:nvPr/>
        </p:nvSpPr>
        <p:spPr>
          <a:xfrm>
            <a:off x="685800" y="6426200"/>
            <a:ext cx="8910917" cy="88900"/>
          </a:xfrm>
          <a:prstGeom prst="rect">
            <a:avLst/>
          </a:prstGeom>
          <a:solidFill>
            <a:srgbClr val="FF6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B5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3EEE3"/>
                </a:solidFill>
                <a:latin typeface="Cambria"/>
              </a:rPr>
              <a:t>Nó chạy như thế nào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805939"/>
          </a:xfrm>
          <a:prstGeom prst="roundRect">
            <a:avLst>
              <a:gd name="adj" fmla="val 11251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4"/>
          <p:cNvSpPr/>
          <p:nvPr/>
        </p:nvSpPr>
        <p:spPr>
          <a:xfrm>
            <a:off x="965200" y="1975865"/>
            <a:ext cx="508000" cy="508000"/>
          </a:xfrm>
          <a:prstGeom prst="ellipse">
            <a:avLst/>
          </a:prstGeom>
          <a:solidFill>
            <a:srgbClr val="C58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141B"/>
                </a:solidFill>
                <a:latin typeface="Calibri"/>
              </a:rPr>
              <a:t>4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15265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EEE3"/>
                </a:solidFill>
                <a:latin typeface="Calibri"/>
              </a:rPr>
              <a:t>Mỗi phiên một người cầm vòng lặp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F3EEE3"/>
                </a:solidFill>
                <a:latin typeface="Calibri"/>
              </a:rPr>
              <a:t>README dặn dùng một quyền điều khiển vòng lặp chính mỗi phiên: Team cho việc song song theo giai đoạn, Execute cho một agent làm tới nơi, Verify cho vòng kiểm tra lặp.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3259835"/>
            <a:ext cx="10820400" cy="1805939"/>
          </a:xfrm>
          <a:prstGeom prst="roundRect">
            <a:avLst>
              <a:gd name="adj" fmla="val 11251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5"/>
          <p:cNvSpPr/>
          <p:nvPr/>
        </p:nvSpPr>
        <p:spPr>
          <a:xfrm>
            <a:off x="965200" y="3908805"/>
            <a:ext cx="508000" cy="508000"/>
          </a:xfrm>
          <a:prstGeom prst="ellipse">
            <a:avLst/>
          </a:prstGeom>
          <a:solidFill>
            <a:srgbClr val="FF6A4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2141B"/>
                </a:solidFill>
                <a:latin typeface="Calibri"/>
              </a:rPr>
              <a:t>5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3399535"/>
            <a:ext cx="9525000" cy="15265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EEE3"/>
                </a:solidFill>
                <a:latin typeface="Calibri"/>
              </a:rPr>
              <a:t>Trạng thái nằm trong .omc/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200" b="0">
                <a:solidFill>
                  <a:srgbClr val="F3EEE3"/>
                </a:solidFill>
                <a:latin typeface="Calibri"/>
              </a:rPr>
              <a:t>OMC ghi trạng thái, phiên, kế hoạch vào thư mục .omc/. Trong worktree liên kết, thư mục này nằm trong worktree nên xóa worktree là mất; đặt OMC_STATE_DIR để giữ.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EE3"/>
                </a:solidFill>
                <a:latin typeface="Calibri"/>
              </a:rPr>
              <a:t>29/34</a:t>
            </a:r>
          </a:p>
        </p:txBody>
      </p:sp>
      <p:sp>
        <p:nvSpPr>
          <p:cNvPr id="10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9AA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gress"/>
          <p:cNvSpPr/>
          <p:nvPr/>
        </p:nvSpPr>
        <p:spPr>
          <a:xfrm>
            <a:off x="685800" y="6426200"/>
            <a:ext cx="9229164" cy="88900"/>
          </a:xfrm>
          <a:prstGeom prst="rect">
            <a:avLst/>
          </a:prstGeom>
          <a:solidFill>
            <a:srgbClr val="FF6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B5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mbria"/>
              </a:rPr>
              <a:t>Học được gì từ thiết kế này (1/2)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124712"/>
          </a:xfrm>
          <a:prstGeom prst="roundRect">
            <a:avLst>
              <a:gd name="adj" fmla="val 18066"/>
            </a:avLst>
          </a:prstGeom>
          <a:solidFill>
            <a:srgbClr val="345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1"/>
          <p:cNvSpPr/>
          <p:nvPr/>
        </p:nvSpPr>
        <p:spPr>
          <a:xfrm>
            <a:off x="965200" y="1635252"/>
            <a:ext cx="508000" cy="508000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F3FD1"/>
                </a:solidFill>
                <a:latin typeface="Calibri"/>
              </a:rPr>
              <a:t>1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845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Tách hai runtime: đội chạy trong phiên và worker chạy ngoài phiên, mỗi bên hợp một loại việc.</a:t>
            </a:r>
          </a:p>
        </p:txBody>
      </p:sp>
      <p:sp>
        <p:nvSpPr>
          <p:cNvPr id="6" name="card"/>
          <p:cNvSpPr/>
          <p:nvPr/>
        </p:nvSpPr>
        <p:spPr>
          <a:xfrm>
            <a:off x="685800" y="2578608"/>
            <a:ext cx="10820400" cy="1124712"/>
          </a:xfrm>
          <a:prstGeom prst="roundRect">
            <a:avLst>
              <a:gd name="adj" fmla="val 18066"/>
            </a:avLst>
          </a:prstGeom>
          <a:solidFill>
            <a:srgbClr val="345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arker 2"/>
          <p:cNvSpPr/>
          <p:nvPr/>
        </p:nvSpPr>
        <p:spPr>
          <a:xfrm>
            <a:off x="965200" y="2886964"/>
            <a:ext cx="508000" cy="508000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F3FD1"/>
                </a:solidFill>
                <a:latin typeface="Calibri"/>
              </a:rPr>
              <a:t>2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1701800" y="2718308"/>
            <a:ext cx="9525000" cy="845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Đặt kiểm tra thành giai đoạn riêng và cho nó vòng sửa lỗi, thay vì kiểm tra một lần ở cuối.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3830320"/>
            <a:ext cx="10820400" cy="1124712"/>
          </a:xfrm>
          <a:prstGeom prst="roundRect">
            <a:avLst>
              <a:gd name="adj" fmla="val 18066"/>
            </a:avLst>
          </a:prstGeom>
          <a:solidFill>
            <a:srgbClr val="345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arker 3"/>
          <p:cNvSpPr/>
          <p:nvPr/>
        </p:nvSpPr>
        <p:spPr>
          <a:xfrm>
            <a:off x="965200" y="4138676"/>
            <a:ext cx="508000" cy="508000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F3FD1"/>
                </a:solidFill>
                <a:latin typeface="Calibri"/>
              </a:rPr>
              <a:t>3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701800" y="3970020"/>
            <a:ext cx="9525000" cy="845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Mỗi phiên chỉ một cơ chế cầm vòng lặp chính, theo lời dặn của README.</a:t>
            </a:r>
          </a:p>
        </p:txBody>
      </p:sp>
      <p:sp>
        <p:nvSpPr>
          <p:cNvPr id="12" name="card"/>
          <p:cNvSpPr/>
          <p:nvPr/>
        </p:nvSpPr>
        <p:spPr>
          <a:xfrm>
            <a:off x="685800" y="5082032"/>
            <a:ext cx="10820400" cy="1124712"/>
          </a:xfrm>
          <a:prstGeom prst="roundRect">
            <a:avLst>
              <a:gd name="adj" fmla="val 18066"/>
            </a:avLst>
          </a:prstGeom>
          <a:solidFill>
            <a:srgbClr val="345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marker 4"/>
          <p:cNvSpPr/>
          <p:nvPr/>
        </p:nvSpPr>
        <p:spPr>
          <a:xfrm>
            <a:off x="965200" y="5390388"/>
            <a:ext cx="508000" cy="508000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F3FD1"/>
                </a:solidFill>
                <a:latin typeface="Calibri"/>
              </a:rPr>
              <a:t>4</a:t>
            </a:r>
          </a:p>
        </p:txBody>
      </p:sp>
      <p:sp>
        <p:nvSpPr>
          <p:cNvPr id="14" name="card text"/>
          <p:cNvSpPr txBox="1"/>
          <p:nvPr/>
        </p:nvSpPr>
        <p:spPr>
          <a:xfrm>
            <a:off x="1701800" y="5221732"/>
            <a:ext cx="9525000" cy="845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Worker sinh khi cần và tắt khi xong: trả tài nguyên ngay sau mỗi việc.</a:t>
            </a:r>
          </a:p>
        </p:txBody>
      </p:sp>
      <p:sp>
        <p:nvSpPr>
          <p:cNvPr id="1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30/34</a:t>
            </a:r>
          </a:p>
        </p:txBody>
      </p:sp>
      <p:sp>
        <p:nvSpPr>
          <p:cNvPr id="1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C9D2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gress"/>
          <p:cNvSpPr/>
          <p:nvPr/>
        </p:nvSpPr>
        <p:spPr>
          <a:xfrm>
            <a:off x="685800" y="6426200"/>
            <a:ext cx="9547411" cy="889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2FF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mbria"/>
              </a:rPr>
              <a:t>Học được gì từ thiết kế này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124712"/>
          </a:xfrm>
          <a:prstGeom prst="roundRect">
            <a:avLst>
              <a:gd name="adj" fmla="val 18066"/>
            </a:avLst>
          </a:prstGeom>
          <a:solidFill>
            <a:srgbClr val="345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marker 5"/>
          <p:cNvSpPr/>
          <p:nvPr/>
        </p:nvSpPr>
        <p:spPr>
          <a:xfrm>
            <a:off x="965200" y="1635252"/>
            <a:ext cx="508000" cy="508000"/>
          </a:xfrm>
          <a:prstGeom prst="ellipse">
            <a:avLst/>
          </a:prstGeom>
          <a:solidFill>
            <a:srgbClr val="F3EE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F3FD1"/>
                </a:solidFill>
                <a:latin typeface="Calibri"/>
              </a:rPr>
              <a:t>5</a:t>
            </a:r>
          </a:p>
        </p:txBody>
      </p:sp>
      <p:sp>
        <p:nvSpPr>
          <p:cNvPr id="5" name="card text"/>
          <p:cNvSpPr txBox="1"/>
          <p:nvPr/>
        </p:nvSpPr>
        <p:spPr>
          <a:xfrm>
            <a:off x="1701800" y="1466595"/>
            <a:ext cx="9525000" cy="845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Calibri"/>
              </a:rPr>
              <a:t>Giữ trạng thái cục bộ cạnh dự án và nói rõ nó sống hay chết theo worktree.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31/34</a:t>
            </a:r>
          </a:p>
        </p:txBody>
      </p:sp>
      <p:sp>
        <p:nvSpPr>
          <p:cNvPr id="7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C9D2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gress"/>
          <p:cNvSpPr/>
          <p:nvPr/>
        </p:nvSpPr>
        <p:spPr>
          <a:xfrm>
            <a:off x="685800" y="6426200"/>
            <a:ext cx="9865658" cy="889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D2FF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Từ khóa (1/2)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545844"/>
          </a:xfrm>
          <a:prstGeom prst="roundRect">
            <a:avLst>
              <a:gd name="adj" fmla="val 13144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text"/>
          <p:cNvSpPr txBox="1"/>
          <p:nvPr/>
        </p:nvSpPr>
        <p:spPr>
          <a:xfrm>
            <a:off x="965200" y="1466595"/>
            <a:ext cx="10261600" cy="1266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61C"/>
                </a:solidFill>
                <a:latin typeface="Calibri"/>
              </a:rPr>
              <a:t>tmux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400" b="0">
                <a:solidFill>
                  <a:srgbClr val="14161C"/>
                </a:solidFill>
                <a:latin typeface="Calibri"/>
              </a:rPr>
              <a:t>Công cụ chia một cửa sổ terminal thành nhiều pane chạy song song; omc team dùng nó cho worker.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999740"/>
            <a:ext cx="10820400" cy="1155700"/>
          </a:xfrm>
          <a:prstGeom prst="roundRect">
            <a:avLst>
              <a:gd name="adj" fmla="val 17582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text"/>
          <p:cNvSpPr txBox="1"/>
          <p:nvPr/>
        </p:nvSpPr>
        <p:spPr>
          <a:xfrm>
            <a:off x="965200" y="3139440"/>
            <a:ext cx="10261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61C"/>
                </a:solidFill>
                <a:latin typeface="Calibri"/>
              </a:rPr>
              <a:t>Worker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400" b="0">
                <a:solidFill>
                  <a:srgbClr val="14161C"/>
                </a:solidFill>
                <a:latin typeface="Calibri"/>
              </a:rPr>
              <a:t>Một tiến trình agent do omc team mở để làm một phần việc, tự tắt khi xong.</a:t>
            </a:r>
          </a:p>
        </p:txBody>
      </p:sp>
      <p:sp>
        <p:nvSpPr>
          <p:cNvPr id="7" name="card"/>
          <p:cNvSpPr/>
          <p:nvPr/>
        </p:nvSpPr>
        <p:spPr>
          <a:xfrm>
            <a:off x="685800" y="4282440"/>
            <a:ext cx="10820400" cy="1155700"/>
          </a:xfrm>
          <a:prstGeom prst="roundRect">
            <a:avLst>
              <a:gd name="adj" fmla="val 17582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 text"/>
          <p:cNvSpPr txBox="1"/>
          <p:nvPr/>
        </p:nvSpPr>
        <p:spPr>
          <a:xfrm>
            <a:off x="965200" y="4422140"/>
            <a:ext cx="10261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61C"/>
                </a:solidFill>
                <a:latin typeface="Calibri"/>
              </a:rPr>
              <a:t>Skill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400" b="0">
                <a:solidFill>
                  <a:srgbClr val="14161C"/>
                </a:solidFill>
                <a:latin typeface="Calibri"/>
              </a:rPr>
              <a:t>Lệnh slash do plugin cung cấp trong Claude Code, như /team hay /autopilot.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32/34</a:t>
            </a:r>
          </a:p>
        </p:txBody>
      </p:sp>
      <p:sp>
        <p:nvSpPr>
          <p:cNvPr id="10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gress"/>
          <p:cNvSpPr/>
          <p:nvPr/>
        </p:nvSpPr>
        <p:spPr>
          <a:xfrm>
            <a:off x="685800" y="6426200"/>
            <a:ext cx="10183905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61C"/>
                </a:solidFill>
                <a:latin typeface="Cambria"/>
              </a:rPr>
              <a:t>Từ khóa (2/2)</a:t>
            </a:r>
          </a:p>
        </p:txBody>
      </p:sp>
      <p:sp>
        <p:nvSpPr>
          <p:cNvPr id="3" name="card"/>
          <p:cNvSpPr/>
          <p:nvPr/>
        </p:nvSpPr>
        <p:spPr>
          <a:xfrm>
            <a:off x="685800" y="1326895"/>
            <a:ext cx="10820400" cy="1545844"/>
          </a:xfrm>
          <a:prstGeom prst="roundRect">
            <a:avLst>
              <a:gd name="adj" fmla="val 13144"/>
            </a:avLst>
          </a:prstGeom>
          <a:solidFill>
            <a:srgbClr val="E8E0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rd text"/>
          <p:cNvSpPr txBox="1"/>
          <p:nvPr/>
        </p:nvSpPr>
        <p:spPr>
          <a:xfrm>
            <a:off x="965200" y="1466595"/>
            <a:ext cx="10261600" cy="1266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61C"/>
                </a:solidFill>
                <a:latin typeface="Calibri"/>
              </a:rPr>
              <a:t>Worktree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400" b="0">
                <a:solidFill>
                  <a:srgbClr val="14161C"/>
                </a:solidFill>
                <a:latin typeface="Calibri"/>
              </a:rPr>
              <a:t>Bản làm việc riêng của git cho một nhánh; .omc/ của OMC nằm trong worktree liên kết.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14161C"/>
                </a:solidFill>
                <a:latin typeface="Calibri"/>
              </a:rPr>
              <a:t>33/34</a:t>
            </a:r>
          </a:p>
        </p:txBody>
      </p:sp>
      <p:sp>
        <p:nvSpPr>
          <p:cNvPr id="6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6B6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685800" y="6426200"/>
            <a:ext cx="10502152" cy="88900"/>
          </a:xfrm>
          <a:prstGeom prst="rect">
            <a:avLst/>
          </a:prstGeom>
          <a:solidFill>
            <a:srgbClr val="E84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A66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609600"/>
            <a:ext cx="108204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3EEE3"/>
                </a:solidFill>
                <a:latin typeface="Cambria"/>
              </a:rPr>
              <a:t>Nguồn dữ kiện</a:t>
            </a:r>
          </a:p>
        </p:txBody>
      </p:sp>
      <p:sp>
        <p:nvSpPr>
          <p:cNvPr id="3" name="chip"/>
          <p:cNvSpPr/>
          <p:nvPr/>
        </p:nvSpPr>
        <p:spPr>
          <a:xfrm>
            <a:off x="685800" y="1326895"/>
            <a:ext cx="1818639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ip text"/>
          <p:cNvSpPr txBox="1"/>
          <p:nvPr/>
        </p:nvSpPr>
        <p:spPr>
          <a:xfrm>
            <a:off x="685800" y="1326895"/>
            <a:ext cx="1818639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39.976 sao</a:t>
            </a:r>
          </a:p>
        </p:txBody>
      </p:sp>
      <p:sp>
        <p:nvSpPr>
          <p:cNvPr id="5" name="chip"/>
          <p:cNvSpPr/>
          <p:nvPr/>
        </p:nvSpPr>
        <p:spPr>
          <a:xfrm>
            <a:off x="2656840" y="1326895"/>
            <a:ext cx="181356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hip text"/>
          <p:cNvSpPr txBox="1"/>
          <p:nvPr/>
        </p:nvSpPr>
        <p:spPr>
          <a:xfrm>
            <a:off x="2656840" y="1326895"/>
            <a:ext cx="181356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3.586 fork</a:t>
            </a:r>
          </a:p>
        </p:txBody>
      </p:sp>
      <p:sp>
        <p:nvSpPr>
          <p:cNvPr id="7" name="chip"/>
          <p:cNvSpPr/>
          <p:nvPr/>
        </p:nvSpPr>
        <p:spPr>
          <a:xfrm>
            <a:off x="4622800" y="1326895"/>
            <a:ext cx="234696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ip text"/>
          <p:cNvSpPr txBox="1"/>
          <p:nvPr/>
        </p:nvSpPr>
        <p:spPr>
          <a:xfrm>
            <a:off x="4622800" y="1326895"/>
            <a:ext cx="234696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Giấy phép: MIT</a:t>
            </a:r>
          </a:p>
        </p:txBody>
      </p:sp>
      <p:sp>
        <p:nvSpPr>
          <p:cNvPr id="9" name="chip"/>
          <p:cNvSpPr/>
          <p:nvPr/>
        </p:nvSpPr>
        <p:spPr>
          <a:xfrm>
            <a:off x="7122159" y="1326895"/>
            <a:ext cx="3205480" cy="584200"/>
          </a:xfrm>
          <a:prstGeom prst="roundRect">
            <a:avLst>
              <a:gd name="adj" fmla="val 5000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hip text"/>
          <p:cNvSpPr txBox="1"/>
          <p:nvPr/>
        </p:nvSpPr>
        <p:spPr>
          <a:xfrm>
            <a:off x="7122159" y="1326895"/>
            <a:ext cx="320548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3EEE3"/>
                </a:solidFill>
                <a:latin typeface="Calibri"/>
              </a:rPr>
              <a:t>Ngôn ngữ: TypeScript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2038095"/>
            <a:ext cx="10820400" cy="1090676"/>
          </a:xfrm>
          <a:prstGeom prst="roundRect">
            <a:avLst>
              <a:gd name="adj" fmla="val 18630"/>
            </a:avLst>
          </a:prstGeom>
          <a:solidFill>
            <a:srgbClr val="1E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ard text"/>
          <p:cNvSpPr txBox="1"/>
          <p:nvPr/>
        </p:nvSpPr>
        <p:spPr>
          <a:xfrm>
            <a:off x="965200" y="2177796"/>
            <a:ext cx="10261600" cy="8112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3EEE3"/>
                </a:solidFill>
                <a:latin typeface="Calibri"/>
              </a:rPr>
              <a:t>Nguồn dữ kiện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2000" b="0" u="sng">
                <a:solidFill>
                  <a:srgbClr val="9FB2FF"/>
                </a:solidFill>
                <a:latin typeface="Calibri"/>
                <a:hlinkClick r:id="rId2"/>
              </a:rPr>
              <a:t>Yeachan-Heo/oh-my-claudecode</a:t>
            </a:r>
            <a:r>
              <a:rPr sz="2000" b="0">
                <a:solidFill>
                  <a:srgbClr val="F3EEE3"/>
                </a:solidFill>
                <a:latin typeface="Calibri"/>
              </a:rPr>
              <a:t> · Quét ngày 2026-10-17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85800" y="3255772"/>
            <a:ext cx="10820400" cy="37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9AA0B5"/>
                </a:solidFill>
                <a:latin typeface="Calibri"/>
              </a:rPr>
              <a:t>Nội dung do AI tóm tắt từ README và cấu trúc repo; hãy đọc repo gốc trước khi dùng.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9474200" y="304800"/>
            <a:ext cx="203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EE3"/>
                </a:solidFill>
                <a:latin typeface="Calibri"/>
              </a:rPr>
              <a:t>34/34</a:t>
            </a:r>
          </a:p>
        </p:txBody>
      </p:sp>
      <p:sp>
        <p:nvSpPr>
          <p:cNvPr id="15" name="rail"/>
          <p:cNvSpPr/>
          <p:nvPr/>
        </p:nvSpPr>
        <p:spPr>
          <a:xfrm>
            <a:off x="685800" y="6451600"/>
            <a:ext cx="10820400" cy="38100"/>
          </a:xfrm>
          <a:prstGeom prst="rect">
            <a:avLst/>
          </a:prstGeom>
          <a:solidFill>
            <a:srgbClr val="9AA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gress"/>
          <p:cNvSpPr/>
          <p:nvPr/>
        </p:nvSpPr>
        <p:spPr>
          <a:xfrm>
            <a:off x="685800" y="6426200"/>
            <a:ext cx="10820400" cy="88900"/>
          </a:xfrm>
          <a:prstGeom prst="rect">
            <a:avLst/>
          </a:prstGeom>
          <a:solidFill>
            <a:srgbClr val="FF6A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oter"/>
          <p:cNvSpPr txBox="1"/>
          <p:nvPr/>
        </p:nvSpPr>
        <p:spPr>
          <a:xfrm>
            <a:off x="685800" y="65786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B5"/>
                </a:solidFill>
                <a:latin typeface="Calibri"/>
              </a:rPr>
              <a:t>Radar GitHub · oh-my-claudecode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oh-my-claudecode: cả đội agent chạy ngay trong Claude Code</dc:title>
  <dc:subject>Yeachan-Heo/oh-my-claudecode</dc:subject>
  <dc:creator>GitHub Radar</dc:creator>
  <cp:keywords/>
  <dc:description/>
  <cp:lastModifiedBy>GitHub Radar</cp:lastModifiedBy>
  <cp:revision>1</cp:revision>
  <dcterms:created xsi:type="dcterms:W3CDTF">2026-10-17T00:00:00Z</dcterms:created>
  <dcterms:modified xsi:type="dcterms:W3CDTF">2026-10-17T00:00:00Z</dcterms:modified>
  <cp:category/>
  <cp:lastPrinted>2026-10-17T00:00:00Z</cp:lastPrinted>
  <dc:language>vi</dc:language>
</cp:coreProperties>
</file>