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norca.dev/downloa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norca.dev/downloa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norca.dev/docs/android-ap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norca.dev/docs/cli/overview"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stablyai/orca"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41B"/>
        </a:solidFill>
        <a:effectLst/>
      </p:bgPr>
    </p:bg>
    <p:spTree>
      <p:nvGrpSpPr>
        <p:cNvPr id="1" name=""/>
        <p:cNvGrpSpPr/>
        <p:nvPr/>
      </p:nvGrpSpPr>
      <p:grpSpPr/>
      <p:sp>
        <p:nvSpPr>
          <p:cNvPr id="2" name="bucket"/>
          <p:cNvSpPr/>
          <p:nvPr/>
        </p:nvSpPr>
        <p:spPr>
          <a:xfrm>
            <a:off x="685800" y="711200"/>
            <a:ext cx="853440" cy="508000"/>
          </a:xfrm>
          <a:prstGeom prst="roundRect">
            <a:avLst>
              <a:gd name="adj" fmla="val 50000"/>
            </a:avLst>
          </a:prstGeom>
          <a:solidFill>
            <a:srgbClr val="FF6A4D"/>
          </a:solidFill>
          <a:ln>
            <a:noFill/>
          </a:ln>
        </p:spPr>
        <p:txBody>
          <a:bodyPr rtlCol="0" anchor="ctr"/>
          <a:lstStyle/>
          <a:p>
            <a:pPr algn="ctr"/>
          </a:p>
        </p:txBody>
      </p:sp>
      <p:sp>
        <p:nvSpPr>
          <p:cNvPr id="3" name="bucket text"/>
          <p:cNvSpPr txBox="1"/>
          <p:nvPr/>
        </p:nvSpPr>
        <p:spPr>
          <a:xfrm>
            <a:off x="685800" y="711200"/>
            <a:ext cx="853440" cy="508000"/>
          </a:xfrm>
          <a:prstGeom prst="rect">
            <a:avLst/>
          </a:prstGeom>
          <a:noFill/>
        </p:spPr>
        <p:txBody>
          <a:bodyPr wrap="square" lIns="0" rIns="0" tIns="0" bIns="0" anchor="ctr">
            <a:noAutofit/>
          </a:bodyPr>
          <a:lstStyle/>
          <a:p>
            <a:pPr algn="ctr">
              <a:lnSpc>
                <a:spcPct val="100000"/>
              </a:lnSpc>
            </a:pPr>
            <a:r>
              <a:rPr sz="2000" b="1">
                <a:solidFill>
                  <a:srgbClr val="12141B"/>
                </a:solidFill>
                <a:latin typeface="Calibri"/>
              </a:rPr>
              <a:t>AI</a:t>
            </a:r>
          </a:p>
        </p:txBody>
      </p:sp>
      <p:sp>
        <p:nvSpPr>
          <p:cNvPr id="4" name="title"/>
          <p:cNvSpPr txBox="1"/>
          <p:nvPr/>
        </p:nvSpPr>
        <p:spPr>
          <a:xfrm>
            <a:off x="685800" y="1473200"/>
            <a:ext cx="10820400" cy="2194560"/>
          </a:xfrm>
          <a:prstGeom prst="rect">
            <a:avLst/>
          </a:prstGeom>
          <a:noFill/>
        </p:spPr>
        <p:txBody>
          <a:bodyPr wrap="square" lIns="0" rIns="0" tIns="0" bIns="0" anchor="t">
            <a:noAutofit/>
          </a:bodyPr>
          <a:lstStyle/>
          <a:p>
            <a:pPr algn="l">
              <a:lnSpc>
                <a:spcPct val="100000"/>
              </a:lnSpc>
            </a:pPr>
            <a:r>
              <a:rPr sz="4800" b="1">
                <a:solidFill>
                  <a:srgbClr val="F3EEE3"/>
                </a:solidFill>
                <a:latin typeface="Cambria"/>
              </a:rPr>
              <a:t>Orca: chạy nhiều agent coding song song, mỗi agent một worktree</a:t>
            </a:r>
          </a:p>
        </p:txBody>
      </p:sp>
      <p:sp>
        <p:nvSpPr>
          <p:cNvPr id="5" name="hook"/>
          <p:cNvSpPr txBox="1"/>
          <p:nvPr/>
        </p:nvSpPr>
        <p:spPr>
          <a:xfrm>
            <a:off x="685800" y="3896359"/>
            <a:ext cx="10820400" cy="780288"/>
          </a:xfrm>
          <a:prstGeom prst="rect">
            <a:avLst/>
          </a:prstGeom>
          <a:noFill/>
        </p:spPr>
        <p:txBody>
          <a:bodyPr wrap="square" lIns="0" rIns="0" tIns="0" bIns="0" anchor="t">
            <a:noAutofit/>
          </a:bodyPr>
          <a:lstStyle/>
          <a:p>
            <a:pPr algn="l">
              <a:lnSpc>
                <a:spcPct val="100000"/>
              </a:lnSpc>
            </a:pPr>
            <a:r>
              <a:rPr sz="2400" b="0">
                <a:solidFill>
                  <a:srgbClr val="9AA0B5"/>
                </a:solidFill>
                <a:latin typeface="Calibri"/>
              </a:rPr>
              <a:t>Giao một prompt cho năm agent, mỗi agent một nhánh riêng, rồi so kết quả và chọn bản tốt nhất.</a:t>
            </a:r>
          </a:p>
        </p:txBody>
      </p:sp>
      <p:sp>
        <p:nvSpPr>
          <p:cNvPr id="6" name="chip"/>
          <p:cNvSpPr/>
          <p:nvPr/>
        </p:nvSpPr>
        <p:spPr>
          <a:xfrm>
            <a:off x="685800" y="5181600"/>
            <a:ext cx="1818639" cy="584200"/>
          </a:xfrm>
          <a:prstGeom prst="roundRect">
            <a:avLst>
              <a:gd name="adj" fmla="val 50000"/>
            </a:avLst>
          </a:prstGeom>
          <a:solidFill>
            <a:srgbClr val="1E2230"/>
          </a:solidFill>
          <a:ln>
            <a:noFill/>
          </a:ln>
        </p:spPr>
        <p:txBody>
          <a:bodyPr rtlCol="0" anchor="ctr"/>
          <a:lstStyle/>
          <a:p>
            <a:pPr algn="ctr"/>
          </a:p>
        </p:txBody>
      </p:sp>
      <p:sp>
        <p:nvSpPr>
          <p:cNvPr id="7" name="chip text"/>
          <p:cNvSpPr txBox="1"/>
          <p:nvPr/>
        </p:nvSpPr>
        <p:spPr>
          <a:xfrm>
            <a:off x="685800" y="5181600"/>
            <a:ext cx="1818639"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94.489 sao</a:t>
            </a:r>
          </a:p>
        </p:txBody>
      </p:sp>
      <p:sp>
        <p:nvSpPr>
          <p:cNvPr id="8" name="chip"/>
          <p:cNvSpPr/>
          <p:nvPr/>
        </p:nvSpPr>
        <p:spPr>
          <a:xfrm>
            <a:off x="2656840" y="5181600"/>
            <a:ext cx="1813560" cy="584200"/>
          </a:xfrm>
          <a:prstGeom prst="roundRect">
            <a:avLst>
              <a:gd name="adj" fmla="val 50000"/>
            </a:avLst>
          </a:prstGeom>
          <a:solidFill>
            <a:srgbClr val="1E2230"/>
          </a:solidFill>
          <a:ln>
            <a:noFill/>
          </a:ln>
        </p:spPr>
        <p:txBody>
          <a:bodyPr rtlCol="0" anchor="ctr"/>
          <a:lstStyle/>
          <a:p>
            <a:pPr algn="ctr"/>
          </a:p>
        </p:txBody>
      </p:sp>
      <p:sp>
        <p:nvSpPr>
          <p:cNvPr id="9" name="chip text"/>
          <p:cNvSpPr txBox="1"/>
          <p:nvPr/>
        </p:nvSpPr>
        <p:spPr>
          <a:xfrm>
            <a:off x="2656840" y="5181600"/>
            <a:ext cx="1813560"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6.040 fork</a:t>
            </a:r>
          </a:p>
        </p:txBody>
      </p:sp>
      <p:sp>
        <p:nvSpPr>
          <p:cNvPr id="10" name="chip"/>
          <p:cNvSpPr/>
          <p:nvPr/>
        </p:nvSpPr>
        <p:spPr>
          <a:xfrm>
            <a:off x="4622800" y="5181600"/>
            <a:ext cx="2346960" cy="584200"/>
          </a:xfrm>
          <a:prstGeom prst="roundRect">
            <a:avLst>
              <a:gd name="adj" fmla="val 50000"/>
            </a:avLst>
          </a:prstGeom>
          <a:solidFill>
            <a:srgbClr val="1E2230"/>
          </a:solidFill>
          <a:ln>
            <a:noFill/>
          </a:ln>
        </p:spPr>
        <p:txBody>
          <a:bodyPr rtlCol="0" anchor="ctr"/>
          <a:lstStyle/>
          <a:p>
            <a:pPr algn="ctr"/>
          </a:p>
        </p:txBody>
      </p:sp>
      <p:sp>
        <p:nvSpPr>
          <p:cNvPr id="11" name="chip text"/>
          <p:cNvSpPr txBox="1"/>
          <p:nvPr/>
        </p:nvSpPr>
        <p:spPr>
          <a:xfrm>
            <a:off x="4622800" y="5181600"/>
            <a:ext cx="2346960"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Giấy phép: MIT</a:t>
            </a:r>
          </a:p>
        </p:txBody>
      </p:sp>
      <p:sp>
        <p:nvSpPr>
          <p:cNvPr id="12" name="chip"/>
          <p:cNvSpPr/>
          <p:nvPr/>
        </p:nvSpPr>
        <p:spPr>
          <a:xfrm>
            <a:off x="7122159" y="5181600"/>
            <a:ext cx="3205480" cy="584200"/>
          </a:xfrm>
          <a:prstGeom prst="roundRect">
            <a:avLst>
              <a:gd name="adj" fmla="val 50000"/>
            </a:avLst>
          </a:prstGeom>
          <a:solidFill>
            <a:srgbClr val="1E2230"/>
          </a:solidFill>
          <a:ln>
            <a:noFill/>
          </a:ln>
        </p:spPr>
        <p:txBody>
          <a:bodyPr rtlCol="0" anchor="ctr"/>
          <a:lstStyle/>
          <a:p>
            <a:pPr algn="ctr"/>
          </a:p>
        </p:txBody>
      </p:sp>
      <p:sp>
        <p:nvSpPr>
          <p:cNvPr id="13" name="chip text"/>
          <p:cNvSpPr txBox="1"/>
          <p:nvPr/>
        </p:nvSpPr>
        <p:spPr>
          <a:xfrm>
            <a:off x="7122159" y="5181600"/>
            <a:ext cx="3205480"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Ngôn ngữ: TypeScript</a:t>
            </a:r>
          </a:p>
        </p:txBody>
      </p:sp>
      <p:sp>
        <p:nvSpPr>
          <p:cNvPr id="14"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F3EEE3"/>
                </a:solidFill>
                <a:latin typeface="Calibri"/>
              </a:rPr>
              <a:t>1/27</a:t>
            </a:r>
          </a:p>
        </p:txBody>
      </p:sp>
      <p:sp>
        <p:nvSpPr>
          <p:cNvPr id="15" name="rail"/>
          <p:cNvSpPr/>
          <p:nvPr/>
        </p:nvSpPr>
        <p:spPr>
          <a:xfrm>
            <a:off x="685800" y="6451600"/>
            <a:ext cx="10820400" cy="38100"/>
          </a:xfrm>
          <a:prstGeom prst="rect">
            <a:avLst/>
          </a:prstGeom>
          <a:solidFill>
            <a:srgbClr val="9AA0B5"/>
          </a:solidFill>
          <a:ln>
            <a:noFill/>
          </a:ln>
        </p:spPr>
        <p:txBody>
          <a:bodyPr rtlCol="0" anchor="ctr"/>
          <a:lstStyle/>
          <a:p>
            <a:pPr algn="ctr"/>
          </a:p>
        </p:txBody>
      </p:sp>
      <p:sp>
        <p:nvSpPr>
          <p:cNvPr id="16" name="progress"/>
          <p:cNvSpPr/>
          <p:nvPr/>
        </p:nvSpPr>
        <p:spPr>
          <a:xfrm>
            <a:off x="685800" y="6426200"/>
            <a:ext cx="400755" cy="88900"/>
          </a:xfrm>
          <a:prstGeom prst="rect">
            <a:avLst/>
          </a:prstGeom>
          <a:solidFill>
            <a:srgbClr val="FF6A4D"/>
          </a:solidFill>
          <a:ln>
            <a:noFill/>
          </a:ln>
        </p:spPr>
        <p:txBody>
          <a:bodyPr rtlCol="0" anchor="ctr"/>
          <a:lstStyle/>
          <a:p>
            <a:pPr algn="ctr"/>
          </a:p>
        </p:txBody>
      </p:sp>
      <p:sp>
        <p:nvSpPr>
          <p:cNvPr id="17"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9AA0B5"/>
                </a:solidFill>
                <a:latin typeface="Calibri"/>
              </a:rPr>
              <a:t>Radar GitHub · orca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Bạn sẽ làm ra được gì</a:t>
            </a:r>
          </a:p>
        </p:txBody>
      </p:sp>
      <p:sp>
        <p:nvSpPr>
          <p:cNvPr id="3" name="card"/>
          <p:cNvSpPr/>
          <p:nvPr/>
        </p:nvSpPr>
        <p:spPr>
          <a:xfrm>
            <a:off x="685800" y="1326895"/>
            <a:ext cx="10820400" cy="1839976"/>
          </a:xfrm>
          <a:prstGeom prst="roundRect">
            <a:avLst>
              <a:gd name="adj" fmla="val 11043"/>
            </a:avLst>
          </a:prstGeom>
          <a:solidFill>
            <a:srgbClr val="D5EBDD"/>
          </a:solidFill>
          <a:ln>
            <a:noFill/>
          </a:ln>
        </p:spPr>
        <p:txBody>
          <a:bodyPr rtlCol="0" anchor="ctr"/>
          <a:lstStyle/>
          <a:p>
            <a:pPr algn="ctr"/>
          </a:p>
        </p:txBody>
      </p:sp>
      <p:sp>
        <p:nvSpPr>
          <p:cNvPr id="4" name="card text"/>
          <p:cNvSpPr txBox="1"/>
          <p:nvPr/>
        </p:nvSpPr>
        <p:spPr>
          <a:xfrm>
            <a:off x="965200" y="1466595"/>
            <a:ext cx="10261600" cy="1560576"/>
          </a:xfrm>
          <a:prstGeom prst="rect">
            <a:avLst/>
          </a:prstGeom>
          <a:noFill/>
        </p:spPr>
        <p:txBody>
          <a:bodyPr wrap="square" lIns="0" rIns="0" tIns="0" bIns="0" anchor="ctr">
            <a:noAutofit/>
          </a:bodyPr>
          <a:lstStyle/>
          <a:p>
            <a:pPr algn="l">
              <a:lnSpc>
                <a:spcPct val="100000"/>
              </a:lnSpc>
            </a:pPr>
            <a:r>
              <a:rPr sz="3200" b="0">
                <a:solidFill>
                  <a:srgbClr val="14161C"/>
                </a:solidFill>
                <a:latin typeface="Calibri"/>
              </a:rPr>
              <a:t>Orca đã cài và mở được trên máy, sẵn sàng chạy CLI agent trong từng worktree. README chỉ hướng dẫn cài; thao tác trong app nằm ở trang tài liệu của Orca.</a:t>
            </a:r>
          </a:p>
        </p:txBody>
      </p:sp>
      <p:sp>
        <p:nvSpPr>
          <p:cNvPr id="5"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2/27</a:t>
            </a:r>
          </a:p>
        </p:txBody>
      </p:sp>
      <p:sp>
        <p:nvSpPr>
          <p:cNvPr id="6"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7" name="progress"/>
          <p:cNvSpPr/>
          <p:nvPr/>
        </p:nvSpPr>
        <p:spPr>
          <a:xfrm>
            <a:off x="685800" y="6426200"/>
            <a:ext cx="801511" cy="88900"/>
          </a:xfrm>
          <a:prstGeom prst="rect">
            <a:avLst/>
          </a:prstGeom>
          <a:solidFill>
            <a:srgbClr val="E8472B"/>
          </a:solidFill>
          <a:ln>
            <a:noFill/>
          </a:ln>
        </p:spPr>
        <p:txBody>
          <a:bodyPr rtlCol="0" anchor="ctr"/>
          <a:lstStyle/>
          <a:p>
            <a:pPr algn="ctr"/>
          </a:p>
        </p:txBody>
      </p:sp>
      <p:sp>
        <p:nvSpPr>
          <p:cNvPr id="8"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Vấn đề nó giải quyết</a:t>
            </a:r>
          </a:p>
        </p:txBody>
      </p:sp>
      <p:sp>
        <p:nvSpPr>
          <p:cNvPr id="3" name="card text"/>
          <p:cNvSpPr txBox="1"/>
          <p:nvPr/>
        </p:nvSpPr>
        <p:spPr>
          <a:xfrm>
            <a:off x="685800" y="1326895"/>
            <a:ext cx="10820400" cy="1267968"/>
          </a:xfrm>
          <a:prstGeom prst="rect">
            <a:avLst/>
          </a:prstGeom>
          <a:noFill/>
        </p:spPr>
        <p:txBody>
          <a:bodyPr wrap="square" lIns="0" rIns="0" tIns="0" bIns="0" anchor="t">
            <a:noAutofit/>
          </a:bodyPr>
          <a:lstStyle/>
          <a:p>
            <a:pPr algn="l">
              <a:lnSpc>
                <a:spcPct val="100000"/>
              </a:lnSpc>
            </a:pPr>
            <a:r>
              <a:rPr sz="2600" b="0">
                <a:solidFill>
                  <a:srgbClr val="14161C"/>
                </a:solidFill>
                <a:latin typeface="Calibri"/>
              </a:rPr>
              <a:t>Chạy nhiều agent trên cùng một dự án cần mỗi agent một bản làm việc riêng và một chỗ để theo dõi tất cả. Orca cho mỗi agent một git worktree biệt lập và theo dõi chúng ở một nơi, để bạn so kết quả rồi merge bản tốt nhất.</a:t>
            </a:r>
          </a:p>
        </p:txBody>
      </p:sp>
      <p:sp>
        <p:nvSpPr>
          <p:cNvPr id="4" name="card"/>
          <p:cNvSpPr/>
          <p:nvPr/>
        </p:nvSpPr>
        <p:spPr>
          <a:xfrm>
            <a:off x="685800" y="2721864"/>
            <a:ext cx="10820400" cy="1545844"/>
          </a:xfrm>
          <a:prstGeom prst="roundRect">
            <a:avLst>
              <a:gd name="adj" fmla="val 13144"/>
            </a:avLst>
          </a:prstGeom>
          <a:solidFill>
            <a:srgbClr val="F3DFC1"/>
          </a:solidFill>
          <a:ln>
            <a:noFill/>
          </a:ln>
        </p:spPr>
        <p:txBody>
          <a:bodyPr rtlCol="0" anchor="ctr"/>
          <a:lstStyle/>
          <a:p>
            <a:pPr algn="ctr"/>
          </a:p>
        </p:txBody>
      </p:sp>
      <p:sp>
        <p:nvSpPr>
          <p:cNvPr id="5" name="bar"/>
          <p:cNvSpPr/>
          <p:nvPr/>
        </p:nvSpPr>
        <p:spPr>
          <a:xfrm>
            <a:off x="889000" y="2861564"/>
            <a:ext cx="76200" cy="1266444"/>
          </a:xfrm>
          <a:prstGeom prst="roundRect">
            <a:avLst>
              <a:gd name="adj" fmla="val 50000"/>
            </a:avLst>
          </a:prstGeom>
          <a:solidFill>
            <a:srgbClr val="E8472B"/>
          </a:solidFill>
          <a:ln>
            <a:noFill/>
          </a:ln>
        </p:spPr>
        <p:txBody>
          <a:bodyPr rtlCol="0" anchor="ctr"/>
          <a:lstStyle/>
          <a:p>
            <a:pPr algn="ctr"/>
          </a:p>
        </p:txBody>
      </p:sp>
      <p:sp>
        <p:nvSpPr>
          <p:cNvPr id="6" name="card text"/>
          <p:cNvSpPr txBox="1"/>
          <p:nvPr/>
        </p:nvSpPr>
        <p:spPr>
          <a:xfrm>
            <a:off x="1143000" y="2861564"/>
            <a:ext cx="10083800" cy="1266444"/>
          </a:xfrm>
          <a:prstGeom prst="rect">
            <a:avLst/>
          </a:prstGeom>
          <a:noFill/>
        </p:spPr>
        <p:txBody>
          <a:bodyPr wrap="square" lIns="0" rIns="0" tIns="0" bIns="0" anchor="ctr">
            <a:noAutofit/>
          </a:bodyPr>
          <a:lstStyle/>
          <a:p>
            <a:pPr algn="l">
              <a:lnSpc>
                <a:spcPct val="100000"/>
              </a:lnSpc>
            </a:pPr>
            <a:r>
              <a:rPr sz="2600" b="1">
                <a:solidFill>
                  <a:srgbClr val="14161C"/>
                </a:solidFill>
                <a:latin typeface="Calibri"/>
              </a:rPr>
              <a:t>Hình dung đời thường</a:t>
            </a:r>
          </a:p>
          <a:p>
            <a:pPr algn="l">
              <a:lnSpc>
                <a:spcPct val="100000"/>
              </a:lnSpc>
              <a:spcBef>
                <a:spcPts val="500"/>
              </a:spcBef>
            </a:pPr>
            <a:r>
              <a:rPr sz="2400" b="0">
                <a:solidFill>
                  <a:srgbClr val="14161C"/>
                </a:solidFill>
                <a:latin typeface="Calibri"/>
              </a:rPr>
              <a:t>Giống một lớp có năm bàn riêng: mỗi bạn làm cùng một đề trên bàn của mình, cuối giờ thầy đặt các bài cạnh nhau và chọn bài tốt nhất.</a:t>
            </a:r>
          </a:p>
        </p:txBody>
      </p:sp>
      <p:sp>
        <p:nvSpPr>
          <p:cNvPr id="7"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3/27</a:t>
            </a:r>
          </a:p>
        </p:txBody>
      </p:sp>
      <p:sp>
        <p:nvSpPr>
          <p:cNvPr id="8"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9" name="progress"/>
          <p:cNvSpPr/>
          <p:nvPr/>
        </p:nvSpPr>
        <p:spPr>
          <a:xfrm>
            <a:off x="685800" y="6426200"/>
            <a:ext cx="1202266" cy="88900"/>
          </a:xfrm>
          <a:prstGeom prst="rect">
            <a:avLst/>
          </a:prstGeom>
          <a:solidFill>
            <a:srgbClr val="E8472B"/>
          </a:solidFill>
          <a:ln>
            <a:noFill/>
          </a:ln>
        </p:spPr>
        <p:txBody>
          <a:bodyPr rtlCol="0" anchor="ctr"/>
          <a:lstStyle/>
          <a:p>
            <a:pPr algn="ctr"/>
          </a:p>
        </p:txBody>
      </p:sp>
      <p:sp>
        <p:nvSpPr>
          <p:cNvPr id="10"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Ai nên xem</a:t>
            </a:r>
          </a:p>
        </p:txBody>
      </p:sp>
      <p:sp>
        <p:nvSpPr>
          <p:cNvPr id="3" name="card"/>
          <p:cNvSpPr/>
          <p:nvPr/>
        </p:nvSpPr>
        <p:spPr>
          <a:xfrm>
            <a:off x="685800" y="1326895"/>
            <a:ext cx="10820400" cy="994663"/>
          </a:xfrm>
          <a:prstGeom prst="roundRect">
            <a:avLst>
              <a:gd name="adj" fmla="val 20429"/>
            </a:avLst>
          </a:prstGeom>
          <a:solidFill>
            <a:srgbClr val="E8E0CF"/>
          </a:solidFill>
          <a:ln>
            <a:noFill/>
          </a:ln>
        </p:spPr>
        <p:txBody>
          <a:bodyPr rtlCol="0" anchor="ctr"/>
          <a:lstStyle/>
          <a:p>
            <a:pPr algn="ctr"/>
          </a:p>
        </p:txBody>
      </p:sp>
      <p:sp>
        <p:nvSpPr>
          <p:cNvPr id="4" name="marker 1"/>
          <p:cNvSpPr/>
          <p:nvPr/>
        </p:nvSpPr>
        <p:spPr>
          <a:xfrm>
            <a:off x="965200" y="1570227"/>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5" name="card text"/>
          <p:cNvSpPr txBox="1"/>
          <p:nvPr/>
        </p:nvSpPr>
        <p:spPr>
          <a:xfrm>
            <a:off x="1701800" y="1466595"/>
            <a:ext cx="9525000" cy="715263"/>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Người dùng nhiều CLI agent muốn so kết quả cùng một yêu cầu mà không đụng nhau.</a:t>
            </a:r>
          </a:p>
        </p:txBody>
      </p:sp>
      <p:sp>
        <p:nvSpPr>
          <p:cNvPr id="6" name="card"/>
          <p:cNvSpPr/>
          <p:nvPr/>
        </p:nvSpPr>
        <p:spPr>
          <a:xfrm>
            <a:off x="685800" y="2448560"/>
            <a:ext cx="10820400" cy="994663"/>
          </a:xfrm>
          <a:prstGeom prst="roundRect">
            <a:avLst>
              <a:gd name="adj" fmla="val 20429"/>
            </a:avLst>
          </a:prstGeom>
          <a:solidFill>
            <a:srgbClr val="E8E0CF"/>
          </a:solidFill>
          <a:ln>
            <a:noFill/>
          </a:ln>
        </p:spPr>
        <p:txBody>
          <a:bodyPr rtlCol="0" anchor="ctr"/>
          <a:lstStyle/>
          <a:p>
            <a:pPr algn="ctr"/>
          </a:p>
        </p:txBody>
      </p:sp>
      <p:sp>
        <p:nvSpPr>
          <p:cNvPr id="7" name="marker 2"/>
          <p:cNvSpPr/>
          <p:nvPr/>
        </p:nvSpPr>
        <p:spPr>
          <a:xfrm>
            <a:off x="965200" y="2691891"/>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8" name="card text"/>
          <p:cNvSpPr txBox="1"/>
          <p:nvPr/>
        </p:nvSpPr>
        <p:spPr>
          <a:xfrm>
            <a:off x="1701800" y="2588260"/>
            <a:ext cx="9525000" cy="715263"/>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Người muốn xem và nhận xét diff của agent ngay trong một app, kèm GitHub và Linear.</a:t>
            </a:r>
          </a:p>
        </p:txBody>
      </p:sp>
      <p:sp>
        <p:nvSpPr>
          <p:cNvPr id="9" name="card"/>
          <p:cNvSpPr/>
          <p:nvPr/>
        </p:nvSpPr>
        <p:spPr>
          <a:xfrm>
            <a:off x="685800" y="3570224"/>
            <a:ext cx="10820400" cy="660400"/>
          </a:xfrm>
          <a:prstGeom prst="roundRect">
            <a:avLst>
              <a:gd name="adj" fmla="val 30769"/>
            </a:avLst>
          </a:prstGeom>
          <a:solidFill>
            <a:srgbClr val="E8E0CF"/>
          </a:solidFill>
          <a:ln>
            <a:noFill/>
          </a:ln>
        </p:spPr>
        <p:txBody>
          <a:bodyPr rtlCol="0" anchor="ctr"/>
          <a:lstStyle/>
          <a:p>
            <a:pPr algn="ctr"/>
          </a:p>
        </p:txBody>
      </p:sp>
      <p:sp>
        <p:nvSpPr>
          <p:cNvPr id="10" name="marker 3"/>
          <p:cNvSpPr/>
          <p:nvPr/>
        </p:nvSpPr>
        <p:spPr>
          <a:xfrm>
            <a:off x="965200" y="3646424"/>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3</a:t>
            </a:r>
          </a:p>
        </p:txBody>
      </p:sp>
      <p:sp>
        <p:nvSpPr>
          <p:cNvPr id="11" name="card text"/>
          <p:cNvSpPr txBox="1"/>
          <p:nvPr/>
        </p:nvSpPr>
        <p:spPr>
          <a:xfrm>
            <a:off x="1701800" y="3709924"/>
            <a:ext cx="9525000" cy="381000"/>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Người cần nhìn tiến độ agent từ điện thoại hoặc chạy agent trên máy từ xa.</a:t>
            </a:r>
          </a:p>
        </p:txBody>
      </p:sp>
      <p:sp>
        <p:nvSpPr>
          <p:cNvPr id="12"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4/27</a:t>
            </a:r>
          </a:p>
        </p:txBody>
      </p:sp>
      <p:sp>
        <p:nvSpPr>
          <p:cNvPr id="13"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4" name="progress"/>
          <p:cNvSpPr/>
          <p:nvPr/>
        </p:nvSpPr>
        <p:spPr>
          <a:xfrm>
            <a:off x="685800" y="6426200"/>
            <a:ext cx="1603022" cy="88900"/>
          </a:xfrm>
          <a:prstGeom prst="rect">
            <a:avLst/>
          </a:prstGeom>
          <a:solidFill>
            <a:srgbClr val="E8472B"/>
          </a:solidFill>
          <a:ln>
            <a:noFill/>
          </a:ln>
        </p:spPr>
        <p:txBody>
          <a:bodyPr rtlCol="0" anchor="ctr"/>
          <a:lstStyle/>
          <a:p>
            <a:pPr algn="ctr"/>
          </a:p>
        </p:txBody>
      </p:sp>
      <p:sp>
        <p:nvSpPr>
          <p:cNvPr id="15"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Lưu ý trước khi dùng</a:t>
            </a:r>
          </a:p>
        </p:txBody>
      </p:sp>
      <p:sp>
        <p:nvSpPr>
          <p:cNvPr id="3" name="card"/>
          <p:cNvSpPr/>
          <p:nvPr/>
        </p:nvSpPr>
        <p:spPr>
          <a:xfrm>
            <a:off x="685800" y="1326895"/>
            <a:ext cx="10820400" cy="994663"/>
          </a:xfrm>
          <a:prstGeom prst="roundRect">
            <a:avLst>
              <a:gd name="adj" fmla="val 20429"/>
            </a:avLst>
          </a:prstGeom>
          <a:solidFill>
            <a:srgbClr val="F3DFC1"/>
          </a:solidFill>
          <a:ln>
            <a:noFill/>
          </a:ln>
        </p:spPr>
        <p:txBody>
          <a:bodyPr rtlCol="0" anchor="ctr"/>
          <a:lstStyle/>
          <a:p>
            <a:pPr algn="ctr"/>
          </a:p>
        </p:txBody>
      </p:sp>
      <p:sp>
        <p:nvSpPr>
          <p:cNvPr id="4" name="bar"/>
          <p:cNvSpPr/>
          <p:nvPr/>
        </p:nvSpPr>
        <p:spPr>
          <a:xfrm>
            <a:off x="889000" y="1466595"/>
            <a:ext cx="76200" cy="715263"/>
          </a:xfrm>
          <a:prstGeom prst="roundRect">
            <a:avLst>
              <a:gd name="adj" fmla="val 50000"/>
            </a:avLst>
          </a:prstGeom>
          <a:solidFill>
            <a:srgbClr val="E8472B"/>
          </a:solidFill>
          <a:ln>
            <a:noFill/>
          </a:ln>
        </p:spPr>
        <p:txBody>
          <a:bodyPr rtlCol="0" anchor="ctr"/>
          <a:lstStyle/>
          <a:p>
            <a:pPr algn="ctr"/>
          </a:p>
        </p:txBody>
      </p:sp>
      <p:sp>
        <p:nvSpPr>
          <p:cNvPr id="5" name="card text"/>
          <p:cNvSpPr txBox="1"/>
          <p:nvPr/>
        </p:nvSpPr>
        <p:spPr>
          <a:xfrm>
            <a:off x="1143000" y="1466595"/>
            <a:ext cx="10083800" cy="715263"/>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Dự án đổi nhanh: README nói phát hành hằng ngày và danh sách tính năng luôn cũ hơn changelog.</a:t>
            </a:r>
          </a:p>
        </p:txBody>
      </p:sp>
      <p:sp>
        <p:nvSpPr>
          <p:cNvPr id="6" name="card"/>
          <p:cNvSpPr/>
          <p:nvPr/>
        </p:nvSpPr>
        <p:spPr>
          <a:xfrm>
            <a:off x="685800" y="2448560"/>
            <a:ext cx="10820400" cy="994663"/>
          </a:xfrm>
          <a:prstGeom prst="roundRect">
            <a:avLst>
              <a:gd name="adj" fmla="val 20429"/>
            </a:avLst>
          </a:prstGeom>
          <a:solidFill>
            <a:srgbClr val="F3DFC1"/>
          </a:solidFill>
          <a:ln>
            <a:noFill/>
          </a:ln>
        </p:spPr>
        <p:txBody>
          <a:bodyPr rtlCol="0" anchor="ctr"/>
          <a:lstStyle/>
          <a:p>
            <a:pPr algn="ctr"/>
          </a:p>
        </p:txBody>
      </p:sp>
      <p:sp>
        <p:nvSpPr>
          <p:cNvPr id="7" name="bar"/>
          <p:cNvSpPr/>
          <p:nvPr/>
        </p:nvSpPr>
        <p:spPr>
          <a:xfrm>
            <a:off x="889000" y="2588260"/>
            <a:ext cx="76200" cy="715263"/>
          </a:xfrm>
          <a:prstGeom prst="roundRect">
            <a:avLst>
              <a:gd name="adj" fmla="val 50000"/>
            </a:avLst>
          </a:prstGeom>
          <a:solidFill>
            <a:srgbClr val="E8472B"/>
          </a:solidFill>
          <a:ln>
            <a:noFill/>
          </a:ln>
        </p:spPr>
        <p:txBody>
          <a:bodyPr rtlCol="0" anchor="ctr"/>
          <a:lstStyle/>
          <a:p>
            <a:pPr algn="ctr"/>
          </a:p>
        </p:txBody>
      </p:sp>
      <p:sp>
        <p:nvSpPr>
          <p:cNvPr id="8" name="card text"/>
          <p:cNvSpPr txBox="1"/>
          <p:nvPr/>
        </p:nvSpPr>
        <p:spPr>
          <a:xfrm>
            <a:off x="1143000" y="2588260"/>
            <a:ext cx="10083800" cy="715263"/>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README không nói Orca kèm sẵn agent: mỗi CLI agent bạn dùng phải tự cài và chạy được trong terminal.</a:t>
            </a:r>
          </a:p>
        </p:txBody>
      </p:sp>
      <p:sp>
        <p:nvSpPr>
          <p:cNvPr id="9" name="card"/>
          <p:cNvSpPr/>
          <p:nvPr/>
        </p:nvSpPr>
        <p:spPr>
          <a:xfrm>
            <a:off x="685800" y="3570224"/>
            <a:ext cx="10820400" cy="660400"/>
          </a:xfrm>
          <a:prstGeom prst="roundRect">
            <a:avLst>
              <a:gd name="adj" fmla="val 30769"/>
            </a:avLst>
          </a:prstGeom>
          <a:solidFill>
            <a:srgbClr val="F3DFC1"/>
          </a:solidFill>
          <a:ln>
            <a:noFill/>
          </a:ln>
        </p:spPr>
        <p:txBody>
          <a:bodyPr rtlCol="0" anchor="ctr"/>
          <a:lstStyle/>
          <a:p>
            <a:pPr algn="ctr"/>
          </a:p>
        </p:txBody>
      </p:sp>
      <p:sp>
        <p:nvSpPr>
          <p:cNvPr id="10" name="bar"/>
          <p:cNvSpPr/>
          <p:nvPr/>
        </p:nvSpPr>
        <p:spPr>
          <a:xfrm>
            <a:off x="889000" y="3709924"/>
            <a:ext cx="76200" cy="381000"/>
          </a:xfrm>
          <a:prstGeom prst="roundRect">
            <a:avLst>
              <a:gd name="adj" fmla="val 50000"/>
            </a:avLst>
          </a:prstGeom>
          <a:solidFill>
            <a:srgbClr val="E8472B"/>
          </a:solidFill>
          <a:ln>
            <a:noFill/>
          </a:ln>
        </p:spPr>
        <p:txBody>
          <a:bodyPr rtlCol="0" anchor="ctr"/>
          <a:lstStyle/>
          <a:p>
            <a:pPr algn="ctr"/>
          </a:p>
        </p:txBody>
      </p:sp>
      <p:sp>
        <p:nvSpPr>
          <p:cNvPr id="11" name="card text"/>
          <p:cNvSpPr txBox="1"/>
          <p:nvPr/>
        </p:nvSpPr>
        <p:spPr>
          <a:xfrm>
            <a:off x="1143000" y="3709924"/>
            <a:ext cx="10083800" cy="381000"/>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Có thu thập dữ liệu sử dụng ẩn danh; README dẫn tới trang nói rõ thu gì và cách tắt.</a:t>
            </a:r>
          </a:p>
        </p:txBody>
      </p:sp>
      <p:sp>
        <p:nvSpPr>
          <p:cNvPr id="12" name="card"/>
          <p:cNvSpPr/>
          <p:nvPr/>
        </p:nvSpPr>
        <p:spPr>
          <a:xfrm>
            <a:off x="685800" y="4357624"/>
            <a:ext cx="10820400" cy="994663"/>
          </a:xfrm>
          <a:prstGeom prst="roundRect">
            <a:avLst>
              <a:gd name="adj" fmla="val 20429"/>
            </a:avLst>
          </a:prstGeom>
          <a:solidFill>
            <a:srgbClr val="F3DFC1"/>
          </a:solidFill>
          <a:ln>
            <a:noFill/>
          </a:ln>
        </p:spPr>
        <p:txBody>
          <a:bodyPr rtlCol="0" anchor="ctr"/>
          <a:lstStyle/>
          <a:p>
            <a:pPr algn="ctr"/>
          </a:p>
        </p:txBody>
      </p:sp>
      <p:sp>
        <p:nvSpPr>
          <p:cNvPr id="13" name="bar"/>
          <p:cNvSpPr/>
          <p:nvPr/>
        </p:nvSpPr>
        <p:spPr>
          <a:xfrm>
            <a:off x="889000" y="4497324"/>
            <a:ext cx="76200" cy="715263"/>
          </a:xfrm>
          <a:prstGeom prst="roundRect">
            <a:avLst>
              <a:gd name="adj" fmla="val 50000"/>
            </a:avLst>
          </a:prstGeom>
          <a:solidFill>
            <a:srgbClr val="E8472B"/>
          </a:solidFill>
          <a:ln>
            <a:noFill/>
          </a:ln>
        </p:spPr>
        <p:txBody>
          <a:bodyPr rtlCol="0" anchor="ctr"/>
          <a:lstStyle/>
          <a:p>
            <a:pPr algn="ctr"/>
          </a:p>
        </p:txBody>
      </p:sp>
      <p:sp>
        <p:nvSpPr>
          <p:cNvPr id="14" name="card text"/>
          <p:cNvSpPr txBox="1"/>
          <p:nvPr/>
        </p:nvSpPr>
        <p:spPr>
          <a:xfrm>
            <a:off x="1143000" y="4497324"/>
            <a:ext cx="10083800" cy="715263"/>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README không nói relay của app điện thoại chạy ở đâu; chỉ nói mã relay nằm trong cloud/.</a:t>
            </a:r>
          </a:p>
        </p:txBody>
      </p:sp>
      <p:sp>
        <p:nvSpPr>
          <p:cNvPr id="15"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5/27</a:t>
            </a:r>
          </a:p>
        </p:txBody>
      </p:sp>
      <p:sp>
        <p:nvSpPr>
          <p:cNvPr id="16"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7" name="progress"/>
          <p:cNvSpPr/>
          <p:nvPr/>
        </p:nvSpPr>
        <p:spPr>
          <a:xfrm>
            <a:off x="685800" y="6426200"/>
            <a:ext cx="2003777" cy="88900"/>
          </a:xfrm>
          <a:prstGeom prst="rect">
            <a:avLst/>
          </a:prstGeom>
          <a:solidFill>
            <a:srgbClr val="E8472B"/>
          </a:solidFill>
          <a:ln>
            <a:noFill/>
          </a:ln>
        </p:spPr>
        <p:txBody>
          <a:bodyPr rtlCol="0" anchor="ctr"/>
          <a:lstStyle/>
          <a:p>
            <a:pPr algn="ctr"/>
          </a:p>
        </p:txBody>
      </p:sp>
      <p:sp>
        <p:nvSpPr>
          <p:cNvPr id="18"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Chuẩn bị trước khi bắt đầu (1/2)</a:t>
            </a:r>
          </a:p>
        </p:txBody>
      </p:sp>
      <p:sp>
        <p:nvSpPr>
          <p:cNvPr id="3" name="text"/>
          <p:cNvSpPr txBox="1"/>
          <p:nvPr/>
        </p:nvSpPr>
        <p:spPr>
          <a:xfrm>
            <a:off x="685800" y="1326895"/>
            <a:ext cx="10820400" cy="375920"/>
          </a:xfrm>
          <a:prstGeom prst="rect">
            <a:avLst/>
          </a:prstGeom>
          <a:noFill/>
        </p:spPr>
        <p:txBody>
          <a:bodyPr wrap="square" lIns="0" rIns="0" tIns="0" bIns="0" anchor="t">
            <a:noAutofit/>
          </a:bodyPr>
          <a:lstStyle/>
          <a:p>
            <a:pPr algn="l">
              <a:lnSpc>
                <a:spcPct val="100000"/>
              </a:lnSpc>
            </a:pPr>
            <a:r>
              <a:rPr sz="2000" b="0">
                <a:solidFill>
                  <a:srgbClr val="6B6A66"/>
                </a:solidFill>
                <a:latin typeface="Calibri"/>
              </a:rPr>
              <a:t>Đánh dấu từng mục khi đã có đủ.</a:t>
            </a:r>
          </a:p>
        </p:txBody>
      </p:sp>
      <p:sp>
        <p:nvSpPr>
          <p:cNvPr id="4" name="card"/>
          <p:cNvSpPr/>
          <p:nvPr/>
        </p:nvSpPr>
        <p:spPr>
          <a:xfrm>
            <a:off x="685800" y="1829815"/>
            <a:ext cx="10820400" cy="1804415"/>
          </a:xfrm>
          <a:prstGeom prst="roundRect">
            <a:avLst>
              <a:gd name="adj" fmla="val 11261"/>
            </a:avLst>
          </a:prstGeom>
          <a:solidFill>
            <a:srgbClr val="E8E0CF"/>
          </a:solidFill>
          <a:ln>
            <a:noFill/>
          </a:ln>
        </p:spPr>
        <p:txBody>
          <a:bodyPr rtlCol="0" anchor="ctr"/>
          <a:lstStyle/>
          <a:p>
            <a:pPr algn="ctr"/>
          </a:p>
        </p:txBody>
      </p:sp>
      <p:sp>
        <p:nvSpPr>
          <p:cNvPr id="5" name="tick box"/>
          <p:cNvSpPr/>
          <p:nvPr/>
        </p:nvSpPr>
        <p:spPr>
          <a:xfrm>
            <a:off x="1016000" y="2528823"/>
            <a:ext cx="406400" cy="406400"/>
          </a:xfrm>
          <a:prstGeom prst="roundRect">
            <a:avLst>
              <a:gd name="adj" fmla="val 25000"/>
            </a:avLst>
          </a:prstGeom>
          <a:noFill/>
          <a:ln w="38100">
            <a:solidFill>
              <a:srgbClr val="0F766E"/>
            </a:solidFill>
          </a:ln>
        </p:spPr>
        <p:txBody>
          <a:bodyPr rtlCol="0" anchor="ctr"/>
          <a:lstStyle/>
          <a:p>
            <a:pPr algn="ctr"/>
          </a:p>
        </p:txBody>
      </p:sp>
      <p:sp>
        <p:nvSpPr>
          <p:cNvPr id="6" name="card text"/>
          <p:cNvSpPr txBox="1"/>
          <p:nvPr/>
        </p:nvSpPr>
        <p:spPr>
          <a:xfrm>
            <a:off x="1701800" y="1969515"/>
            <a:ext cx="9525000" cy="1525015"/>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Máy macOS, Windows hoặc Linux</a:t>
            </a:r>
          </a:p>
          <a:p>
            <a:pPr algn="l">
              <a:lnSpc>
                <a:spcPct val="100000"/>
              </a:lnSpc>
              <a:spcBef>
                <a:spcPts val="500"/>
              </a:spcBef>
            </a:pPr>
            <a:r>
              <a:rPr sz="2200" b="0">
                <a:solidFill>
                  <a:srgbClr val="14161C"/>
                </a:solidFill>
                <a:latin typeface="Calibri"/>
              </a:rPr>
              <a:t>README có bản cài cho cả ba: macOS (Apple Silicon và Intel), Windows (.exe), Linux (AppImage).</a:t>
            </a:r>
          </a:p>
          <a:p>
            <a:pPr algn="l">
              <a:lnSpc>
                <a:spcPct val="100000"/>
              </a:lnSpc>
              <a:spcBef>
                <a:spcPts val="500"/>
              </a:spcBef>
            </a:pPr>
            <a:r>
              <a:rPr sz="1800" b="0">
                <a:solidFill>
                  <a:srgbClr val="14161C"/>
                </a:solidFill>
                <a:latin typeface="Calibri"/>
              </a:rPr>
              <a:t>Liên kết trong README: </a:t>
            </a:r>
            <a:r>
              <a:rPr sz="1800" b="0" u="sng">
                <a:solidFill>
                  <a:srgbClr val="1F3FD1"/>
                </a:solidFill>
                <a:latin typeface="Calibri"/>
                <a:hlinkClick r:id="rId2"/>
              </a:rPr>
              <a:t>Download Orca</a:t>
            </a:r>
          </a:p>
        </p:txBody>
      </p:sp>
      <p:sp>
        <p:nvSpPr>
          <p:cNvPr id="7" name="card"/>
          <p:cNvSpPr/>
          <p:nvPr/>
        </p:nvSpPr>
        <p:spPr>
          <a:xfrm>
            <a:off x="685800" y="3761231"/>
            <a:ext cx="10820400" cy="1448308"/>
          </a:xfrm>
          <a:prstGeom prst="roundRect">
            <a:avLst>
              <a:gd name="adj" fmla="val 14030"/>
            </a:avLst>
          </a:prstGeom>
          <a:solidFill>
            <a:srgbClr val="E8E0CF"/>
          </a:solidFill>
          <a:ln>
            <a:noFill/>
          </a:ln>
        </p:spPr>
        <p:txBody>
          <a:bodyPr rtlCol="0" anchor="ctr"/>
          <a:lstStyle/>
          <a:p>
            <a:pPr algn="ctr"/>
          </a:p>
        </p:txBody>
      </p:sp>
      <p:sp>
        <p:nvSpPr>
          <p:cNvPr id="8" name="tick box"/>
          <p:cNvSpPr/>
          <p:nvPr/>
        </p:nvSpPr>
        <p:spPr>
          <a:xfrm>
            <a:off x="1016000" y="4282185"/>
            <a:ext cx="406400" cy="406400"/>
          </a:xfrm>
          <a:prstGeom prst="roundRect">
            <a:avLst>
              <a:gd name="adj" fmla="val 25000"/>
            </a:avLst>
          </a:prstGeom>
          <a:noFill/>
          <a:ln w="38100">
            <a:solidFill>
              <a:srgbClr val="0F766E"/>
            </a:solidFill>
          </a:ln>
        </p:spPr>
        <p:txBody>
          <a:bodyPr rtlCol="0" anchor="ctr"/>
          <a:lstStyle/>
          <a:p>
            <a:pPr algn="ctr"/>
          </a:p>
        </p:txBody>
      </p:sp>
      <p:sp>
        <p:nvSpPr>
          <p:cNvPr id="9" name="card text"/>
          <p:cNvSpPr txBox="1"/>
          <p:nvPr/>
        </p:nvSpPr>
        <p:spPr>
          <a:xfrm>
            <a:off x="1701800" y="3900931"/>
            <a:ext cx="9525000" cy="1168908"/>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Ít nhất một CLI agent đã cài</a:t>
            </a:r>
          </a:p>
          <a:p>
            <a:pPr algn="l">
              <a:lnSpc>
                <a:spcPct val="100000"/>
              </a:lnSpc>
              <a:spcBef>
                <a:spcPts val="500"/>
              </a:spcBef>
            </a:pPr>
            <a:r>
              <a:rPr sz="2200" b="0">
                <a:solidFill>
                  <a:srgbClr val="14161C"/>
                </a:solidFill>
                <a:latin typeface="Calibri"/>
              </a:rPr>
              <a:t>README: Orca chạy mọi CLI agent nếu nó chạy được trong terminal (Claude Code, Codex, OpenCode, Pi...).</a:t>
            </a:r>
          </a:p>
        </p:txBody>
      </p:sp>
      <p:sp>
        <p:nvSpPr>
          <p:cNvPr id="10"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6/27</a:t>
            </a:r>
          </a:p>
        </p:txBody>
      </p:sp>
      <p:sp>
        <p:nvSpPr>
          <p:cNvPr id="11"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2" name="progress"/>
          <p:cNvSpPr/>
          <p:nvPr/>
        </p:nvSpPr>
        <p:spPr>
          <a:xfrm>
            <a:off x="685800" y="6426200"/>
            <a:ext cx="2404533" cy="88900"/>
          </a:xfrm>
          <a:prstGeom prst="rect">
            <a:avLst/>
          </a:prstGeom>
          <a:solidFill>
            <a:srgbClr val="E8472B"/>
          </a:solidFill>
          <a:ln>
            <a:noFill/>
          </a:ln>
        </p:spPr>
        <p:txBody>
          <a:bodyPr rtlCol="0" anchor="ctr"/>
          <a:lstStyle/>
          <a:p>
            <a:pPr algn="ctr"/>
          </a:p>
        </p:txBody>
      </p:sp>
      <p:sp>
        <p:nvSpPr>
          <p:cNvPr id="13"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Chuẩn bị trước khi bắt đầu (2/2)</a:t>
            </a:r>
          </a:p>
        </p:txBody>
      </p:sp>
      <p:sp>
        <p:nvSpPr>
          <p:cNvPr id="3" name="card"/>
          <p:cNvSpPr/>
          <p:nvPr/>
        </p:nvSpPr>
        <p:spPr>
          <a:xfrm>
            <a:off x="685800" y="1326895"/>
            <a:ext cx="10820400" cy="1090676"/>
          </a:xfrm>
          <a:prstGeom prst="roundRect">
            <a:avLst>
              <a:gd name="adj" fmla="val 18630"/>
            </a:avLst>
          </a:prstGeom>
          <a:solidFill>
            <a:srgbClr val="E8E0CF"/>
          </a:solidFill>
          <a:ln>
            <a:noFill/>
          </a:ln>
        </p:spPr>
        <p:txBody>
          <a:bodyPr rtlCol="0" anchor="ctr"/>
          <a:lstStyle/>
          <a:p>
            <a:pPr algn="ctr"/>
          </a:p>
        </p:txBody>
      </p:sp>
      <p:sp>
        <p:nvSpPr>
          <p:cNvPr id="4" name="tick box"/>
          <p:cNvSpPr/>
          <p:nvPr/>
        </p:nvSpPr>
        <p:spPr>
          <a:xfrm>
            <a:off x="1016000" y="1669033"/>
            <a:ext cx="406400" cy="406400"/>
          </a:xfrm>
          <a:prstGeom prst="roundRect">
            <a:avLst>
              <a:gd name="adj" fmla="val 25000"/>
            </a:avLst>
          </a:prstGeom>
          <a:noFill/>
          <a:ln w="38100">
            <a:solidFill>
              <a:srgbClr val="0F766E"/>
            </a:solidFill>
          </a:ln>
        </p:spPr>
        <p:txBody>
          <a:bodyPr rtlCol="0" anchor="ctr"/>
          <a:lstStyle/>
          <a:p>
            <a:pPr algn="ctr"/>
          </a:p>
        </p:txBody>
      </p:sp>
      <p:sp>
        <p:nvSpPr>
          <p:cNvPr id="5" name="card text"/>
          <p:cNvSpPr txBox="1"/>
          <p:nvPr/>
        </p:nvSpPr>
        <p:spPr>
          <a:xfrm>
            <a:off x="1701800" y="1466595"/>
            <a:ext cx="9525000" cy="811276"/>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Homebrew (macOS) hoặc yay (Arch Linux)</a:t>
            </a:r>
          </a:p>
          <a:p>
            <a:pPr algn="l">
              <a:lnSpc>
                <a:spcPct val="100000"/>
              </a:lnSpc>
              <a:spcBef>
                <a:spcPts val="500"/>
              </a:spcBef>
            </a:pPr>
            <a:r>
              <a:rPr sz="2200" b="0">
                <a:solidFill>
                  <a:srgbClr val="14161C"/>
                </a:solidFill>
                <a:latin typeface="Calibri"/>
              </a:rPr>
              <a:t>Chỉ cần nếu muốn cài bằng dòng lệnh thay vì tải bộ cài.</a:t>
            </a:r>
          </a:p>
        </p:txBody>
      </p:sp>
      <p:sp>
        <p:nvSpPr>
          <p:cNvPr id="6" name="card"/>
          <p:cNvSpPr/>
          <p:nvPr/>
        </p:nvSpPr>
        <p:spPr>
          <a:xfrm>
            <a:off x="685800" y="2544572"/>
            <a:ext cx="10820400" cy="1090676"/>
          </a:xfrm>
          <a:prstGeom prst="roundRect">
            <a:avLst>
              <a:gd name="adj" fmla="val 18630"/>
            </a:avLst>
          </a:prstGeom>
          <a:solidFill>
            <a:srgbClr val="E8E0CF"/>
          </a:solidFill>
          <a:ln>
            <a:noFill/>
          </a:ln>
        </p:spPr>
        <p:txBody>
          <a:bodyPr rtlCol="0" anchor="ctr"/>
          <a:lstStyle/>
          <a:p>
            <a:pPr algn="ctr"/>
          </a:p>
        </p:txBody>
      </p:sp>
      <p:sp>
        <p:nvSpPr>
          <p:cNvPr id="7" name="tick box"/>
          <p:cNvSpPr/>
          <p:nvPr/>
        </p:nvSpPr>
        <p:spPr>
          <a:xfrm>
            <a:off x="1016000" y="2886710"/>
            <a:ext cx="406400" cy="406400"/>
          </a:xfrm>
          <a:prstGeom prst="roundRect">
            <a:avLst>
              <a:gd name="adj" fmla="val 25000"/>
            </a:avLst>
          </a:prstGeom>
          <a:noFill/>
          <a:ln w="38100">
            <a:solidFill>
              <a:srgbClr val="0F766E"/>
            </a:solidFill>
          </a:ln>
        </p:spPr>
        <p:txBody>
          <a:bodyPr rtlCol="0" anchor="ctr"/>
          <a:lstStyle/>
          <a:p>
            <a:pPr algn="ctr"/>
          </a:p>
        </p:txBody>
      </p:sp>
      <p:sp>
        <p:nvSpPr>
          <p:cNvPr id="8" name="card text"/>
          <p:cNvSpPr txBox="1"/>
          <p:nvPr/>
        </p:nvSpPr>
        <p:spPr>
          <a:xfrm>
            <a:off x="1701800" y="2684272"/>
            <a:ext cx="9525000" cy="811276"/>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iPhone hoặc Android (tùy chọn)</a:t>
            </a:r>
          </a:p>
          <a:p>
            <a:pPr algn="l">
              <a:lnSpc>
                <a:spcPct val="100000"/>
              </a:lnSpc>
              <a:spcBef>
                <a:spcPts val="500"/>
              </a:spcBef>
            </a:pPr>
            <a:r>
              <a:rPr sz="2200" b="0">
                <a:solidFill>
                  <a:srgbClr val="14161C"/>
                </a:solidFill>
                <a:latin typeface="Calibri"/>
              </a:rPr>
              <a:t>Cho app điện thoại đi kèm, ghép với app Orca trên máy tính.</a:t>
            </a:r>
          </a:p>
        </p:txBody>
      </p:sp>
      <p:sp>
        <p:nvSpPr>
          <p:cNvPr id="9"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7/27</a:t>
            </a:r>
          </a:p>
        </p:txBody>
      </p:sp>
      <p:sp>
        <p:nvSpPr>
          <p:cNvPr id="10"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1" name="progress"/>
          <p:cNvSpPr/>
          <p:nvPr/>
        </p:nvSpPr>
        <p:spPr>
          <a:xfrm>
            <a:off x="685800" y="6426200"/>
            <a:ext cx="2805288" cy="88900"/>
          </a:xfrm>
          <a:prstGeom prst="rect">
            <a:avLst/>
          </a:prstGeom>
          <a:solidFill>
            <a:srgbClr val="E8472B"/>
          </a:solidFill>
          <a:ln>
            <a:noFill/>
          </a:ln>
        </p:spPr>
        <p:txBody>
          <a:bodyPr rtlCol="0" anchor="ctr"/>
          <a:lstStyle/>
          <a:p>
            <a:pPr algn="ctr"/>
          </a:p>
        </p:txBody>
      </p:sp>
      <p:sp>
        <p:nvSpPr>
          <p:cNvPr id="12"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Lộ trình</a:t>
            </a:r>
          </a:p>
        </p:txBody>
      </p:sp>
      <p:sp>
        <p:nvSpPr>
          <p:cNvPr id="3" name="marker 1"/>
          <p:cNvSpPr/>
          <p:nvPr/>
        </p:nvSpPr>
        <p:spPr>
          <a:xfrm>
            <a:off x="685800" y="1390395"/>
            <a:ext cx="457200" cy="457200"/>
          </a:xfrm>
          <a:prstGeom prst="ellipse">
            <a:avLst/>
          </a:prstGeom>
          <a:solidFill>
            <a:srgbClr val="1F3FD1"/>
          </a:solidFill>
          <a:ln>
            <a:noFill/>
          </a:ln>
        </p:spPr>
        <p:txBody>
          <a:bodyPr rtlCol="0" anchor="ctr" lIns="0" rIns="0" tIns="0" bIns="0"/>
          <a:lstStyle/>
          <a:p>
            <a:pPr algn="ctr"/>
            <a:r>
              <a:rPr sz="1800" b="1">
                <a:solidFill>
                  <a:srgbClr val="FFFFFF"/>
                </a:solidFill>
                <a:latin typeface="Calibri"/>
              </a:rPr>
              <a:t>1</a:t>
            </a:r>
          </a:p>
        </p:txBody>
      </p:sp>
      <p:sp>
        <p:nvSpPr>
          <p:cNvPr id="4" name="step"/>
          <p:cNvSpPr txBox="1"/>
          <p:nvPr/>
        </p:nvSpPr>
        <p:spPr>
          <a:xfrm>
            <a:off x="1346200" y="1415795"/>
            <a:ext cx="4495800" cy="406400"/>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Chọn cách cài Orca</a:t>
            </a:r>
          </a:p>
        </p:txBody>
      </p:sp>
      <p:sp>
        <p:nvSpPr>
          <p:cNvPr id="5" name="marker 2"/>
          <p:cNvSpPr/>
          <p:nvPr/>
        </p:nvSpPr>
        <p:spPr>
          <a:xfrm>
            <a:off x="685800" y="2161540"/>
            <a:ext cx="457200" cy="457200"/>
          </a:xfrm>
          <a:prstGeom prst="ellipse">
            <a:avLst/>
          </a:prstGeom>
          <a:solidFill>
            <a:srgbClr val="0F766E"/>
          </a:solidFill>
          <a:ln>
            <a:noFill/>
          </a:ln>
        </p:spPr>
        <p:txBody>
          <a:bodyPr rtlCol="0" anchor="ctr" lIns="0" rIns="0" tIns="0" bIns="0"/>
          <a:lstStyle/>
          <a:p>
            <a:pPr algn="ctr"/>
            <a:r>
              <a:rPr sz="1800" b="1">
                <a:solidFill>
                  <a:srgbClr val="FFFFFF"/>
                </a:solidFill>
                <a:latin typeface="Calibri"/>
              </a:rPr>
              <a:t>2</a:t>
            </a:r>
          </a:p>
        </p:txBody>
      </p:sp>
      <p:sp>
        <p:nvSpPr>
          <p:cNvPr id="6" name="step"/>
          <p:cNvSpPr txBox="1"/>
          <p:nvPr/>
        </p:nvSpPr>
        <p:spPr>
          <a:xfrm>
            <a:off x="1346200" y="1999995"/>
            <a:ext cx="44958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Cài bằng dòng lệnh (macOS hoặc Arch Linux)</a:t>
            </a:r>
          </a:p>
        </p:txBody>
      </p:sp>
      <p:sp>
        <p:nvSpPr>
          <p:cNvPr id="7" name="marker 3"/>
          <p:cNvSpPr/>
          <p:nvPr/>
        </p:nvSpPr>
        <p:spPr>
          <a:xfrm>
            <a:off x="685800" y="2932684"/>
            <a:ext cx="457200" cy="457200"/>
          </a:xfrm>
          <a:prstGeom prst="ellipse">
            <a:avLst/>
          </a:prstGeom>
          <a:solidFill>
            <a:srgbClr val="1F3FD1"/>
          </a:solidFill>
          <a:ln>
            <a:noFill/>
          </a:ln>
        </p:spPr>
        <p:txBody>
          <a:bodyPr rtlCol="0" anchor="ctr" lIns="0" rIns="0" tIns="0" bIns="0"/>
          <a:lstStyle/>
          <a:p>
            <a:pPr algn="ctr"/>
            <a:r>
              <a:rPr sz="1800" b="1">
                <a:solidFill>
                  <a:srgbClr val="FFFFFF"/>
                </a:solidFill>
                <a:latin typeface="Calibri"/>
              </a:rPr>
              <a:t>3</a:t>
            </a:r>
          </a:p>
        </p:txBody>
      </p:sp>
      <p:sp>
        <p:nvSpPr>
          <p:cNvPr id="8" name="step"/>
          <p:cNvSpPr txBox="1"/>
          <p:nvPr/>
        </p:nvSpPr>
        <p:spPr>
          <a:xfrm>
            <a:off x="1346200" y="2958084"/>
            <a:ext cx="4495800" cy="406400"/>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Chuẩn bị một CLI agent</a:t>
            </a:r>
          </a:p>
        </p:txBody>
      </p:sp>
      <p:sp>
        <p:nvSpPr>
          <p:cNvPr id="9" name="marker 4"/>
          <p:cNvSpPr/>
          <p:nvPr/>
        </p:nvSpPr>
        <p:spPr>
          <a:xfrm>
            <a:off x="685800" y="3703828"/>
            <a:ext cx="457200" cy="457200"/>
          </a:xfrm>
          <a:prstGeom prst="ellipse">
            <a:avLst/>
          </a:prstGeom>
          <a:solidFill>
            <a:srgbClr val="0F766E"/>
          </a:solidFill>
          <a:ln>
            <a:noFill/>
          </a:ln>
        </p:spPr>
        <p:txBody>
          <a:bodyPr rtlCol="0" anchor="ctr" lIns="0" rIns="0" tIns="0" bIns="0"/>
          <a:lstStyle/>
          <a:p>
            <a:pPr algn="ctr"/>
            <a:r>
              <a:rPr sz="1800" b="1">
                <a:solidFill>
                  <a:srgbClr val="FFFFFF"/>
                </a:solidFill>
                <a:latin typeface="Calibri"/>
              </a:rPr>
              <a:t>4</a:t>
            </a:r>
          </a:p>
        </p:txBody>
      </p:sp>
      <p:sp>
        <p:nvSpPr>
          <p:cNvPr id="10" name="step"/>
          <p:cNvSpPr txBox="1"/>
          <p:nvPr/>
        </p:nvSpPr>
        <p:spPr>
          <a:xfrm>
            <a:off x="1346200" y="3542283"/>
            <a:ext cx="44958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Chạy nhiều agent song song bằng Parallel Worktrees</a:t>
            </a:r>
          </a:p>
        </p:txBody>
      </p:sp>
      <p:sp>
        <p:nvSpPr>
          <p:cNvPr id="11" name="marker 5"/>
          <p:cNvSpPr/>
          <p:nvPr/>
        </p:nvSpPr>
        <p:spPr>
          <a:xfrm>
            <a:off x="6299200" y="1577339"/>
            <a:ext cx="457200" cy="457200"/>
          </a:xfrm>
          <a:prstGeom prst="ellipse">
            <a:avLst/>
          </a:prstGeom>
          <a:solidFill>
            <a:srgbClr val="1F3FD1"/>
          </a:solidFill>
          <a:ln>
            <a:noFill/>
          </a:ln>
        </p:spPr>
        <p:txBody>
          <a:bodyPr rtlCol="0" anchor="ctr" lIns="0" rIns="0" tIns="0" bIns="0"/>
          <a:lstStyle/>
          <a:p>
            <a:pPr algn="ctr"/>
            <a:r>
              <a:rPr sz="1800" b="1">
                <a:solidFill>
                  <a:srgbClr val="FFFFFF"/>
                </a:solidFill>
                <a:latin typeface="Calibri"/>
              </a:rPr>
              <a:t>5</a:t>
            </a:r>
          </a:p>
        </p:txBody>
      </p:sp>
      <p:sp>
        <p:nvSpPr>
          <p:cNvPr id="12" name="step"/>
          <p:cNvSpPr txBox="1"/>
          <p:nvPr/>
        </p:nvSpPr>
        <p:spPr>
          <a:xfrm>
            <a:off x="6959600" y="1415795"/>
            <a:ext cx="44958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Xem diff và gửi nhận xét lại cho agent</a:t>
            </a:r>
          </a:p>
        </p:txBody>
      </p:sp>
      <p:sp>
        <p:nvSpPr>
          <p:cNvPr id="13" name="marker 6"/>
          <p:cNvSpPr/>
          <p:nvPr/>
        </p:nvSpPr>
        <p:spPr>
          <a:xfrm>
            <a:off x="6299200" y="2348484"/>
            <a:ext cx="457200" cy="457200"/>
          </a:xfrm>
          <a:prstGeom prst="ellipse">
            <a:avLst/>
          </a:prstGeom>
          <a:solidFill>
            <a:srgbClr val="0F766E"/>
          </a:solidFill>
          <a:ln>
            <a:noFill/>
          </a:ln>
        </p:spPr>
        <p:txBody>
          <a:bodyPr rtlCol="0" anchor="ctr" lIns="0" rIns="0" tIns="0" bIns="0"/>
          <a:lstStyle/>
          <a:p>
            <a:pPr algn="ctr"/>
            <a:r>
              <a:rPr sz="1800" b="1">
                <a:solidFill>
                  <a:srgbClr val="FFFFFF"/>
                </a:solidFill>
                <a:latin typeface="Calibri"/>
              </a:rPr>
              <a:t>6</a:t>
            </a:r>
          </a:p>
        </p:txBody>
      </p:sp>
      <p:sp>
        <p:nvSpPr>
          <p:cNvPr id="14" name="step"/>
          <p:cNvSpPr txBox="1"/>
          <p:nvPr/>
        </p:nvSpPr>
        <p:spPr>
          <a:xfrm>
            <a:off x="6959600" y="2373884"/>
            <a:ext cx="4495800" cy="406400"/>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Ghép app điện thoại (tùy chọn)</a:t>
            </a:r>
          </a:p>
        </p:txBody>
      </p:sp>
      <p:sp>
        <p:nvSpPr>
          <p:cNvPr id="15" name="marker 7"/>
          <p:cNvSpPr/>
          <p:nvPr/>
        </p:nvSpPr>
        <p:spPr>
          <a:xfrm>
            <a:off x="6299200" y="2932684"/>
            <a:ext cx="457200" cy="457200"/>
          </a:xfrm>
          <a:prstGeom prst="ellipse">
            <a:avLst/>
          </a:prstGeom>
          <a:solidFill>
            <a:srgbClr val="1F3FD1"/>
          </a:solidFill>
          <a:ln>
            <a:noFill/>
          </a:ln>
        </p:spPr>
        <p:txBody>
          <a:bodyPr rtlCol="0" anchor="ctr" lIns="0" rIns="0" tIns="0" bIns="0"/>
          <a:lstStyle/>
          <a:p>
            <a:pPr algn="ctr"/>
            <a:r>
              <a:rPr sz="1800" b="1">
                <a:solidFill>
                  <a:srgbClr val="FFFFFF"/>
                </a:solidFill>
                <a:latin typeface="Calibri"/>
              </a:rPr>
              <a:t>7</a:t>
            </a:r>
          </a:p>
        </p:txBody>
      </p:sp>
      <p:sp>
        <p:nvSpPr>
          <p:cNvPr id="16" name="step"/>
          <p:cNvSpPr txBox="1"/>
          <p:nvPr/>
        </p:nvSpPr>
        <p:spPr>
          <a:xfrm>
            <a:off x="6959600" y="2958084"/>
            <a:ext cx="4495800" cy="406400"/>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Điều khiển Orca bằng dòng lệnh</a:t>
            </a:r>
          </a:p>
        </p:txBody>
      </p:sp>
      <p:sp>
        <p:nvSpPr>
          <p:cNvPr id="17"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8/27</a:t>
            </a:r>
          </a:p>
        </p:txBody>
      </p:sp>
      <p:sp>
        <p:nvSpPr>
          <p:cNvPr id="18"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9" name="progress"/>
          <p:cNvSpPr/>
          <p:nvPr/>
        </p:nvSpPr>
        <p:spPr>
          <a:xfrm>
            <a:off x="685800" y="6426200"/>
            <a:ext cx="3206044" cy="88900"/>
          </a:xfrm>
          <a:prstGeom prst="rect">
            <a:avLst/>
          </a:prstGeom>
          <a:solidFill>
            <a:srgbClr val="E8472B"/>
          </a:solidFill>
          <a:ln>
            <a:noFill/>
          </a:ln>
        </p:spPr>
        <p:txBody>
          <a:bodyPr rtlCol="0" anchor="ctr"/>
          <a:lstStyle/>
          <a:p>
            <a:pPr algn="ctr"/>
          </a:p>
        </p:txBody>
      </p:sp>
      <p:sp>
        <p:nvSpPr>
          <p:cNvPr id="20"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kicker"/>
          <p:cNvSpPr txBox="1"/>
          <p:nvPr/>
        </p:nvSpPr>
        <p:spPr>
          <a:xfrm>
            <a:off x="685800" y="304800"/>
            <a:ext cx="8128000" cy="279400"/>
          </a:xfrm>
          <a:prstGeom prst="rect">
            <a:avLst/>
          </a:prstGeom>
          <a:noFill/>
        </p:spPr>
        <p:txBody>
          <a:bodyPr wrap="square" lIns="0" rIns="0" tIns="0" bIns="0" anchor="t">
            <a:noAutofit/>
          </a:bodyPr>
          <a:lstStyle/>
          <a:p>
            <a:pPr algn="l">
              <a:lnSpc>
                <a:spcPct val="100000"/>
              </a:lnSpc>
            </a:pPr>
            <a:r>
              <a:rPr sz="1600" b="1">
                <a:solidFill>
                  <a:srgbClr val="1F3FD1"/>
                </a:solidFill>
                <a:latin typeface="Calibri"/>
              </a:rPr>
              <a:t>Bước 1</a:t>
            </a:r>
          </a:p>
        </p:txBody>
      </p:sp>
      <p:sp>
        <p:nvSpPr>
          <p:cNvPr id="3"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Chọn cách cài Orca</a:t>
            </a:r>
          </a:p>
        </p:txBody>
      </p:sp>
      <p:sp>
        <p:nvSpPr>
          <p:cNvPr id="4" name="text"/>
          <p:cNvSpPr txBox="1"/>
          <p:nvPr/>
        </p:nvSpPr>
        <p:spPr>
          <a:xfrm>
            <a:off x="685800" y="1326895"/>
            <a:ext cx="10820400" cy="408431"/>
          </a:xfrm>
          <a:prstGeom prst="rect">
            <a:avLst/>
          </a:prstGeom>
          <a:noFill/>
        </p:spPr>
        <p:txBody>
          <a:bodyPr wrap="square" lIns="0" rIns="0" tIns="0" bIns="0" anchor="t">
            <a:noAutofit/>
          </a:bodyPr>
          <a:lstStyle/>
          <a:p>
            <a:pPr algn="l">
              <a:lnSpc>
                <a:spcPct val="100000"/>
              </a:lnSpc>
            </a:pPr>
            <a:r>
              <a:rPr sz="2200" b="1">
                <a:solidFill>
                  <a:srgbClr val="14161C"/>
                </a:solidFill>
                <a:latin typeface="Calibri"/>
              </a:rPr>
              <a:t>Mục đích: </a:t>
            </a:r>
            <a:r>
              <a:rPr sz="2200" b="0">
                <a:solidFill>
                  <a:srgbClr val="14161C"/>
                </a:solidFill>
                <a:latin typeface="Calibri"/>
              </a:rPr>
              <a:t>README có hai đường: tải bộ cài trực tiếp, hoặc cài bằng trình quản lý gói.</a:t>
            </a:r>
          </a:p>
        </p:txBody>
      </p:sp>
      <p:sp>
        <p:nvSpPr>
          <p:cNvPr id="5" name="card"/>
          <p:cNvSpPr/>
          <p:nvPr/>
        </p:nvSpPr>
        <p:spPr>
          <a:xfrm>
            <a:off x="685800" y="1862327"/>
            <a:ext cx="10820400" cy="1059688"/>
          </a:xfrm>
          <a:prstGeom prst="roundRect">
            <a:avLst>
              <a:gd name="adj" fmla="val 19175"/>
            </a:avLst>
          </a:prstGeom>
          <a:solidFill>
            <a:srgbClr val="E8E0CF"/>
          </a:solidFill>
          <a:ln>
            <a:noFill/>
          </a:ln>
        </p:spPr>
        <p:txBody>
          <a:bodyPr rtlCol="0" anchor="ctr"/>
          <a:lstStyle/>
          <a:p>
            <a:pPr algn="ctr"/>
          </a:p>
        </p:txBody>
      </p:sp>
      <p:sp>
        <p:nvSpPr>
          <p:cNvPr id="6" name="marker 1"/>
          <p:cNvSpPr/>
          <p:nvPr/>
        </p:nvSpPr>
        <p:spPr>
          <a:xfrm>
            <a:off x="965200" y="2138172"/>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7" name="card text"/>
          <p:cNvSpPr txBox="1"/>
          <p:nvPr/>
        </p:nvSpPr>
        <p:spPr>
          <a:xfrm>
            <a:off x="1701800" y="2002027"/>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Muốn tải bộ cài: mở trang tải của Orca (liên kết bên dưới) hoặc chọn bản đúng hệ điều hành trong mục Releases.</a:t>
            </a:r>
          </a:p>
        </p:txBody>
      </p:sp>
      <p:sp>
        <p:nvSpPr>
          <p:cNvPr id="8" name="card"/>
          <p:cNvSpPr/>
          <p:nvPr/>
        </p:nvSpPr>
        <p:spPr>
          <a:xfrm>
            <a:off x="685800" y="3049016"/>
            <a:ext cx="10820400" cy="669544"/>
          </a:xfrm>
          <a:prstGeom prst="roundRect">
            <a:avLst>
              <a:gd name="adj" fmla="val 30349"/>
            </a:avLst>
          </a:prstGeom>
          <a:solidFill>
            <a:srgbClr val="E8E0CF"/>
          </a:solidFill>
          <a:ln>
            <a:noFill/>
          </a:ln>
        </p:spPr>
        <p:txBody>
          <a:bodyPr rtlCol="0" anchor="ctr"/>
          <a:lstStyle/>
          <a:p>
            <a:pPr algn="ctr"/>
          </a:p>
        </p:txBody>
      </p:sp>
      <p:sp>
        <p:nvSpPr>
          <p:cNvPr id="9" name="marker 2"/>
          <p:cNvSpPr/>
          <p:nvPr/>
        </p:nvSpPr>
        <p:spPr>
          <a:xfrm>
            <a:off x="965200" y="3129788"/>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10" name="card text"/>
          <p:cNvSpPr txBox="1"/>
          <p:nvPr/>
        </p:nvSpPr>
        <p:spPr>
          <a:xfrm>
            <a:off x="1701800" y="3188716"/>
            <a:ext cx="9525000" cy="390144"/>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Muốn cài bằng dòng lệnh: làm tiếp bước 2.</a:t>
            </a:r>
          </a:p>
        </p:txBody>
      </p:sp>
      <p:sp>
        <p:nvSpPr>
          <p:cNvPr id="11" name="card"/>
          <p:cNvSpPr/>
          <p:nvPr/>
        </p:nvSpPr>
        <p:spPr>
          <a:xfrm>
            <a:off x="685800" y="3845559"/>
            <a:ext cx="10820400" cy="669544"/>
          </a:xfrm>
          <a:prstGeom prst="roundRect">
            <a:avLst>
              <a:gd name="adj" fmla="val 30349"/>
            </a:avLst>
          </a:prstGeom>
          <a:solidFill>
            <a:srgbClr val="E8E0CF"/>
          </a:solidFill>
          <a:ln>
            <a:noFill/>
          </a:ln>
        </p:spPr>
        <p:txBody>
          <a:bodyPr rtlCol="0" anchor="ctr"/>
          <a:lstStyle/>
          <a:p>
            <a:pPr algn="ctr"/>
          </a:p>
        </p:txBody>
      </p:sp>
      <p:sp>
        <p:nvSpPr>
          <p:cNvPr id="12" name="marker 3"/>
          <p:cNvSpPr/>
          <p:nvPr/>
        </p:nvSpPr>
        <p:spPr>
          <a:xfrm>
            <a:off x="965200" y="3926331"/>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3</a:t>
            </a:r>
          </a:p>
        </p:txBody>
      </p:sp>
      <p:sp>
        <p:nvSpPr>
          <p:cNvPr id="13" name="card text"/>
          <p:cNvSpPr txBox="1"/>
          <p:nvPr/>
        </p:nvSpPr>
        <p:spPr>
          <a:xfrm>
            <a:off x="1701800" y="3985259"/>
            <a:ext cx="9525000" cy="390144"/>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Bản dựng cho Windows ghi dùng chữ ký của SignPath Foundation.</a:t>
            </a:r>
          </a:p>
        </p:txBody>
      </p:sp>
      <p:sp>
        <p:nvSpPr>
          <p:cNvPr id="14" name="text"/>
          <p:cNvSpPr txBox="1"/>
          <p:nvPr/>
        </p:nvSpPr>
        <p:spPr>
          <a:xfrm>
            <a:off x="685800" y="4642104"/>
            <a:ext cx="10820400" cy="408431"/>
          </a:xfrm>
          <a:prstGeom prst="rect">
            <a:avLst/>
          </a:prstGeom>
          <a:noFill/>
        </p:spPr>
        <p:txBody>
          <a:bodyPr wrap="square" lIns="0" rIns="0" tIns="0" bIns="0" anchor="t">
            <a:noAutofit/>
          </a:bodyPr>
          <a:lstStyle/>
          <a:p>
            <a:pPr algn="l">
              <a:lnSpc>
                <a:spcPct val="100000"/>
              </a:lnSpc>
            </a:pPr>
            <a:r>
              <a:rPr sz="2200" b="0">
                <a:solidFill>
                  <a:srgbClr val="14161C"/>
                </a:solidFill>
                <a:latin typeface="Calibri"/>
              </a:rPr>
              <a:t>Liên kết trong README: </a:t>
            </a:r>
            <a:r>
              <a:rPr sz="2200" b="0" u="sng">
                <a:solidFill>
                  <a:srgbClr val="1F3FD1"/>
                </a:solidFill>
                <a:latin typeface="Calibri"/>
                <a:hlinkClick r:id="rId2"/>
              </a:rPr>
              <a:t>Download Orca</a:t>
            </a:r>
          </a:p>
        </p:txBody>
      </p:sp>
      <p:sp>
        <p:nvSpPr>
          <p:cNvPr id="15"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9/27</a:t>
            </a:r>
          </a:p>
        </p:txBody>
      </p:sp>
      <p:sp>
        <p:nvSpPr>
          <p:cNvPr id="16"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7" name="progress"/>
          <p:cNvSpPr/>
          <p:nvPr/>
        </p:nvSpPr>
        <p:spPr>
          <a:xfrm>
            <a:off x="685800" y="6426200"/>
            <a:ext cx="3606800" cy="88900"/>
          </a:xfrm>
          <a:prstGeom prst="rect">
            <a:avLst/>
          </a:prstGeom>
          <a:solidFill>
            <a:srgbClr val="E8472B"/>
          </a:solidFill>
          <a:ln>
            <a:noFill/>
          </a:ln>
        </p:spPr>
        <p:txBody>
          <a:bodyPr rtlCol="0" anchor="ctr"/>
          <a:lstStyle/>
          <a:p>
            <a:pPr algn="ctr"/>
          </a:p>
        </p:txBody>
      </p:sp>
      <p:sp>
        <p:nvSpPr>
          <p:cNvPr id="18"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kicker"/>
          <p:cNvSpPr txBox="1"/>
          <p:nvPr/>
        </p:nvSpPr>
        <p:spPr>
          <a:xfrm>
            <a:off x="685800" y="304800"/>
            <a:ext cx="8128000" cy="279400"/>
          </a:xfrm>
          <a:prstGeom prst="rect">
            <a:avLst/>
          </a:prstGeom>
          <a:noFill/>
        </p:spPr>
        <p:txBody>
          <a:bodyPr wrap="square" lIns="0" rIns="0" tIns="0" bIns="0" anchor="t">
            <a:noAutofit/>
          </a:bodyPr>
          <a:lstStyle/>
          <a:p>
            <a:pPr algn="l">
              <a:lnSpc>
                <a:spcPct val="100000"/>
              </a:lnSpc>
            </a:pPr>
            <a:r>
              <a:rPr sz="1600" b="1">
                <a:solidFill>
                  <a:srgbClr val="1F3FD1"/>
                </a:solidFill>
                <a:latin typeface="Calibri"/>
              </a:rPr>
              <a:t>Bước 2</a:t>
            </a:r>
          </a:p>
        </p:txBody>
      </p:sp>
      <p:sp>
        <p:nvSpPr>
          <p:cNvPr id="3"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Cài bằng dòng lệnh (macOS hoặc Arch Linux)</a:t>
            </a:r>
          </a:p>
        </p:txBody>
      </p:sp>
      <p:sp>
        <p:nvSpPr>
          <p:cNvPr id="4" name="text"/>
          <p:cNvSpPr txBox="1"/>
          <p:nvPr/>
        </p:nvSpPr>
        <p:spPr>
          <a:xfrm>
            <a:off x="685800" y="1326895"/>
            <a:ext cx="10820400" cy="408431"/>
          </a:xfrm>
          <a:prstGeom prst="rect">
            <a:avLst/>
          </a:prstGeom>
          <a:noFill/>
        </p:spPr>
        <p:txBody>
          <a:bodyPr wrap="square" lIns="0" rIns="0" tIns="0" bIns="0" anchor="t">
            <a:noAutofit/>
          </a:bodyPr>
          <a:lstStyle/>
          <a:p>
            <a:pPr algn="l">
              <a:lnSpc>
                <a:spcPct val="100000"/>
              </a:lnSpc>
            </a:pPr>
            <a:r>
              <a:rPr sz="2200" b="1">
                <a:solidFill>
                  <a:srgbClr val="14161C"/>
                </a:solidFill>
                <a:latin typeface="Calibri"/>
              </a:rPr>
              <a:t>Mục đích: </a:t>
            </a:r>
            <a:r>
              <a:rPr sz="2200" b="0">
                <a:solidFill>
                  <a:srgbClr val="14161C"/>
                </a:solidFill>
                <a:latin typeface="Calibri"/>
              </a:rPr>
              <a:t>Cài Orca mà không cần tải tay bộ cài.</a:t>
            </a:r>
          </a:p>
        </p:txBody>
      </p:sp>
      <p:sp>
        <p:nvSpPr>
          <p:cNvPr id="5" name="card"/>
          <p:cNvSpPr/>
          <p:nvPr/>
        </p:nvSpPr>
        <p:spPr>
          <a:xfrm>
            <a:off x="685800" y="1862327"/>
            <a:ext cx="10820400" cy="669544"/>
          </a:xfrm>
          <a:prstGeom prst="roundRect">
            <a:avLst>
              <a:gd name="adj" fmla="val 30349"/>
            </a:avLst>
          </a:prstGeom>
          <a:solidFill>
            <a:srgbClr val="E8E0CF"/>
          </a:solidFill>
          <a:ln>
            <a:noFill/>
          </a:ln>
        </p:spPr>
        <p:txBody>
          <a:bodyPr rtlCol="0" anchor="ctr"/>
          <a:lstStyle/>
          <a:p>
            <a:pPr algn="ctr"/>
          </a:p>
        </p:txBody>
      </p:sp>
      <p:sp>
        <p:nvSpPr>
          <p:cNvPr id="6" name="marker 1"/>
          <p:cNvSpPr/>
          <p:nvPr/>
        </p:nvSpPr>
        <p:spPr>
          <a:xfrm>
            <a:off x="965200" y="1943100"/>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7" name="card text"/>
          <p:cNvSpPr txBox="1"/>
          <p:nvPr/>
        </p:nvSpPr>
        <p:spPr>
          <a:xfrm>
            <a:off x="1701800" y="2002027"/>
            <a:ext cx="9525000" cy="390144"/>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Trên macOS, gõ lệnh dưới đây trong terminal.</a:t>
            </a:r>
          </a:p>
        </p:txBody>
      </p:sp>
      <p:sp>
        <p:nvSpPr>
          <p:cNvPr id="8" name="card"/>
          <p:cNvSpPr/>
          <p:nvPr/>
        </p:nvSpPr>
        <p:spPr>
          <a:xfrm>
            <a:off x="685800" y="2658872"/>
            <a:ext cx="10820400" cy="1059688"/>
          </a:xfrm>
          <a:prstGeom prst="roundRect">
            <a:avLst>
              <a:gd name="adj" fmla="val 19175"/>
            </a:avLst>
          </a:prstGeom>
          <a:solidFill>
            <a:srgbClr val="E8E0CF"/>
          </a:solidFill>
          <a:ln>
            <a:noFill/>
          </a:ln>
        </p:spPr>
        <p:txBody>
          <a:bodyPr rtlCol="0" anchor="ctr"/>
          <a:lstStyle/>
          <a:p>
            <a:pPr algn="ctr"/>
          </a:p>
        </p:txBody>
      </p:sp>
      <p:sp>
        <p:nvSpPr>
          <p:cNvPr id="9" name="marker 2"/>
          <p:cNvSpPr/>
          <p:nvPr/>
        </p:nvSpPr>
        <p:spPr>
          <a:xfrm>
            <a:off x="965200" y="2934716"/>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10" name="card text"/>
          <p:cNvSpPr txBox="1"/>
          <p:nvPr/>
        </p:nvSpPr>
        <p:spPr>
          <a:xfrm>
            <a:off x="1701800" y="2798572"/>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Trên Arch Linux (AUR), dùng </a:t>
            </a:r>
            <a:r>
              <a:rPr sz="2200" b="0">
                <a:solidFill>
                  <a:srgbClr val="B02D16"/>
                </a:solidFill>
                <a:latin typeface="Consolas"/>
              </a:rPr>
              <a:t>yay -S stably-orca-bin</a:t>
            </a:r>
            <a:r>
              <a:rPr sz="2400" b="0">
                <a:solidFill>
                  <a:srgbClr val="14161C"/>
                </a:solidFill>
                <a:latin typeface="Calibri"/>
              </a:rPr>
              <a:t>; README cũng nêu </a:t>
            </a:r>
            <a:r>
              <a:rPr sz="2200" b="0">
                <a:solidFill>
                  <a:srgbClr val="B02D16"/>
                </a:solidFill>
                <a:latin typeface="Consolas"/>
              </a:rPr>
              <a:t>stably-orca-git</a:t>
            </a:r>
            <a:r>
              <a:rPr sz="2400" b="0">
                <a:solidFill>
                  <a:srgbClr val="14161C"/>
                </a:solidFill>
                <a:latin typeface="Calibri"/>
              </a:rPr>
              <a:t> nếu muốn dựng từ mã nguồn.</a:t>
            </a:r>
          </a:p>
        </p:txBody>
      </p:sp>
      <p:sp>
        <p:nvSpPr>
          <p:cNvPr id="11" name="code label"/>
          <p:cNvSpPr txBox="1"/>
          <p:nvPr/>
        </p:nvSpPr>
        <p:spPr>
          <a:xfrm>
            <a:off x="685800" y="3845559"/>
            <a:ext cx="10820400" cy="279400"/>
          </a:xfrm>
          <a:prstGeom prst="rect">
            <a:avLst/>
          </a:prstGeom>
          <a:noFill/>
        </p:spPr>
        <p:txBody>
          <a:bodyPr wrap="square" lIns="0" rIns="0" tIns="0" bIns="0" anchor="t">
            <a:noAutofit/>
          </a:bodyPr>
          <a:lstStyle/>
          <a:p>
            <a:pPr algn="l">
              <a:lnSpc>
                <a:spcPct val="100000"/>
              </a:lnSpc>
            </a:pPr>
            <a:r>
              <a:rPr sz="1600" b="0">
                <a:solidFill>
                  <a:srgbClr val="6B6A66"/>
                </a:solidFill>
                <a:latin typeface="Calibri"/>
              </a:rPr>
              <a:t>Gõ hoặc dán từng dòng, theo thứ tự.</a:t>
            </a:r>
          </a:p>
        </p:txBody>
      </p:sp>
      <p:sp>
        <p:nvSpPr>
          <p:cNvPr id="12" name="code block"/>
          <p:cNvSpPr/>
          <p:nvPr/>
        </p:nvSpPr>
        <p:spPr>
          <a:xfrm>
            <a:off x="685800" y="4175759"/>
            <a:ext cx="10820400" cy="706119"/>
          </a:xfrm>
          <a:prstGeom prst="roundRect">
            <a:avLst>
              <a:gd name="adj" fmla="val 25179"/>
            </a:avLst>
          </a:prstGeom>
          <a:solidFill>
            <a:srgbClr val="14161C"/>
          </a:solidFill>
          <a:ln>
            <a:noFill/>
          </a:ln>
        </p:spPr>
        <p:txBody>
          <a:bodyPr rtlCol="0" anchor="ctr"/>
          <a:lstStyle/>
          <a:p>
            <a:pPr algn="ctr"/>
          </a:p>
        </p:txBody>
      </p:sp>
      <p:sp>
        <p:nvSpPr>
          <p:cNvPr id="13" name="code"/>
          <p:cNvSpPr txBox="1"/>
          <p:nvPr/>
        </p:nvSpPr>
        <p:spPr>
          <a:xfrm>
            <a:off x="965200" y="4353559"/>
            <a:ext cx="10261600" cy="350519"/>
          </a:xfrm>
          <a:prstGeom prst="rect">
            <a:avLst/>
          </a:prstGeom>
          <a:noFill/>
        </p:spPr>
        <p:txBody>
          <a:bodyPr wrap="square" lIns="0" rIns="0" tIns="0" bIns="0" anchor="ctr">
            <a:noAutofit/>
          </a:bodyPr>
          <a:lstStyle/>
          <a:p>
            <a:pPr algn="l">
              <a:lnSpc>
                <a:spcPct val="100000"/>
              </a:lnSpc>
            </a:pPr>
            <a:r>
              <a:rPr sz="2000" b="0">
                <a:solidFill>
                  <a:srgbClr val="F3EEE3"/>
                </a:solidFill>
                <a:latin typeface="Consolas"/>
              </a:rPr>
              <a:t>brew install --cask stablyai/orca/orca</a:t>
            </a:r>
          </a:p>
        </p:txBody>
      </p:sp>
      <p:sp>
        <p:nvSpPr>
          <p:cNvPr id="14"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10/27</a:t>
            </a:r>
          </a:p>
        </p:txBody>
      </p:sp>
      <p:sp>
        <p:nvSpPr>
          <p:cNvPr id="15"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6" name="progress"/>
          <p:cNvSpPr/>
          <p:nvPr/>
        </p:nvSpPr>
        <p:spPr>
          <a:xfrm>
            <a:off x="685800" y="6426200"/>
            <a:ext cx="4007555" cy="88900"/>
          </a:xfrm>
          <a:prstGeom prst="rect">
            <a:avLst/>
          </a:prstGeom>
          <a:solidFill>
            <a:srgbClr val="E8472B"/>
          </a:solidFill>
          <a:ln>
            <a:noFill/>
          </a:ln>
        </p:spPr>
        <p:txBody>
          <a:bodyPr rtlCol="0" anchor="ctr"/>
          <a:lstStyle/>
          <a:p>
            <a:pPr algn="ctr"/>
          </a:p>
        </p:txBody>
      </p:sp>
      <p:sp>
        <p:nvSpPr>
          <p:cNvPr id="17"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kicker"/>
          <p:cNvSpPr txBox="1"/>
          <p:nvPr/>
        </p:nvSpPr>
        <p:spPr>
          <a:xfrm>
            <a:off x="685800" y="304800"/>
            <a:ext cx="8128000" cy="279400"/>
          </a:xfrm>
          <a:prstGeom prst="rect">
            <a:avLst/>
          </a:prstGeom>
          <a:noFill/>
        </p:spPr>
        <p:txBody>
          <a:bodyPr wrap="square" lIns="0" rIns="0" tIns="0" bIns="0" anchor="t">
            <a:noAutofit/>
          </a:bodyPr>
          <a:lstStyle/>
          <a:p>
            <a:pPr algn="l">
              <a:lnSpc>
                <a:spcPct val="100000"/>
              </a:lnSpc>
            </a:pPr>
            <a:r>
              <a:rPr sz="1600" b="1">
                <a:solidFill>
                  <a:srgbClr val="1F3FD1"/>
                </a:solidFill>
                <a:latin typeface="Calibri"/>
              </a:rPr>
              <a:t>Bước 3</a:t>
            </a:r>
          </a:p>
        </p:txBody>
      </p:sp>
      <p:sp>
        <p:nvSpPr>
          <p:cNvPr id="3"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Chuẩn bị một CLI agent</a:t>
            </a:r>
          </a:p>
        </p:txBody>
      </p:sp>
      <p:sp>
        <p:nvSpPr>
          <p:cNvPr id="4" name="text"/>
          <p:cNvSpPr txBox="1"/>
          <p:nvPr/>
        </p:nvSpPr>
        <p:spPr>
          <a:xfrm>
            <a:off x="685800" y="1326895"/>
            <a:ext cx="10820400" cy="766064"/>
          </a:xfrm>
          <a:prstGeom prst="rect">
            <a:avLst/>
          </a:prstGeom>
          <a:noFill/>
        </p:spPr>
        <p:txBody>
          <a:bodyPr wrap="square" lIns="0" rIns="0" tIns="0" bIns="0" anchor="t">
            <a:noAutofit/>
          </a:bodyPr>
          <a:lstStyle/>
          <a:p>
            <a:pPr algn="l">
              <a:lnSpc>
                <a:spcPct val="100000"/>
              </a:lnSpc>
            </a:pPr>
            <a:r>
              <a:rPr sz="2200" b="1">
                <a:solidFill>
                  <a:srgbClr val="14161C"/>
                </a:solidFill>
                <a:latin typeface="Calibri"/>
              </a:rPr>
              <a:t>Mục đích: </a:t>
            </a:r>
            <a:r>
              <a:rPr sz="2200" b="0">
                <a:solidFill>
                  <a:srgbClr val="14161C"/>
                </a:solidFill>
                <a:latin typeface="Calibri"/>
              </a:rPr>
              <a:t>Orca điều phối agent chạy trong terminal; README không nói nó kèm sẵn agent nên bạn chuẩn bị agent riêng.</a:t>
            </a:r>
          </a:p>
        </p:txBody>
      </p:sp>
      <p:sp>
        <p:nvSpPr>
          <p:cNvPr id="5" name="card"/>
          <p:cNvSpPr/>
          <p:nvPr/>
        </p:nvSpPr>
        <p:spPr>
          <a:xfrm>
            <a:off x="685800" y="2219960"/>
            <a:ext cx="10820400" cy="1059688"/>
          </a:xfrm>
          <a:prstGeom prst="roundRect">
            <a:avLst>
              <a:gd name="adj" fmla="val 19175"/>
            </a:avLst>
          </a:prstGeom>
          <a:solidFill>
            <a:srgbClr val="E8E0CF"/>
          </a:solidFill>
          <a:ln>
            <a:noFill/>
          </a:ln>
        </p:spPr>
        <p:txBody>
          <a:bodyPr rtlCol="0" anchor="ctr"/>
          <a:lstStyle/>
          <a:p>
            <a:pPr algn="ctr"/>
          </a:p>
        </p:txBody>
      </p:sp>
      <p:sp>
        <p:nvSpPr>
          <p:cNvPr id="6" name="marker 1"/>
          <p:cNvSpPr/>
          <p:nvPr/>
        </p:nvSpPr>
        <p:spPr>
          <a:xfrm>
            <a:off x="965200" y="2495804"/>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7" name="card text"/>
          <p:cNvSpPr txBox="1"/>
          <p:nvPr/>
        </p:nvSpPr>
        <p:spPr>
          <a:xfrm>
            <a:off x="1701800" y="2359660"/>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Chọn agent bạn muốn dùng trong danh sách README (Claude Code, Codex, OpenCode, Pi, Cursor, Goose, Cline...).</a:t>
            </a:r>
          </a:p>
        </p:txBody>
      </p:sp>
      <p:sp>
        <p:nvSpPr>
          <p:cNvPr id="8" name="card"/>
          <p:cNvSpPr/>
          <p:nvPr/>
        </p:nvSpPr>
        <p:spPr>
          <a:xfrm>
            <a:off x="685800" y="3406648"/>
            <a:ext cx="10820400" cy="1059688"/>
          </a:xfrm>
          <a:prstGeom prst="roundRect">
            <a:avLst>
              <a:gd name="adj" fmla="val 19175"/>
            </a:avLst>
          </a:prstGeom>
          <a:solidFill>
            <a:srgbClr val="E8E0CF"/>
          </a:solidFill>
          <a:ln>
            <a:noFill/>
          </a:ln>
        </p:spPr>
        <p:txBody>
          <a:bodyPr rtlCol="0" anchor="ctr"/>
          <a:lstStyle/>
          <a:p>
            <a:pPr algn="ctr"/>
          </a:p>
        </p:txBody>
      </p:sp>
      <p:sp>
        <p:nvSpPr>
          <p:cNvPr id="9" name="marker 2"/>
          <p:cNvSpPr/>
          <p:nvPr/>
        </p:nvSpPr>
        <p:spPr>
          <a:xfrm>
            <a:off x="965200" y="3682492"/>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10" name="card text"/>
          <p:cNvSpPr txBox="1"/>
          <p:nvPr/>
        </p:nvSpPr>
        <p:spPr>
          <a:xfrm>
            <a:off x="1701800" y="3546348"/>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README gắn liên kết đến trang của từng agent; đó là nơi tìm cách cài agent bạn chọn.</a:t>
            </a:r>
          </a:p>
        </p:txBody>
      </p:sp>
      <p:sp>
        <p:nvSpPr>
          <p:cNvPr id="11"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11/27</a:t>
            </a:r>
          </a:p>
        </p:txBody>
      </p:sp>
      <p:sp>
        <p:nvSpPr>
          <p:cNvPr id="12"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3" name="progress"/>
          <p:cNvSpPr/>
          <p:nvPr/>
        </p:nvSpPr>
        <p:spPr>
          <a:xfrm>
            <a:off x="685800" y="6426200"/>
            <a:ext cx="4408311" cy="88900"/>
          </a:xfrm>
          <a:prstGeom prst="rect">
            <a:avLst/>
          </a:prstGeom>
          <a:solidFill>
            <a:srgbClr val="E8472B"/>
          </a:solidFill>
          <a:ln>
            <a:noFill/>
          </a:ln>
        </p:spPr>
        <p:txBody>
          <a:bodyPr rtlCol="0" anchor="ctr"/>
          <a:lstStyle/>
          <a:p>
            <a:pPr algn="ctr"/>
          </a:p>
        </p:txBody>
      </p:sp>
      <p:sp>
        <p:nvSpPr>
          <p:cNvPr id="14"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kicker"/>
          <p:cNvSpPr txBox="1"/>
          <p:nvPr/>
        </p:nvSpPr>
        <p:spPr>
          <a:xfrm>
            <a:off x="685800" y="304800"/>
            <a:ext cx="8128000" cy="279400"/>
          </a:xfrm>
          <a:prstGeom prst="rect">
            <a:avLst/>
          </a:prstGeom>
          <a:noFill/>
        </p:spPr>
        <p:txBody>
          <a:bodyPr wrap="square" lIns="0" rIns="0" tIns="0" bIns="0" anchor="t">
            <a:noAutofit/>
          </a:bodyPr>
          <a:lstStyle/>
          <a:p>
            <a:pPr algn="l">
              <a:lnSpc>
                <a:spcPct val="100000"/>
              </a:lnSpc>
            </a:pPr>
            <a:r>
              <a:rPr sz="1600" b="1">
                <a:solidFill>
                  <a:srgbClr val="1F3FD1"/>
                </a:solidFill>
                <a:latin typeface="Calibri"/>
              </a:rPr>
              <a:t>Bước 4</a:t>
            </a:r>
          </a:p>
        </p:txBody>
      </p:sp>
      <p:sp>
        <p:nvSpPr>
          <p:cNvPr id="3"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Chạy nhiều agent song song bằng Parallel Worktrees</a:t>
            </a:r>
          </a:p>
        </p:txBody>
      </p:sp>
      <p:sp>
        <p:nvSpPr>
          <p:cNvPr id="4" name="text"/>
          <p:cNvSpPr txBox="1"/>
          <p:nvPr/>
        </p:nvSpPr>
        <p:spPr>
          <a:xfrm>
            <a:off x="685800" y="1866391"/>
            <a:ext cx="10820400" cy="408431"/>
          </a:xfrm>
          <a:prstGeom prst="rect">
            <a:avLst/>
          </a:prstGeom>
          <a:noFill/>
        </p:spPr>
        <p:txBody>
          <a:bodyPr wrap="square" lIns="0" rIns="0" tIns="0" bIns="0" anchor="t">
            <a:noAutofit/>
          </a:bodyPr>
          <a:lstStyle/>
          <a:p>
            <a:pPr algn="l">
              <a:lnSpc>
                <a:spcPct val="100000"/>
              </a:lnSpc>
            </a:pPr>
            <a:r>
              <a:rPr sz="2200" b="1">
                <a:solidFill>
                  <a:srgbClr val="14161C"/>
                </a:solidFill>
                <a:latin typeface="Calibri"/>
              </a:rPr>
              <a:t>Mục đích: </a:t>
            </a:r>
            <a:r>
              <a:rPr sz="2200" b="0">
                <a:solidFill>
                  <a:srgbClr val="14161C"/>
                </a:solidFill>
                <a:latin typeface="Calibri"/>
              </a:rPr>
              <a:t>Mỗi agent làm trong git worktree riêng nên không ghi đè mã của nhau.</a:t>
            </a:r>
          </a:p>
        </p:txBody>
      </p:sp>
      <p:sp>
        <p:nvSpPr>
          <p:cNvPr id="5" name="card"/>
          <p:cNvSpPr/>
          <p:nvPr/>
        </p:nvSpPr>
        <p:spPr>
          <a:xfrm>
            <a:off x="685800" y="2401823"/>
            <a:ext cx="10820400" cy="1059688"/>
          </a:xfrm>
          <a:prstGeom prst="roundRect">
            <a:avLst>
              <a:gd name="adj" fmla="val 19175"/>
            </a:avLst>
          </a:prstGeom>
          <a:solidFill>
            <a:srgbClr val="E8E0CF"/>
          </a:solidFill>
          <a:ln>
            <a:noFill/>
          </a:ln>
        </p:spPr>
        <p:txBody>
          <a:bodyPr rtlCol="0" anchor="ctr"/>
          <a:lstStyle/>
          <a:p>
            <a:pPr algn="ctr"/>
          </a:p>
        </p:txBody>
      </p:sp>
      <p:sp>
        <p:nvSpPr>
          <p:cNvPr id="6" name="marker 1"/>
          <p:cNvSpPr/>
          <p:nvPr/>
        </p:nvSpPr>
        <p:spPr>
          <a:xfrm>
            <a:off x="965200" y="2677667"/>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7" name="card text"/>
          <p:cNvSpPr txBox="1"/>
          <p:nvPr/>
        </p:nvSpPr>
        <p:spPr>
          <a:xfrm>
            <a:off x="1701800" y="2541523"/>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README mô tả: gửi một prompt cho năm agent, mỗi agent một worktree, so kết quả rồi merge bản thắng.</a:t>
            </a:r>
          </a:p>
        </p:txBody>
      </p:sp>
      <p:sp>
        <p:nvSpPr>
          <p:cNvPr id="8" name="card"/>
          <p:cNvSpPr/>
          <p:nvPr/>
        </p:nvSpPr>
        <p:spPr>
          <a:xfrm>
            <a:off x="685800" y="3588511"/>
            <a:ext cx="10820400" cy="1059688"/>
          </a:xfrm>
          <a:prstGeom prst="roundRect">
            <a:avLst>
              <a:gd name="adj" fmla="val 19175"/>
            </a:avLst>
          </a:prstGeom>
          <a:solidFill>
            <a:srgbClr val="E8E0CF"/>
          </a:solidFill>
          <a:ln>
            <a:noFill/>
          </a:ln>
        </p:spPr>
        <p:txBody>
          <a:bodyPr rtlCol="0" anchor="ctr"/>
          <a:lstStyle/>
          <a:p>
            <a:pPr algn="ctr"/>
          </a:p>
        </p:txBody>
      </p:sp>
      <p:sp>
        <p:nvSpPr>
          <p:cNvPr id="9" name="marker 2"/>
          <p:cNvSpPr/>
          <p:nvPr/>
        </p:nvSpPr>
        <p:spPr>
          <a:xfrm>
            <a:off x="965200" y="3864355"/>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10" name="card text"/>
          <p:cNvSpPr txBox="1"/>
          <p:nvPr/>
        </p:nvSpPr>
        <p:spPr>
          <a:xfrm>
            <a:off x="1701800" y="3728211"/>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README không ghi từng thao tác trong app; mục Parallel Worktrees của README có liên kết Docs đến trang hướng dẫn.</a:t>
            </a:r>
          </a:p>
        </p:txBody>
      </p:sp>
      <p:sp>
        <p:nvSpPr>
          <p:cNvPr id="11"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12/27</a:t>
            </a:r>
          </a:p>
        </p:txBody>
      </p:sp>
      <p:sp>
        <p:nvSpPr>
          <p:cNvPr id="12"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3" name="progress"/>
          <p:cNvSpPr/>
          <p:nvPr/>
        </p:nvSpPr>
        <p:spPr>
          <a:xfrm>
            <a:off x="685800" y="6426200"/>
            <a:ext cx="4809066" cy="88900"/>
          </a:xfrm>
          <a:prstGeom prst="rect">
            <a:avLst/>
          </a:prstGeom>
          <a:solidFill>
            <a:srgbClr val="E8472B"/>
          </a:solidFill>
          <a:ln>
            <a:noFill/>
          </a:ln>
        </p:spPr>
        <p:txBody>
          <a:bodyPr rtlCol="0" anchor="ctr"/>
          <a:lstStyle/>
          <a:p>
            <a:pPr algn="ctr"/>
          </a:p>
        </p:txBody>
      </p:sp>
      <p:sp>
        <p:nvSpPr>
          <p:cNvPr id="14"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kicker"/>
          <p:cNvSpPr txBox="1"/>
          <p:nvPr/>
        </p:nvSpPr>
        <p:spPr>
          <a:xfrm>
            <a:off x="685800" y="304800"/>
            <a:ext cx="8128000" cy="279400"/>
          </a:xfrm>
          <a:prstGeom prst="rect">
            <a:avLst/>
          </a:prstGeom>
          <a:noFill/>
        </p:spPr>
        <p:txBody>
          <a:bodyPr wrap="square" lIns="0" rIns="0" tIns="0" bIns="0" anchor="t">
            <a:noAutofit/>
          </a:bodyPr>
          <a:lstStyle/>
          <a:p>
            <a:pPr algn="l">
              <a:lnSpc>
                <a:spcPct val="100000"/>
              </a:lnSpc>
            </a:pPr>
            <a:r>
              <a:rPr sz="1600" b="1">
                <a:solidFill>
                  <a:srgbClr val="1F3FD1"/>
                </a:solidFill>
                <a:latin typeface="Calibri"/>
              </a:rPr>
              <a:t>Bước 5</a:t>
            </a:r>
          </a:p>
        </p:txBody>
      </p:sp>
      <p:sp>
        <p:nvSpPr>
          <p:cNvPr id="3"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Xem diff và gửi nhận xét lại cho agent</a:t>
            </a:r>
          </a:p>
        </p:txBody>
      </p:sp>
      <p:sp>
        <p:nvSpPr>
          <p:cNvPr id="4" name="text"/>
          <p:cNvSpPr txBox="1"/>
          <p:nvPr/>
        </p:nvSpPr>
        <p:spPr>
          <a:xfrm>
            <a:off x="685800" y="1326895"/>
            <a:ext cx="10820400" cy="408431"/>
          </a:xfrm>
          <a:prstGeom prst="rect">
            <a:avLst/>
          </a:prstGeom>
          <a:noFill/>
        </p:spPr>
        <p:txBody>
          <a:bodyPr wrap="square" lIns="0" rIns="0" tIns="0" bIns="0" anchor="t">
            <a:noAutofit/>
          </a:bodyPr>
          <a:lstStyle/>
          <a:p>
            <a:pPr algn="l">
              <a:lnSpc>
                <a:spcPct val="100000"/>
              </a:lnSpc>
            </a:pPr>
            <a:r>
              <a:rPr sz="2200" b="1">
                <a:solidFill>
                  <a:srgbClr val="14161C"/>
                </a:solidFill>
                <a:latin typeface="Calibri"/>
              </a:rPr>
              <a:t>Mục đích: </a:t>
            </a:r>
            <a:r>
              <a:rPr sz="2200" b="0">
                <a:solidFill>
                  <a:srgbClr val="14161C"/>
                </a:solidFill>
                <a:latin typeface="Calibri"/>
              </a:rPr>
              <a:t>Bạn duyệt mã agent viết ngay trong Orca, không phải chuyển sang công cụ khác.</a:t>
            </a:r>
          </a:p>
        </p:txBody>
      </p:sp>
      <p:sp>
        <p:nvSpPr>
          <p:cNvPr id="5" name="card"/>
          <p:cNvSpPr/>
          <p:nvPr/>
        </p:nvSpPr>
        <p:spPr>
          <a:xfrm>
            <a:off x="685800" y="1862327"/>
            <a:ext cx="10820400" cy="1059688"/>
          </a:xfrm>
          <a:prstGeom prst="roundRect">
            <a:avLst>
              <a:gd name="adj" fmla="val 19175"/>
            </a:avLst>
          </a:prstGeom>
          <a:solidFill>
            <a:srgbClr val="E8E0CF"/>
          </a:solidFill>
          <a:ln>
            <a:noFill/>
          </a:ln>
        </p:spPr>
        <p:txBody>
          <a:bodyPr rtlCol="0" anchor="ctr"/>
          <a:lstStyle/>
          <a:p>
            <a:pPr algn="ctr"/>
          </a:p>
        </p:txBody>
      </p:sp>
      <p:sp>
        <p:nvSpPr>
          <p:cNvPr id="6" name="marker 1"/>
          <p:cNvSpPr/>
          <p:nvPr/>
        </p:nvSpPr>
        <p:spPr>
          <a:xfrm>
            <a:off x="965200" y="2138172"/>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7" name="card text"/>
          <p:cNvSpPr txBox="1"/>
          <p:nvPr/>
        </p:nvSpPr>
        <p:spPr>
          <a:xfrm>
            <a:off x="1701800" y="2002027"/>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README: thả nhận xét lên bất kỳ dòng diff nào và gửi lại cho agent; xem, sửa và commit không rời Orca.</a:t>
            </a:r>
          </a:p>
        </p:txBody>
      </p:sp>
      <p:sp>
        <p:nvSpPr>
          <p:cNvPr id="8" name="card"/>
          <p:cNvSpPr/>
          <p:nvPr/>
        </p:nvSpPr>
        <p:spPr>
          <a:xfrm>
            <a:off x="685800" y="3049016"/>
            <a:ext cx="10820400" cy="1059688"/>
          </a:xfrm>
          <a:prstGeom prst="roundRect">
            <a:avLst>
              <a:gd name="adj" fmla="val 19175"/>
            </a:avLst>
          </a:prstGeom>
          <a:solidFill>
            <a:srgbClr val="E8E0CF"/>
          </a:solidFill>
          <a:ln>
            <a:noFill/>
          </a:ln>
        </p:spPr>
        <p:txBody>
          <a:bodyPr rtlCol="0" anchor="ctr"/>
          <a:lstStyle/>
          <a:p>
            <a:pPr algn="ctr"/>
          </a:p>
        </p:txBody>
      </p:sp>
      <p:sp>
        <p:nvSpPr>
          <p:cNvPr id="9" name="marker 2"/>
          <p:cNvSpPr/>
          <p:nvPr/>
        </p:nvSpPr>
        <p:spPr>
          <a:xfrm>
            <a:off x="965200" y="3324859"/>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10" name="card text"/>
          <p:cNvSpPr txBox="1"/>
          <p:nvPr/>
        </p:nvSpPr>
        <p:spPr>
          <a:xfrm>
            <a:off x="1701800" y="3188716"/>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README cũng liệt kê xem PR, issue, bảng dự án GitHub và Linear trong app, mở worktree từ một task.</a:t>
            </a:r>
          </a:p>
        </p:txBody>
      </p:sp>
      <p:sp>
        <p:nvSpPr>
          <p:cNvPr id="11"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13/27</a:t>
            </a:r>
          </a:p>
        </p:txBody>
      </p:sp>
      <p:sp>
        <p:nvSpPr>
          <p:cNvPr id="12"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3" name="progress"/>
          <p:cNvSpPr/>
          <p:nvPr/>
        </p:nvSpPr>
        <p:spPr>
          <a:xfrm>
            <a:off x="685800" y="6426200"/>
            <a:ext cx="5209822" cy="88900"/>
          </a:xfrm>
          <a:prstGeom prst="rect">
            <a:avLst/>
          </a:prstGeom>
          <a:solidFill>
            <a:srgbClr val="E8472B"/>
          </a:solidFill>
          <a:ln>
            <a:noFill/>
          </a:ln>
        </p:spPr>
        <p:txBody>
          <a:bodyPr rtlCol="0" anchor="ctr"/>
          <a:lstStyle/>
          <a:p>
            <a:pPr algn="ctr"/>
          </a:p>
        </p:txBody>
      </p:sp>
      <p:sp>
        <p:nvSpPr>
          <p:cNvPr id="14"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kicker"/>
          <p:cNvSpPr txBox="1"/>
          <p:nvPr/>
        </p:nvSpPr>
        <p:spPr>
          <a:xfrm>
            <a:off x="685800" y="304800"/>
            <a:ext cx="8128000" cy="279400"/>
          </a:xfrm>
          <a:prstGeom prst="rect">
            <a:avLst/>
          </a:prstGeom>
          <a:noFill/>
        </p:spPr>
        <p:txBody>
          <a:bodyPr wrap="square" lIns="0" rIns="0" tIns="0" bIns="0" anchor="t">
            <a:noAutofit/>
          </a:bodyPr>
          <a:lstStyle/>
          <a:p>
            <a:pPr algn="l">
              <a:lnSpc>
                <a:spcPct val="100000"/>
              </a:lnSpc>
            </a:pPr>
            <a:r>
              <a:rPr sz="1600" b="1">
                <a:solidFill>
                  <a:srgbClr val="1F3FD1"/>
                </a:solidFill>
                <a:latin typeface="Calibri"/>
              </a:rPr>
              <a:t>Bước 6 (1/2)</a:t>
            </a:r>
          </a:p>
        </p:txBody>
      </p:sp>
      <p:sp>
        <p:nvSpPr>
          <p:cNvPr id="3"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Ghép app điện thoại (tùy chọn)</a:t>
            </a:r>
          </a:p>
        </p:txBody>
      </p:sp>
      <p:sp>
        <p:nvSpPr>
          <p:cNvPr id="4" name="text"/>
          <p:cNvSpPr txBox="1"/>
          <p:nvPr/>
        </p:nvSpPr>
        <p:spPr>
          <a:xfrm>
            <a:off x="685800" y="1326895"/>
            <a:ext cx="10820400" cy="408431"/>
          </a:xfrm>
          <a:prstGeom prst="rect">
            <a:avLst/>
          </a:prstGeom>
          <a:noFill/>
        </p:spPr>
        <p:txBody>
          <a:bodyPr wrap="square" lIns="0" rIns="0" tIns="0" bIns="0" anchor="t">
            <a:noAutofit/>
          </a:bodyPr>
          <a:lstStyle/>
          <a:p>
            <a:pPr algn="l">
              <a:lnSpc>
                <a:spcPct val="100000"/>
              </a:lnSpc>
            </a:pPr>
            <a:r>
              <a:rPr sz="2200" b="1">
                <a:solidFill>
                  <a:srgbClr val="14161C"/>
                </a:solidFill>
                <a:latin typeface="Calibri"/>
              </a:rPr>
              <a:t>Mục đích: </a:t>
            </a:r>
            <a:r>
              <a:rPr sz="2200" b="0">
                <a:solidFill>
                  <a:srgbClr val="14161C"/>
                </a:solidFill>
                <a:latin typeface="Calibri"/>
              </a:rPr>
              <a:t>Theo dõi agent và gửi tiếp yêu cầu từ điện thoại.</a:t>
            </a:r>
          </a:p>
        </p:txBody>
      </p:sp>
      <p:sp>
        <p:nvSpPr>
          <p:cNvPr id="5" name="card"/>
          <p:cNvSpPr/>
          <p:nvPr/>
        </p:nvSpPr>
        <p:spPr>
          <a:xfrm>
            <a:off x="685800" y="1862327"/>
            <a:ext cx="10820400" cy="1059688"/>
          </a:xfrm>
          <a:prstGeom prst="roundRect">
            <a:avLst>
              <a:gd name="adj" fmla="val 19175"/>
            </a:avLst>
          </a:prstGeom>
          <a:solidFill>
            <a:srgbClr val="E8E0CF"/>
          </a:solidFill>
          <a:ln>
            <a:noFill/>
          </a:ln>
        </p:spPr>
        <p:txBody>
          <a:bodyPr rtlCol="0" anchor="ctr"/>
          <a:lstStyle/>
          <a:p>
            <a:pPr algn="ctr"/>
          </a:p>
        </p:txBody>
      </p:sp>
      <p:sp>
        <p:nvSpPr>
          <p:cNvPr id="6" name="marker 1"/>
          <p:cNvSpPr/>
          <p:nvPr/>
        </p:nvSpPr>
        <p:spPr>
          <a:xfrm>
            <a:off x="965200" y="2138172"/>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7" name="card text"/>
          <p:cNvSpPr txBox="1"/>
          <p:nvPr/>
        </p:nvSpPr>
        <p:spPr>
          <a:xfrm>
            <a:off x="1701800" y="2002027"/>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Cài app: iOS từ App Store, Android bằng tệp APK (README có trang hướng dẫn cài APK).</a:t>
            </a:r>
          </a:p>
        </p:txBody>
      </p:sp>
      <p:sp>
        <p:nvSpPr>
          <p:cNvPr id="8" name="card"/>
          <p:cNvSpPr/>
          <p:nvPr/>
        </p:nvSpPr>
        <p:spPr>
          <a:xfrm>
            <a:off x="685800" y="3049016"/>
            <a:ext cx="10820400" cy="1059688"/>
          </a:xfrm>
          <a:prstGeom prst="roundRect">
            <a:avLst>
              <a:gd name="adj" fmla="val 19175"/>
            </a:avLst>
          </a:prstGeom>
          <a:solidFill>
            <a:srgbClr val="E8E0CF"/>
          </a:solidFill>
          <a:ln>
            <a:noFill/>
          </a:ln>
        </p:spPr>
        <p:txBody>
          <a:bodyPr rtlCol="0" anchor="ctr"/>
          <a:lstStyle/>
          <a:p>
            <a:pPr algn="ctr"/>
          </a:p>
        </p:txBody>
      </p:sp>
      <p:sp>
        <p:nvSpPr>
          <p:cNvPr id="9" name="marker 2"/>
          <p:cNvSpPr/>
          <p:nvPr/>
        </p:nvSpPr>
        <p:spPr>
          <a:xfrm>
            <a:off x="965200" y="3324859"/>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10" name="card text"/>
          <p:cNvSpPr txBox="1"/>
          <p:nvPr/>
        </p:nvSpPr>
        <p:spPr>
          <a:xfrm>
            <a:off x="1701800" y="3188716"/>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Ghép app với app Orca trên máy tính để theo dõi và điều khiển agent từ điện thoại; README nói app nhắc khi agent làm xong.</a:t>
            </a:r>
          </a:p>
        </p:txBody>
      </p:sp>
      <p:sp>
        <p:nvSpPr>
          <p:cNvPr id="11" name="card"/>
          <p:cNvSpPr/>
          <p:nvPr/>
        </p:nvSpPr>
        <p:spPr>
          <a:xfrm>
            <a:off x="685800" y="4235704"/>
            <a:ext cx="10820400" cy="1059688"/>
          </a:xfrm>
          <a:prstGeom prst="roundRect">
            <a:avLst>
              <a:gd name="adj" fmla="val 19175"/>
            </a:avLst>
          </a:prstGeom>
          <a:solidFill>
            <a:srgbClr val="E8E0CF"/>
          </a:solidFill>
          <a:ln>
            <a:noFill/>
          </a:ln>
        </p:spPr>
        <p:txBody>
          <a:bodyPr rtlCol="0" anchor="ctr"/>
          <a:lstStyle/>
          <a:p>
            <a:pPr algn="ctr"/>
          </a:p>
        </p:txBody>
      </p:sp>
      <p:sp>
        <p:nvSpPr>
          <p:cNvPr id="12" name="marker 3"/>
          <p:cNvSpPr/>
          <p:nvPr/>
        </p:nvSpPr>
        <p:spPr>
          <a:xfrm>
            <a:off x="965200" y="4511548"/>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3</a:t>
            </a:r>
          </a:p>
        </p:txBody>
      </p:sp>
      <p:sp>
        <p:nvSpPr>
          <p:cNvPr id="13" name="card text"/>
          <p:cNvSpPr txBox="1"/>
          <p:nvPr/>
        </p:nvSpPr>
        <p:spPr>
          <a:xfrm>
            <a:off x="1701800" y="4375404"/>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README không ghi cách ghép từng bước; mục Mobile Companion của README có liên kết Docs.</a:t>
            </a:r>
          </a:p>
        </p:txBody>
      </p:sp>
      <p:sp>
        <p:nvSpPr>
          <p:cNvPr id="14"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14/27</a:t>
            </a:r>
          </a:p>
        </p:txBody>
      </p:sp>
      <p:sp>
        <p:nvSpPr>
          <p:cNvPr id="15"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6" name="progress"/>
          <p:cNvSpPr/>
          <p:nvPr/>
        </p:nvSpPr>
        <p:spPr>
          <a:xfrm>
            <a:off x="685800" y="6426200"/>
            <a:ext cx="5610577" cy="88900"/>
          </a:xfrm>
          <a:prstGeom prst="rect">
            <a:avLst/>
          </a:prstGeom>
          <a:solidFill>
            <a:srgbClr val="E8472B"/>
          </a:solidFill>
          <a:ln>
            <a:noFill/>
          </a:ln>
        </p:spPr>
        <p:txBody>
          <a:bodyPr rtlCol="0" anchor="ctr"/>
          <a:lstStyle/>
          <a:p>
            <a:pPr algn="ctr"/>
          </a:p>
        </p:txBody>
      </p:sp>
      <p:sp>
        <p:nvSpPr>
          <p:cNvPr id="17"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kicker"/>
          <p:cNvSpPr txBox="1"/>
          <p:nvPr/>
        </p:nvSpPr>
        <p:spPr>
          <a:xfrm>
            <a:off x="685800" y="304800"/>
            <a:ext cx="8128000" cy="279400"/>
          </a:xfrm>
          <a:prstGeom prst="rect">
            <a:avLst/>
          </a:prstGeom>
          <a:noFill/>
        </p:spPr>
        <p:txBody>
          <a:bodyPr wrap="square" lIns="0" rIns="0" tIns="0" bIns="0" anchor="t">
            <a:noAutofit/>
          </a:bodyPr>
          <a:lstStyle/>
          <a:p>
            <a:pPr algn="l">
              <a:lnSpc>
                <a:spcPct val="100000"/>
              </a:lnSpc>
            </a:pPr>
            <a:r>
              <a:rPr sz="1600" b="1">
                <a:solidFill>
                  <a:srgbClr val="1F3FD1"/>
                </a:solidFill>
                <a:latin typeface="Calibri"/>
              </a:rPr>
              <a:t>Bước 6 (2/2)</a:t>
            </a:r>
          </a:p>
        </p:txBody>
      </p:sp>
      <p:sp>
        <p:nvSpPr>
          <p:cNvPr id="3"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Ghép app điện thoại (tùy chọn)</a:t>
            </a:r>
          </a:p>
        </p:txBody>
      </p:sp>
      <p:sp>
        <p:nvSpPr>
          <p:cNvPr id="4" name="card"/>
          <p:cNvSpPr/>
          <p:nvPr/>
        </p:nvSpPr>
        <p:spPr>
          <a:xfrm>
            <a:off x="685800" y="1326895"/>
            <a:ext cx="10820400" cy="1059688"/>
          </a:xfrm>
          <a:prstGeom prst="roundRect">
            <a:avLst>
              <a:gd name="adj" fmla="val 19175"/>
            </a:avLst>
          </a:prstGeom>
          <a:solidFill>
            <a:srgbClr val="E8E0CF"/>
          </a:solidFill>
          <a:ln>
            <a:noFill/>
          </a:ln>
        </p:spPr>
        <p:txBody>
          <a:bodyPr rtlCol="0" anchor="ctr"/>
          <a:lstStyle/>
          <a:p>
            <a:pPr algn="ctr"/>
          </a:p>
        </p:txBody>
      </p:sp>
      <p:sp>
        <p:nvSpPr>
          <p:cNvPr id="5" name="marker 4"/>
          <p:cNvSpPr/>
          <p:nvPr/>
        </p:nvSpPr>
        <p:spPr>
          <a:xfrm>
            <a:off x="965200" y="1602739"/>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4</a:t>
            </a:r>
          </a:p>
        </p:txBody>
      </p:sp>
      <p:sp>
        <p:nvSpPr>
          <p:cNvPr id="6" name="card text"/>
          <p:cNvSpPr txBox="1"/>
          <p:nvPr/>
        </p:nvSpPr>
        <p:spPr>
          <a:xfrm>
            <a:off x="1701800" y="1466595"/>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Mã relay dùng để ghép nằm trong thư mục </a:t>
            </a:r>
            <a:r>
              <a:rPr sz="2200" b="0">
                <a:solidFill>
                  <a:srgbClr val="B02D16"/>
                </a:solidFill>
                <a:latin typeface="Consolas"/>
              </a:rPr>
              <a:t>cloud/</a:t>
            </a:r>
            <a:r>
              <a:rPr sz="2400" b="0">
                <a:solidFill>
                  <a:srgbClr val="14161C"/>
                </a:solidFill>
                <a:latin typeface="Calibri"/>
              </a:rPr>
              <a:t> của repo, có hướng dẫn riêng.</a:t>
            </a:r>
          </a:p>
        </p:txBody>
      </p:sp>
      <p:sp>
        <p:nvSpPr>
          <p:cNvPr id="7" name="text"/>
          <p:cNvSpPr txBox="1"/>
          <p:nvPr/>
        </p:nvSpPr>
        <p:spPr>
          <a:xfrm>
            <a:off x="685800" y="2513584"/>
            <a:ext cx="10820400" cy="408431"/>
          </a:xfrm>
          <a:prstGeom prst="rect">
            <a:avLst/>
          </a:prstGeom>
          <a:noFill/>
        </p:spPr>
        <p:txBody>
          <a:bodyPr wrap="square" lIns="0" rIns="0" tIns="0" bIns="0" anchor="t">
            <a:noAutofit/>
          </a:bodyPr>
          <a:lstStyle/>
          <a:p>
            <a:pPr algn="l">
              <a:lnSpc>
                <a:spcPct val="100000"/>
              </a:lnSpc>
            </a:pPr>
            <a:r>
              <a:rPr sz="2200" b="0">
                <a:solidFill>
                  <a:srgbClr val="14161C"/>
                </a:solidFill>
                <a:latin typeface="Calibri"/>
              </a:rPr>
              <a:t>Liên kết trong README: </a:t>
            </a:r>
            <a:r>
              <a:rPr sz="2200" b="0" u="sng">
                <a:solidFill>
                  <a:srgbClr val="1F3FD1"/>
                </a:solidFill>
                <a:latin typeface="Calibri"/>
                <a:hlinkClick r:id="rId2"/>
              </a:rPr>
              <a:t>Install guide</a:t>
            </a:r>
          </a:p>
        </p:txBody>
      </p:sp>
      <p:sp>
        <p:nvSpPr>
          <p:cNvPr id="8"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15/27</a:t>
            </a:r>
          </a:p>
        </p:txBody>
      </p:sp>
      <p:sp>
        <p:nvSpPr>
          <p:cNvPr id="9"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0" name="progress"/>
          <p:cNvSpPr/>
          <p:nvPr/>
        </p:nvSpPr>
        <p:spPr>
          <a:xfrm>
            <a:off x="685800" y="6426200"/>
            <a:ext cx="6011333" cy="88900"/>
          </a:xfrm>
          <a:prstGeom prst="rect">
            <a:avLst/>
          </a:prstGeom>
          <a:solidFill>
            <a:srgbClr val="E8472B"/>
          </a:solidFill>
          <a:ln>
            <a:noFill/>
          </a:ln>
        </p:spPr>
        <p:txBody>
          <a:bodyPr rtlCol="0" anchor="ctr"/>
          <a:lstStyle/>
          <a:p>
            <a:pPr algn="ctr"/>
          </a:p>
        </p:txBody>
      </p:sp>
      <p:sp>
        <p:nvSpPr>
          <p:cNvPr id="11"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kicker"/>
          <p:cNvSpPr txBox="1"/>
          <p:nvPr/>
        </p:nvSpPr>
        <p:spPr>
          <a:xfrm>
            <a:off x="685800" y="304800"/>
            <a:ext cx="8128000" cy="279400"/>
          </a:xfrm>
          <a:prstGeom prst="rect">
            <a:avLst/>
          </a:prstGeom>
          <a:noFill/>
        </p:spPr>
        <p:txBody>
          <a:bodyPr wrap="square" lIns="0" rIns="0" tIns="0" bIns="0" anchor="t">
            <a:noAutofit/>
          </a:bodyPr>
          <a:lstStyle/>
          <a:p>
            <a:pPr algn="l">
              <a:lnSpc>
                <a:spcPct val="100000"/>
              </a:lnSpc>
            </a:pPr>
            <a:r>
              <a:rPr sz="1600" b="1">
                <a:solidFill>
                  <a:srgbClr val="1F3FD1"/>
                </a:solidFill>
                <a:latin typeface="Calibri"/>
              </a:rPr>
              <a:t>Bước 7</a:t>
            </a:r>
          </a:p>
        </p:txBody>
      </p:sp>
      <p:sp>
        <p:nvSpPr>
          <p:cNvPr id="3"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Điều khiển Orca bằng dòng lệnh</a:t>
            </a:r>
          </a:p>
        </p:txBody>
      </p:sp>
      <p:sp>
        <p:nvSpPr>
          <p:cNvPr id="4" name="text"/>
          <p:cNvSpPr txBox="1"/>
          <p:nvPr/>
        </p:nvSpPr>
        <p:spPr>
          <a:xfrm>
            <a:off x="685800" y="1326895"/>
            <a:ext cx="10820400" cy="766064"/>
          </a:xfrm>
          <a:prstGeom prst="rect">
            <a:avLst/>
          </a:prstGeom>
          <a:noFill/>
        </p:spPr>
        <p:txBody>
          <a:bodyPr wrap="square" lIns="0" rIns="0" tIns="0" bIns="0" anchor="t">
            <a:noAutofit/>
          </a:bodyPr>
          <a:lstStyle/>
          <a:p>
            <a:pPr algn="l">
              <a:lnSpc>
                <a:spcPct val="100000"/>
              </a:lnSpc>
            </a:pPr>
            <a:r>
              <a:rPr sz="2200" b="1">
                <a:solidFill>
                  <a:srgbClr val="14161C"/>
                </a:solidFill>
                <a:latin typeface="Calibri"/>
              </a:rPr>
              <a:t>Mục đích: </a:t>
            </a:r>
            <a:r>
              <a:rPr sz="2200" b="0">
                <a:solidFill>
                  <a:srgbClr val="14161C"/>
                </a:solidFill>
                <a:latin typeface="Calibri"/>
              </a:rPr>
              <a:t>README nói agent cũng điều khiển được Orca, nên có thể viết kịch bản cho quy trình lặp lại.</a:t>
            </a:r>
          </a:p>
        </p:txBody>
      </p:sp>
      <p:sp>
        <p:nvSpPr>
          <p:cNvPr id="5" name="card"/>
          <p:cNvSpPr/>
          <p:nvPr/>
        </p:nvSpPr>
        <p:spPr>
          <a:xfrm>
            <a:off x="685800" y="2219960"/>
            <a:ext cx="10820400" cy="1059688"/>
          </a:xfrm>
          <a:prstGeom prst="roundRect">
            <a:avLst>
              <a:gd name="adj" fmla="val 19175"/>
            </a:avLst>
          </a:prstGeom>
          <a:solidFill>
            <a:srgbClr val="E8E0CF"/>
          </a:solidFill>
          <a:ln>
            <a:noFill/>
          </a:ln>
        </p:spPr>
        <p:txBody>
          <a:bodyPr rtlCol="0" anchor="ctr"/>
          <a:lstStyle/>
          <a:p>
            <a:pPr algn="ctr"/>
          </a:p>
        </p:txBody>
      </p:sp>
      <p:sp>
        <p:nvSpPr>
          <p:cNvPr id="6" name="marker 1"/>
          <p:cNvSpPr/>
          <p:nvPr/>
        </p:nvSpPr>
        <p:spPr>
          <a:xfrm>
            <a:off x="965200" y="2495804"/>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7" name="card text"/>
          <p:cNvSpPr txBox="1"/>
          <p:nvPr/>
        </p:nvSpPr>
        <p:spPr>
          <a:xfrm>
            <a:off x="1701800" y="2359660"/>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README nêu các lệnh con </a:t>
            </a:r>
            <a:r>
              <a:rPr sz="2200" b="0">
                <a:solidFill>
                  <a:srgbClr val="B02D16"/>
                </a:solidFill>
                <a:latin typeface="Consolas"/>
              </a:rPr>
              <a:t>orca worktree create</a:t>
            </a:r>
            <a:r>
              <a:rPr sz="2400" b="0">
                <a:solidFill>
                  <a:srgbClr val="14161C"/>
                </a:solidFill>
                <a:latin typeface="Calibri"/>
              </a:rPr>
              <a:t>, </a:t>
            </a:r>
            <a:r>
              <a:rPr sz="2200" b="0">
                <a:solidFill>
                  <a:srgbClr val="B02D16"/>
                </a:solidFill>
                <a:latin typeface="Consolas"/>
              </a:rPr>
              <a:t>snapshot</a:t>
            </a:r>
            <a:r>
              <a:rPr sz="2400" b="0">
                <a:solidFill>
                  <a:srgbClr val="14161C"/>
                </a:solidFill>
                <a:latin typeface="Calibri"/>
              </a:rPr>
              <a:t>, </a:t>
            </a:r>
            <a:r>
              <a:rPr sz="2200" b="0">
                <a:solidFill>
                  <a:srgbClr val="B02D16"/>
                </a:solidFill>
                <a:latin typeface="Consolas"/>
              </a:rPr>
              <a:t>click</a:t>
            </a:r>
            <a:r>
              <a:rPr sz="2400" b="0">
                <a:solidFill>
                  <a:srgbClr val="14161C"/>
                </a:solidFill>
                <a:latin typeface="Calibri"/>
              </a:rPr>
              <a:t> và </a:t>
            </a:r>
            <a:r>
              <a:rPr sz="2200" b="0">
                <a:solidFill>
                  <a:srgbClr val="B02D16"/>
                </a:solidFill>
                <a:latin typeface="Consolas"/>
              </a:rPr>
              <a:t>fill</a:t>
            </a:r>
            <a:r>
              <a:rPr sz="2400" b="0">
                <a:solidFill>
                  <a:srgbClr val="14161C"/>
                </a:solidFill>
                <a:latin typeface="Calibri"/>
              </a:rPr>
              <a:t>.</a:t>
            </a:r>
          </a:p>
        </p:txBody>
      </p:sp>
      <p:sp>
        <p:nvSpPr>
          <p:cNvPr id="8" name="card"/>
          <p:cNvSpPr/>
          <p:nvPr/>
        </p:nvSpPr>
        <p:spPr>
          <a:xfrm>
            <a:off x="685800" y="3406648"/>
            <a:ext cx="10820400" cy="1059688"/>
          </a:xfrm>
          <a:prstGeom prst="roundRect">
            <a:avLst>
              <a:gd name="adj" fmla="val 19175"/>
            </a:avLst>
          </a:prstGeom>
          <a:solidFill>
            <a:srgbClr val="E8E0CF"/>
          </a:solidFill>
          <a:ln>
            <a:noFill/>
          </a:ln>
        </p:spPr>
        <p:txBody>
          <a:bodyPr rtlCol="0" anchor="ctr"/>
          <a:lstStyle/>
          <a:p>
            <a:pPr algn="ctr"/>
          </a:p>
        </p:txBody>
      </p:sp>
      <p:sp>
        <p:nvSpPr>
          <p:cNvPr id="9" name="marker 2"/>
          <p:cNvSpPr/>
          <p:nvPr/>
        </p:nvSpPr>
        <p:spPr>
          <a:xfrm>
            <a:off x="965200" y="3682492"/>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10" name="card text"/>
          <p:cNvSpPr txBox="1"/>
          <p:nvPr/>
        </p:nvSpPr>
        <p:spPr>
          <a:xfrm>
            <a:off x="1701800" y="3546348"/>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README không ghi đối số của từng lệnh; xem trang tài liệu CLI mà liên kết bên dưới dẫn tới.</a:t>
            </a:r>
          </a:p>
        </p:txBody>
      </p:sp>
      <p:sp>
        <p:nvSpPr>
          <p:cNvPr id="11" name="text"/>
          <p:cNvSpPr txBox="1"/>
          <p:nvPr/>
        </p:nvSpPr>
        <p:spPr>
          <a:xfrm>
            <a:off x="685800" y="4593336"/>
            <a:ext cx="10820400" cy="408431"/>
          </a:xfrm>
          <a:prstGeom prst="rect">
            <a:avLst/>
          </a:prstGeom>
          <a:noFill/>
        </p:spPr>
        <p:txBody>
          <a:bodyPr wrap="square" lIns="0" rIns="0" tIns="0" bIns="0" anchor="t">
            <a:noAutofit/>
          </a:bodyPr>
          <a:lstStyle/>
          <a:p>
            <a:pPr algn="l">
              <a:lnSpc>
                <a:spcPct val="100000"/>
              </a:lnSpc>
            </a:pPr>
            <a:r>
              <a:rPr sz="2200" b="0">
                <a:solidFill>
                  <a:srgbClr val="14161C"/>
                </a:solidFill>
                <a:latin typeface="Calibri"/>
              </a:rPr>
              <a:t>Liên kết trong README: </a:t>
            </a:r>
            <a:r>
              <a:rPr sz="2200" b="0" u="sng">
                <a:solidFill>
                  <a:srgbClr val="1F3FD1"/>
                </a:solidFill>
                <a:latin typeface="Calibri"/>
                <a:hlinkClick r:id="rId2"/>
              </a:rPr>
              <a:t>Docs →</a:t>
            </a:r>
          </a:p>
        </p:txBody>
      </p:sp>
      <p:sp>
        <p:nvSpPr>
          <p:cNvPr id="12"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16/27</a:t>
            </a:r>
          </a:p>
        </p:txBody>
      </p:sp>
      <p:sp>
        <p:nvSpPr>
          <p:cNvPr id="13"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4" name="progress"/>
          <p:cNvSpPr/>
          <p:nvPr/>
        </p:nvSpPr>
        <p:spPr>
          <a:xfrm>
            <a:off x="685800" y="6426200"/>
            <a:ext cx="6412088" cy="88900"/>
          </a:xfrm>
          <a:prstGeom prst="rect">
            <a:avLst/>
          </a:prstGeom>
          <a:solidFill>
            <a:srgbClr val="E8472B"/>
          </a:solidFill>
          <a:ln>
            <a:noFill/>
          </a:ln>
        </p:spPr>
        <p:txBody>
          <a:bodyPr rtlCol="0" anchor="ctr"/>
          <a:lstStyle/>
          <a:p>
            <a:pPr algn="ctr"/>
          </a:p>
        </p:txBody>
      </p:sp>
      <p:sp>
        <p:nvSpPr>
          <p:cNvPr id="15"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Kiểm tra kết quả</a:t>
            </a:r>
          </a:p>
        </p:txBody>
      </p:sp>
      <p:sp>
        <p:nvSpPr>
          <p:cNvPr id="3" name="card"/>
          <p:cNvSpPr/>
          <p:nvPr/>
        </p:nvSpPr>
        <p:spPr>
          <a:xfrm>
            <a:off x="685800" y="1326895"/>
            <a:ext cx="10820400" cy="1742439"/>
          </a:xfrm>
          <a:prstGeom prst="roundRect">
            <a:avLst>
              <a:gd name="adj" fmla="val 11661"/>
            </a:avLst>
          </a:prstGeom>
          <a:solidFill>
            <a:srgbClr val="D5EBDD"/>
          </a:solidFill>
          <a:ln>
            <a:noFill/>
          </a:ln>
        </p:spPr>
        <p:txBody>
          <a:bodyPr rtlCol="0" anchor="ctr"/>
          <a:lstStyle/>
          <a:p>
            <a:pPr algn="ctr"/>
          </a:p>
        </p:txBody>
      </p:sp>
      <p:sp>
        <p:nvSpPr>
          <p:cNvPr id="4" name="card text"/>
          <p:cNvSpPr txBox="1"/>
          <p:nvPr/>
        </p:nvSpPr>
        <p:spPr>
          <a:xfrm>
            <a:off x="965200" y="1466595"/>
            <a:ext cx="10261600" cy="1463039"/>
          </a:xfrm>
          <a:prstGeom prst="rect">
            <a:avLst/>
          </a:prstGeom>
          <a:noFill/>
        </p:spPr>
        <p:txBody>
          <a:bodyPr wrap="square" lIns="0" rIns="0" tIns="0" bIns="0" anchor="ctr">
            <a:noAutofit/>
          </a:bodyPr>
          <a:lstStyle/>
          <a:p>
            <a:pPr algn="l">
              <a:lnSpc>
                <a:spcPct val="100000"/>
              </a:lnSpc>
            </a:pPr>
            <a:r>
              <a:rPr sz="3000" b="0">
                <a:solidFill>
                  <a:srgbClr val="14161C"/>
                </a:solidFill>
                <a:latin typeface="Calibri"/>
              </a:rPr>
              <a:t>README không nêu cách kiểm tra sau khi cài. Orca mở được và agent bạn chọn chạy được trong terminal của nó là dấu hiệu cài thành công; README không mô tả đầu ra.</a:t>
            </a:r>
          </a:p>
        </p:txBody>
      </p:sp>
      <p:sp>
        <p:nvSpPr>
          <p:cNvPr id="5"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17/27</a:t>
            </a:r>
          </a:p>
        </p:txBody>
      </p:sp>
      <p:sp>
        <p:nvSpPr>
          <p:cNvPr id="6"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7" name="progress"/>
          <p:cNvSpPr/>
          <p:nvPr/>
        </p:nvSpPr>
        <p:spPr>
          <a:xfrm>
            <a:off x="685800" y="6426200"/>
            <a:ext cx="6812844" cy="88900"/>
          </a:xfrm>
          <a:prstGeom prst="rect">
            <a:avLst/>
          </a:prstGeom>
          <a:solidFill>
            <a:srgbClr val="E8472B"/>
          </a:solidFill>
          <a:ln>
            <a:noFill/>
          </a:ln>
        </p:spPr>
        <p:txBody>
          <a:bodyPr rtlCol="0" anchor="ctr"/>
          <a:lstStyle/>
          <a:p>
            <a:pPr algn="ctr"/>
          </a:p>
        </p:txBody>
      </p:sp>
      <p:sp>
        <p:nvSpPr>
          <p:cNvPr id="8"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Làm tiếp</a:t>
            </a:r>
          </a:p>
        </p:txBody>
      </p:sp>
      <p:sp>
        <p:nvSpPr>
          <p:cNvPr id="3" name="card"/>
          <p:cNvSpPr/>
          <p:nvPr/>
        </p:nvSpPr>
        <p:spPr>
          <a:xfrm>
            <a:off x="685800" y="1326895"/>
            <a:ext cx="10820400" cy="994663"/>
          </a:xfrm>
          <a:prstGeom prst="roundRect">
            <a:avLst>
              <a:gd name="adj" fmla="val 20429"/>
            </a:avLst>
          </a:prstGeom>
          <a:solidFill>
            <a:srgbClr val="E8E0CF"/>
          </a:solidFill>
          <a:ln>
            <a:noFill/>
          </a:ln>
        </p:spPr>
        <p:txBody>
          <a:bodyPr rtlCol="0" anchor="ctr"/>
          <a:lstStyle/>
          <a:p>
            <a:pPr algn="ctr"/>
          </a:p>
        </p:txBody>
      </p:sp>
      <p:sp>
        <p:nvSpPr>
          <p:cNvPr id="4" name="marker 1"/>
          <p:cNvSpPr/>
          <p:nvPr/>
        </p:nvSpPr>
        <p:spPr>
          <a:xfrm>
            <a:off x="965200" y="1570227"/>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5" name="card text"/>
          <p:cNvSpPr txBox="1"/>
          <p:nvPr/>
        </p:nvSpPr>
        <p:spPr>
          <a:xfrm>
            <a:off x="1701800" y="1466595"/>
            <a:ext cx="9525000" cy="715263"/>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Xem changelog trong mục Releases: README nói danh sách tính năng luôn cũ hơn bản phát hành.</a:t>
            </a:r>
          </a:p>
        </p:txBody>
      </p:sp>
      <p:sp>
        <p:nvSpPr>
          <p:cNvPr id="6" name="card"/>
          <p:cNvSpPr/>
          <p:nvPr/>
        </p:nvSpPr>
        <p:spPr>
          <a:xfrm>
            <a:off x="685800" y="2448560"/>
            <a:ext cx="10820400" cy="994663"/>
          </a:xfrm>
          <a:prstGeom prst="roundRect">
            <a:avLst>
              <a:gd name="adj" fmla="val 20429"/>
            </a:avLst>
          </a:prstGeom>
          <a:solidFill>
            <a:srgbClr val="E8E0CF"/>
          </a:solidFill>
          <a:ln>
            <a:noFill/>
          </a:ln>
        </p:spPr>
        <p:txBody>
          <a:bodyPr rtlCol="0" anchor="ctr"/>
          <a:lstStyle/>
          <a:p>
            <a:pPr algn="ctr"/>
          </a:p>
        </p:txBody>
      </p:sp>
      <p:sp>
        <p:nvSpPr>
          <p:cNvPr id="7" name="marker 2"/>
          <p:cNvSpPr/>
          <p:nvPr/>
        </p:nvSpPr>
        <p:spPr>
          <a:xfrm>
            <a:off x="965200" y="2691891"/>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8" name="card text"/>
          <p:cNvSpPr txBox="1"/>
          <p:nvPr/>
        </p:nvSpPr>
        <p:spPr>
          <a:xfrm>
            <a:off x="1701800" y="2588260"/>
            <a:ext cx="9525000" cy="715263"/>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Đọc hướng dẫn đóng góp mà README nêu (tệp trong thư mục .github) nếu muốn chạy Orca từ mã nguồn.</a:t>
            </a:r>
          </a:p>
        </p:txBody>
      </p:sp>
      <p:sp>
        <p:nvSpPr>
          <p:cNvPr id="9" name="card"/>
          <p:cNvSpPr/>
          <p:nvPr/>
        </p:nvSpPr>
        <p:spPr>
          <a:xfrm>
            <a:off x="685800" y="3570224"/>
            <a:ext cx="10820400" cy="994663"/>
          </a:xfrm>
          <a:prstGeom prst="roundRect">
            <a:avLst>
              <a:gd name="adj" fmla="val 20429"/>
            </a:avLst>
          </a:prstGeom>
          <a:solidFill>
            <a:srgbClr val="E8E0CF"/>
          </a:solidFill>
          <a:ln>
            <a:noFill/>
          </a:ln>
        </p:spPr>
        <p:txBody>
          <a:bodyPr rtlCol="0" anchor="ctr"/>
          <a:lstStyle/>
          <a:p>
            <a:pPr algn="ctr"/>
          </a:p>
        </p:txBody>
      </p:sp>
      <p:sp>
        <p:nvSpPr>
          <p:cNvPr id="10" name="marker 3"/>
          <p:cNvSpPr/>
          <p:nvPr/>
        </p:nvSpPr>
        <p:spPr>
          <a:xfrm>
            <a:off x="965200" y="3813555"/>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3</a:t>
            </a:r>
          </a:p>
        </p:txBody>
      </p:sp>
      <p:sp>
        <p:nvSpPr>
          <p:cNvPr id="11" name="card text"/>
          <p:cNvSpPr txBox="1"/>
          <p:nvPr/>
        </p:nvSpPr>
        <p:spPr>
          <a:xfrm>
            <a:off x="1701800" y="3709924"/>
            <a:ext cx="9525000" cy="715263"/>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Xem trang tài liệu quyền riêng tư và telemetry mà README dẫn tới để biết cách tắt.</a:t>
            </a:r>
          </a:p>
        </p:txBody>
      </p:sp>
      <p:sp>
        <p:nvSpPr>
          <p:cNvPr id="12"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18/27</a:t>
            </a:r>
          </a:p>
        </p:txBody>
      </p:sp>
      <p:sp>
        <p:nvSpPr>
          <p:cNvPr id="13"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4" name="progress"/>
          <p:cNvSpPr/>
          <p:nvPr/>
        </p:nvSpPr>
        <p:spPr>
          <a:xfrm>
            <a:off x="685800" y="6426200"/>
            <a:ext cx="7213600" cy="88900"/>
          </a:xfrm>
          <a:prstGeom prst="rect">
            <a:avLst/>
          </a:prstGeom>
          <a:solidFill>
            <a:srgbClr val="E8472B"/>
          </a:solidFill>
          <a:ln>
            <a:noFill/>
          </a:ln>
        </p:spPr>
        <p:txBody>
          <a:bodyPr rtlCol="0" anchor="ctr"/>
          <a:lstStyle/>
          <a:p>
            <a:pPr algn="ctr"/>
          </a:p>
        </p:txBody>
      </p:sp>
      <p:sp>
        <p:nvSpPr>
          <p:cNvPr id="15"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Bên trong nó hoạt động ra sao</a:t>
            </a:r>
          </a:p>
        </p:txBody>
      </p:sp>
      <p:sp>
        <p:nvSpPr>
          <p:cNvPr id="3" name="flow arrow"/>
          <p:cNvSpPr/>
          <p:nvPr/>
        </p:nvSpPr>
        <p:spPr>
          <a:xfrm>
            <a:off x="6954519" y="3825748"/>
            <a:ext cx="558800" cy="0"/>
          </a:xfrm>
          <a:custGeom>
            <a:avLst/>
            <a:gdLst/>
            <a:ahLst/>
            <a:cxnLst/>
            <a:rect l="l" t="t" r="r" b="b"/>
            <a:pathLst>
              <a:path w="558800" h="0">
                <a:moveTo>
                  <a:pt x="0" y="0"/>
                </a:moveTo>
                <a:lnTo>
                  <a:pt x="558800" y="0"/>
                </a:lnTo>
              </a:path>
            </a:pathLst>
          </a:custGeom>
          <a:noFill/>
          <a:ln w="31750">
            <a:solidFill>
              <a:srgbClr val="475569"/>
            </a:solidFill>
            <a:tailEnd type="triangle" w="med" len="med"/>
          </a:ln>
        </p:spPr>
        <p:txBody>
          <a:bodyPr rtlCol="0" anchor="ctr"/>
          <a:lstStyle/>
          <a:p>
            <a:pPr algn="ctr"/>
          </a:p>
        </p:txBody>
      </p:sp>
      <p:sp>
        <p:nvSpPr>
          <p:cNvPr id="4" name="flow arrow"/>
          <p:cNvSpPr/>
          <p:nvPr/>
        </p:nvSpPr>
        <p:spPr>
          <a:xfrm>
            <a:off x="9230360" y="3825748"/>
            <a:ext cx="558800" cy="0"/>
          </a:xfrm>
          <a:custGeom>
            <a:avLst/>
            <a:gdLst/>
            <a:ahLst/>
            <a:cxnLst/>
            <a:rect l="l" t="t" r="r" b="b"/>
            <a:pathLst>
              <a:path w="558800" h="0">
                <a:moveTo>
                  <a:pt x="0" y="0"/>
                </a:moveTo>
                <a:lnTo>
                  <a:pt x="558800" y="0"/>
                </a:lnTo>
              </a:path>
            </a:pathLst>
          </a:custGeom>
          <a:noFill/>
          <a:ln w="31750">
            <a:solidFill>
              <a:srgbClr val="475569"/>
            </a:solidFill>
            <a:tailEnd type="triangle" w="med" len="med"/>
          </a:ln>
        </p:spPr>
        <p:txBody>
          <a:bodyPr rtlCol="0" anchor="ctr"/>
          <a:lstStyle/>
          <a:p>
            <a:pPr algn="ctr"/>
          </a:p>
        </p:txBody>
      </p:sp>
      <p:sp>
        <p:nvSpPr>
          <p:cNvPr id="5" name="flow arrow"/>
          <p:cNvSpPr/>
          <p:nvPr/>
        </p:nvSpPr>
        <p:spPr>
          <a:xfrm>
            <a:off x="2402840" y="3101847"/>
            <a:ext cx="2834640" cy="723901"/>
          </a:xfrm>
          <a:custGeom>
            <a:avLst/>
            <a:gdLst/>
            <a:ahLst/>
            <a:cxnLst/>
            <a:rect l="l" t="t" r="r" b="b"/>
            <a:pathLst>
              <a:path w="2834640" h="723901">
                <a:moveTo>
                  <a:pt x="0" y="0"/>
                </a:moveTo>
                <a:lnTo>
                  <a:pt x="1417319" y="0"/>
                </a:lnTo>
                <a:lnTo>
                  <a:pt x="1417319" y="723901"/>
                </a:lnTo>
                <a:lnTo>
                  <a:pt x="2834640" y="723901"/>
                </a:lnTo>
              </a:path>
            </a:pathLst>
          </a:custGeom>
          <a:noFill/>
          <a:ln w="31750">
            <a:solidFill>
              <a:srgbClr val="475569"/>
            </a:solidFill>
            <a:tailEnd type="triangle" w="med" len="med"/>
          </a:ln>
        </p:spPr>
        <p:txBody>
          <a:bodyPr rtlCol="0" anchor="ctr"/>
          <a:lstStyle/>
          <a:p>
            <a:pPr algn="ctr"/>
          </a:p>
        </p:txBody>
      </p:sp>
      <p:sp>
        <p:nvSpPr>
          <p:cNvPr id="6" name="flow arrow"/>
          <p:cNvSpPr/>
          <p:nvPr/>
        </p:nvSpPr>
        <p:spPr>
          <a:xfrm>
            <a:off x="2402840" y="3825748"/>
            <a:ext cx="558800" cy="723900"/>
          </a:xfrm>
          <a:custGeom>
            <a:avLst/>
            <a:gdLst/>
            <a:ahLst/>
            <a:cxnLst/>
            <a:rect l="l" t="t" r="r" b="b"/>
            <a:pathLst>
              <a:path w="558800" h="723900">
                <a:moveTo>
                  <a:pt x="0" y="723900"/>
                </a:moveTo>
                <a:lnTo>
                  <a:pt x="279400" y="723900"/>
                </a:lnTo>
                <a:lnTo>
                  <a:pt x="279400" y="0"/>
                </a:lnTo>
                <a:lnTo>
                  <a:pt x="558800" y="0"/>
                </a:lnTo>
              </a:path>
            </a:pathLst>
          </a:custGeom>
          <a:noFill/>
          <a:ln w="31750">
            <a:solidFill>
              <a:srgbClr val="475569"/>
            </a:solidFill>
            <a:tailEnd type="triangle" w="med" len="med"/>
          </a:ln>
        </p:spPr>
        <p:txBody>
          <a:bodyPr rtlCol="0" anchor="ctr"/>
          <a:lstStyle/>
          <a:p>
            <a:pPr algn="ctr"/>
          </a:p>
        </p:txBody>
      </p:sp>
      <p:sp>
        <p:nvSpPr>
          <p:cNvPr id="7" name="flow arrow"/>
          <p:cNvSpPr/>
          <p:nvPr/>
        </p:nvSpPr>
        <p:spPr>
          <a:xfrm>
            <a:off x="4678680" y="3825748"/>
            <a:ext cx="558800" cy="0"/>
          </a:xfrm>
          <a:custGeom>
            <a:avLst/>
            <a:gdLst/>
            <a:ahLst/>
            <a:cxnLst/>
            <a:rect l="l" t="t" r="r" b="b"/>
            <a:pathLst>
              <a:path w="558800" h="0">
                <a:moveTo>
                  <a:pt x="0" y="0"/>
                </a:moveTo>
                <a:lnTo>
                  <a:pt x="558800" y="0"/>
                </a:lnTo>
              </a:path>
            </a:pathLst>
          </a:custGeom>
          <a:noFill/>
          <a:ln w="31750">
            <a:solidFill>
              <a:srgbClr val="475569"/>
            </a:solidFill>
            <a:tailEnd type="triangle" w="med" len="med"/>
          </a:ln>
        </p:spPr>
        <p:txBody>
          <a:bodyPr rtlCol="0" anchor="ctr"/>
          <a:lstStyle/>
          <a:p>
            <a:pPr algn="ctr"/>
          </a:p>
        </p:txBody>
      </p:sp>
      <p:sp>
        <p:nvSpPr>
          <p:cNvPr id="8" name="component"/>
          <p:cNvSpPr/>
          <p:nvPr/>
        </p:nvSpPr>
        <p:spPr>
          <a:xfrm>
            <a:off x="5237480" y="3279648"/>
            <a:ext cx="1717039" cy="1092200"/>
          </a:xfrm>
          <a:prstGeom prst="roundRect">
            <a:avLst>
              <a:gd name="adj" fmla="val 18604"/>
            </a:avLst>
          </a:prstGeom>
          <a:solidFill>
            <a:srgbClr val="FEF3C7"/>
          </a:solidFill>
          <a:ln w="25400">
            <a:solidFill>
              <a:srgbClr val="B45309"/>
            </a:solidFill>
          </a:ln>
        </p:spPr>
        <p:txBody>
          <a:bodyPr rtlCol="0" anchor="ctr"/>
          <a:lstStyle/>
          <a:p>
            <a:pPr algn="ctr"/>
          </a:p>
        </p:txBody>
      </p:sp>
      <p:sp>
        <p:nvSpPr>
          <p:cNvPr id="9" name="component name"/>
          <p:cNvSpPr txBox="1"/>
          <p:nvPr/>
        </p:nvSpPr>
        <p:spPr>
          <a:xfrm>
            <a:off x="5415280" y="3381248"/>
            <a:ext cx="1361439" cy="889000"/>
          </a:xfrm>
          <a:prstGeom prst="rect">
            <a:avLst/>
          </a:prstGeom>
          <a:noFill/>
        </p:spPr>
        <p:txBody>
          <a:bodyPr wrap="square" lIns="0" rIns="0" tIns="0" bIns="0" anchor="ctr">
            <a:noAutofit/>
          </a:bodyPr>
          <a:lstStyle/>
          <a:p>
            <a:pPr algn="ctr">
              <a:lnSpc>
                <a:spcPct val="100000"/>
              </a:lnSpc>
            </a:pPr>
            <a:r>
              <a:rPr sz="2200" b="1">
                <a:solidFill>
                  <a:srgbClr val="0F172A"/>
                </a:solidFill>
                <a:latin typeface="Calibri"/>
              </a:rPr>
              <a:t>Orca trên máy tính</a:t>
            </a:r>
          </a:p>
        </p:txBody>
      </p:sp>
      <p:sp>
        <p:nvSpPr>
          <p:cNvPr id="10" name="component"/>
          <p:cNvSpPr/>
          <p:nvPr/>
        </p:nvSpPr>
        <p:spPr>
          <a:xfrm>
            <a:off x="7513319" y="3279648"/>
            <a:ext cx="1717039" cy="1092200"/>
          </a:xfrm>
          <a:prstGeom prst="roundRect">
            <a:avLst>
              <a:gd name="adj" fmla="val 18604"/>
            </a:avLst>
          </a:prstGeom>
          <a:solidFill>
            <a:srgbClr val="EDE9FE"/>
          </a:solidFill>
          <a:ln w="25400">
            <a:solidFill>
              <a:srgbClr val="6D28D9"/>
            </a:solidFill>
          </a:ln>
        </p:spPr>
        <p:txBody>
          <a:bodyPr rtlCol="0" anchor="ctr"/>
          <a:lstStyle/>
          <a:p>
            <a:pPr algn="ctr"/>
          </a:p>
        </p:txBody>
      </p:sp>
      <p:sp>
        <p:nvSpPr>
          <p:cNvPr id="11" name="component name"/>
          <p:cNvSpPr txBox="1"/>
          <p:nvPr/>
        </p:nvSpPr>
        <p:spPr>
          <a:xfrm>
            <a:off x="7691119" y="3381248"/>
            <a:ext cx="1361439" cy="889000"/>
          </a:xfrm>
          <a:prstGeom prst="rect">
            <a:avLst/>
          </a:prstGeom>
          <a:noFill/>
        </p:spPr>
        <p:txBody>
          <a:bodyPr wrap="square" lIns="0" rIns="0" tIns="0" bIns="0" anchor="ctr">
            <a:noAutofit/>
          </a:bodyPr>
          <a:lstStyle/>
          <a:p>
            <a:pPr algn="ctr">
              <a:lnSpc>
                <a:spcPct val="100000"/>
              </a:lnSpc>
            </a:pPr>
            <a:r>
              <a:rPr sz="2200" b="1">
                <a:solidFill>
                  <a:srgbClr val="0F172A"/>
                </a:solidFill>
                <a:latin typeface="Calibri"/>
              </a:rPr>
              <a:t>Git worktree</a:t>
            </a:r>
          </a:p>
        </p:txBody>
      </p:sp>
      <p:sp>
        <p:nvSpPr>
          <p:cNvPr id="12" name="component"/>
          <p:cNvSpPr/>
          <p:nvPr/>
        </p:nvSpPr>
        <p:spPr>
          <a:xfrm>
            <a:off x="9789160" y="3279648"/>
            <a:ext cx="1717039" cy="1092200"/>
          </a:xfrm>
          <a:prstGeom prst="roundRect">
            <a:avLst>
              <a:gd name="adj" fmla="val 18604"/>
            </a:avLst>
          </a:prstGeom>
          <a:solidFill>
            <a:srgbClr val="E0F2FE"/>
          </a:solidFill>
          <a:ln w="25400">
            <a:solidFill>
              <a:srgbClr val="0284C7"/>
            </a:solidFill>
          </a:ln>
        </p:spPr>
        <p:txBody>
          <a:bodyPr rtlCol="0" anchor="ctr"/>
          <a:lstStyle/>
          <a:p>
            <a:pPr algn="ctr"/>
          </a:p>
        </p:txBody>
      </p:sp>
      <p:sp>
        <p:nvSpPr>
          <p:cNvPr id="13" name="component name"/>
          <p:cNvSpPr txBox="1"/>
          <p:nvPr/>
        </p:nvSpPr>
        <p:spPr>
          <a:xfrm>
            <a:off x="9966960" y="3381248"/>
            <a:ext cx="1361439" cy="889000"/>
          </a:xfrm>
          <a:prstGeom prst="rect">
            <a:avLst/>
          </a:prstGeom>
          <a:noFill/>
        </p:spPr>
        <p:txBody>
          <a:bodyPr wrap="square" lIns="0" rIns="0" tIns="0" bIns="0" anchor="ctr">
            <a:noAutofit/>
          </a:bodyPr>
          <a:lstStyle/>
          <a:p>
            <a:pPr algn="ctr">
              <a:lnSpc>
                <a:spcPct val="100000"/>
              </a:lnSpc>
            </a:pPr>
            <a:r>
              <a:rPr sz="2200" b="1">
                <a:solidFill>
                  <a:srgbClr val="0F172A"/>
                </a:solidFill>
                <a:latin typeface="Calibri"/>
              </a:rPr>
              <a:t>CLI agent</a:t>
            </a:r>
          </a:p>
        </p:txBody>
      </p:sp>
      <p:sp>
        <p:nvSpPr>
          <p:cNvPr id="14" name="component"/>
          <p:cNvSpPr/>
          <p:nvPr/>
        </p:nvSpPr>
        <p:spPr>
          <a:xfrm>
            <a:off x="685800" y="2555747"/>
            <a:ext cx="1717039" cy="1092200"/>
          </a:xfrm>
          <a:prstGeom prst="roundRect">
            <a:avLst>
              <a:gd name="adj" fmla="val 18604"/>
            </a:avLst>
          </a:prstGeom>
          <a:solidFill>
            <a:srgbClr val="E0F2FE"/>
          </a:solidFill>
          <a:ln w="25400">
            <a:solidFill>
              <a:srgbClr val="0284C7"/>
            </a:solidFill>
          </a:ln>
        </p:spPr>
        <p:txBody>
          <a:bodyPr rtlCol="0" anchor="ctr"/>
          <a:lstStyle/>
          <a:p>
            <a:pPr algn="ctr"/>
          </a:p>
        </p:txBody>
      </p:sp>
      <p:sp>
        <p:nvSpPr>
          <p:cNvPr id="15" name="component name"/>
          <p:cNvSpPr txBox="1"/>
          <p:nvPr/>
        </p:nvSpPr>
        <p:spPr>
          <a:xfrm>
            <a:off x="863600" y="2657347"/>
            <a:ext cx="1361439" cy="889000"/>
          </a:xfrm>
          <a:prstGeom prst="rect">
            <a:avLst/>
          </a:prstGeom>
          <a:noFill/>
        </p:spPr>
        <p:txBody>
          <a:bodyPr wrap="square" lIns="0" rIns="0" tIns="0" bIns="0" anchor="ctr">
            <a:noAutofit/>
          </a:bodyPr>
          <a:lstStyle/>
          <a:p>
            <a:pPr algn="ctr">
              <a:lnSpc>
                <a:spcPct val="100000"/>
              </a:lnSpc>
            </a:pPr>
            <a:r>
              <a:rPr sz="2200" b="1">
                <a:solidFill>
                  <a:srgbClr val="0F172A"/>
                </a:solidFill>
                <a:latin typeface="Calibri"/>
              </a:rPr>
              <a:t>Lệnh orca</a:t>
            </a:r>
          </a:p>
        </p:txBody>
      </p:sp>
      <p:sp>
        <p:nvSpPr>
          <p:cNvPr id="16" name="component"/>
          <p:cNvSpPr/>
          <p:nvPr/>
        </p:nvSpPr>
        <p:spPr>
          <a:xfrm>
            <a:off x="685800" y="4003548"/>
            <a:ext cx="1717039" cy="1092200"/>
          </a:xfrm>
          <a:prstGeom prst="roundRect">
            <a:avLst>
              <a:gd name="adj" fmla="val 18604"/>
            </a:avLst>
          </a:prstGeom>
          <a:solidFill>
            <a:srgbClr val="E0F2FE"/>
          </a:solidFill>
          <a:ln w="25400">
            <a:solidFill>
              <a:srgbClr val="0284C7"/>
            </a:solidFill>
          </a:ln>
        </p:spPr>
        <p:txBody>
          <a:bodyPr rtlCol="0" anchor="ctr"/>
          <a:lstStyle/>
          <a:p>
            <a:pPr algn="ctr"/>
          </a:p>
        </p:txBody>
      </p:sp>
      <p:sp>
        <p:nvSpPr>
          <p:cNvPr id="17" name="component name"/>
          <p:cNvSpPr txBox="1"/>
          <p:nvPr/>
        </p:nvSpPr>
        <p:spPr>
          <a:xfrm>
            <a:off x="863600" y="4105148"/>
            <a:ext cx="1361439" cy="889000"/>
          </a:xfrm>
          <a:prstGeom prst="rect">
            <a:avLst/>
          </a:prstGeom>
          <a:noFill/>
        </p:spPr>
        <p:txBody>
          <a:bodyPr wrap="square" lIns="0" rIns="0" tIns="0" bIns="0" anchor="ctr">
            <a:noAutofit/>
          </a:bodyPr>
          <a:lstStyle/>
          <a:p>
            <a:pPr algn="ctr">
              <a:lnSpc>
                <a:spcPct val="100000"/>
              </a:lnSpc>
            </a:pPr>
            <a:r>
              <a:rPr sz="2200" b="1">
                <a:solidFill>
                  <a:srgbClr val="0F172A"/>
                </a:solidFill>
                <a:latin typeface="Calibri"/>
              </a:rPr>
              <a:t>App điện thoại</a:t>
            </a:r>
          </a:p>
        </p:txBody>
      </p:sp>
      <p:sp>
        <p:nvSpPr>
          <p:cNvPr id="18" name="component"/>
          <p:cNvSpPr/>
          <p:nvPr/>
        </p:nvSpPr>
        <p:spPr>
          <a:xfrm>
            <a:off x="2961640" y="3279648"/>
            <a:ext cx="1717039" cy="1092200"/>
          </a:xfrm>
          <a:prstGeom prst="roundRect">
            <a:avLst>
              <a:gd name="adj" fmla="val 18604"/>
            </a:avLst>
          </a:prstGeom>
          <a:solidFill>
            <a:srgbClr val="CCFBF1"/>
          </a:solidFill>
          <a:ln w="25400">
            <a:solidFill>
              <a:srgbClr val="0F766E"/>
            </a:solidFill>
          </a:ln>
        </p:spPr>
        <p:txBody>
          <a:bodyPr rtlCol="0" anchor="ctr"/>
          <a:lstStyle/>
          <a:p>
            <a:pPr algn="ctr"/>
          </a:p>
        </p:txBody>
      </p:sp>
      <p:sp>
        <p:nvSpPr>
          <p:cNvPr id="19" name="component name"/>
          <p:cNvSpPr txBox="1"/>
          <p:nvPr/>
        </p:nvSpPr>
        <p:spPr>
          <a:xfrm>
            <a:off x="3139440" y="3381248"/>
            <a:ext cx="1361439" cy="889000"/>
          </a:xfrm>
          <a:prstGeom prst="rect">
            <a:avLst/>
          </a:prstGeom>
          <a:noFill/>
        </p:spPr>
        <p:txBody>
          <a:bodyPr wrap="square" lIns="0" rIns="0" tIns="0" bIns="0" anchor="ctr">
            <a:noAutofit/>
          </a:bodyPr>
          <a:lstStyle/>
          <a:p>
            <a:pPr algn="ctr">
              <a:lnSpc>
                <a:spcPct val="100000"/>
              </a:lnSpc>
            </a:pPr>
            <a:r>
              <a:rPr sz="2200" b="1">
                <a:solidFill>
                  <a:srgbClr val="0F172A"/>
                </a:solidFill>
                <a:latin typeface="Calibri"/>
              </a:rPr>
              <a:t>Relay</a:t>
            </a:r>
          </a:p>
        </p:txBody>
      </p:sp>
      <p:sp>
        <p:nvSpPr>
          <p:cNvPr id="20"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19/27</a:t>
            </a:r>
          </a:p>
        </p:txBody>
      </p:sp>
      <p:sp>
        <p:nvSpPr>
          <p:cNvPr id="21"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22" name="progress"/>
          <p:cNvSpPr/>
          <p:nvPr/>
        </p:nvSpPr>
        <p:spPr>
          <a:xfrm>
            <a:off x="685800" y="6426200"/>
            <a:ext cx="7614355" cy="88900"/>
          </a:xfrm>
          <a:prstGeom prst="rect">
            <a:avLst/>
          </a:prstGeom>
          <a:solidFill>
            <a:srgbClr val="E8472B"/>
          </a:solidFill>
          <a:ln>
            <a:noFill/>
          </a:ln>
        </p:spPr>
        <p:txBody>
          <a:bodyPr rtlCol="0" anchor="ctr"/>
          <a:lstStyle/>
          <a:p>
            <a:pPr algn="ctr"/>
          </a:p>
        </p:txBody>
      </p:sp>
      <p:sp>
        <p:nvSpPr>
          <p:cNvPr id="23"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Các mảnh ghép (1/2)</a:t>
            </a:r>
          </a:p>
        </p:txBody>
      </p:sp>
      <p:sp>
        <p:nvSpPr>
          <p:cNvPr id="3" name="card"/>
          <p:cNvSpPr/>
          <p:nvPr/>
        </p:nvSpPr>
        <p:spPr>
          <a:xfrm>
            <a:off x="685800" y="1326895"/>
            <a:ext cx="10820400" cy="1448308"/>
          </a:xfrm>
          <a:prstGeom prst="roundRect">
            <a:avLst>
              <a:gd name="adj" fmla="val 14030"/>
            </a:avLst>
          </a:prstGeom>
          <a:solidFill>
            <a:srgbClr val="E8E0CF"/>
          </a:solidFill>
          <a:ln>
            <a:noFill/>
          </a:ln>
        </p:spPr>
        <p:txBody>
          <a:bodyPr rtlCol="0" anchor="ctr"/>
          <a:lstStyle/>
          <a:p>
            <a:pPr algn="ctr"/>
          </a:p>
        </p:txBody>
      </p:sp>
      <p:sp>
        <p:nvSpPr>
          <p:cNvPr id="4" name="marker 1"/>
          <p:cNvSpPr/>
          <p:nvPr/>
        </p:nvSpPr>
        <p:spPr>
          <a:xfrm>
            <a:off x="965200" y="1797050"/>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5" name="card text"/>
          <p:cNvSpPr txBox="1"/>
          <p:nvPr/>
        </p:nvSpPr>
        <p:spPr>
          <a:xfrm>
            <a:off x="1701800" y="1466595"/>
            <a:ext cx="9525000" cy="1168908"/>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Orca trên máy tính</a:t>
            </a:r>
          </a:p>
          <a:p>
            <a:pPr algn="l">
              <a:lnSpc>
                <a:spcPct val="100000"/>
              </a:lnSpc>
              <a:spcBef>
                <a:spcPts val="500"/>
              </a:spcBef>
            </a:pPr>
            <a:r>
              <a:rPr sz="2200" b="0">
                <a:solidFill>
                  <a:srgbClr val="14161C"/>
                </a:solidFill>
                <a:latin typeface="Calibri"/>
              </a:rPr>
              <a:t>Ứng dụng desktop cho macOS, Windows, Linux: gom terminal, worktree, diff, GitHub và Linear.</a:t>
            </a:r>
          </a:p>
        </p:txBody>
      </p:sp>
      <p:sp>
        <p:nvSpPr>
          <p:cNvPr id="6" name="card"/>
          <p:cNvSpPr/>
          <p:nvPr/>
        </p:nvSpPr>
        <p:spPr>
          <a:xfrm>
            <a:off x="685800" y="2902204"/>
            <a:ext cx="10820400" cy="1090676"/>
          </a:xfrm>
          <a:prstGeom prst="roundRect">
            <a:avLst>
              <a:gd name="adj" fmla="val 18630"/>
            </a:avLst>
          </a:prstGeom>
          <a:solidFill>
            <a:srgbClr val="E8E0CF"/>
          </a:solidFill>
          <a:ln>
            <a:noFill/>
          </a:ln>
        </p:spPr>
        <p:txBody>
          <a:bodyPr rtlCol="0" anchor="ctr"/>
          <a:lstStyle/>
          <a:p>
            <a:pPr algn="ctr"/>
          </a:p>
        </p:txBody>
      </p:sp>
      <p:sp>
        <p:nvSpPr>
          <p:cNvPr id="7" name="marker 2"/>
          <p:cNvSpPr/>
          <p:nvPr/>
        </p:nvSpPr>
        <p:spPr>
          <a:xfrm>
            <a:off x="965200" y="3193541"/>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8" name="card text"/>
          <p:cNvSpPr txBox="1"/>
          <p:nvPr/>
        </p:nvSpPr>
        <p:spPr>
          <a:xfrm>
            <a:off x="1701800" y="3041904"/>
            <a:ext cx="9525000" cy="811276"/>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Git worktree</a:t>
            </a:r>
          </a:p>
          <a:p>
            <a:pPr algn="l">
              <a:lnSpc>
                <a:spcPct val="100000"/>
              </a:lnSpc>
              <a:spcBef>
                <a:spcPts val="500"/>
              </a:spcBef>
            </a:pPr>
            <a:r>
              <a:rPr sz="2200" b="0">
                <a:solidFill>
                  <a:srgbClr val="14161C"/>
                </a:solidFill>
                <a:latin typeface="Calibri"/>
              </a:rPr>
              <a:t>Mỗi agent làm trong một worktree riêng, không ghi đè mã của agent khác.</a:t>
            </a:r>
          </a:p>
        </p:txBody>
      </p:sp>
      <p:sp>
        <p:nvSpPr>
          <p:cNvPr id="9" name="card"/>
          <p:cNvSpPr/>
          <p:nvPr/>
        </p:nvSpPr>
        <p:spPr>
          <a:xfrm>
            <a:off x="685800" y="4119879"/>
            <a:ext cx="10820400" cy="1448308"/>
          </a:xfrm>
          <a:prstGeom prst="roundRect">
            <a:avLst>
              <a:gd name="adj" fmla="val 14030"/>
            </a:avLst>
          </a:prstGeom>
          <a:solidFill>
            <a:srgbClr val="E8E0CF"/>
          </a:solidFill>
          <a:ln>
            <a:noFill/>
          </a:ln>
        </p:spPr>
        <p:txBody>
          <a:bodyPr rtlCol="0" anchor="ctr"/>
          <a:lstStyle/>
          <a:p>
            <a:pPr algn="ctr"/>
          </a:p>
        </p:txBody>
      </p:sp>
      <p:sp>
        <p:nvSpPr>
          <p:cNvPr id="10" name="marker 3"/>
          <p:cNvSpPr/>
          <p:nvPr/>
        </p:nvSpPr>
        <p:spPr>
          <a:xfrm>
            <a:off x="965200" y="4590033"/>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3</a:t>
            </a:r>
          </a:p>
        </p:txBody>
      </p:sp>
      <p:sp>
        <p:nvSpPr>
          <p:cNvPr id="11" name="card text"/>
          <p:cNvSpPr txBox="1"/>
          <p:nvPr/>
        </p:nvSpPr>
        <p:spPr>
          <a:xfrm>
            <a:off x="1701800" y="4259580"/>
            <a:ext cx="9525000" cy="1168908"/>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CLI agent</a:t>
            </a:r>
          </a:p>
          <a:p>
            <a:pPr algn="l">
              <a:lnSpc>
                <a:spcPct val="100000"/>
              </a:lnSpc>
              <a:spcBef>
                <a:spcPts val="500"/>
              </a:spcBef>
            </a:pPr>
            <a:r>
              <a:rPr sz="2200" b="0">
                <a:solidFill>
                  <a:srgbClr val="14161C"/>
                </a:solidFill>
                <a:latin typeface="Calibri"/>
              </a:rPr>
              <a:t>Claude Code, Codex, OpenCode, Pi và nhiều agent khác chạy trong terminal của Orca.</a:t>
            </a:r>
          </a:p>
        </p:txBody>
      </p:sp>
      <p:sp>
        <p:nvSpPr>
          <p:cNvPr id="12"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20/27</a:t>
            </a:r>
          </a:p>
        </p:txBody>
      </p:sp>
      <p:sp>
        <p:nvSpPr>
          <p:cNvPr id="13"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4" name="progress"/>
          <p:cNvSpPr/>
          <p:nvPr/>
        </p:nvSpPr>
        <p:spPr>
          <a:xfrm>
            <a:off x="685800" y="6426200"/>
            <a:ext cx="8015111" cy="88900"/>
          </a:xfrm>
          <a:prstGeom prst="rect">
            <a:avLst/>
          </a:prstGeom>
          <a:solidFill>
            <a:srgbClr val="E8472B"/>
          </a:solidFill>
          <a:ln>
            <a:noFill/>
          </a:ln>
        </p:spPr>
        <p:txBody>
          <a:bodyPr rtlCol="0" anchor="ctr"/>
          <a:lstStyle/>
          <a:p>
            <a:pPr algn="ctr"/>
          </a:p>
        </p:txBody>
      </p:sp>
      <p:sp>
        <p:nvSpPr>
          <p:cNvPr id="15"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Các mảnh ghép (2/2)</a:t>
            </a:r>
          </a:p>
        </p:txBody>
      </p:sp>
      <p:sp>
        <p:nvSpPr>
          <p:cNvPr id="3" name="card"/>
          <p:cNvSpPr/>
          <p:nvPr/>
        </p:nvSpPr>
        <p:spPr>
          <a:xfrm>
            <a:off x="685800" y="1326895"/>
            <a:ext cx="10820400" cy="1090676"/>
          </a:xfrm>
          <a:prstGeom prst="roundRect">
            <a:avLst>
              <a:gd name="adj" fmla="val 18630"/>
            </a:avLst>
          </a:prstGeom>
          <a:solidFill>
            <a:srgbClr val="E8E0CF"/>
          </a:solidFill>
          <a:ln>
            <a:noFill/>
          </a:ln>
        </p:spPr>
        <p:txBody>
          <a:bodyPr rtlCol="0" anchor="ctr"/>
          <a:lstStyle/>
          <a:p>
            <a:pPr algn="ctr"/>
          </a:p>
        </p:txBody>
      </p:sp>
      <p:sp>
        <p:nvSpPr>
          <p:cNvPr id="4" name="marker 4"/>
          <p:cNvSpPr/>
          <p:nvPr/>
        </p:nvSpPr>
        <p:spPr>
          <a:xfrm>
            <a:off x="965200" y="1618233"/>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4</a:t>
            </a:r>
          </a:p>
        </p:txBody>
      </p:sp>
      <p:sp>
        <p:nvSpPr>
          <p:cNvPr id="5" name="card text"/>
          <p:cNvSpPr txBox="1"/>
          <p:nvPr/>
        </p:nvSpPr>
        <p:spPr>
          <a:xfrm>
            <a:off x="1701800" y="1466595"/>
            <a:ext cx="9525000" cy="811276"/>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Lệnh orca</a:t>
            </a:r>
          </a:p>
          <a:p>
            <a:pPr algn="l">
              <a:lnSpc>
                <a:spcPct val="100000"/>
              </a:lnSpc>
              <a:spcBef>
                <a:spcPts val="500"/>
              </a:spcBef>
            </a:pPr>
            <a:r>
              <a:rPr sz="2200" b="0">
                <a:solidFill>
                  <a:srgbClr val="14161C"/>
                </a:solidFill>
                <a:latin typeface="Calibri"/>
              </a:rPr>
              <a:t>Viết kịch bản cho Orca: orca worktree create, snapshot, click, fill.</a:t>
            </a:r>
          </a:p>
        </p:txBody>
      </p:sp>
      <p:sp>
        <p:nvSpPr>
          <p:cNvPr id="6" name="card"/>
          <p:cNvSpPr/>
          <p:nvPr/>
        </p:nvSpPr>
        <p:spPr>
          <a:xfrm>
            <a:off x="685800" y="2544572"/>
            <a:ext cx="10820400" cy="1090676"/>
          </a:xfrm>
          <a:prstGeom prst="roundRect">
            <a:avLst>
              <a:gd name="adj" fmla="val 18630"/>
            </a:avLst>
          </a:prstGeom>
          <a:solidFill>
            <a:srgbClr val="E8E0CF"/>
          </a:solidFill>
          <a:ln>
            <a:noFill/>
          </a:ln>
        </p:spPr>
        <p:txBody>
          <a:bodyPr rtlCol="0" anchor="ctr"/>
          <a:lstStyle/>
          <a:p>
            <a:pPr algn="ctr"/>
          </a:p>
        </p:txBody>
      </p:sp>
      <p:sp>
        <p:nvSpPr>
          <p:cNvPr id="7" name="marker 5"/>
          <p:cNvSpPr/>
          <p:nvPr/>
        </p:nvSpPr>
        <p:spPr>
          <a:xfrm>
            <a:off x="965200" y="2835910"/>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5</a:t>
            </a:r>
          </a:p>
        </p:txBody>
      </p:sp>
      <p:sp>
        <p:nvSpPr>
          <p:cNvPr id="8" name="card text"/>
          <p:cNvSpPr txBox="1"/>
          <p:nvPr/>
        </p:nvSpPr>
        <p:spPr>
          <a:xfrm>
            <a:off x="1701800" y="2684272"/>
            <a:ext cx="9525000" cy="811276"/>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App điện thoại</a:t>
            </a:r>
          </a:p>
          <a:p>
            <a:pPr algn="l">
              <a:lnSpc>
                <a:spcPct val="100000"/>
              </a:lnSpc>
              <a:spcBef>
                <a:spcPts val="500"/>
              </a:spcBef>
            </a:pPr>
            <a:r>
              <a:rPr sz="2200" b="0">
                <a:solidFill>
                  <a:srgbClr val="14161C"/>
                </a:solidFill>
                <a:latin typeface="Calibri"/>
              </a:rPr>
              <a:t>Theo dõi agent và gửi tiếp yêu cầu từ iOS hoặc Android.</a:t>
            </a:r>
          </a:p>
        </p:txBody>
      </p:sp>
      <p:sp>
        <p:nvSpPr>
          <p:cNvPr id="9" name="card"/>
          <p:cNvSpPr/>
          <p:nvPr/>
        </p:nvSpPr>
        <p:spPr>
          <a:xfrm>
            <a:off x="685800" y="3762248"/>
            <a:ext cx="10820400" cy="1090676"/>
          </a:xfrm>
          <a:prstGeom prst="roundRect">
            <a:avLst>
              <a:gd name="adj" fmla="val 18630"/>
            </a:avLst>
          </a:prstGeom>
          <a:solidFill>
            <a:srgbClr val="E8E0CF"/>
          </a:solidFill>
          <a:ln>
            <a:noFill/>
          </a:ln>
        </p:spPr>
        <p:txBody>
          <a:bodyPr rtlCol="0" anchor="ctr"/>
          <a:lstStyle/>
          <a:p>
            <a:pPr algn="ctr"/>
          </a:p>
        </p:txBody>
      </p:sp>
      <p:sp>
        <p:nvSpPr>
          <p:cNvPr id="10" name="marker 6"/>
          <p:cNvSpPr/>
          <p:nvPr/>
        </p:nvSpPr>
        <p:spPr>
          <a:xfrm>
            <a:off x="965200" y="4053586"/>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6</a:t>
            </a:r>
          </a:p>
        </p:txBody>
      </p:sp>
      <p:sp>
        <p:nvSpPr>
          <p:cNvPr id="11" name="card text"/>
          <p:cNvSpPr txBox="1"/>
          <p:nvPr/>
        </p:nvSpPr>
        <p:spPr>
          <a:xfrm>
            <a:off x="1701800" y="3901948"/>
            <a:ext cx="9525000" cy="811276"/>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Relay</a:t>
            </a:r>
          </a:p>
          <a:p>
            <a:pPr algn="l">
              <a:lnSpc>
                <a:spcPct val="100000"/>
              </a:lnSpc>
              <a:spcBef>
                <a:spcPts val="500"/>
              </a:spcBef>
            </a:pPr>
            <a:r>
              <a:rPr sz="2200" b="0">
                <a:solidFill>
                  <a:srgbClr val="14161C"/>
                </a:solidFill>
                <a:latin typeface="Calibri"/>
              </a:rPr>
              <a:t>Ghép app điện thoại với máy desktop; mã nằm trong thư mục cloud/ của repo.</a:t>
            </a:r>
          </a:p>
        </p:txBody>
      </p:sp>
      <p:sp>
        <p:nvSpPr>
          <p:cNvPr id="12"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21/27</a:t>
            </a:r>
          </a:p>
        </p:txBody>
      </p:sp>
      <p:sp>
        <p:nvSpPr>
          <p:cNvPr id="13"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4" name="progress"/>
          <p:cNvSpPr/>
          <p:nvPr/>
        </p:nvSpPr>
        <p:spPr>
          <a:xfrm>
            <a:off x="685800" y="6426200"/>
            <a:ext cx="8415866" cy="88900"/>
          </a:xfrm>
          <a:prstGeom prst="rect">
            <a:avLst/>
          </a:prstGeom>
          <a:solidFill>
            <a:srgbClr val="E8472B"/>
          </a:solidFill>
          <a:ln>
            <a:noFill/>
          </a:ln>
        </p:spPr>
        <p:txBody>
          <a:bodyPr rtlCol="0" anchor="ctr"/>
          <a:lstStyle/>
          <a:p>
            <a:pPr algn="ctr"/>
          </a:p>
        </p:txBody>
      </p:sp>
      <p:sp>
        <p:nvSpPr>
          <p:cNvPr id="15"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41B"/>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F3EEE3"/>
                </a:solidFill>
                <a:latin typeface="Cambria"/>
              </a:rPr>
              <a:t>Nó chạy như thế nào (1/3)</a:t>
            </a:r>
          </a:p>
        </p:txBody>
      </p:sp>
      <p:sp>
        <p:nvSpPr>
          <p:cNvPr id="3" name="card"/>
          <p:cNvSpPr/>
          <p:nvPr/>
        </p:nvSpPr>
        <p:spPr>
          <a:xfrm>
            <a:off x="685800" y="1326895"/>
            <a:ext cx="10820400" cy="1448308"/>
          </a:xfrm>
          <a:prstGeom prst="roundRect">
            <a:avLst>
              <a:gd name="adj" fmla="val 14030"/>
            </a:avLst>
          </a:prstGeom>
          <a:solidFill>
            <a:srgbClr val="1E2230"/>
          </a:solidFill>
          <a:ln>
            <a:noFill/>
          </a:ln>
        </p:spPr>
        <p:txBody>
          <a:bodyPr rtlCol="0" anchor="ctr"/>
          <a:lstStyle/>
          <a:p>
            <a:pPr algn="ctr"/>
          </a:p>
        </p:txBody>
      </p:sp>
      <p:sp>
        <p:nvSpPr>
          <p:cNvPr id="4" name="marker 1"/>
          <p:cNvSpPr/>
          <p:nvPr/>
        </p:nvSpPr>
        <p:spPr>
          <a:xfrm>
            <a:off x="965200" y="1797050"/>
            <a:ext cx="508000" cy="508000"/>
          </a:xfrm>
          <a:prstGeom prst="ellipse">
            <a:avLst/>
          </a:prstGeom>
          <a:solidFill>
            <a:srgbClr val="7C93FF"/>
          </a:solidFill>
          <a:ln>
            <a:noFill/>
          </a:ln>
        </p:spPr>
        <p:txBody>
          <a:bodyPr rtlCol="0" anchor="ctr" lIns="0" rIns="0" tIns="0" bIns="0"/>
          <a:lstStyle/>
          <a:p>
            <a:pPr algn="ctr"/>
            <a:r>
              <a:rPr sz="2000" b="1">
                <a:solidFill>
                  <a:srgbClr val="12141B"/>
                </a:solidFill>
                <a:latin typeface="Calibri"/>
              </a:rPr>
              <a:t>1</a:t>
            </a:r>
          </a:p>
        </p:txBody>
      </p:sp>
      <p:sp>
        <p:nvSpPr>
          <p:cNvPr id="5" name="card text"/>
          <p:cNvSpPr txBox="1"/>
          <p:nvPr/>
        </p:nvSpPr>
        <p:spPr>
          <a:xfrm>
            <a:off x="1701800" y="1466595"/>
            <a:ext cx="9525000" cy="1168908"/>
          </a:xfrm>
          <a:prstGeom prst="rect">
            <a:avLst/>
          </a:prstGeom>
          <a:noFill/>
        </p:spPr>
        <p:txBody>
          <a:bodyPr wrap="square" lIns="0" rIns="0" tIns="0" bIns="0" anchor="ctr">
            <a:noAutofit/>
          </a:bodyPr>
          <a:lstStyle/>
          <a:p>
            <a:pPr algn="l">
              <a:lnSpc>
                <a:spcPct val="100000"/>
              </a:lnSpc>
            </a:pPr>
            <a:r>
              <a:rPr sz="2400" b="1">
                <a:solidFill>
                  <a:srgbClr val="F3EEE3"/>
                </a:solidFill>
                <a:latin typeface="Calibri"/>
              </a:rPr>
              <a:t>Mỗi agent một worktree</a:t>
            </a:r>
          </a:p>
          <a:p>
            <a:pPr algn="l">
              <a:lnSpc>
                <a:spcPct val="100000"/>
              </a:lnSpc>
              <a:spcBef>
                <a:spcPts val="500"/>
              </a:spcBef>
            </a:pPr>
            <a:r>
              <a:rPr sz="2200" b="0">
                <a:solidFill>
                  <a:srgbClr val="F3EEE3"/>
                </a:solidFill>
                <a:latin typeface="Calibri"/>
              </a:rPr>
              <a:t>Orca chia một prompt cho nhiều agent, mỗi agent một git worktree biệt lập, rồi so kết quả và merge bản tốt nhất.</a:t>
            </a:r>
          </a:p>
        </p:txBody>
      </p:sp>
      <p:sp>
        <p:nvSpPr>
          <p:cNvPr id="6" name="card"/>
          <p:cNvSpPr/>
          <p:nvPr/>
        </p:nvSpPr>
        <p:spPr>
          <a:xfrm>
            <a:off x="685800" y="2902204"/>
            <a:ext cx="10820400" cy="1805939"/>
          </a:xfrm>
          <a:prstGeom prst="roundRect">
            <a:avLst>
              <a:gd name="adj" fmla="val 11251"/>
            </a:avLst>
          </a:prstGeom>
          <a:solidFill>
            <a:srgbClr val="1E2230"/>
          </a:solidFill>
          <a:ln>
            <a:noFill/>
          </a:ln>
        </p:spPr>
        <p:txBody>
          <a:bodyPr rtlCol="0" anchor="ctr"/>
          <a:lstStyle/>
          <a:p>
            <a:pPr algn="ctr"/>
          </a:p>
        </p:txBody>
      </p:sp>
      <p:sp>
        <p:nvSpPr>
          <p:cNvPr id="7" name="marker 2"/>
          <p:cNvSpPr/>
          <p:nvPr/>
        </p:nvSpPr>
        <p:spPr>
          <a:xfrm>
            <a:off x="965200" y="3551174"/>
            <a:ext cx="508000" cy="508000"/>
          </a:xfrm>
          <a:prstGeom prst="ellipse">
            <a:avLst/>
          </a:prstGeom>
          <a:solidFill>
            <a:srgbClr val="3DD6A0"/>
          </a:solidFill>
          <a:ln>
            <a:noFill/>
          </a:ln>
        </p:spPr>
        <p:txBody>
          <a:bodyPr rtlCol="0" anchor="ctr" lIns="0" rIns="0" tIns="0" bIns="0"/>
          <a:lstStyle/>
          <a:p>
            <a:pPr algn="ctr"/>
            <a:r>
              <a:rPr sz="2000" b="1">
                <a:solidFill>
                  <a:srgbClr val="12141B"/>
                </a:solidFill>
                <a:latin typeface="Calibri"/>
              </a:rPr>
              <a:t>2</a:t>
            </a:r>
          </a:p>
        </p:txBody>
      </p:sp>
      <p:sp>
        <p:nvSpPr>
          <p:cNvPr id="8" name="card text"/>
          <p:cNvSpPr txBox="1"/>
          <p:nvPr/>
        </p:nvSpPr>
        <p:spPr>
          <a:xfrm>
            <a:off x="1701800" y="3041904"/>
            <a:ext cx="9525000" cy="1526539"/>
          </a:xfrm>
          <a:prstGeom prst="rect">
            <a:avLst/>
          </a:prstGeom>
          <a:noFill/>
        </p:spPr>
        <p:txBody>
          <a:bodyPr wrap="square" lIns="0" rIns="0" tIns="0" bIns="0" anchor="ctr">
            <a:noAutofit/>
          </a:bodyPr>
          <a:lstStyle/>
          <a:p>
            <a:pPr algn="l">
              <a:lnSpc>
                <a:spcPct val="100000"/>
              </a:lnSpc>
            </a:pPr>
            <a:r>
              <a:rPr sz="2400" b="1">
                <a:solidFill>
                  <a:srgbClr val="F3EEE3"/>
                </a:solidFill>
                <a:latin typeface="Calibri"/>
              </a:rPr>
              <a:t>Terminal thật cho CLI agent</a:t>
            </a:r>
          </a:p>
          <a:p>
            <a:pPr algn="l">
              <a:lnSpc>
                <a:spcPct val="100000"/>
              </a:lnSpc>
              <a:spcBef>
                <a:spcPts val="500"/>
              </a:spcBef>
            </a:pPr>
            <a:r>
              <a:rPr sz="2200" b="0">
                <a:solidFill>
                  <a:srgbClr val="F3EEE3"/>
                </a:solidFill>
                <a:latin typeface="Calibri"/>
              </a:rPr>
              <a:t>Agent chạy trong terminal chia ô: README gọi là terminal cùng đẳng cấp Ghostty (Ghostty-class), vẽ bằng WebGL, chia ô không giới hạn, scrollback còn sau khi mở lại.</a:t>
            </a:r>
          </a:p>
        </p:txBody>
      </p:sp>
      <p:sp>
        <p:nvSpPr>
          <p:cNvPr id="9"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F3EEE3"/>
                </a:solidFill>
                <a:latin typeface="Calibri"/>
              </a:rPr>
              <a:t>22/27</a:t>
            </a:r>
          </a:p>
        </p:txBody>
      </p:sp>
      <p:sp>
        <p:nvSpPr>
          <p:cNvPr id="10" name="rail"/>
          <p:cNvSpPr/>
          <p:nvPr/>
        </p:nvSpPr>
        <p:spPr>
          <a:xfrm>
            <a:off x="685800" y="6451600"/>
            <a:ext cx="10820400" cy="38100"/>
          </a:xfrm>
          <a:prstGeom prst="rect">
            <a:avLst/>
          </a:prstGeom>
          <a:solidFill>
            <a:srgbClr val="9AA0B5"/>
          </a:solidFill>
          <a:ln>
            <a:noFill/>
          </a:ln>
        </p:spPr>
        <p:txBody>
          <a:bodyPr rtlCol="0" anchor="ctr"/>
          <a:lstStyle/>
          <a:p>
            <a:pPr algn="ctr"/>
          </a:p>
        </p:txBody>
      </p:sp>
      <p:sp>
        <p:nvSpPr>
          <p:cNvPr id="11" name="progress"/>
          <p:cNvSpPr/>
          <p:nvPr/>
        </p:nvSpPr>
        <p:spPr>
          <a:xfrm>
            <a:off x="685800" y="6426200"/>
            <a:ext cx="8816622" cy="88900"/>
          </a:xfrm>
          <a:prstGeom prst="rect">
            <a:avLst/>
          </a:prstGeom>
          <a:solidFill>
            <a:srgbClr val="FF6A4D"/>
          </a:solidFill>
          <a:ln>
            <a:noFill/>
          </a:ln>
        </p:spPr>
        <p:txBody>
          <a:bodyPr rtlCol="0" anchor="ctr"/>
          <a:lstStyle/>
          <a:p>
            <a:pPr algn="ctr"/>
          </a:p>
        </p:txBody>
      </p:sp>
      <p:sp>
        <p:nvSpPr>
          <p:cNvPr id="12"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9AA0B5"/>
                </a:solidFill>
                <a:latin typeface="Calibri"/>
              </a:rPr>
              <a:t>Radar GitHub · orca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41B"/>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F3EEE3"/>
                </a:solidFill>
                <a:latin typeface="Cambria"/>
              </a:rPr>
              <a:t>Nó chạy như thế nào (2/3)</a:t>
            </a:r>
          </a:p>
        </p:txBody>
      </p:sp>
      <p:sp>
        <p:nvSpPr>
          <p:cNvPr id="3" name="card"/>
          <p:cNvSpPr/>
          <p:nvPr/>
        </p:nvSpPr>
        <p:spPr>
          <a:xfrm>
            <a:off x="685800" y="1326895"/>
            <a:ext cx="10820400" cy="1448308"/>
          </a:xfrm>
          <a:prstGeom prst="roundRect">
            <a:avLst>
              <a:gd name="adj" fmla="val 14030"/>
            </a:avLst>
          </a:prstGeom>
          <a:solidFill>
            <a:srgbClr val="1E2230"/>
          </a:solidFill>
          <a:ln>
            <a:noFill/>
          </a:ln>
        </p:spPr>
        <p:txBody>
          <a:bodyPr rtlCol="0" anchor="ctr"/>
          <a:lstStyle/>
          <a:p>
            <a:pPr algn="ctr"/>
          </a:p>
        </p:txBody>
      </p:sp>
      <p:sp>
        <p:nvSpPr>
          <p:cNvPr id="4" name="marker 3"/>
          <p:cNvSpPr/>
          <p:nvPr/>
        </p:nvSpPr>
        <p:spPr>
          <a:xfrm>
            <a:off x="965200" y="1797050"/>
            <a:ext cx="508000" cy="508000"/>
          </a:xfrm>
          <a:prstGeom prst="ellipse">
            <a:avLst/>
          </a:prstGeom>
          <a:solidFill>
            <a:srgbClr val="FFB454"/>
          </a:solidFill>
          <a:ln>
            <a:noFill/>
          </a:ln>
        </p:spPr>
        <p:txBody>
          <a:bodyPr rtlCol="0" anchor="ctr" lIns="0" rIns="0" tIns="0" bIns="0"/>
          <a:lstStyle/>
          <a:p>
            <a:pPr algn="ctr"/>
            <a:r>
              <a:rPr sz="2000" b="1">
                <a:solidFill>
                  <a:srgbClr val="12141B"/>
                </a:solidFill>
                <a:latin typeface="Calibri"/>
              </a:rPr>
              <a:t>3</a:t>
            </a:r>
          </a:p>
        </p:txBody>
      </p:sp>
      <p:sp>
        <p:nvSpPr>
          <p:cNvPr id="5" name="card text"/>
          <p:cNvSpPr txBox="1"/>
          <p:nvPr/>
        </p:nvSpPr>
        <p:spPr>
          <a:xfrm>
            <a:off x="1701800" y="1466595"/>
            <a:ext cx="9525000" cy="1168908"/>
          </a:xfrm>
          <a:prstGeom prst="rect">
            <a:avLst/>
          </a:prstGeom>
          <a:noFill/>
        </p:spPr>
        <p:txBody>
          <a:bodyPr wrap="square" lIns="0" rIns="0" tIns="0" bIns="0" anchor="ctr">
            <a:noAutofit/>
          </a:bodyPr>
          <a:lstStyle/>
          <a:p>
            <a:pPr algn="l">
              <a:lnSpc>
                <a:spcPct val="100000"/>
              </a:lnSpc>
            </a:pPr>
            <a:r>
              <a:rPr sz="2400" b="1">
                <a:solidFill>
                  <a:srgbClr val="F3EEE3"/>
                </a:solidFill>
                <a:latin typeface="Calibri"/>
              </a:rPr>
              <a:t>Một nơi để theo dõi</a:t>
            </a:r>
          </a:p>
          <a:p>
            <a:pPr algn="l">
              <a:lnSpc>
                <a:spcPct val="100000"/>
              </a:lnSpc>
              <a:spcBef>
                <a:spcPts val="500"/>
              </a:spcBef>
            </a:pPr>
            <a:r>
              <a:rPr sz="2200" b="0">
                <a:solidFill>
                  <a:srgbClr val="F3EEE3"/>
                </a:solidFill>
                <a:latin typeface="Calibri"/>
              </a:rPr>
              <a:t>Orca báo khi agent xong, hiện PR, issue và bảng dự án GitHub, Linear, và cho nhận xét thẳng lên diff.</a:t>
            </a:r>
          </a:p>
        </p:txBody>
      </p:sp>
      <p:sp>
        <p:nvSpPr>
          <p:cNvPr id="6" name="card"/>
          <p:cNvSpPr/>
          <p:nvPr/>
        </p:nvSpPr>
        <p:spPr>
          <a:xfrm>
            <a:off x="685800" y="2902204"/>
            <a:ext cx="10820400" cy="1448308"/>
          </a:xfrm>
          <a:prstGeom prst="roundRect">
            <a:avLst>
              <a:gd name="adj" fmla="val 14030"/>
            </a:avLst>
          </a:prstGeom>
          <a:solidFill>
            <a:srgbClr val="1E2230"/>
          </a:solidFill>
          <a:ln>
            <a:noFill/>
          </a:ln>
        </p:spPr>
        <p:txBody>
          <a:bodyPr rtlCol="0" anchor="ctr"/>
          <a:lstStyle/>
          <a:p>
            <a:pPr algn="ctr"/>
          </a:p>
        </p:txBody>
      </p:sp>
      <p:sp>
        <p:nvSpPr>
          <p:cNvPr id="7" name="marker 4"/>
          <p:cNvSpPr/>
          <p:nvPr/>
        </p:nvSpPr>
        <p:spPr>
          <a:xfrm>
            <a:off x="965200" y="3372357"/>
            <a:ext cx="508000" cy="508000"/>
          </a:xfrm>
          <a:prstGeom prst="ellipse">
            <a:avLst/>
          </a:prstGeom>
          <a:solidFill>
            <a:srgbClr val="C58BFF"/>
          </a:solidFill>
          <a:ln>
            <a:noFill/>
          </a:ln>
        </p:spPr>
        <p:txBody>
          <a:bodyPr rtlCol="0" anchor="ctr" lIns="0" rIns="0" tIns="0" bIns="0"/>
          <a:lstStyle/>
          <a:p>
            <a:pPr algn="ctr"/>
            <a:r>
              <a:rPr sz="2000" b="1">
                <a:solidFill>
                  <a:srgbClr val="12141B"/>
                </a:solidFill>
                <a:latin typeface="Calibri"/>
              </a:rPr>
              <a:t>4</a:t>
            </a:r>
          </a:p>
        </p:txBody>
      </p:sp>
      <p:sp>
        <p:nvSpPr>
          <p:cNvPr id="8" name="card text"/>
          <p:cNvSpPr txBox="1"/>
          <p:nvPr/>
        </p:nvSpPr>
        <p:spPr>
          <a:xfrm>
            <a:off x="1701800" y="3041904"/>
            <a:ext cx="9525000" cy="1168908"/>
          </a:xfrm>
          <a:prstGeom prst="rect">
            <a:avLst/>
          </a:prstGeom>
          <a:noFill/>
        </p:spPr>
        <p:txBody>
          <a:bodyPr wrap="square" lIns="0" rIns="0" tIns="0" bIns="0" anchor="ctr">
            <a:noAutofit/>
          </a:bodyPr>
          <a:lstStyle/>
          <a:p>
            <a:pPr algn="l">
              <a:lnSpc>
                <a:spcPct val="100000"/>
              </a:lnSpc>
            </a:pPr>
            <a:r>
              <a:rPr sz="2400" b="1">
                <a:solidFill>
                  <a:srgbClr val="F3EEE3"/>
                </a:solidFill>
                <a:latin typeface="Calibri"/>
              </a:rPr>
              <a:t>Agent cũng điều khiển Orca</a:t>
            </a:r>
          </a:p>
          <a:p>
            <a:pPr algn="l">
              <a:lnSpc>
                <a:spcPct val="100000"/>
              </a:lnSpc>
              <a:spcBef>
                <a:spcPts val="500"/>
              </a:spcBef>
            </a:pPr>
            <a:r>
              <a:rPr sz="2200" b="0">
                <a:solidFill>
                  <a:srgbClr val="F3EEE3"/>
                </a:solidFill>
                <a:latin typeface="Calibri"/>
              </a:rPr>
              <a:t>README nói dòng lệnh orca cho agent điều khiển Orca và viết kịch bản cho quy trình, với các lệnh con như worktree create, snapshot, click, fill.</a:t>
            </a:r>
          </a:p>
        </p:txBody>
      </p:sp>
      <p:sp>
        <p:nvSpPr>
          <p:cNvPr id="9" name="card"/>
          <p:cNvSpPr/>
          <p:nvPr/>
        </p:nvSpPr>
        <p:spPr>
          <a:xfrm>
            <a:off x="685800" y="4477511"/>
            <a:ext cx="10820400" cy="1448308"/>
          </a:xfrm>
          <a:prstGeom prst="roundRect">
            <a:avLst>
              <a:gd name="adj" fmla="val 14030"/>
            </a:avLst>
          </a:prstGeom>
          <a:solidFill>
            <a:srgbClr val="1E2230"/>
          </a:solidFill>
          <a:ln>
            <a:noFill/>
          </a:ln>
        </p:spPr>
        <p:txBody>
          <a:bodyPr rtlCol="0" anchor="ctr"/>
          <a:lstStyle/>
          <a:p>
            <a:pPr algn="ctr"/>
          </a:p>
        </p:txBody>
      </p:sp>
      <p:sp>
        <p:nvSpPr>
          <p:cNvPr id="10" name="marker 5"/>
          <p:cNvSpPr/>
          <p:nvPr/>
        </p:nvSpPr>
        <p:spPr>
          <a:xfrm>
            <a:off x="965200" y="4947665"/>
            <a:ext cx="508000" cy="508000"/>
          </a:xfrm>
          <a:prstGeom prst="ellipse">
            <a:avLst/>
          </a:prstGeom>
          <a:solidFill>
            <a:srgbClr val="FF6A4D"/>
          </a:solidFill>
          <a:ln>
            <a:noFill/>
          </a:ln>
        </p:spPr>
        <p:txBody>
          <a:bodyPr rtlCol="0" anchor="ctr" lIns="0" rIns="0" tIns="0" bIns="0"/>
          <a:lstStyle/>
          <a:p>
            <a:pPr algn="ctr"/>
            <a:r>
              <a:rPr sz="2000" b="1">
                <a:solidFill>
                  <a:srgbClr val="12141B"/>
                </a:solidFill>
                <a:latin typeface="Calibri"/>
              </a:rPr>
              <a:t>5</a:t>
            </a:r>
          </a:p>
        </p:txBody>
      </p:sp>
      <p:sp>
        <p:nvSpPr>
          <p:cNvPr id="11" name="card text"/>
          <p:cNvSpPr txBox="1"/>
          <p:nvPr/>
        </p:nvSpPr>
        <p:spPr>
          <a:xfrm>
            <a:off x="1701800" y="4617211"/>
            <a:ext cx="9525000" cy="1168908"/>
          </a:xfrm>
          <a:prstGeom prst="rect">
            <a:avLst/>
          </a:prstGeom>
          <a:noFill/>
        </p:spPr>
        <p:txBody>
          <a:bodyPr wrap="square" lIns="0" rIns="0" tIns="0" bIns="0" anchor="ctr">
            <a:noAutofit/>
          </a:bodyPr>
          <a:lstStyle/>
          <a:p>
            <a:pPr algn="l">
              <a:lnSpc>
                <a:spcPct val="100000"/>
              </a:lnSpc>
            </a:pPr>
            <a:r>
              <a:rPr sz="2400" b="1">
                <a:solidFill>
                  <a:srgbClr val="F3EEE3"/>
                </a:solidFill>
                <a:latin typeface="Calibri"/>
              </a:rPr>
              <a:t>SSH worktrees: agent chạy ở máy từ xa</a:t>
            </a:r>
          </a:p>
          <a:p>
            <a:pPr algn="l">
              <a:lnSpc>
                <a:spcPct val="100000"/>
              </a:lnSpc>
              <a:spcBef>
                <a:spcPts val="500"/>
              </a:spcBef>
            </a:pPr>
            <a:r>
              <a:rPr sz="2200" b="0">
                <a:solidFill>
                  <a:srgbClr val="F3EEE3"/>
                </a:solidFill>
                <a:latin typeface="Calibri"/>
              </a:rPr>
              <a:t>README nói có thể chạy agent trên một máy từ xa mạnh, với sửa file, git và terminal đầy đủ, tự nối lại và chuyển cổng.</a:t>
            </a:r>
          </a:p>
        </p:txBody>
      </p:sp>
      <p:sp>
        <p:nvSpPr>
          <p:cNvPr id="12"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F3EEE3"/>
                </a:solidFill>
                <a:latin typeface="Calibri"/>
              </a:rPr>
              <a:t>23/27</a:t>
            </a:r>
          </a:p>
        </p:txBody>
      </p:sp>
      <p:sp>
        <p:nvSpPr>
          <p:cNvPr id="13" name="rail"/>
          <p:cNvSpPr/>
          <p:nvPr/>
        </p:nvSpPr>
        <p:spPr>
          <a:xfrm>
            <a:off x="685800" y="6451600"/>
            <a:ext cx="10820400" cy="38100"/>
          </a:xfrm>
          <a:prstGeom prst="rect">
            <a:avLst/>
          </a:prstGeom>
          <a:solidFill>
            <a:srgbClr val="9AA0B5"/>
          </a:solidFill>
          <a:ln>
            <a:noFill/>
          </a:ln>
        </p:spPr>
        <p:txBody>
          <a:bodyPr rtlCol="0" anchor="ctr"/>
          <a:lstStyle/>
          <a:p>
            <a:pPr algn="ctr"/>
          </a:p>
        </p:txBody>
      </p:sp>
      <p:sp>
        <p:nvSpPr>
          <p:cNvPr id="14" name="progress"/>
          <p:cNvSpPr/>
          <p:nvPr/>
        </p:nvSpPr>
        <p:spPr>
          <a:xfrm>
            <a:off x="685800" y="6426200"/>
            <a:ext cx="9217377" cy="88900"/>
          </a:xfrm>
          <a:prstGeom prst="rect">
            <a:avLst/>
          </a:prstGeom>
          <a:solidFill>
            <a:srgbClr val="FF6A4D"/>
          </a:solidFill>
          <a:ln>
            <a:noFill/>
          </a:ln>
        </p:spPr>
        <p:txBody>
          <a:bodyPr rtlCol="0" anchor="ctr"/>
          <a:lstStyle/>
          <a:p>
            <a:pPr algn="ctr"/>
          </a:p>
        </p:txBody>
      </p:sp>
      <p:sp>
        <p:nvSpPr>
          <p:cNvPr id="15"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9AA0B5"/>
                </a:solidFill>
                <a:latin typeface="Calibri"/>
              </a:rPr>
              <a:t>Radar GitHub · orca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41B"/>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F3EEE3"/>
                </a:solidFill>
                <a:latin typeface="Cambria"/>
              </a:rPr>
              <a:t>Nó chạy như thế nào (3/3)</a:t>
            </a:r>
          </a:p>
        </p:txBody>
      </p:sp>
      <p:sp>
        <p:nvSpPr>
          <p:cNvPr id="3" name="card"/>
          <p:cNvSpPr/>
          <p:nvPr/>
        </p:nvSpPr>
        <p:spPr>
          <a:xfrm>
            <a:off x="685800" y="1326895"/>
            <a:ext cx="10820400" cy="1448308"/>
          </a:xfrm>
          <a:prstGeom prst="roundRect">
            <a:avLst>
              <a:gd name="adj" fmla="val 14030"/>
            </a:avLst>
          </a:prstGeom>
          <a:solidFill>
            <a:srgbClr val="1E2230"/>
          </a:solidFill>
          <a:ln>
            <a:noFill/>
          </a:ln>
        </p:spPr>
        <p:txBody>
          <a:bodyPr rtlCol="0" anchor="ctr"/>
          <a:lstStyle/>
          <a:p>
            <a:pPr algn="ctr"/>
          </a:p>
        </p:txBody>
      </p:sp>
      <p:sp>
        <p:nvSpPr>
          <p:cNvPr id="4" name="marker 6"/>
          <p:cNvSpPr/>
          <p:nvPr/>
        </p:nvSpPr>
        <p:spPr>
          <a:xfrm>
            <a:off x="965200" y="1797050"/>
            <a:ext cx="508000" cy="508000"/>
          </a:xfrm>
          <a:prstGeom prst="ellipse">
            <a:avLst/>
          </a:prstGeom>
          <a:solidFill>
            <a:srgbClr val="7C93FF"/>
          </a:solidFill>
          <a:ln>
            <a:noFill/>
          </a:ln>
        </p:spPr>
        <p:txBody>
          <a:bodyPr rtlCol="0" anchor="ctr" lIns="0" rIns="0" tIns="0" bIns="0"/>
          <a:lstStyle/>
          <a:p>
            <a:pPr algn="ctr"/>
            <a:r>
              <a:rPr sz="2000" b="1">
                <a:solidFill>
                  <a:srgbClr val="12141B"/>
                </a:solidFill>
                <a:latin typeface="Calibri"/>
              </a:rPr>
              <a:t>6</a:t>
            </a:r>
          </a:p>
        </p:txBody>
      </p:sp>
      <p:sp>
        <p:nvSpPr>
          <p:cNvPr id="5" name="card text"/>
          <p:cNvSpPr txBox="1"/>
          <p:nvPr/>
        </p:nvSpPr>
        <p:spPr>
          <a:xfrm>
            <a:off x="1701800" y="1466595"/>
            <a:ext cx="9525000" cy="1168908"/>
          </a:xfrm>
          <a:prstGeom prst="rect">
            <a:avLst/>
          </a:prstGeom>
          <a:noFill/>
        </p:spPr>
        <p:txBody>
          <a:bodyPr wrap="square" lIns="0" rIns="0" tIns="0" bIns="0" anchor="ctr">
            <a:noAutofit/>
          </a:bodyPr>
          <a:lstStyle/>
          <a:p>
            <a:pPr algn="l">
              <a:lnSpc>
                <a:spcPct val="100000"/>
              </a:lnSpc>
            </a:pPr>
            <a:r>
              <a:rPr sz="2400" b="1">
                <a:solidFill>
                  <a:srgbClr val="F3EEE3"/>
                </a:solidFill>
                <a:latin typeface="Calibri"/>
              </a:rPr>
              <a:t>App điện thoại ghép qua relay</a:t>
            </a:r>
          </a:p>
          <a:p>
            <a:pPr algn="l">
              <a:lnSpc>
                <a:spcPct val="100000"/>
              </a:lnSpc>
              <a:spcBef>
                <a:spcPts val="500"/>
              </a:spcBef>
            </a:pPr>
            <a:r>
              <a:rPr sz="2200" b="0">
                <a:solidFill>
                  <a:srgbClr val="F3EEE3"/>
                </a:solidFill>
                <a:latin typeface="Calibri"/>
              </a:rPr>
              <a:t>App điện thoại được ghép với máy desktop qua một relay; README nói mã relay nằm trong thư mục cloud/ của repo.</a:t>
            </a:r>
          </a:p>
        </p:txBody>
      </p:sp>
      <p:sp>
        <p:nvSpPr>
          <p:cNvPr id="6"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F3EEE3"/>
                </a:solidFill>
                <a:latin typeface="Calibri"/>
              </a:rPr>
              <a:t>24/27</a:t>
            </a:r>
          </a:p>
        </p:txBody>
      </p:sp>
      <p:sp>
        <p:nvSpPr>
          <p:cNvPr id="7" name="rail"/>
          <p:cNvSpPr/>
          <p:nvPr/>
        </p:nvSpPr>
        <p:spPr>
          <a:xfrm>
            <a:off x="685800" y="6451600"/>
            <a:ext cx="10820400" cy="38100"/>
          </a:xfrm>
          <a:prstGeom prst="rect">
            <a:avLst/>
          </a:prstGeom>
          <a:solidFill>
            <a:srgbClr val="9AA0B5"/>
          </a:solidFill>
          <a:ln>
            <a:noFill/>
          </a:ln>
        </p:spPr>
        <p:txBody>
          <a:bodyPr rtlCol="0" anchor="ctr"/>
          <a:lstStyle/>
          <a:p>
            <a:pPr algn="ctr"/>
          </a:p>
        </p:txBody>
      </p:sp>
      <p:sp>
        <p:nvSpPr>
          <p:cNvPr id="8" name="progress"/>
          <p:cNvSpPr/>
          <p:nvPr/>
        </p:nvSpPr>
        <p:spPr>
          <a:xfrm>
            <a:off x="685800" y="6426200"/>
            <a:ext cx="9618133" cy="88900"/>
          </a:xfrm>
          <a:prstGeom prst="rect">
            <a:avLst/>
          </a:prstGeom>
          <a:solidFill>
            <a:srgbClr val="FF6A4D"/>
          </a:solidFill>
          <a:ln>
            <a:noFill/>
          </a:ln>
        </p:spPr>
        <p:txBody>
          <a:bodyPr rtlCol="0" anchor="ctr"/>
          <a:lstStyle/>
          <a:p>
            <a:pPr algn="ctr"/>
          </a:p>
        </p:txBody>
      </p:sp>
      <p:sp>
        <p:nvSpPr>
          <p:cNvPr id="9"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9AA0B5"/>
                </a:solidFill>
                <a:latin typeface="Calibri"/>
              </a:rPr>
              <a:t>Radar GitHub · orca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F3FD1"/>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FFFFFF"/>
                </a:solidFill>
                <a:latin typeface="Cambria"/>
              </a:rPr>
              <a:t>Học được gì từ thiết kế này</a:t>
            </a:r>
          </a:p>
        </p:txBody>
      </p:sp>
      <p:sp>
        <p:nvSpPr>
          <p:cNvPr id="3" name="card"/>
          <p:cNvSpPr/>
          <p:nvPr/>
        </p:nvSpPr>
        <p:spPr>
          <a:xfrm>
            <a:off x="685800" y="1326895"/>
            <a:ext cx="10820400" cy="1124712"/>
          </a:xfrm>
          <a:prstGeom prst="roundRect">
            <a:avLst>
              <a:gd name="adj" fmla="val 18066"/>
            </a:avLst>
          </a:prstGeom>
          <a:solidFill>
            <a:srgbClr val="3453E3"/>
          </a:solidFill>
          <a:ln>
            <a:noFill/>
          </a:ln>
        </p:spPr>
        <p:txBody>
          <a:bodyPr rtlCol="0" anchor="ctr"/>
          <a:lstStyle/>
          <a:p>
            <a:pPr algn="ctr"/>
          </a:p>
        </p:txBody>
      </p:sp>
      <p:sp>
        <p:nvSpPr>
          <p:cNvPr id="4" name="marker 1"/>
          <p:cNvSpPr/>
          <p:nvPr/>
        </p:nvSpPr>
        <p:spPr>
          <a:xfrm>
            <a:off x="965200" y="1635252"/>
            <a:ext cx="508000" cy="508000"/>
          </a:xfrm>
          <a:prstGeom prst="ellipse">
            <a:avLst/>
          </a:prstGeom>
          <a:solidFill>
            <a:srgbClr val="F3EEE3"/>
          </a:solidFill>
          <a:ln>
            <a:noFill/>
          </a:ln>
        </p:spPr>
        <p:txBody>
          <a:bodyPr rtlCol="0" anchor="ctr" lIns="0" rIns="0" tIns="0" bIns="0"/>
          <a:lstStyle/>
          <a:p>
            <a:pPr algn="ctr"/>
            <a:r>
              <a:rPr sz="2000" b="1">
                <a:solidFill>
                  <a:srgbClr val="1F3FD1"/>
                </a:solidFill>
                <a:latin typeface="Calibri"/>
              </a:rPr>
              <a:t>1</a:t>
            </a:r>
          </a:p>
        </p:txBody>
      </p:sp>
      <p:sp>
        <p:nvSpPr>
          <p:cNvPr id="5" name="card text"/>
          <p:cNvSpPr txBox="1"/>
          <p:nvPr/>
        </p:nvSpPr>
        <p:spPr>
          <a:xfrm>
            <a:off x="1701800" y="1466595"/>
            <a:ext cx="9525000" cy="845312"/>
          </a:xfrm>
          <a:prstGeom prst="rect">
            <a:avLst/>
          </a:prstGeom>
          <a:noFill/>
        </p:spPr>
        <p:txBody>
          <a:bodyPr wrap="square" lIns="0" rIns="0" tIns="0" bIns="0" anchor="ctr">
            <a:noAutofit/>
          </a:bodyPr>
          <a:lstStyle/>
          <a:p>
            <a:pPr algn="l">
              <a:lnSpc>
                <a:spcPct val="100000"/>
              </a:lnSpc>
            </a:pPr>
            <a:r>
              <a:rPr sz="2600" b="0">
                <a:solidFill>
                  <a:srgbClr val="FFFFFF"/>
                </a:solidFill>
                <a:latin typeface="Calibri"/>
              </a:rPr>
              <a:t>Cách ly bằng git worktree: mỗi agent một bản làm việc, nên chạy song song mà không giẫm chân nhau.</a:t>
            </a:r>
          </a:p>
        </p:txBody>
      </p:sp>
      <p:sp>
        <p:nvSpPr>
          <p:cNvPr id="6" name="card"/>
          <p:cNvSpPr/>
          <p:nvPr/>
        </p:nvSpPr>
        <p:spPr>
          <a:xfrm>
            <a:off x="685800" y="2578608"/>
            <a:ext cx="10820400" cy="1124712"/>
          </a:xfrm>
          <a:prstGeom prst="roundRect">
            <a:avLst>
              <a:gd name="adj" fmla="val 18066"/>
            </a:avLst>
          </a:prstGeom>
          <a:solidFill>
            <a:srgbClr val="3453E3"/>
          </a:solidFill>
          <a:ln>
            <a:noFill/>
          </a:ln>
        </p:spPr>
        <p:txBody>
          <a:bodyPr rtlCol="0" anchor="ctr"/>
          <a:lstStyle/>
          <a:p>
            <a:pPr algn="ctr"/>
          </a:p>
        </p:txBody>
      </p:sp>
      <p:sp>
        <p:nvSpPr>
          <p:cNvPr id="7" name="marker 2"/>
          <p:cNvSpPr/>
          <p:nvPr/>
        </p:nvSpPr>
        <p:spPr>
          <a:xfrm>
            <a:off x="965200" y="2886964"/>
            <a:ext cx="508000" cy="508000"/>
          </a:xfrm>
          <a:prstGeom prst="ellipse">
            <a:avLst/>
          </a:prstGeom>
          <a:solidFill>
            <a:srgbClr val="F3EEE3"/>
          </a:solidFill>
          <a:ln>
            <a:noFill/>
          </a:ln>
        </p:spPr>
        <p:txBody>
          <a:bodyPr rtlCol="0" anchor="ctr" lIns="0" rIns="0" tIns="0" bIns="0"/>
          <a:lstStyle/>
          <a:p>
            <a:pPr algn="ctr"/>
            <a:r>
              <a:rPr sz="2000" b="1">
                <a:solidFill>
                  <a:srgbClr val="1F3FD1"/>
                </a:solidFill>
                <a:latin typeface="Calibri"/>
              </a:rPr>
              <a:t>2</a:t>
            </a:r>
          </a:p>
        </p:txBody>
      </p:sp>
      <p:sp>
        <p:nvSpPr>
          <p:cNvPr id="8" name="card text"/>
          <p:cNvSpPr txBox="1"/>
          <p:nvPr/>
        </p:nvSpPr>
        <p:spPr>
          <a:xfrm>
            <a:off x="1701800" y="2718308"/>
            <a:ext cx="9525000" cy="845312"/>
          </a:xfrm>
          <a:prstGeom prst="rect">
            <a:avLst/>
          </a:prstGeom>
          <a:noFill/>
        </p:spPr>
        <p:txBody>
          <a:bodyPr wrap="square" lIns="0" rIns="0" tIns="0" bIns="0" anchor="ctr">
            <a:noAutofit/>
          </a:bodyPr>
          <a:lstStyle/>
          <a:p>
            <a:pPr algn="l">
              <a:lnSpc>
                <a:spcPct val="100000"/>
              </a:lnSpc>
            </a:pPr>
            <a:r>
              <a:rPr sz="2600" b="0">
                <a:solidFill>
                  <a:srgbClr val="FFFFFF"/>
                </a:solidFill>
                <a:latin typeface="Calibri"/>
              </a:rPr>
              <a:t>Giao cùng một đề cho nhiều agent rồi so kết quả và chọn bản tốt nhất.</a:t>
            </a:r>
          </a:p>
        </p:txBody>
      </p:sp>
      <p:sp>
        <p:nvSpPr>
          <p:cNvPr id="9" name="card"/>
          <p:cNvSpPr/>
          <p:nvPr/>
        </p:nvSpPr>
        <p:spPr>
          <a:xfrm>
            <a:off x="685800" y="3830320"/>
            <a:ext cx="10820400" cy="1124712"/>
          </a:xfrm>
          <a:prstGeom prst="roundRect">
            <a:avLst>
              <a:gd name="adj" fmla="val 18066"/>
            </a:avLst>
          </a:prstGeom>
          <a:solidFill>
            <a:srgbClr val="3453E3"/>
          </a:solidFill>
          <a:ln>
            <a:noFill/>
          </a:ln>
        </p:spPr>
        <p:txBody>
          <a:bodyPr rtlCol="0" anchor="ctr"/>
          <a:lstStyle/>
          <a:p>
            <a:pPr algn="ctr"/>
          </a:p>
        </p:txBody>
      </p:sp>
      <p:sp>
        <p:nvSpPr>
          <p:cNvPr id="10" name="marker 3"/>
          <p:cNvSpPr/>
          <p:nvPr/>
        </p:nvSpPr>
        <p:spPr>
          <a:xfrm>
            <a:off x="965200" y="4138676"/>
            <a:ext cx="508000" cy="508000"/>
          </a:xfrm>
          <a:prstGeom prst="ellipse">
            <a:avLst/>
          </a:prstGeom>
          <a:solidFill>
            <a:srgbClr val="F3EEE3"/>
          </a:solidFill>
          <a:ln>
            <a:noFill/>
          </a:ln>
        </p:spPr>
        <p:txBody>
          <a:bodyPr rtlCol="0" anchor="ctr" lIns="0" rIns="0" tIns="0" bIns="0"/>
          <a:lstStyle/>
          <a:p>
            <a:pPr algn="ctr"/>
            <a:r>
              <a:rPr sz="2000" b="1">
                <a:solidFill>
                  <a:srgbClr val="1F3FD1"/>
                </a:solidFill>
                <a:latin typeface="Calibri"/>
              </a:rPr>
              <a:t>3</a:t>
            </a:r>
          </a:p>
        </p:txBody>
      </p:sp>
      <p:sp>
        <p:nvSpPr>
          <p:cNvPr id="11" name="card text"/>
          <p:cNvSpPr txBox="1"/>
          <p:nvPr/>
        </p:nvSpPr>
        <p:spPr>
          <a:xfrm>
            <a:off x="1701800" y="3970020"/>
            <a:ext cx="9525000" cy="845312"/>
          </a:xfrm>
          <a:prstGeom prst="rect">
            <a:avLst/>
          </a:prstGeom>
          <a:noFill/>
        </p:spPr>
        <p:txBody>
          <a:bodyPr wrap="square" lIns="0" rIns="0" tIns="0" bIns="0" anchor="ctr">
            <a:noAutofit/>
          </a:bodyPr>
          <a:lstStyle/>
          <a:p>
            <a:pPr algn="l">
              <a:lnSpc>
                <a:spcPct val="100000"/>
              </a:lnSpc>
            </a:pPr>
            <a:r>
              <a:rPr sz="2600" b="0">
                <a:solidFill>
                  <a:srgbClr val="FFFFFF"/>
                </a:solidFill>
                <a:latin typeface="Calibri"/>
              </a:rPr>
              <a:t>Để agent điều khiển công cụ quản lý chúng qua dòng lệnh, nên quy trình lặp lại viết thành kịch bản được.</a:t>
            </a:r>
          </a:p>
        </p:txBody>
      </p:sp>
      <p:sp>
        <p:nvSpPr>
          <p:cNvPr id="12" name="card"/>
          <p:cNvSpPr/>
          <p:nvPr/>
        </p:nvSpPr>
        <p:spPr>
          <a:xfrm>
            <a:off x="685800" y="5082032"/>
            <a:ext cx="10820400" cy="1124712"/>
          </a:xfrm>
          <a:prstGeom prst="roundRect">
            <a:avLst>
              <a:gd name="adj" fmla="val 18066"/>
            </a:avLst>
          </a:prstGeom>
          <a:solidFill>
            <a:srgbClr val="3453E3"/>
          </a:solidFill>
          <a:ln>
            <a:noFill/>
          </a:ln>
        </p:spPr>
        <p:txBody>
          <a:bodyPr rtlCol="0" anchor="ctr"/>
          <a:lstStyle/>
          <a:p>
            <a:pPr algn="ctr"/>
          </a:p>
        </p:txBody>
      </p:sp>
      <p:sp>
        <p:nvSpPr>
          <p:cNvPr id="13" name="marker 4"/>
          <p:cNvSpPr/>
          <p:nvPr/>
        </p:nvSpPr>
        <p:spPr>
          <a:xfrm>
            <a:off x="965200" y="5390388"/>
            <a:ext cx="508000" cy="508000"/>
          </a:xfrm>
          <a:prstGeom prst="ellipse">
            <a:avLst/>
          </a:prstGeom>
          <a:solidFill>
            <a:srgbClr val="F3EEE3"/>
          </a:solidFill>
          <a:ln>
            <a:noFill/>
          </a:ln>
        </p:spPr>
        <p:txBody>
          <a:bodyPr rtlCol="0" anchor="ctr" lIns="0" rIns="0" tIns="0" bIns="0"/>
          <a:lstStyle/>
          <a:p>
            <a:pPr algn="ctr"/>
            <a:r>
              <a:rPr sz="2000" b="1">
                <a:solidFill>
                  <a:srgbClr val="1F3FD1"/>
                </a:solidFill>
                <a:latin typeface="Calibri"/>
              </a:rPr>
              <a:t>4</a:t>
            </a:r>
          </a:p>
        </p:txBody>
      </p:sp>
      <p:sp>
        <p:nvSpPr>
          <p:cNvPr id="14" name="card text"/>
          <p:cNvSpPr txBox="1"/>
          <p:nvPr/>
        </p:nvSpPr>
        <p:spPr>
          <a:xfrm>
            <a:off x="1701800" y="5221732"/>
            <a:ext cx="9525000" cy="845312"/>
          </a:xfrm>
          <a:prstGeom prst="rect">
            <a:avLst/>
          </a:prstGeom>
          <a:noFill/>
        </p:spPr>
        <p:txBody>
          <a:bodyPr wrap="square" lIns="0" rIns="0" tIns="0" bIns="0" anchor="ctr">
            <a:noAutofit/>
          </a:bodyPr>
          <a:lstStyle/>
          <a:p>
            <a:pPr algn="l">
              <a:lnSpc>
                <a:spcPct val="100000"/>
              </a:lnSpc>
            </a:pPr>
            <a:r>
              <a:rPr sz="2600" b="0">
                <a:solidFill>
                  <a:srgbClr val="FFFFFF"/>
                </a:solidFill>
                <a:latin typeface="Calibri"/>
              </a:rPr>
              <a:t>Đặt phần ghép điện thoại thành một relay riêng trong cùng repo, có workspace và hướng dẫn cài riêng.</a:t>
            </a:r>
          </a:p>
        </p:txBody>
      </p:sp>
      <p:sp>
        <p:nvSpPr>
          <p:cNvPr id="15"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FFFFFF"/>
                </a:solidFill>
                <a:latin typeface="Calibri"/>
              </a:rPr>
              <a:t>25/27</a:t>
            </a:r>
          </a:p>
        </p:txBody>
      </p:sp>
      <p:sp>
        <p:nvSpPr>
          <p:cNvPr id="16" name="rail"/>
          <p:cNvSpPr/>
          <p:nvPr/>
        </p:nvSpPr>
        <p:spPr>
          <a:xfrm>
            <a:off x="685800" y="6451600"/>
            <a:ext cx="10820400" cy="38100"/>
          </a:xfrm>
          <a:prstGeom prst="rect">
            <a:avLst/>
          </a:prstGeom>
          <a:solidFill>
            <a:srgbClr val="C9D2FF"/>
          </a:solidFill>
          <a:ln>
            <a:noFill/>
          </a:ln>
        </p:spPr>
        <p:txBody>
          <a:bodyPr rtlCol="0" anchor="ctr"/>
          <a:lstStyle/>
          <a:p>
            <a:pPr algn="ctr"/>
          </a:p>
        </p:txBody>
      </p:sp>
      <p:sp>
        <p:nvSpPr>
          <p:cNvPr id="17" name="progress"/>
          <p:cNvSpPr/>
          <p:nvPr/>
        </p:nvSpPr>
        <p:spPr>
          <a:xfrm>
            <a:off x="685800" y="6426200"/>
            <a:ext cx="10018888" cy="88900"/>
          </a:xfrm>
          <a:prstGeom prst="rect">
            <a:avLst/>
          </a:prstGeom>
          <a:solidFill>
            <a:srgbClr val="FFB454"/>
          </a:solidFill>
          <a:ln>
            <a:noFill/>
          </a:ln>
        </p:spPr>
        <p:txBody>
          <a:bodyPr rtlCol="0" anchor="ctr"/>
          <a:lstStyle/>
          <a:p>
            <a:pPr algn="ctr"/>
          </a:p>
        </p:txBody>
      </p:sp>
      <p:sp>
        <p:nvSpPr>
          <p:cNvPr id="18"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C9D2FF"/>
                </a:solidFill>
                <a:latin typeface="Calibri"/>
              </a:rPr>
              <a:t>Radar GitHub · orca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Từ khóa</a:t>
            </a:r>
          </a:p>
        </p:txBody>
      </p:sp>
      <p:sp>
        <p:nvSpPr>
          <p:cNvPr id="3" name="card"/>
          <p:cNvSpPr/>
          <p:nvPr/>
        </p:nvSpPr>
        <p:spPr>
          <a:xfrm>
            <a:off x="685800" y="1326895"/>
            <a:ext cx="10820400" cy="1545844"/>
          </a:xfrm>
          <a:prstGeom prst="roundRect">
            <a:avLst>
              <a:gd name="adj" fmla="val 13144"/>
            </a:avLst>
          </a:prstGeom>
          <a:solidFill>
            <a:srgbClr val="E8E0CF"/>
          </a:solidFill>
          <a:ln>
            <a:noFill/>
          </a:ln>
        </p:spPr>
        <p:txBody>
          <a:bodyPr rtlCol="0" anchor="ctr"/>
          <a:lstStyle/>
          <a:p>
            <a:pPr algn="ctr"/>
          </a:p>
        </p:txBody>
      </p:sp>
      <p:sp>
        <p:nvSpPr>
          <p:cNvPr id="4" name="card text"/>
          <p:cNvSpPr txBox="1"/>
          <p:nvPr/>
        </p:nvSpPr>
        <p:spPr>
          <a:xfrm>
            <a:off x="965200" y="1466595"/>
            <a:ext cx="10261600" cy="1266444"/>
          </a:xfrm>
          <a:prstGeom prst="rect">
            <a:avLst/>
          </a:prstGeom>
          <a:noFill/>
        </p:spPr>
        <p:txBody>
          <a:bodyPr wrap="square" lIns="0" rIns="0" tIns="0" bIns="0" anchor="ctr">
            <a:noAutofit/>
          </a:bodyPr>
          <a:lstStyle/>
          <a:p>
            <a:pPr algn="l">
              <a:lnSpc>
                <a:spcPct val="100000"/>
              </a:lnSpc>
            </a:pPr>
            <a:r>
              <a:rPr sz="2600" b="1">
                <a:solidFill>
                  <a:srgbClr val="14161C"/>
                </a:solidFill>
                <a:latin typeface="Calibri"/>
              </a:rPr>
              <a:t>Worktree</a:t>
            </a:r>
          </a:p>
          <a:p>
            <a:pPr algn="l">
              <a:lnSpc>
                <a:spcPct val="100000"/>
              </a:lnSpc>
              <a:spcBef>
                <a:spcPts val="500"/>
              </a:spcBef>
            </a:pPr>
            <a:r>
              <a:rPr sz="2400" b="0">
                <a:solidFill>
                  <a:srgbClr val="14161C"/>
                </a:solidFill>
                <a:latin typeface="Calibri"/>
              </a:rPr>
              <a:t>Bản làm việc riêng của git cho một nhánh, nằm ở thư mục khác nhưng cùng một repo.</a:t>
            </a:r>
          </a:p>
        </p:txBody>
      </p:sp>
      <p:sp>
        <p:nvSpPr>
          <p:cNvPr id="5" name="card"/>
          <p:cNvSpPr/>
          <p:nvPr/>
        </p:nvSpPr>
        <p:spPr>
          <a:xfrm>
            <a:off x="685800" y="2999740"/>
            <a:ext cx="10820400" cy="1155700"/>
          </a:xfrm>
          <a:prstGeom prst="roundRect">
            <a:avLst>
              <a:gd name="adj" fmla="val 17582"/>
            </a:avLst>
          </a:prstGeom>
          <a:solidFill>
            <a:srgbClr val="E8E0CF"/>
          </a:solidFill>
          <a:ln>
            <a:noFill/>
          </a:ln>
        </p:spPr>
        <p:txBody>
          <a:bodyPr rtlCol="0" anchor="ctr"/>
          <a:lstStyle/>
          <a:p>
            <a:pPr algn="ctr"/>
          </a:p>
        </p:txBody>
      </p:sp>
      <p:sp>
        <p:nvSpPr>
          <p:cNvPr id="6" name="card text"/>
          <p:cNvSpPr txBox="1"/>
          <p:nvPr/>
        </p:nvSpPr>
        <p:spPr>
          <a:xfrm>
            <a:off x="965200" y="3139440"/>
            <a:ext cx="10261600" cy="876300"/>
          </a:xfrm>
          <a:prstGeom prst="rect">
            <a:avLst/>
          </a:prstGeom>
          <a:noFill/>
        </p:spPr>
        <p:txBody>
          <a:bodyPr wrap="square" lIns="0" rIns="0" tIns="0" bIns="0" anchor="ctr">
            <a:noAutofit/>
          </a:bodyPr>
          <a:lstStyle/>
          <a:p>
            <a:pPr algn="l">
              <a:lnSpc>
                <a:spcPct val="100000"/>
              </a:lnSpc>
            </a:pPr>
            <a:r>
              <a:rPr sz="2600" b="1">
                <a:solidFill>
                  <a:srgbClr val="14161C"/>
                </a:solidFill>
                <a:latin typeface="Calibri"/>
              </a:rPr>
              <a:t>CLI agent</a:t>
            </a:r>
          </a:p>
          <a:p>
            <a:pPr algn="l">
              <a:lnSpc>
                <a:spcPct val="100000"/>
              </a:lnSpc>
              <a:spcBef>
                <a:spcPts val="500"/>
              </a:spcBef>
            </a:pPr>
            <a:r>
              <a:rPr sz="2400" b="0">
                <a:solidFill>
                  <a:srgbClr val="14161C"/>
                </a:solidFill>
                <a:latin typeface="Calibri"/>
              </a:rPr>
              <a:t>Trợ lý lập trình AI chạy trong terminal, như Claude Code hay Codex.</a:t>
            </a:r>
          </a:p>
        </p:txBody>
      </p:sp>
      <p:sp>
        <p:nvSpPr>
          <p:cNvPr id="7" name="card"/>
          <p:cNvSpPr/>
          <p:nvPr/>
        </p:nvSpPr>
        <p:spPr>
          <a:xfrm>
            <a:off x="685800" y="4282440"/>
            <a:ext cx="10820400" cy="1545844"/>
          </a:xfrm>
          <a:prstGeom prst="roundRect">
            <a:avLst>
              <a:gd name="adj" fmla="val 13144"/>
            </a:avLst>
          </a:prstGeom>
          <a:solidFill>
            <a:srgbClr val="E8E0CF"/>
          </a:solidFill>
          <a:ln>
            <a:noFill/>
          </a:ln>
        </p:spPr>
        <p:txBody>
          <a:bodyPr rtlCol="0" anchor="ctr"/>
          <a:lstStyle/>
          <a:p>
            <a:pPr algn="ctr"/>
          </a:p>
        </p:txBody>
      </p:sp>
      <p:sp>
        <p:nvSpPr>
          <p:cNvPr id="8" name="card text"/>
          <p:cNvSpPr txBox="1"/>
          <p:nvPr/>
        </p:nvSpPr>
        <p:spPr>
          <a:xfrm>
            <a:off x="965200" y="4422140"/>
            <a:ext cx="10261600" cy="1266444"/>
          </a:xfrm>
          <a:prstGeom prst="rect">
            <a:avLst/>
          </a:prstGeom>
          <a:noFill/>
        </p:spPr>
        <p:txBody>
          <a:bodyPr wrap="square" lIns="0" rIns="0" tIns="0" bIns="0" anchor="ctr">
            <a:noAutofit/>
          </a:bodyPr>
          <a:lstStyle/>
          <a:p>
            <a:pPr algn="l">
              <a:lnSpc>
                <a:spcPct val="100000"/>
              </a:lnSpc>
            </a:pPr>
            <a:r>
              <a:rPr sz="2600" b="1">
                <a:solidFill>
                  <a:srgbClr val="14161C"/>
                </a:solidFill>
                <a:latin typeface="Calibri"/>
              </a:rPr>
              <a:t>Relay</a:t>
            </a:r>
          </a:p>
          <a:p>
            <a:pPr algn="l">
              <a:lnSpc>
                <a:spcPct val="100000"/>
              </a:lnSpc>
              <a:spcBef>
                <a:spcPts val="500"/>
              </a:spcBef>
            </a:pPr>
            <a:r>
              <a:rPr sz="2400" b="0">
                <a:solidFill>
                  <a:srgbClr val="14161C"/>
                </a:solidFill>
                <a:latin typeface="Calibri"/>
              </a:rPr>
              <a:t>Thành phần ghép app điện thoại với máy desktop; mã của nó nằm trong thư mục cloud/ của repo.</a:t>
            </a:r>
          </a:p>
        </p:txBody>
      </p:sp>
      <p:sp>
        <p:nvSpPr>
          <p:cNvPr id="9"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26/27</a:t>
            </a:r>
          </a:p>
        </p:txBody>
      </p:sp>
      <p:sp>
        <p:nvSpPr>
          <p:cNvPr id="10"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1" name="progress"/>
          <p:cNvSpPr/>
          <p:nvPr/>
        </p:nvSpPr>
        <p:spPr>
          <a:xfrm>
            <a:off x="685800" y="6426200"/>
            <a:ext cx="10419644" cy="88900"/>
          </a:xfrm>
          <a:prstGeom prst="rect">
            <a:avLst/>
          </a:prstGeom>
          <a:solidFill>
            <a:srgbClr val="E8472B"/>
          </a:solidFill>
          <a:ln>
            <a:noFill/>
          </a:ln>
        </p:spPr>
        <p:txBody>
          <a:bodyPr rtlCol="0" anchor="ctr"/>
          <a:lstStyle/>
          <a:p>
            <a:pPr algn="ctr"/>
          </a:p>
        </p:txBody>
      </p:sp>
      <p:sp>
        <p:nvSpPr>
          <p:cNvPr id="12"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orca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41B"/>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F3EEE3"/>
                </a:solidFill>
                <a:latin typeface="Cambria"/>
              </a:rPr>
              <a:t>Nguồn dữ kiện</a:t>
            </a:r>
          </a:p>
        </p:txBody>
      </p:sp>
      <p:sp>
        <p:nvSpPr>
          <p:cNvPr id="3" name="chip"/>
          <p:cNvSpPr/>
          <p:nvPr/>
        </p:nvSpPr>
        <p:spPr>
          <a:xfrm>
            <a:off x="685800" y="1326895"/>
            <a:ext cx="1818639" cy="584200"/>
          </a:xfrm>
          <a:prstGeom prst="roundRect">
            <a:avLst>
              <a:gd name="adj" fmla="val 50000"/>
            </a:avLst>
          </a:prstGeom>
          <a:solidFill>
            <a:srgbClr val="1E2230"/>
          </a:solidFill>
          <a:ln>
            <a:noFill/>
          </a:ln>
        </p:spPr>
        <p:txBody>
          <a:bodyPr rtlCol="0" anchor="ctr"/>
          <a:lstStyle/>
          <a:p>
            <a:pPr algn="ctr"/>
          </a:p>
        </p:txBody>
      </p:sp>
      <p:sp>
        <p:nvSpPr>
          <p:cNvPr id="4" name="chip text"/>
          <p:cNvSpPr txBox="1"/>
          <p:nvPr/>
        </p:nvSpPr>
        <p:spPr>
          <a:xfrm>
            <a:off x="685800" y="1326895"/>
            <a:ext cx="1818639"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94.489 sao</a:t>
            </a:r>
          </a:p>
        </p:txBody>
      </p:sp>
      <p:sp>
        <p:nvSpPr>
          <p:cNvPr id="5" name="chip"/>
          <p:cNvSpPr/>
          <p:nvPr/>
        </p:nvSpPr>
        <p:spPr>
          <a:xfrm>
            <a:off x="2656840" y="1326895"/>
            <a:ext cx="1813560" cy="584200"/>
          </a:xfrm>
          <a:prstGeom prst="roundRect">
            <a:avLst>
              <a:gd name="adj" fmla="val 50000"/>
            </a:avLst>
          </a:prstGeom>
          <a:solidFill>
            <a:srgbClr val="1E2230"/>
          </a:solidFill>
          <a:ln>
            <a:noFill/>
          </a:ln>
        </p:spPr>
        <p:txBody>
          <a:bodyPr rtlCol="0" anchor="ctr"/>
          <a:lstStyle/>
          <a:p>
            <a:pPr algn="ctr"/>
          </a:p>
        </p:txBody>
      </p:sp>
      <p:sp>
        <p:nvSpPr>
          <p:cNvPr id="6" name="chip text"/>
          <p:cNvSpPr txBox="1"/>
          <p:nvPr/>
        </p:nvSpPr>
        <p:spPr>
          <a:xfrm>
            <a:off x="2656840" y="1326895"/>
            <a:ext cx="1813560"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6.040 fork</a:t>
            </a:r>
          </a:p>
        </p:txBody>
      </p:sp>
      <p:sp>
        <p:nvSpPr>
          <p:cNvPr id="7" name="chip"/>
          <p:cNvSpPr/>
          <p:nvPr/>
        </p:nvSpPr>
        <p:spPr>
          <a:xfrm>
            <a:off x="4622800" y="1326895"/>
            <a:ext cx="2346960" cy="584200"/>
          </a:xfrm>
          <a:prstGeom prst="roundRect">
            <a:avLst>
              <a:gd name="adj" fmla="val 50000"/>
            </a:avLst>
          </a:prstGeom>
          <a:solidFill>
            <a:srgbClr val="1E2230"/>
          </a:solidFill>
          <a:ln>
            <a:noFill/>
          </a:ln>
        </p:spPr>
        <p:txBody>
          <a:bodyPr rtlCol="0" anchor="ctr"/>
          <a:lstStyle/>
          <a:p>
            <a:pPr algn="ctr"/>
          </a:p>
        </p:txBody>
      </p:sp>
      <p:sp>
        <p:nvSpPr>
          <p:cNvPr id="8" name="chip text"/>
          <p:cNvSpPr txBox="1"/>
          <p:nvPr/>
        </p:nvSpPr>
        <p:spPr>
          <a:xfrm>
            <a:off x="4622800" y="1326895"/>
            <a:ext cx="2346960"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Giấy phép: MIT</a:t>
            </a:r>
          </a:p>
        </p:txBody>
      </p:sp>
      <p:sp>
        <p:nvSpPr>
          <p:cNvPr id="9" name="chip"/>
          <p:cNvSpPr/>
          <p:nvPr/>
        </p:nvSpPr>
        <p:spPr>
          <a:xfrm>
            <a:off x="7122159" y="1326895"/>
            <a:ext cx="3205480" cy="584200"/>
          </a:xfrm>
          <a:prstGeom prst="roundRect">
            <a:avLst>
              <a:gd name="adj" fmla="val 50000"/>
            </a:avLst>
          </a:prstGeom>
          <a:solidFill>
            <a:srgbClr val="1E2230"/>
          </a:solidFill>
          <a:ln>
            <a:noFill/>
          </a:ln>
        </p:spPr>
        <p:txBody>
          <a:bodyPr rtlCol="0" anchor="ctr"/>
          <a:lstStyle/>
          <a:p>
            <a:pPr algn="ctr"/>
          </a:p>
        </p:txBody>
      </p:sp>
      <p:sp>
        <p:nvSpPr>
          <p:cNvPr id="10" name="chip text"/>
          <p:cNvSpPr txBox="1"/>
          <p:nvPr/>
        </p:nvSpPr>
        <p:spPr>
          <a:xfrm>
            <a:off x="7122159" y="1326895"/>
            <a:ext cx="3205480"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Ngôn ngữ: TypeScript</a:t>
            </a:r>
          </a:p>
        </p:txBody>
      </p:sp>
      <p:sp>
        <p:nvSpPr>
          <p:cNvPr id="11" name="card"/>
          <p:cNvSpPr/>
          <p:nvPr/>
        </p:nvSpPr>
        <p:spPr>
          <a:xfrm>
            <a:off x="685800" y="2038095"/>
            <a:ext cx="10820400" cy="1090676"/>
          </a:xfrm>
          <a:prstGeom prst="roundRect">
            <a:avLst>
              <a:gd name="adj" fmla="val 18630"/>
            </a:avLst>
          </a:prstGeom>
          <a:solidFill>
            <a:srgbClr val="1E2230"/>
          </a:solidFill>
          <a:ln>
            <a:noFill/>
          </a:ln>
        </p:spPr>
        <p:txBody>
          <a:bodyPr rtlCol="0" anchor="ctr"/>
          <a:lstStyle/>
          <a:p>
            <a:pPr algn="ctr"/>
          </a:p>
        </p:txBody>
      </p:sp>
      <p:sp>
        <p:nvSpPr>
          <p:cNvPr id="12" name="card text"/>
          <p:cNvSpPr txBox="1"/>
          <p:nvPr/>
        </p:nvSpPr>
        <p:spPr>
          <a:xfrm>
            <a:off x="965200" y="2177796"/>
            <a:ext cx="10261600" cy="811276"/>
          </a:xfrm>
          <a:prstGeom prst="rect">
            <a:avLst/>
          </a:prstGeom>
          <a:noFill/>
        </p:spPr>
        <p:txBody>
          <a:bodyPr wrap="square" lIns="0" rIns="0" tIns="0" bIns="0" anchor="ctr">
            <a:noAutofit/>
          </a:bodyPr>
          <a:lstStyle/>
          <a:p>
            <a:pPr algn="l">
              <a:lnSpc>
                <a:spcPct val="100000"/>
              </a:lnSpc>
            </a:pPr>
            <a:r>
              <a:rPr sz="2600" b="1">
                <a:solidFill>
                  <a:srgbClr val="F3EEE3"/>
                </a:solidFill>
                <a:latin typeface="Calibri"/>
              </a:rPr>
              <a:t>Nguồn dữ kiện</a:t>
            </a:r>
          </a:p>
          <a:p>
            <a:pPr algn="l">
              <a:lnSpc>
                <a:spcPct val="100000"/>
              </a:lnSpc>
              <a:spcBef>
                <a:spcPts val="500"/>
              </a:spcBef>
            </a:pPr>
            <a:r>
              <a:rPr sz="2000" b="0" u="sng">
                <a:solidFill>
                  <a:srgbClr val="9FB2FF"/>
                </a:solidFill>
                <a:latin typeface="Calibri"/>
                <a:hlinkClick r:id="rId2"/>
              </a:rPr>
              <a:t>stablyai/orca</a:t>
            </a:r>
            <a:r>
              <a:rPr sz="2000" b="0">
                <a:solidFill>
                  <a:srgbClr val="F3EEE3"/>
                </a:solidFill>
                <a:latin typeface="Calibri"/>
              </a:rPr>
              <a:t> · Quét ngày 2026-10-17</a:t>
            </a:r>
          </a:p>
        </p:txBody>
      </p:sp>
      <p:sp>
        <p:nvSpPr>
          <p:cNvPr id="13" name="text"/>
          <p:cNvSpPr txBox="1"/>
          <p:nvPr/>
        </p:nvSpPr>
        <p:spPr>
          <a:xfrm>
            <a:off x="685800" y="3255772"/>
            <a:ext cx="10820400" cy="375920"/>
          </a:xfrm>
          <a:prstGeom prst="rect">
            <a:avLst/>
          </a:prstGeom>
          <a:noFill/>
        </p:spPr>
        <p:txBody>
          <a:bodyPr wrap="square" lIns="0" rIns="0" tIns="0" bIns="0" anchor="t">
            <a:noAutofit/>
          </a:bodyPr>
          <a:lstStyle/>
          <a:p>
            <a:pPr algn="l">
              <a:lnSpc>
                <a:spcPct val="100000"/>
              </a:lnSpc>
            </a:pPr>
            <a:r>
              <a:rPr sz="2000" b="0">
                <a:solidFill>
                  <a:srgbClr val="9AA0B5"/>
                </a:solidFill>
                <a:latin typeface="Calibri"/>
              </a:rPr>
              <a:t>Nội dung do AI tóm tắt từ README và cấu trúc repo; hãy đọc repo gốc trước khi dùng.</a:t>
            </a:r>
          </a:p>
        </p:txBody>
      </p:sp>
      <p:sp>
        <p:nvSpPr>
          <p:cNvPr id="14"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F3EEE3"/>
                </a:solidFill>
                <a:latin typeface="Calibri"/>
              </a:rPr>
              <a:t>27/27</a:t>
            </a:r>
          </a:p>
        </p:txBody>
      </p:sp>
      <p:sp>
        <p:nvSpPr>
          <p:cNvPr id="15" name="rail"/>
          <p:cNvSpPr/>
          <p:nvPr/>
        </p:nvSpPr>
        <p:spPr>
          <a:xfrm>
            <a:off x="685800" y="6451600"/>
            <a:ext cx="10820400" cy="38100"/>
          </a:xfrm>
          <a:prstGeom prst="rect">
            <a:avLst/>
          </a:prstGeom>
          <a:solidFill>
            <a:srgbClr val="9AA0B5"/>
          </a:solidFill>
          <a:ln>
            <a:noFill/>
          </a:ln>
        </p:spPr>
        <p:txBody>
          <a:bodyPr rtlCol="0" anchor="ctr"/>
          <a:lstStyle/>
          <a:p>
            <a:pPr algn="ctr"/>
          </a:p>
        </p:txBody>
      </p:sp>
      <p:sp>
        <p:nvSpPr>
          <p:cNvPr id="16" name="progress"/>
          <p:cNvSpPr/>
          <p:nvPr/>
        </p:nvSpPr>
        <p:spPr>
          <a:xfrm>
            <a:off x="685800" y="6426200"/>
            <a:ext cx="10820400" cy="88900"/>
          </a:xfrm>
          <a:prstGeom prst="rect">
            <a:avLst/>
          </a:prstGeom>
          <a:solidFill>
            <a:srgbClr val="FF6A4D"/>
          </a:solidFill>
          <a:ln>
            <a:noFill/>
          </a:ln>
        </p:spPr>
        <p:txBody>
          <a:bodyPr rtlCol="0" anchor="ctr"/>
          <a:lstStyle/>
          <a:p>
            <a:pPr algn="ctr"/>
          </a:p>
        </p:txBody>
      </p:sp>
      <p:sp>
        <p:nvSpPr>
          <p:cNvPr id="17"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9AA0B5"/>
                </a:solidFill>
                <a:latin typeface="Calibri"/>
              </a:rPr>
              <a:t>Radar GitHub · orca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Orca: chạy nhiều agent coding song song, mỗi agent một worktree</dc:title>
  <dc:subject>stablyai/orca</dc:subject>
  <dc:creator>GitHub Radar</dc:creator>
  <cp:keywords/>
  <dc:description/>
  <cp:lastModifiedBy>GitHub Radar</cp:lastModifiedBy>
  <cp:revision>1</cp:revision>
  <dcterms:created xsi:type="dcterms:W3CDTF">2026-10-17T00:00:00Z</dcterms:created>
  <dcterms:modified xsi:type="dcterms:W3CDTF">2026-10-17T00:00:00Z</dcterms:modified>
  <cp:category/>
  <cp:lastPrinted>2026-10-17T00:00:00Z</cp:lastPrinted>
  <dc:language>vi</dc:language>
</cp:coreProperties>
</file>